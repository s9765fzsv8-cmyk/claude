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hook, slowly, and do not rush to the title. Right now there is foreign code inside American power and water networks. It has been there for years. Nobody has used it. We call it a warning of war. This paper asks whether it actually is one. Then move to the question. About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once from the slide, then give the plain-language version underneath. Run down the five objectives quickly, do not dwell. The audience only needs to know the shape of the study. Under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striking thing is what did not happen. No theft worth the effort. Nakasone is saying nobody puts code in a power station to read your email. Close with the Guam line: this is not a random target, it is the base you need for a Taiwan contingency.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logic the whole field runs on. Walk the three boxes left to right. Land hard on the amber box, and say plainly that this word, expensive, is what the study is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talk. Slow right down. Read the two columns across, then the bottom line. Weapons in the water supply got a memo. Stolen call records got sanctions. Let the room sit with how backwards that is. A minute and a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short beats, one each. The closing line is the point: seen, believed, right desk. This fails on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cases is the entire record. Two are still sitting there. One was tried and stopped. The zero is the number to leave in the room. Pause after saying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back on the instinct that AI obviously helps attackers. The evidence points the other way for now. The bottom box is the qualifier that matters: who wins depends on who is fighting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both fairly, then give the verdict. Years of sitting still, no punishment, effects kept small: that fits B. Be honest that the paper does not decide. Saying so is a strength.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research question directly, point by point, so the talk closes where it opened. Then the last line, slowly. That sentence is what you want them to remember. Stop and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418320" y="-1645920"/>
            <a:ext cx="4937760" cy="4937760"/>
          </a:xfrm>
          <a:prstGeom prst="ellipse">
            <a:avLst/>
          </a:prstGeom>
          <a:solidFill>
            <a:srgbClr val="141B45"/>
          </a:solidFill>
          <a:ln/>
        </p:spPr>
      </p:sp>
      <p:sp>
        <p:nvSpPr>
          <p:cNvPr id="3" name="Shape 1"/>
          <p:cNvSpPr/>
          <p:nvPr/>
        </p:nvSpPr>
        <p:spPr>
          <a:xfrm>
            <a:off x="10789920" y="4663440"/>
            <a:ext cx="2926080" cy="2926080"/>
          </a:xfrm>
          <a:prstGeom prst="ellipse">
            <a:avLst/>
          </a:prstGeom>
          <a:solidFill>
            <a:srgbClr val="141B45"/>
          </a:solidFill>
          <a:ln/>
        </p:spPr>
      </p:sp>
      <p:sp>
        <p:nvSpPr>
          <p:cNvPr id="4" name="Text 2"/>
          <p:cNvSpPr/>
          <p:nvPr/>
        </p:nvSpPr>
        <p:spPr>
          <a:xfrm>
            <a:off x="640080" y="658368"/>
            <a:ext cx="1088136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FUTURE OF CYBER OPERATIONS</a:t>
            </a:r>
            <a:endParaRPr lang="en-US" sz="3200" dirty="0"/>
          </a:p>
        </p:txBody>
      </p:sp>
      <p:sp>
        <p:nvSpPr>
          <p:cNvPr id="5" name="Text 3"/>
          <p:cNvSpPr/>
          <p:nvPr/>
        </p:nvSpPr>
        <p:spPr>
          <a:xfrm>
            <a:off x="640080" y="1225296"/>
            <a:ext cx="10881360" cy="384048"/>
          </a:xfrm>
          <a:prstGeom prst="rect">
            <a:avLst/>
          </a:prstGeom>
          <a:noFill/>
          <a:ln/>
        </p:spPr>
        <p:txBody>
          <a:bodyPr wrap="square" lIns="0" tIns="0" rIns="0" bIns="0" rtlCol="0" anchor="ctr"/>
          <a:lstStyle/>
          <a:p>
            <a:pPr indent="0" marL="0">
              <a:buNone/>
            </a:pPr>
            <a:r>
              <a:rPr lang="en-US" sz="2000" dirty="0">
                <a:solidFill>
                  <a:srgbClr val="CADCFC"/>
                </a:solidFill>
                <a:latin typeface="Cambria" pitchFamily="34" charset="0"/>
                <a:ea typeface="Cambria" pitchFamily="34" charset="-122"/>
                <a:cs typeface="Cambria" pitchFamily="34" charset="-120"/>
              </a:rPr>
              <a:t>Vulnerabilities of Critical National Infrastructure</a:t>
            </a:r>
            <a:endParaRPr lang="en-US" sz="2000" dirty="0"/>
          </a:p>
        </p:txBody>
      </p:sp>
      <p:sp>
        <p:nvSpPr>
          <p:cNvPr id="6" name="Shape 4"/>
          <p:cNvSpPr/>
          <p:nvPr/>
        </p:nvSpPr>
        <p:spPr>
          <a:xfrm>
            <a:off x="640080" y="1965960"/>
            <a:ext cx="7315200" cy="2331720"/>
          </a:xfrm>
          <a:prstGeom prst="roundRect">
            <a:avLst>
              <a:gd name="adj" fmla="val 3137"/>
            </a:avLst>
          </a:prstGeom>
          <a:solidFill>
            <a:srgbClr val="141B45"/>
          </a:solidFill>
          <a:ln w="9525">
            <a:solidFill>
              <a:srgbClr val="E2E7F2"/>
            </a:solidFill>
            <a:prstDash val="solid"/>
          </a:ln>
        </p:spPr>
      </p:sp>
      <p:sp>
        <p:nvSpPr>
          <p:cNvPr id="7" name="Text 5"/>
          <p:cNvSpPr/>
          <p:nvPr/>
        </p:nvSpPr>
        <p:spPr>
          <a:xfrm>
            <a:off x="1051560" y="2176272"/>
            <a:ext cx="6492240" cy="685800"/>
          </a:xfrm>
          <a:prstGeom prst="rect">
            <a:avLst/>
          </a:prstGeom>
          <a:noFill/>
          <a:ln/>
        </p:spPr>
        <p:txBody>
          <a:bodyPr wrap="square" lIns="0" tIns="0" rIns="0" bIns="0" rtlCol="0" anchor="ctr"/>
          <a:lstStyle/>
          <a:p>
            <a:pPr indent="0" marL="0">
              <a:lnSpc>
                <a:spcPts val="2700"/>
              </a:lnSpc>
              <a:buNone/>
            </a:pPr>
            <a:r>
              <a:rPr lang="en-US" sz="2100" b="1" dirty="0">
                <a:solidFill>
                  <a:srgbClr val="FFFFFF"/>
                </a:solidFill>
                <a:latin typeface="Cambria" pitchFamily="34" charset="0"/>
                <a:ea typeface="Cambria" pitchFamily="34" charset="-122"/>
                <a:cs typeface="Cambria" pitchFamily="34" charset="-120"/>
              </a:rPr>
              <a:t>Right now, foreign code is sitting inside American power and water networks.</a:t>
            </a:r>
            <a:endParaRPr lang="en-US" sz="2100" dirty="0"/>
          </a:p>
        </p:txBody>
      </p:sp>
      <p:sp>
        <p:nvSpPr>
          <p:cNvPr id="8" name="Text 6"/>
          <p:cNvSpPr/>
          <p:nvPr/>
        </p:nvSpPr>
        <p:spPr>
          <a:xfrm>
            <a:off x="1051560" y="2926080"/>
            <a:ext cx="6492240" cy="685800"/>
          </a:xfrm>
          <a:prstGeom prst="rect">
            <a:avLst/>
          </a:prstGeom>
          <a:noFill/>
          <a:ln/>
        </p:spPr>
        <p:txBody>
          <a:bodyPr wrap="square" lIns="0" tIns="0" rIns="0" bIns="0" rtlCol="0" anchor="ctr"/>
          <a:lstStyle/>
          <a:p>
            <a:pPr indent="0" marL="0">
              <a:lnSpc>
                <a:spcPts val="2400"/>
              </a:lnSpc>
              <a:buNone/>
            </a:pPr>
            <a:r>
              <a:rPr lang="en-US" sz="1700" dirty="0">
                <a:solidFill>
                  <a:srgbClr val="CADCFC"/>
                </a:solidFill>
                <a:latin typeface="Calibri" pitchFamily="34" charset="0"/>
                <a:ea typeface="Calibri" pitchFamily="34" charset="-122"/>
                <a:cs typeface="Calibri" pitchFamily="34" charset="-120"/>
              </a:rPr>
              <a:t>It has been there for years. It has never been used. We call it a warning of coming war.</a:t>
            </a:r>
            <a:endParaRPr lang="en-US" sz="1700" dirty="0"/>
          </a:p>
        </p:txBody>
      </p:sp>
      <p:sp>
        <p:nvSpPr>
          <p:cNvPr id="9" name="Text 7"/>
          <p:cNvSpPr/>
          <p:nvPr/>
        </p:nvSpPr>
        <p:spPr>
          <a:xfrm>
            <a:off x="1051560" y="3675888"/>
            <a:ext cx="6492240" cy="384048"/>
          </a:xfrm>
          <a:prstGeom prst="rect">
            <a:avLst/>
          </a:prstGeom>
          <a:noFill/>
          <a:ln/>
        </p:spPr>
        <p:txBody>
          <a:bodyPr wrap="square" lIns="0" tIns="0" rIns="0" bIns="0" rtlCol="0" anchor="ctr"/>
          <a:lstStyle/>
          <a:p>
            <a:pPr indent="0" marL="0">
              <a:buNone/>
            </a:pPr>
            <a:r>
              <a:rPr lang="en-US" sz="1900" b="1" dirty="0">
                <a:solidFill>
                  <a:srgbClr val="D98C1F"/>
                </a:solidFill>
                <a:latin typeface="Cambria" pitchFamily="34" charset="0"/>
                <a:ea typeface="Cambria" pitchFamily="34" charset="-122"/>
                <a:cs typeface="Cambria" pitchFamily="34" charset="-120"/>
              </a:rPr>
              <a:t>This paper asks whether it is one.</a:t>
            </a:r>
            <a:endParaRPr lang="en-US" sz="1900" dirty="0"/>
          </a:p>
        </p:txBody>
      </p:sp>
      <p:sp>
        <p:nvSpPr>
          <p:cNvPr id="10" name="Shape 8"/>
          <p:cNvSpPr/>
          <p:nvPr/>
        </p:nvSpPr>
        <p:spPr>
          <a:xfrm>
            <a:off x="640080" y="4617720"/>
            <a:ext cx="1005840" cy="32004"/>
          </a:xfrm>
          <a:prstGeom prst="rect">
            <a:avLst/>
          </a:prstGeom>
          <a:solidFill>
            <a:srgbClr val="D98C1F"/>
          </a:solidFill>
          <a:ln/>
        </p:spPr>
      </p:sp>
      <p:sp>
        <p:nvSpPr>
          <p:cNvPr id="11" name="Text 9"/>
          <p:cNvSpPr/>
          <p:nvPr/>
        </p:nvSpPr>
        <p:spPr>
          <a:xfrm>
            <a:off x="640080" y="4919472"/>
            <a:ext cx="10058400" cy="777240"/>
          </a:xfrm>
          <a:prstGeom prst="rect">
            <a:avLst/>
          </a:prstGeom>
          <a:noFill/>
          <a:ln/>
        </p:spPr>
        <p:txBody>
          <a:bodyPr wrap="square" lIns="0" tIns="0" rIns="0" bIns="0" rtlCol="0" anchor="ctr"/>
          <a:lstStyle/>
          <a:p>
            <a:pPr indent="0" marL="0">
              <a:lnSpc>
                <a:spcPts val="2300"/>
              </a:lnSpc>
              <a:buNone/>
            </a:pPr>
            <a:r>
              <a:rPr lang="en-US" sz="1500" dirty="0">
                <a:solidFill>
                  <a:srgbClr val="C3CEEC"/>
                </a:solidFill>
                <a:latin typeface="Calibri" pitchFamily="34" charset="0"/>
                <a:ea typeface="Calibri" pitchFamily="34" charset="-122"/>
                <a:cs typeface="Calibri" pitchFamily="34" charset="-120"/>
              </a:rPr>
              <a:t>The Price of Patience: what foreign code inside our infrastructure really tells us,</a:t>
            </a:r>
            <a:endParaRPr lang="en-US" sz="1500" dirty="0"/>
          </a:p>
          <a:p>
            <a:pPr indent="0" marL="0">
              <a:lnSpc>
                <a:spcPts val="2300"/>
              </a:lnSpc>
              <a:buNone/>
            </a:pPr>
            <a:r>
              <a:rPr lang="en-US" sz="1500" dirty="0">
                <a:solidFill>
                  <a:srgbClr val="C3CEEC"/>
                </a:solidFill>
                <a:latin typeface="Calibri" pitchFamily="34" charset="0"/>
                <a:ea typeface="Calibri" pitchFamily="34" charset="-122"/>
                <a:cs typeface="Calibri" pitchFamily="34" charset="-120"/>
              </a:rPr>
              <a:t>and what artificial intelligence does to that message</a:t>
            </a:r>
            <a:endParaRPr lang="en-US" sz="1500" dirty="0"/>
          </a:p>
        </p:txBody>
      </p:sp>
      <p:sp>
        <p:nvSpPr>
          <p:cNvPr id="12" name="Text 10"/>
          <p:cNvSpPr/>
          <p:nvPr/>
        </p:nvSpPr>
        <p:spPr>
          <a:xfrm>
            <a:off x="640080" y="5852160"/>
            <a:ext cx="10058400" cy="274320"/>
          </a:xfrm>
          <a:prstGeom prst="rect">
            <a:avLst/>
          </a:prstGeom>
          <a:noFill/>
          <a:ln/>
        </p:spPr>
        <p:txBody>
          <a:bodyPr wrap="square" lIns="0" tIns="0" rIns="0" bIns="0" rtlCol="0" anchor="ctr"/>
          <a:lstStyle/>
          <a:p>
            <a:pPr indent="0" marL="0">
              <a:buNone/>
            </a:pPr>
            <a:r>
              <a:rPr lang="en-US" sz="1300" dirty="0">
                <a:solidFill>
                  <a:srgbClr val="A9B6DC"/>
                </a:solidFill>
                <a:latin typeface="Calibri" pitchFamily="34" charset="0"/>
                <a:ea typeface="Calibri" pitchFamily="34" charset="-122"/>
                <a:cs typeface="Calibri" pitchFamily="34" charset="-120"/>
              </a:rPr>
              <a:t>Based on sixteen studies of cyber conflict, 2018 to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RESEARCH QUESTION</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this study asks</a:t>
            </a:r>
            <a:endParaRPr lang="en-US" sz="3000" dirty="0"/>
          </a:p>
        </p:txBody>
      </p:sp>
      <p:sp>
        <p:nvSpPr>
          <p:cNvPr id="4" name="Shape 2"/>
          <p:cNvSpPr/>
          <p:nvPr/>
        </p:nvSpPr>
        <p:spPr>
          <a:xfrm>
            <a:off x="640080" y="1234440"/>
            <a:ext cx="10881360" cy="1463040"/>
          </a:xfrm>
          <a:prstGeom prst="roundRect">
            <a:avLst>
              <a:gd name="adj" fmla="val 5000"/>
            </a:avLst>
          </a:prstGeom>
          <a:solidFill>
            <a:srgbClr val="FDF6EA"/>
          </a:solidFill>
          <a:ln w="9525">
            <a:solidFill>
              <a:srgbClr val="E2E7F2"/>
            </a:solidFill>
            <a:prstDash val="solid"/>
          </a:ln>
        </p:spPr>
      </p:sp>
      <p:sp>
        <p:nvSpPr>
          <p:cNvPr id="5" name="Text 3"/>
          <p:cNvSpPr/>
          <p:nvPr/>
        </p:nvSpPr>
        <p:spPr>
          <a:xfrm>
            <a:off x="1051560" y="1389888"/>
            <a:ext cx="10058400" cy="1188720"/>
          </a:xfrm>
          <a:prstGeom prst="rect">
            <a:avLst/>
          </a:prstGeom>
          <a:noFill/>
          <a:ln/>
        </p:spPr>
        <p:txBody>
          <a:bodyPr wrap="square" lIns="0" tIns="0" rIns="0" bIns="0" rtlCol="0" anchor="ctr"/>
          <a:lstStyle/>
          <a:p>
            <a:pPr indent="0" marL="0">
              <a:lnSpc>
                <a:spcPts val="2600"/>
              </a:lnSpc>
              <a:buNone/>
            </a:pPr>
            <a:r>
              <a:rPr lang="en-US" sz="1850" i="1" dirty="0">
                <a:solidFill>
                  <a:srgbClr val="1E2761"/>
                </a:solidFill>
                <a:latin typeface="Cambria" pitchFamily="34" charset="0"/>
                <a:ea typeface="Cambria" pitchFamily="34" charset="-122"/>
                <a:cs typeface="Cambria" pitchFamily="34" charset="-120"/>
              </a:rPr>
              <a:t>How fast and how far will AI and machine autonomy shift the balance between attack and defence, and when does pre-positioning count as a strategic signal or as a cause of instability?</a:t>
            </a:r>
            <a:endParaRPr lang="en-US" sz="1850" dirty="0"/>
          </a:p>
        </p:txBody>
      </p:sp>
      <p:sp>
        <p:nvSpPr>
          <p:cNvPr id="6" name="Text 4"/>
          <p:cNvSpPr/>
          <p:nvPr/>
        </p:nvSpPr>
        <p:spPr>
          <a:xfrm>
            <a:off x="640080" y="2852928"/>
            <a:ext cx="10881360" cy="548640"/>
          </a:xfrm>
          <a:prstGeom prst="rect">
            <a:avLst/>
          </a:prstGeom>
          <a:noFill/>
          <a:ln/>
        </p:spPr>
        <p:txBody>
          <a:bodyPr wrap="square" lIns="0" tIns="0" rIns="0" bIns="0" rtlCol="0" anchor="ctr"/>
          <a:lstStyle/>
          <a:p>
            <a:pPr indent="0" marL="0">
              <a:lnSpc>
                <a:spcPts val="2100"/>
              </a:lnSpc>
              <a:buNone/>
            </a:pPr>
            <a:r>
              <a:rPr lang="en-US" sz="1500" dirty="0">
                <a:solidFill>
                  <a:srgbClr val="22252E"/>
                </a:solidFill>
                <a:latin typeface="Calibri" pitchFamily="34" charset="0"/>
                <a:ea typeface="Calibri" pitchFamily="34" charset="-122"/>
                <a:cs typeface="Calibri" pitchFamily="34" charset="-120"/>
              </a:rPr>
              <a:t>In plainer words: when a state leaves code inside another country’s infrastructure, is that a message? And does artificial intelligence change what the message means?</a:t>
            </a:r>
            <a:endParaRPr lang="en-US" sz="1500" dirty="0"/>
          </a:p>
        </p:txBody>
      </p:sp>
      <p:sp>
        <p:nvSpPr>
          <p:cNvPr id="7" name="Text 5"/>
          <p:cNvSpPr/>
          <p:nvPr/>
        </p:nvSpPr>
        <p:spPr>
          <a:xfrm>
            <a:off x="640080" y="3529584"/>
            <a:ext cx="5486400" cy="329184"/>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Five objectives</a:t>
            </a:r>
            <a:endParaRPr lang="en-US" sz="1800" dirty="0"/>
          </a:p>
        </p:txBody>
      </p:sp>
      <p:sp>
        <p:nvSpPr>
          <p:cNvPr id="8" name="Shape 6"/>
          <p:cNvSpPr/>
          <p:nvPr/>
        </p:nvSpPr>
        <p:spPr>
          <a:xfrm>
            <a:off x="640080" y="3931920"/>
            <a:ext cx="365760" cy="365760"/>
          </a:xfrm>
          <a:prstGeom prst="ellipse">
            <a:avLst/>
          </a:prstGeom>
          <a:solidFill>
            <a:srgbClr val="1E2761"/>
          </a:solidFill>
          <a:ln/>
        </p:spPr>
      </p:sp>
      <p:sp>
        <p:nvSpPr>
          <p:cNvPr id="9" name="Text 7"/>
          <p:cNvSpPr/>
          <p:nvPr/>
        </p:nvSpPr>
        <p:spPr>
          <a:xfrm>
            <a:off x="640080" y="3931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10" name="Text 8"/>
          <p:cNvSpPr/>
          <p:nvPr/>
        </p:nvSpPr>
        <p:spPr>
          <a:xfrm>
            <a:off x="1207008" y="3913632"/>
            <a:ext cx="10332720" cy="411480"/>
          </a:xfrm>
          <a:prstGeom prst="rect">
            <a:avLst/>
          </a:prstGeom>
          <a:noFill/>
          <a:ln/>
        </p:spPr>
        <p:txBody>
          <a:bodyPr wrap="square" lIns="0" tIns="0" rIns="0" bIns="0" rtlCol="0" anchor="ctr"/>
          <a:lstStyle/>
          <a:p>
            <a:pPr indent="0" marL="0">
              <a:buNone/>
            </a:pPr>
            <a:r>
              <a:rPr lang="en-US" sz="1400" dirty="0">
                <a:solidFill>
                  <a:srgbClr val="22252E"/>
                </a:solidFill>
                <a:latin typeface="Calibri" pitchFamily="34" charset="0"/>
                <a:ea typeface="Calibri" pitchFamily="34" charset="-122"/>
                <a:cs typeface="Calibri" pitchFamily="34" charset="-120"/>
              </a:rPr>
              <a:t>To set out how the literature tells spying apart from signalling.</a:t>
            </a:r>
            <a:endParaRPr lang="en-US" sz="1400" dirty="0"/>
          </a:p>
        </p:txBody>
      </p:sp>
      <p:sp>
        <p:nvSpPr>
          <p:cNvPr id="11" name="Shape 9"/>
          <p:cNvSpPr/>
          <p:nvPr/>
        </p:nvSpPr>
        <p:spPr>
          <a:xfrm>
            <a:off x="640080" y="4416552"/>
            <a:ext cx="365760" cy="365760"/>
          </a:xfrm>
          <a:prstGeom prst="ellipse">
            <a:avLst/>
          </a:prstGeom>
          <a:solidFill>
            <a:srgbClr val="1E2761"/>
          </a:solidFill>
          <a:ln/>
        </p:spPr>
      </p:sp>
      <p:sp>
        <p:nvSpPr>
          <p:cNvPr id="12" name="Text 10"/>
          <p:cNvSpPr/>
          <p:nvPr/>
        </p:nvSpPr>
        <p:spPr>
          <a:xfrm>
            <a:off x="640080"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207008" y="4398264"/>
            <a:ext cx="10332720" cy="411480"/>
          </a:xfrm>
          <a:prstGeom prst="rect">
            <a:avLst/>
          </a:prstGeom>
          <a:noFill/>
          <a:ln/>
        </p:spPr>
        <p:txBody>
          <a:bodyPr wrap="square" lIns="0" tIns="0" rIns="0" bIns="0" rtlCol="0" anchor="ctr"/>
          <a:lstStyle/>
          <a:p>
            <a:pPr indent="0" marL="0">
              <a:buNone/>
            </a:pPr>
            <a:r>
              <a:rPr lang="en-US" sz="1400" dirty="0">
                <a:solidFill>
                  <a:srgbClr val="22252E"/>
                </a:solidFill>
                <a:latin typeface="Calibri" pitchFamily="34" charset="0"/>
                <a:ea typeface="Calibri" pitchFamily="34" charset="-122"/>
                <a:cs typeface="Calibri" pitchFamily="34" charset="-120"/>
              </a:rPr>
              <a:t>To find the assumptions about cost that this distinction depends on.</a:t>
            </a:r>
            <a:endParaRPr lang="en-US" sz="1400" dirty="0"/>
          </a:p>
        </p:txBody>
      </p:sp>
      <p:sp>
        <p:nvSpPr>
          <p:cNvPr id="14" name="Shape 12"/>
          <p:cNvSpPr/>
          <p:nvPr/>
        </p:nvSpPr>
        <p:spPr>
          <a:xfrm>
            <a:off x="640080" y="4901184"/>
            <a:ext cx="365760" cy="365760"/>
          </a:xfrm>
          <a:prstGeom prst="ellipse">
            <a:avLst/>
          </a:prstGeom>
          <a:solidFill>
            <a:srgbClr val="1E2761"/>
          </a:solidFill>
          <a:ln/>
        </p:spPr>
      </p:sp>
      <p:sp>
        <p:nvSpPr>
          <p:cNvPr id="15" name="Text 13"/>
          <p:cNvSpPr/>
          <p:nvPr/>
        </p:nvSpPr>
        <p:spPr>
          <a:xfrm>
            <a:off x="640080" y="49011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p:nvPr/>
        </p:nvSpPr>
        <p:spPr>
          <a:xfrm>
            <a:off x="1207008" y="4882896"/>
            <a:ext cx="10332720" cy="411480"/>
          </a:xfrm>
          <a:prstGeom prst="rect">
            <a:avLst/>
          </a:prstGeom>
          <a:noFill/>
          <a:ln/>
        </p:spPr>
        <p:txBody>
          <a:bodyPr wrap="square" lIns="0" tIns="0" rIns="0" bIns="0" rtlCol="0" anchor="ctr"/>
          <a:lstStyle/>
          <a:p>
            <a:pPr indent="0" marL="0">
              <a:buNone/>
            </a:pPr>
            <a:r>
              <a:rPr lang="en-US" sz="1400" dirty="0">
                <a:solidFill>
                  <a:srgbClr val="22252E"/>
                </a:solidFill>
                <a:latin typeface="Calibri" pitchFamily="34" charset="0"/>
                <a:ea typeface="Calibri" pitchFamily="34" charset="-122"/>
                <a:cs typeface="Calibri" pitchFamily="34" charset="-120"/>
              </a:rPr>
              <a:t>To assess where machine autonomy stands now and where it is heading.</a:t>
            </a:r>
            <a:endParaRPr lang="en-US" sz="1400" dirty="0"/>
          </a:p>
        </p:txBody>
      </p:sp>
      <p:sp>
        <p:nvSpPr>
          <p:cNvPr id="17" name="Shape 15"/>
          <p:cNvSpPr/>
          <p:nvPr/>
        </p:nvSpPr>
        <p:spPr>
          <a:xfrm>
            <a:off x="640080" y="5385816"/>
            <a:ext cx="365760" cy="365760"/>
          </a:xfrm>
          <a:prstGeom prst="ellipse">
            <a:avLst/>
          </a:prstGeom>
          <a:solidFill>
            <a:srgbClr val="1E2761"/>
          </a:solidFill>
          <a:ln/>
        </p:spPr>
      </p:sp>
      <p:sp>
        <p:nvSpPr>
          <p:cNvPr id="18" name="Text 16"/>
          <p:cNvSpPr/>
          <p:nvPr/>
        </p:nvSpPr>
        <p:spPr>
          <a:xfrm>
            <a:off x="640080" y="53858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9" name="Text 17"/>
          <p:cNvSpPr/>
          <p:nvPr/>
        </p:nvSpPr>
        <p:spPr>
          <a:xfrm>
            <a:off x="1207008" y="5367528"/>
            <a:ext cx="10332720" cy="411480"/>
          </a:xfrm>
          <a:prstGeom prst="rect">
            <a:avLst/>
          </a:prstGeom>
          <a:noFill/>
          <a:ln/>
        </p:spPr>
        <p:txBody>
          <a:bodyPr wrap="square" lIns="0" tIns="0" rIns="0" bIns="0" rtlCol="0" anchor="ctr"/>
          <a:lstStyle/>
          <a:p>
            <a:pPr indent="0" marL="0">
              <a:buNone/>
            </a:pPr>
            <a:r>
              <a:rPr lang="en-US" sz="1400" dirty="0">
                <a:solidFill>
                  <a:srgbClr val="22252E"/>
                </a:solidFill>
                <a:latin typeface="Calibri" pitchFamily="34" charset="0"/>
                <a:ea typeface="Calibri" pitchFamily="34" charset="-122"/>
                <a:cs typeface="Calibri" pitchFamily="34" charset="-120"/>
              </a:rPr>
              <a:t>To work out what happens to warning, escalation and stability if staying hidden becomes cheap.</a:t>
            </a:r>
            <a:endParaRPr lang="en-US" sz="1400" dirty="0"/>
          </a:p>
        </p:txBody>
      </p:sp>
      <p:sp>
        <p:nvSpPr>
          <p:cNvPr id="20" name="Shape 18"/>
          <p:cNvSpPr/>
          <p:nvPr/>
        </p:nvSpPr>
        <p:spPr>
          <a:xfrm>
            <a:off x="640080" y="5870448"/>
            <a:ext cx="365760" cy="365760"/>
          </a:xfrm>
          <a:prstGeom prst="ellipse">
            <a:avLst/>
          </a:prstGeom>
          <a:solidFill>
            <a:srgbClr val="1E2761"/>
          </a:solidFill>
          <a:ln/>
        </p:spPr>
      </p:sp>
      <p:sp>
        <p:nvSpPr>
          <p:cNvPr id="21" name="Text 19"/>
          <p:cNvSpPr/>
          <p:nvPr/>
        </p:nvSpPr>
        <p:spPr>
          <a:xfrm>
            <a:off x="640080" y="58704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2" name="Text 20"/>
          <p:cNvSpPr/>
          <p:nvPr/>
        </p:nvSpPr>
        <p:spPr>
          <a:xfrm>
            <a:off x="1207008" y="5852160"/>
            <a:ext cx="10332720" cy="411480"/>
          </a:xfrm>
          <a:prstGeom prst="rect">
            <a:avLst/>
          </a:prstGeom>
          <a:noFill/>
          <a:ln/>
        </p:spPr>
        <p:txBody>
          <a:bodyPr wrap="square" lIns="0" tIns="0" rIns="0" bIns="0" rtlCol="0" anchor="ctr"/>
          <a:lstStyle/>
          <a:p>
            <a:pPr indent="0" marL="0">
              <a:buNone/>
            </a:pPr>
            <a:r>
              <a:rPr lang="en-US" sz="1400" dirty="0">
                <a:solidFill>
                  <a:srgbClr val="22252E"/>
                </a:solidFill>
                <a:latin typeface="Calibri" pitchFamily="34" charset="0"/>
                <a:ea typeface="Calibri" pitchFamily="34" charset="-122"/>
                <a:cs typeface="Calibri" pitchFamily="34" charset="-120"/>
              </a:rPr>
              <a:t>To suggest signs by which analysts could spot that change.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EVIDENCE</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case that raises the question</a:t>
            </a:r>
            <a:endParaRPr lang="en-US" sz="3000" dirty="0"/>
          </a:p>
        </p:txBody>
      </p:sp>
      <p:sp>
        <p:nvSpPr>
          <p:cNvPr id="4" name="Text 2"/>
          <p:cNvSpPr/>
          <p:nvPr/>
        </p:nvSpPr>
        <p:spPr>
          <a:xfrm>
            <a:off x="640080" y="1280160"/>
            <a:ext cx="6035040" cy="1371600"/>
          </a:xfrm>
          <a:prstGeom prst="rect">
            <a:avLst/>
          </a:prstGeom>
          <a:noFill/>
          <a:ln/>
        </p:spPr>
        <p:txBody>
          <a:bodyPr wrap="square" lIns="0" tIns="0" rIns="0" bIns="0" rtlCol="0" anchor="ctr"/>
          <a:lstStyle/>
          <a:p>
            <a:pPr indent="0" marL="0">
              <a:lnSpc>
                <a:spcPts val="2200"/>
              </a:lnSpc>
              <a:buNone/>
            </a:pPr>
            <a:r>
              <a:rPr lang="en-US" sz="1550" b="1" dirty="0">
                <a:solidFill>
                  <a:srgbClr val="22252E"/>
                </a:solidFill>
                <a:latin typeface="Calibri" pitchFamily="34" charset="0"/>
                <a:ea typeface="Calibri" pitchFamily="34" charset="-122"/>
                <a:cs typeface="Calibri" pitchFamily="34" charset="-120"/>
              </a:rPr>
              <a:t>May 2023.</a:t>
            </a:r>
            <a:pPr indent="0" marL="0">
              <a:lnSpc>
                <a:spcPts val="2200"/>
              </a:lnSpc>
              <a:buNone/>
            </a:pPr>
            <a:r>
              <a:rPr lang="en-US" sz="1550" dirty="0">
                <a:solidFill>
                  <a:srgbClr val="22252E"/>
                </a:solidFill>
                <a:latin typeface="Calibri" pitchFamily="34" charset="0"/>
                <a:ea typeface="Calibri" pitchFamily="34" charset="-122"/>
                <a:cs typeface="Calibri" pitchFamily="34" charset="-120"/>
              </a:rPr>
              <a:t> The United States and its Five Eyes partners named China as the source of a campaign called </a:t>
            </a:r>
            <a:pPr indent="0" marL="0">
              <a:lnSpc>
                <a:spcPts val="2200"/>
              </a:lnSpc>
              <a:buNone/>
            </a:pPr>
            <a:r>
              <a:rPr lang="en-US" sz="1550" b="1" dirty="0">
                <a:solidFill>
                  <a:srgbClr val="22252E"/>
                </a:solidFill>
                <a:latin typeface="Calibri" pitchFamily="34" charset="0"/>
                <a:ea typeface="Calibri" pitchFamily="34" charset="-122"/>
                <a:cs typeface="Calibri" pitchFamily="34" charset="-120"/>
              </a:rPr>
              <a:t>Volt Typhoon</a:t>
            </a:r>
            <a:pPr indent="0" marL="0">
              <a:lnSpc>
                <a:spcPts val="2200"/>
              </a:lnSpc>
              <a:buNone/>
            </a:pPr>
            <a:r>
              <a:rPr lang="en-US" sz="1550" dirty="0">
                <a:solidFill>
                  <a:srgbClr val="22252E"/>
                </a:solidFill>
                <a:latin typeface="Calibri" pitchFamily="34" charset="0"/>
                <a:ea typeface="Calibri" pitchFamily="34" charset="-122"/>
                <a:cs typeface="Calibri" pitchFamily="34" charset="-120"/>
              </a:rPr>
              <a:t>. Operators had been living inside American energy, water, communications and transport networks, and in systems supporting military operations on Guam.</a:t>
            </a:r>
            <a:endParaRPr lang="en-US" sz="1550" dirty="0"/>
          </a:p>
        </p:txBody>
      </p:sp>
      <p:sp>
        <p:nvSpPr>
          <p:cNvPr id="5" name="Text 3"/>
          <p:cNvSpPr/>
          <p:nvPr/>
        </p:nvSpPr>
        <p:spPr>
          <a:xfrm>
            <a:off x="640080" y="2761488"/>
            <a:ext cx="6035040" cy="365760"/>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They took almost nothing.</a:t>
            </a:r>
            <a:endParaRPr lang="en-US" sz="2200" dirty="0"/>
          </a:p>
        </p:txBody>
      </p:sp>
      <p:sp>
        <p:nvSpPr>
          <p:cNvPr id="6" name="Text 4"/>
          <p:cNvSpPr/>
          <p:nvPr/>
        </p:nvSpPr>
        <p:spPr>
          <a:xfrm>
            <a:off x="640080" y="3145536"/>
            <a:ext cx="6035040" cy="548640"/>
          </a:xfrm>
          <a:prstGeom prst="rect">
            <a:avLst/>
          </a:prstGeom>
          <a:noFill/>
          <a:ln/>
        </p:spPr>
        <p:txBody>
          <a:bodyPr wrap="square" lIns="0" tIns="0" rIns="0" bIns="0" rtlCol="0" anchor="ctr"/>
          <a:lstStyle/>
          <a:p>
            <a:pPr indent="0" marL="0">
              <a:lnSpc>
                <a:spcPts val="2000"/>
              </a:lnSpc>
              <a:buNone/>
            </a:pPr>
            <a:r>
              <a:rPr lang="en-US" sz="1450" dirty="0">
                <a:solidFill>
                  <a:srgbClr val="6A6F7D"/>
                </a:solidFill>
                <a:latin typeface="Calibri" pitchFamily="34" charset="0"/>
                <a:ea typeface="Calibri" pitchFamily="34" charset="-122"/>
                <a:cs typeface="Calibri" pitchFamily="34" charset="-120"/>
              </a:rPr>
              <a:t>A spy steals and leaves. These operators arrived, settled in, and waited.</a:t>
            </a:r>
            <a:endParaRPr lang="en-US" sz="1450" dirty="0"/>
          </a:p>
        </p:txBody>
      </p:sp>
      <p:sp>
        <p:nvSpPr>
          <p:cNvPr id="7" name="Shape 5"/>
          <p:cNvSpPr/>
          <p:nvPr/>
        </p:nvSpPr>
        <p:spPr>
          <a:xfrm>
            <a:off x="640080" y="3703320"/>
            <a:ext cx="6035040" cy="1600200"/>
          </a:xfrm>
          <a:prstGeom prst="roundRect">
            <a:avLst>
              <a:gd name="adj" fmla="val 4571"/>
            </a:avLst>
          </a:prstGeom>
          <a:solidFill>
            <a:srgbClr val="FDF6EA"/>
          </a:solidFill>
          <a:ln w="9525">
            <a:solidFill>
              <a:srgbClr val="E2E7F2"/>
            </a:solidFill>
            <a:prstDash val="solid"/>
          </a:ln>
        </p:spPr>
      </p:sp>
      <p:sp>
        <p:nvSpPr>
          <p:cNvPr id="8" name="Text 6"/>
          <p:cNvSpPr/>
          <p:nvPr/>
        </p:nvSpPr>
        <p:spPr>
          <a:xfrm>
            <a:off x="960120" y="3913632"/>
            <a:ext cx="5440680" cy="1188720"/>
          </a:xfrm>
          <a:prstGeom prst="rect">
            <a:avLst/>
          </a:prstGeom>
          <a:noFill/>
          <a:ln/>
        </p:spPr>
        <p:txBody>
          <a:bodyPr wrap="square" lIns="0" tIns="0" rIns="0" bIns="0" rtlCol="0" anchor="ctr"/>
          <a:lstStyle/>
          <a:p>
            <a:pPr indent="0" marL="0">
              <a:lnSpc>
                <a:spcPts val="2000"/>
              </a:lnSpc>
              <a:buNone/>
            </a:pPr>
            <a:r>
              <a:rPr lang="en-US" sz="1400" i="1" dirty="0">
                <a:solidFill>
                  <a:srgbClr val="22252E"/>
                </a:solidFill>
                <a:latin typeface="Calibri" pitchFamily="34" charset="0"/>
                <a:ea typeface="Calibri" pitchFamily="34" charset="-122"/>
                <a:cs typeface="Calibri" pitchFamily="34" charset="-120"/>
              </a:rPr>
              <a:t>American officials said the campaign "did not fit the pattern of a traditional cyber espionage campaign."</a:t>
            </a:r>
            <a:endParaRPr lang="en-US" sz="1400" dirty="0"/>
          </a:p>
        </p:txBody>
      </p:sp>
      <p:sp>
        <p:nvSpPr>
          <p:cNvPr id="9" name="Shape 7"/>
          <p:cNvSpPr/>
          <p:nvPr/>
        </p:nvSpPr>
        <p:spPr>
          <a:xfrm>
            <a:off x="7086600" y="1280160"/>
            <a:ext cx="4434840" cy="4023360"/>
          </a:xfrm>
          <a:prstGeom prst="roundRect">
            <a:avLst>
              <a:gd name="adj" fmla="val 1818"/>
            </a:avLst>
          </a:prstGeom>
          <a:solidFill>
            <a:srgbClr val="F4F6FB"/>
          </a:solidFill>
          <a:ln w="9525">
            <a:solidFill>
              <a:srgbClr val="E2E7F2"/>
            </a:solidFill>
            <a:prstDash val="solid"/>
          </a:ln>
        </p:spPr>
      </p:sp>
      <p:sp>
        <p:nvSpPr>
          <p:cNvPr id="10" name="Text 8"/>
          <p:cNvSpPr/>
          <p:nvPr/>
        </p:nvSpPr>
        <p:spPr>
          <a:xfrm>
            <a:off x="7269480" y="1261872"/>
            <a:ext cx="822960" cy="960120"/>
          </a:xfrm>
          <a:prstGeom prst="rect">
            <a:avLst/>
          </a:prstGeom>
          <a:noFill/>
          <a:ln/>
        </p:spPr>
        <p:txBody>
          <a:bodyPr wrap="square" lIns="0" tIns="0" rIns="0" bIns="0" rtlCol="0" anchor="ctr"/>
          <a:lstStyle/>
          <a:p>
            <a:pPr indent="0" marL="0">
              <a:buNone/>
            </a:pPr>
            <a:r>
              <a:rPr lang="en-US" sz="5800" b="1" dirty="0">
                <a:solidFill>
                  <a:srgbClr val="CADCFC"/>
                </a:solidFill>
                <a:latin typeface="Cambria" pitchFamily="34" charset="0"/>
                <a:ea typeface="Cambria" pitchFamily="34" charset="-122"/>
                <a:cs typeface="Cambria" pitchFamily="34" charset="-120"/>
              </a:rPr>
              <a:t>“</a:t>
            </a:r>
            <a:endParaRPr lang="en-US" sz="5800" dirty="0"/>
          </a:p>
        </p:txBody>
      </p:sp>
      <p:sp>
        <p:nvSpPr>
          <p:cNvPr id="11" name="Text 9"/>
          <p:cNvSpPr/>
          <p:nvPr/>
        </p:nvSpPr>
        <p:spPr>
          <a:xfrm>
            <a:off x="7360920" y="1965960"/>
            <a:ext cx="3886200" cy="1783080"/>
          </a:xfrm>
          <a:prstGeom prst="rect">
            <a:avLst/>
          </a:prstGeom>
          <a:noFill/>
          <a:ln/>
        </p:spPr>
        <p:txBody>
          <a:bodyPr wrap="square" lIns="0" tIns="0" rIns="0" bIns="0" rtlCol="0" anchor="ctr"/>
          <a:lstStyle/>
          <a:p>
            <a:pPr indent="0" marL="0">
              <a:lnSpc>
                <a:spcPts val="2500"/>
              </a:lnSpc>
              <a:buNone/>
            </a:pPr>
            <a:r>
              <a:rPr lang="en-US" sz="1650" i="1" dirty="0">
                <a:solidFill>
                  <a:srgbClr val="1E2761"/>
                </a:solidFill>
                <a:latin typeface="Cambria" pitchFamily="34" charset="0"/>
                <a:ea typeface="Cambria" pitchFamily="34" charset="-122"/>
                <a:cs typeface="Cambria" pitchFamily="34" charset="-120"/>
              </a:rPr>
              <a:t>There is absolutely no intelligence to be gathered by putting malicious code in critical infrastructure networks.</a:t>
            </a:r>
            <a:endParaRPr lang="en-US" sz="1650" dirty="0"/>
          </a:p>
        </p:txBody>
      </p:sp>
      <p:sp>
        <p:nvSpPr>
          <p:cNvPr id="12" name="Text 10"/>
          <p:cNvSpPr/>
          <p:nvPr/>
        </p:nvSpPr>
        <p:spPr>
          <a:xfrm>
            <a:off x="7360920" y="3950208"/>
            <a:ext cx="3886200" cy="256032"/>
          </a:xfrm>
          <a:prstGeom prst="rect">
            <a:avLst/>
          </a:prstGeom>
          <a:noFill/>
          <a:ln/>
        </p:spPr>
        <p:txBody>
          <a:bodyPr wrap="square" lIns="0" tIns="0" rIns="0" bIns="0" rtlCol="0" anchor="ctr"/>
          <a:lstStyle/>
          <a:p>
            <a:pPr indent="0" marL="0">
              <a:buNone/>
            </a:pPr>
            <a:r>
              <a:rPr lang="en-US" sz="1300" b="1" dirty="0">
                <a:solidFill>
                  <a:srgbClr val="22252E"/>
                </a:solidFill>
                <a:latin typeface="Calibri" pitchFamily="34" charset="0"/>
                <a:ea typeface="Calibri" pitchFamily="34" charset="-122"/>
                <a:cs typeface="Calibri" pitchFamily="34" charset="-120"/>
              </a:rPr>
              <a:t>General Paul Nakasone</a:t>
            </a:r>
            <a:endParaRPr lang="en-US" sz="1300" dirty="0"/>
          </a:p>
        </p:txBody>
      </p:sp>
      <p:sp>
        <p:nvSpPr>
          <p:cNvPr id="13" name="Text 11"/>
          <p:cNvSpPr/>
          <p:nvPr/>
        </p:nvSpPr>
        <p:spPr>
          <a:xfrm>
            <a:off x="7360920" y="4197096"/>
            <a:ext cx="3886200" cy="256032"/>
          </a:xfrm>
          <a:prstGeom prst="rect">
            <a:avLst/>
          </a:prstGeom>
          <a:noFill/>
          <a:ln/>
        </p:spPr>
        <p:txBody>
          <a:bodyPr wrap="square" lIns="0" tIns="0" rIns="0" bIns="0" rtlCol="0" anchor="ctr"/>
          <a:lstStyle/>
          <a:p>
            <a:pPr indent="0" marL="0">
              <a:buNone/>
            </a:pPr>
            <a:r>
              <a:rPr lang="en-US" sz="1200" dirty="0">
                <a:solidFill>
                  <a:srgbClr val="6A6F7D"/>
                </a:solidFill>
                <a:latin typeface="Calibri" pitchFamily="34" charset="0"/>
                <a:ea typeface="Calibri" pitchFamily="34" charset="-122"/>
                <a:cs typeface="Calibri" pitchFamily="34" charset="-120"/>
              </a:rPr>
              <a:t>Then head of US Cyber Command</a:t>
            </a:r>
            <a:endParaRPr lang="en-US" sz="1200" dirty="0"/>
          </a:p>
        </p:txBody>
      </p:sp>
      <p:sp>
        <p:nvSpPr>
          <p:cNvPr id="14" name="Text 12"/>
          <p:cNvSpPr/>
          <p:nvPr/>
        </p:nvSpPr>
        <p:spPr>
          <a:xfrm>
            <a:off x="640080" y="5532120"/>
            <a:ext cx="10881360" cy="502920"/>
          </a:xfrm>
          <a:prstGeom prst="rect">
            <a:avLst/>
          </a:prstGeom>
          <a:noFill/>
          <a:ln/>
        </p:spPr>
        <p:txBody>
          <a:bodyPr wrap="square" lIns="0" tIns="0" rIns="0" bIns="0" rtlCol="0" anchor="ctr"/>
          <a:lstStyle/>
          <a:p>
            <a:pPr indent="0" marL="0">
              <a:lnSpc>
                <a:spcPts val="2000"/>
              </a:lnSpc>
              <a:buNone/>
            </a:pPr>
            <a:r>
              <a:rPr lang="en-US" sz="1400" b="1" dirty="0">
                <a:solidFill>
                  <a:srgbClr val="1E2761"/>
                </a:solidFill>
                <a:latin typeface="Calibri" pitchFamily="34" charset="0"/>
                <a:ea typeface="Calibri" pitchFamily="34" charset="-122"/>
                <a:cs typeface="Calibri" pitchFamily="34" charset="-120"/>
              </a:rPr>
              <a:t>Guam is the logistics hub for any Pacific crisis. A target tied to one specific scenario says more about intent than a target chosen at random.</a:t>
            </a:r>
            <a:endParaRPr lang="en-US" sz="1400" dirty="0"/>
          </a:p>
        </p:txBody>
      </p:sp>
      <p:sp>
        <p:nvSpPr>
          <p:cNvPr id="15" name="Text 13"/>
          <p:cNvSpPr/>
          <p:nvPr/>
        </p:nvSpPr>
        <p:spPr>
          <a:xfrm>
            <a:off x="640080" y="6355080"/>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Guttieri (2025); Codreanu (2025); Dimitrov and Andreev (2025).</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ASSUMPTION</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the field reads this as a warning</a:t>
            </a:r>
            <a:endParaRPr lang="en-US" sz="3000" dirty="0"/>
          </a:p>
        </p:txBody>
      </p:sp>
      <p:sp>
        <p:nvSpPr>
          <p:cNvPr id="4" name="Text 2"/>
          <p:cNvSpPr/>
          <p:nvPr/>
        </p:nvSpPr>
        <p:spPr>
          <a:xfrm>
            <a:off x="640080" y="1261872"/>
            <a:ext cx="10881360" cy="777240"/>
          </a:xfrm>
          <a:prstGeom prst="rect">
            <a:avLst/>
          </a:prstGeom>
          <a:noFill/>
          <a:ln/>
        </p:spPr>
        <p:txBody>
          <a:bodyPr wrap="square" lIns="0" tIns="0" rIns="0" bIns="0" rtlCol="0" anchor="ctr"/>
          <a:lstStyle/>
          <a:p>
            <a:pPr indent="0" marL="0">
              <a:lnSpc>
                <a:spcPts val="2700"/>
              </a:lnSpc>
              <a:buNone/>
            </a:pPr>
            <a:r>
              <a:rPr lang="en-US" sz="1950" i="1" dirty="0">
                <a:solidFill>
                  <a:srgbClr val="1E2761"/>
                </a:solidFill>
                <a:latin typeface="Cambria" pitchFamily="34" charset="0"/>
                <a:ea typeface="Cambria" pitchFamily="34" charset="-122"/>
                <a:cs typeface="Cambria" pitchFamily="34" charset="-120"/>
              </a:rPr>
              <a:t>If access gives you little to read but great power in a crisis, then the reason for being there is the crisis.</a:t>
            </a:r>
            <a:endParaRPr lang="en-US" sz="1950" dirty="0"/>
          </a:p>
        </p:txBody>
      </p:sp>
      <p:sp>
        <p:nvSpPr>
          <p:cNvPr id="5" name="Shape 3"/>
          <p:cNvSpPr/>
          <p:nvPr/>
        </p:nvSpPr>
        <p:spPr>
          <a:xfrm>
            <a:off x="640080" y="2176272"/>
            <a:ext cx="3429000" cy="2286000"/>
          </a:xfrm>
          <a:prstGeom prst="roundRect">
            <a:avLst>
              <a:gd name="adj" fmla="val 3200"/>
            </a:avLst>
          </a:prstGeom>
          <a:solidFill>
            <a:srgbClr val="F4F6FB"/>
          </a:solidFill>
          <a:ln w="9525">
            <a:solidFill>
              <a:srgbClr val="E2E7F2"/>
            </a:solidFill>
            <a:prstDash val="solid"/>
          </a:ln>
        </p:spPr>
      </p:sp>
      <p:sp>
        <p:nvSpPr>
          <p:cNvPr id="6" name="Shape 4"/>
          <p:cNvSpPr/>
          <p:nvPr/>
        </p:nvSpPr>
        <p:spPr>
          <a:xfrm>
            <a:off x="896112" y="2432304"/>
            <a:ext cx="502920" cy="502920"/>
          </a:xfrm>
          <a:prstGeom prst="ellipse">
            <a:avLst/>
          </a:prstGeom>
          <a:solidFill>
            <a:srgbClr val="1E2761"/>
          </a:solidFill>
          <a:ln/>
        </p:spPr>
      </p:sp>
      <p:sp>
        <p:nvSpPr>
          <p:cNvPr id="7" name="Text 5"/>
          <p:cNvSpPr/>
          <p:nvPr/>
        </p:nvSpPr>
        <p:spPr>
          <a:xfrm>
            <a:off x="896112" y="243230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896112" y="3090672"/>
            <a:ext cx="29260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Staying hidden is hard</a:t>
            </a:r>
            <a:endParaRPr lang="en-US" sz="1700" dirty="0"/>
          </a:p>
        </p:txBody>
      </p:sp>
      <p:sp>
        <p:nvSpPr>
          <p:cNvPr id="9" name="Text 7"/>
          <p:cNvSpPr/>
          <p:nvPr/>
        </p:nvSpPr>
        <p:spPr>
          <a:xfrm>
            <a:off x="896112" y="3483864"/>
            <a:ext cx="2926080" cy="91440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Years inside a defended network takes skill and patience. It is not cheap and it is not easy.</a:t>
            </a:r>
            <a:endParaRPr lang="en-US" sz="1350" dirty="0"/>
          </a:p>
        </p:txBody>
      </p:sp>
      <p:sp>
        <p:nvSpPr>
          <p:cNvPr id="10" name="Shape 8"/>
          <p:cNvSpPr/>
          <p:nvPr/>
        </p:nvSpPr>
        <p:spPr>
          <a:xfrm>
            <a:off x="4325112" y="2176272"/>
            <a:ext cx="3429000" cy="2286000"/>
          </a:xfrm>
          <a:prstGeom prst="roundRect">
            <a:avLst>
              <a:gd name="adj" fmla="val 3200"/>
            </a:avLst>
          </a:prstGeom>
          <a:solidFill>
            <a:srgbClr val="F4F6FB"/>
          </a:solidFill>
          <a:ln w="9525">
            <a:solidFill>
              <a:srgbClr val="E2E7F2"/>
            </a:solidFill>
            <a:prstDash val="solid"/>
          </a:ln>
        </p:spPr>
      </p:sp>
      <p:sp>
        <p:nvSpPr>
          <p:cNvPr id="11" name="Shape 9"/>
          <p:cNvSpPr/>
          <p:nvPr/>
        </p:nvSpPr>
        <p:spPr>
          <a:xfrm>
            <a:off x="4581144" y="2432304"/>
            <a:ext cx="502920" cy="502920"/>
          </a:xfrm>
          <a:prstGeom prst="ellipse">
            <a:avLst/>
          </a:prstGeom>
          <a:solidFill>
            <a:srgbClr val="1E2761"/>
          </a:solidFill>
          <a:ln/>
        </p:spPr>
      </p:sp>
      <p:sp>
        <p:nvSpPr>
          <p:cNvPr id="12" name="Text 10"/>
          <p:cNvSpPr/>
          <p:nvPr/>
        </p:nvSpPr>
        <p:spPr>
          <a:xfrm>
            <a:off x="4581144" y="243230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4581144" y="3090672"/>
            <a:ext cx="29260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So the act carries meaning</a:t>
            </a:r>
            <a:endParaRPr lang="en-US" sz="1700" dirty="0"/>
          </a:p>
        </p:txBody>
      </p:sp>
      <p:sp>
        <p:nvSpPr>
          <p:cNvPr id="14" name="Text 12"/>
          <p:cNvSpPr/>
          <p:nvPr/>
        </p:nvSpPr>
        <p:spPr>
          <a:xfrm>
            <a:off x="4581144" y="3483864"/>
            <a:ext cx="2926080" cy="91440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People do not pay a high price for nothing. The effort itself is the message being sent.</a:t>
            </a:r>
            <a:endParaRPr lang="en-US" sz="1350" dirty="0"/>
          </a:p>
        </p:txBody>
      </p:sp>
      <p:sp>
        <p:nvSpPr>
          <p:cNvPr id="15" name="Shape 13"/>
          <p:cNvSpPr/>
          <p:nvPr/>
        </p:nvSpPr>
        <p:spPr>
          <a:xfrm>
            <a:off x="8010144" y="2176272"/>
            <a:ext cx="3429000" cy="2286000"/>
          </a:xfrm>
          <a:prstGeom prst="roundRect">
            <a:avLst>
              <a:gd name="adj" fmla="val 3200"/>
            </a:avLst>
          </a:prstGeom>
          <a:solidFill>
            <a:srgbClr val="F4F6FB"/>
          </a:solidFill>
          <a:ln w="9525">
            <a:solidFill>
              <a:srgbClr val="E2E7F2"/>
            </a:solidFill>
            <a:prstDash val="solid"/>
          </a:ln>
        </p:spPr>
      </p:sp>
      <p:sp>
        <p:nvSpPr>
          <p:cNvPr id="16" name="Shape 14"/>
          <p:cNvSpPr/>
          <p:nvPr/>
        </p:nvSpPr>
        <p:spPr>
          <a:xfrm>
            <a:off x="8266176" y="2432304"/>
            <a:ext cx="502920" cy="502920"/>
          </a:xfrm>
          <a:prstGeom prst="ellipse">
            <a:avLst/>
          </a:prstGeom>
          <a:solidFill>
            <a:srgbClr val="1E2761"/>
          </a:solidFill>
          <a:ln/>
        </p:spPr>
      </p:sp>
      <p:sp>
        <p:nvSpPr>
          <p:cNvPr id="17" name="Text 15"/>
          <p:cNvSpPr/>
          <p:nvPr/>
        </p:nvSpPr>
        <p:spPr>
          <a:xfrm>
            <a:off x="8266176" y="243230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8266176" y="3090672"/>
            <a:ext cx="29260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Therefore: preparation</a:t>
            </a:r>
            <a:endParaRPr lang="en-US" sz="1700" dirty="0"/>
          </a:p>
        </p:txBody>
      </p:sp>
      <p:sp>
        <p:nvSpPr>
          <p:cNvPr id="19" name="Text 17"/>
          <p:cNvSpPr/>
          <p:nvPr/>
        </p:nvSpPr>
        <p:spPr>
          <a:xfrm>
            <a:off x="8266176" y="3483864"/>
            <a:ext cx="2926080" cy="91440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The intrusion is read as a state getting ready for a fight it expects to have.</a:t>
            </a:r>
            <a:endParaRPr lang="en-US" sz="1350" dirty="0"/>
          </a:p>
        </p:txBody>
      </p:sp>
      <p:sp>
        <p:nvSpPr>
          <p:cNvPr id="20" name="Shape 18"/>
          <p:cNvSpPr/>
          <p:nvPr/>
        </p:nvSpPr>
        <p:spPr>
          <a:xfrm>
            <a:off x="640080" y="4709160"/>
            <a:ext cx="10881360" cy="1051560"/>
          </a:xfrm>
          <a:prstGeom prst="roundRect">
            <a:avLst>
              <a:gd name="adj" fmla="val 6957"/>
            </a:avLst>
          </a:prstGeom>
          <a:solidFill>
            <a:srgbClr val="FDF6EA"/>
          </a:solidFill>
          <a:ln w="9525">
            <a:solidFill>
              <a:srgbClr val="E2E7F2"/>
            </a:solidFill>
            <a:prstDash val="solid"/>
          </a:ln>
        </p:spPr>
      </p:sp>
      <p:sp>
        <p:nvSpPr>
          <p:cNvPr id="21" name="Text 19"/>
          <p:cNvSpPr/>
          <p:nvPr/>
        </p:nvSpPr>
        <p:spPr>
          <a:xfrm>
            <a:off x="1005840" y="4846320"/>
            <a:ext cx="10149840" cy="822960"/>
          </a:xfrm>
          <a:prstGeom prst="rect">
            <a:avLst/>
          </a:prstGeom>
          <a:noFill/>
          <a:ln/>
        </p:spPr>
        <p:txBody>
          <a:bodyPr wrap="square" lIns="0" tIns="0" rIns="0" bIns="0" rtlCol="0" anchor="ctr"/>
          <a:lstStyle/>
          <a:p>
            <a:pPr indent="0" marL="0">
              <a:lnSpc>
                <a:spcPts val="2300"/>
              </a:lnSpc>
              <a:buNone/>
            </a:pPr>
            <a:r>
              <a:rPr lang="en-US" sz="1700" b="1" dirty="0">
                <a:solidFill>
                  <a:srgbClr val="D98C1F"/>
                </a:solidFill>
                <a:latin typeface="Cambria" pitchFamily="34" charset="0"/>
                <a:ea typeface="Cambria" pitchFamily="34" charset="-122"/>
                <a:cs typeface="Cambria" pitchFamily="34" charset="-120"/>
              </a:rPr>
              <a:t>The whole reading rests on one word: expensive. Take that away and the reasoning has nothing left to stand on. That is the assumption this study tests.</a:t>
            </a:r>
            <a:endParaRPr lang="en-US" sz="1700" dirty="0"/>
          </a:p>
        </p:txBody>
      </p:sp>
      <p:sp>
        <p:nvSpPr>
          <p:cNvPr id="22" name="Text 20"/>
          <p:cNvSpPr/>
          <p:nvPr/>
        </p:nvSpPr>
        <p:spPr>
          <a:xfrm>
            <a:off x="640080" y="6355080"/>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The reading and the quoted rule are from Guttieri (2025).</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FINDING ONE</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Governments do not act as if they believe it</a:t>
            </a:r>
            <a:endParaRPr lang="en-US" sz="3000" dirty="0"/>
          </a:p>
        </p:txBody>
      </p:sp>
      <p:sp>
        <p:nvSpPr>
          <p:cNvPr id="4" name="Shape 2"/>
          <p:cNvSpPr/>
          <p:nvPr/>
        </p:nvSpPr>
        <p:spPr>
          <a:xfrm>
            <a:off x="640080" y="1280160"/>
            <a:ext cx="5349240" cy="3474720"/>
          </a:xfrm>
          <a:prstGeom prst="roundRect">
            <a:avLst>
              <a:gd name="adj" fmla="val 2105"/>
            </a:avLst>
          </a:prstGeom>
          <a:solidFill>
            <a:srgbClr val="FDF6EA"/>
          </a:solidFill>
          <a:ln w="9525">
            <a:solidFill>
              <a:srgbClr val="E2E7F2"/>
            </a:solidFill>
            <a:prstDash val="solid"/>
          </a:ln>
        </p:spPr>
      </p:sp>
      <p:sp>
        <p:nvSpPr>
          <p:cNvPr id="5" name="Text 3"/>
          <p:cNvSpPr/>
          <p:nvPr/>
        </p:nvSpPr>
        <p:spPr>
          <a:xfrm>
            <a:off x="960120" y="1499616"/>
            <a:ext cx="4663440" cy="411480"/>
          </a:xfrm>
          <a:prstGeom prst="rect">
            <a:avLst/>
          </a:prstGeom>
          <a:noFill/>
          <a:ln/>
        </p:spPr>
        <p:txBody>
          <a:bodyPr wrap="square" lIns="0" tIns="0" rIns="0" bIns="0" rtlCol="0" anchor="ctr"/>
          <a:lstStyle/>
          <a:p>
            <a:pPr indent="0" marL="0">
              <a:buNone/>
            </a:pPr>
            <a:r>
              <a:rPr lang="en-US" sz="2400" b="1" dirty="0">
                <a:solidFill>
                  <a:srgbClr val="D98C1F"/>
                </a:solidFill>
                <a:latin typeface="Cambria" pitchFamily="34" charset="0"/>
                <a:ea typeface="Cambria" pitchFamily="34" charset="-122"/>
                <a:cs typeface="Cambria" pitchFamily="34" charset="-120"/>
              </a:rPr>
              <a:t>Volt Typhoon</a:t>
            </a:r>
            <a:endParaRPr lang="en-US" sz="2400" dirty="0"/>
          </a:p>
        </p:txBody>
      </p:sp>
      <p:sp>
        <p:nvSpPr>
          <p:cNvPr id="6" name="Text 4"/>
          <p:cNvSpPr/>
          <p:nvPr/>
        </p:nvSpPr>
        <p:spPr>
          <a:xfrm>
            <a:off x="960120" y="1938528"/>
            <a:ext cx="4663440" cy="594360"/>
          </a:xfrm>
          <a:prstGeom prst="rect">
            <a:avLst/>
          </a:prstGeom>
          <a:noFill/>
          <a:ln/>
        </p:spPr>
        <p:txBody>
          <a:bodyPr wrap="square" lIns="0" tIns="0" rIns="0" bIns="0" rtlCol="0" anchor="ctr"/>
          <a:lstStyle/>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Code left inside power, water,</a:t>
            </a:r>
            <a:endParaRPr lang="en-US" sz="1350" dirty="0"/>
          </a:p>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communications and transport</a:t>
            </a:r>
            <a:endParaRPr lang="en-US" sz="1350" dirty="0"/>
          </a:p>
        </p:txBody>
      </p:sp>
      <p:sp>
        <p:nvSpPr>
          <p:cNvPr id="7" name="Text 5"/>
          <p:cNvSpPr/>
          <p:nvPr/>
        </p:nvSpPr>
        <p:spPr>
          <a:xfrm>
            <a:off x="960120" y="2633472"/>
            <a:ext cx="4663440" cy="237744"/>
          </a:xfrm>
          <a:prstGeom prst="rect">
            <a:avLst/>
          </a:prstGeom>
          <a:noFill/>
          <a:ln/>
        </p:spPr>
        <p:txBody>
          <a:bodyPr wrap="square" lIns="0" tIns="0" rIns="0" bIns="0" rtlCol="0" anchor="ctr"/>
          <a:lstStyle/>
          <a:p>
            <a:pPr indent="0" marL="0">
              <a:buNone/>
            </a:pPr>
            <a:r>
              <a:rPr lang="en-US" sz="1100" b="1" spc="100" kern="0" dirty="0">
                <a:solidFill>
                  <a:srgbClr val="6A6F7D"/>
                </a:solidFill>
                <a:latin typeface="Calibri" pitchFamily="34" charset="0"/>
                <a:ea typeface="Calibri" pitchFamily="34" charset="-122"/>
                <a:cs typeface="Calibri" pitchFamily="34" charset="-120"/>
              </a:rPr>
              <a:t>WHAT THE UNITED STATES DID</a:t>
            </a:r>
            <a:endParaRPr lang="en-US" sz="1100" dirty="0"/>
          </a:p>
        </p:txBody>
      </p:sp>
      <p:sp>
        <p:nvSpPr>
          <p:cNvPr id="8" name="Text 6"/>
          <p:cNvSpPr/>
          <p:nvPr/>
        </p:nvSpPr>
        <p:spPr>
          <a:xfrm>
            <a:off x="960120" y="2889504"/>
            <a:ext cx="4663440" cy="411480"/>
          </a:xfrm>
          <a:prstGeom prst="rect">
            <a:avLst/>
          </a:prstGeom>
          <a:noFill/>
          <a:ln/>
        </p:spPr>
        <p:txBody>
          <a:bodyPr wrap="square" lIns="0" tIns="0" rIns="0" bIns="0" rtlCol="0" anchor="ctr"/>
          <a:lstStyle/>
          <a:p>
            <a:pPr indent="0" marL="0">
              <a:buNone/>
            </a:pPr>
            <a:r>
              <a:rPr lang="en-US" sz="2100" b="1" dirty="0">
                <a:solidFill>
                  <a:srgbClr val="D98C1F"/>
                </a:solidFill>
                <a:latin typeface="Cambria" pitchFamily="34" charset="0"/>
                <a:ea typeface="Cambria" pitchFamily="34" charset="-122"/>
                <a:cs typeface="Cambria" pitchFamily="34" charset="-120"/>
              </a:rPr>
              <a:t>A technical advisory</a:t>
            </a:r>
            <a:endParaRPr lang="en-US" sz="2100" dirty="0"/>
          </a:p>
        </p:txBody>
      </p:sp>
      <p:sp>
        <p:nvSpPr>
          <p:cNvPr id="9" name="Text 7"/>
          <p:cNvSpPr/>
          <p:nvPr/>
        </p:nvSpPr>
        <p:spPr>
          <a:xfrm>
            <a:off x="960120" y="3364992"/>
            <a:ext cx="4663440" cy="82296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No sanctions. No allied statement.</a:t>
            </a:r>
            <a:endParaRPr lang="en-US" sz="1350" dirty="0"/>
          </a:p>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Guidance written for engineers.</a:t>
            </a:r>
            <a:endParaRPr lang="en-US" sz="1350" dirty="0"/>
          </a:p>
        </p:txBody>
      </p:sp>
      <p:sp>
        <p:nvSpPr>
          <p:cNvPr id="10" name="Shape 8"/>
          <p:cNvSpPr/>
          <p:nvPr/>
        </p:nvSpPr>
        <p:spPr>
          <a:xfrm>
            <a:off x="6263640" y="1280160"/>
            <a:ext cx="5349240" cy="3474720"/>
          </a:xfrm>
          <a:prstGeom prst="roundRect">
            <a:avLst>
              <a:gd name="adj" fmla="val 2105"/>
            </a:avLst>
          </a:prstGeom>
          <a:solidFill>
            <a:srgbClr val="F4F6FB"/>
          </a:solidFill>
          <a:ln w="9525">
            <a:solidFill>
              <a:srgbClr val="E2E7F2"/>
            </a:solidFill>
            <a:prstDash val="solid"/>
          </a:ln>
        </p:spPr>
      </p:sp>
      <p:sp>
        <p:nvSpPr>
          <p:cNvPr id="11" name="Text 9"/>
          <p:cNvSpPr/>
          <p:nvPr/>
        </p:nvSpPr>
        <p:spPr>
          <a:xfrm>
            <a:off x="6583680" y="1499616"/>
            <a:ext cx="4663440" cy="4114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Salt Typhoon</a:t>
            </a:r>
            <a:endParaRPr lang="en-US" sz="2400" dirty="0"/>
          </a:p>
        </p:txBody>
      </p:sp>
      <p:sp>
        <p:nvSpPr>
          <p:cNvPr id="12" name="Text 10"/>
          <p:cNvSpPr/>
          <p:nvPr/>
        </p:nvSpPr>
        <p:spPr>
          <a:xfrm>
            <a:off x="6583680" y="1938528"/>
            <a:ext cx="4663440" cy="594360"/>
          </a:xfrm>
          <a:prstGeom prst="rect">
            <a:avLst/>
          </a:prstGeom>
          <a:noFill/>
          <a:ln/>
        </p:spPr>
        <p:txBody>
          <a:bodyPr wrap="square" lIns="0" tIns="0" rIns="0" bIns="0" rtlCol="0" anchor="ctr"/>
          <a:lstStyle/>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Spying on phone companies, call</a:t>
            </a:r>
            <a:endParaRPr lang="en-US" sz="1350" dirty="0"/>
          </a:p>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records and surveillance systems</a:t>
            </a:r>
            <a:endParaRPr lang="en-US" sz="1350" dirty="0"/>
          </a:p>
        </p:txBody>
      </p:sp>
      <p:sp>
        <p:nvSpPr>
          <p:cNvPr id="13" name="Text 11"/>
          <p:cNvSpPr/>
          <p:nvPr/>
        </p:nvSpPr>
        <p:spPr>
          <a:xfrm>
            <a:off x="6583680" y="2633472"/>
            <a:ext cx="4663440" cy="237744"/>
          </a:xfrm>
          <a:prstGeom prst="rect">
            <a:avLst/>
          </a:prstGeom>
          <a:noFill/>
          <a:ln/>
        </p:spPr>
        <p:txBody>
          <a:bodyPr wrap="square" lIns="0" tIns="0" rIns="0" bIns="0" rtlCol="0" anchor="ctr"/>
          <a:lstStyle/>
          <a:p>
            <a:pPr indent="0" marL="0">
              <a:buNone/>
            </a:pPr>
            <a:r>
              <a:rPr lang="en-US" sz="1100" b="1" spc="100" kern="0" dirty="0">
                <a:solidFill>
                  <a:srgbClr val="6A6F7D"/>
                </a:solidFill>
                <a:latin typeface="Calibri" pitchFamily="34" charset="0"/>
                <a:ea typeface="Calibri" pitchFamily="34" charset="-122"/>
                <a:cs typeface="Calibri" pitchFamily="34" charset="-120"/>
              </a:rPr>
              <a:t>WHAT THE UNITED STATES DID</a:t>
            </a:r>
            <a:endParaRPr lang="en-US" sz="1100" dirty="0"/>
          </a:p>
        </p:txBody>
      </p:sp>
      <p:sp>
        <p:nvSpPr>
          <p:cNvPr id="14" name="Text 12"/>
          <p:cNvSpPr/>
          <p:nvPr/>
        </p:nvSpPr>
        <p:spPr>
          <a:xfrm>
            <a:off x="6583680" y="2889504"/>
            <a:ext cx="4663440" cy="41148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Treasury sanctions</a:t>
            </a:r>
            <a:endParaRPr lang="en-US" sz="2100" dirty="0"/>
          </a:p>
        </p:txBody>
      </p:sp>
      <p:sp>
        <p:nvSpPr>
          <p:cNvPr id="15" name="Text 13"/>
          <p:cNvSpPr/>
          <p:nvPr/>
        </p:nvSpPr>
        <p:spPr>
          <a:xfrm>
            <a:off x="6583680" y="3364992"/>
            <a:ext cx="4663440" cy="82296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Named entities. Real financial</a:t>
            </a:r>
            <a:endParaRPr lang="en-US" sz="1350" dirty="0"/>
          </a:p>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penalties. A political response.</a:t>
            </a:r>
            <a:endParaRPr lang="en-US" sz="1350" dirty="0"/>
          </a:p>
        </p:txBody>
      </p:sp>
      <p:sp>
        <p:nvSpPr>
          <p:cNvPr id="16" name="Text 14"/>
          <p:cNvSpPr/>
          <p:nvPr/>
        </p:nvSpPr>
        <p:spPr>
          <a:xfrm>
            <a:off x="640080" y="4956048"/>
            <a:ext cx="10881360" cy="658368"/>
          </a:xfrm>
          <a:prstGeom prst="rect">
            <a:avLst/>
          </a:prstGeom>
          <a:noFill/>
          <a:ln/>
        </p:spPr>
        <p:txBody>
          <a:bodyPr wrap="square" lIns="0" tIns="0" rIns="0" bIns="0" rtlCol="0" anchor="ctr"/>
          <a:lstStyle/>
          <a:p>
            <a:pPr indent="0" marL="0">
              <a:lnSpc>
                <a:spcPts val="2500"/>
              </a:lnSpc>
              <a:buNone/>
            </a:pPr>
            <a:r>
              <a:rPr lang="en-US" sz="1900" b="1" dirty="0">
                <a:solidFill>
                  <a:srgbClr val="1E2761"/>
                </a:solidFill>
                <a:latin typeface="Cambria" pitchFamily="34" charset="0"/>
                <a:ea typeface="Cambria" pitchFamily="34" charset="-122"/>
                <a:cs typeface="Cambria" pitchFamily="34" charset="-120"/>
              </a:rPr>
              <a:t>Same country. Same period. Same victim. The lesser act was punished; the graver one was not.</a:t>
            </a:r>
            <a:endParaRPr lang="en-US" sz="1900" dirty="0"/>
          </a:p>
        </p:txBody>
      </p:sp>
      <p:sp>
        <p:nvSpPr>
          <p:cNvPr id="17" name="Text 15"/>
          <p:cNvSpPr/>
          <p:nvPr/>
        </p:nvSpPr>
        <p:spPr>
          <a:xfrm>
            <a:off x="640080" y="5596128"/>
            <a:ext cx="10881360" cy="548640"/>
          </a:xfrm>
          <a:prstGeom prst="rect">
            <a:avLst/>
          </a:prstGeom>
          <a:noFill/>
          <a:ln/>
        </p:spPr>
        <p:txBody>
          <a:bodyPr wrap="square" lIns="0" tIns="0" rIns="0" bIns="0" rtlCol="0" anchor="ctr"/>
          <a:lstStyle/>
          <a:p>
            <a:pPr indent="0" marL="0">
              <a:buNone/>
            </a:pPr>
            <a:r>
              <a:rPr lang="en-US" sz="1450" dirty="0">
                <a:solidFill>
                  <a:srgbClr val="22252E"/>
                </a:solidFill>
                <a:latin typeface="Calibri" pitchFamily="34" charset="0"/>
                <a:ea typeface="Calibri" pitchFamily="34" charset="-122"/>
                <a:cs typeface="Calibri" pitchFamily="34" charset="-120"/>
              </a:rPr>
              <a:t>Governments respond to what is easy to explain and what fits past practice, not to what is actually dangerous.</a:t>
            </a:r>
            <a:endParaRPr lang="en-US" sz="1450" dirty="0"/>
          </a:p>
        </p:txBody>
      </p:sp>
      <p:sp>
        <p:nvSpPr>
          <p:cNvPr id="18" name="Text 16"/>
          <p:cNvSpPr/>
          <p:nvPr/>
        </p:nvSpPr>
        <p:spPr>
          <a:xfrm>
            <a:off x="640080" y="6355080"/>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Volt Typhoon response coded in Baram (2026); Salt Typhoon sanctions in Urbanczyk et al. (2025).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WHY</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reasons the warning never lands</a:t>
            </a:r>
            <a:endParaRPr lang="en-US" sz="3000" dirty="0"/>
          </a:p>
        </p:txBody>
      </p:sp>
      <p:sp>
        <p:nvSpPr>
          <p:cNvPr id="4" name="Shape 2"/>
          <p:cNvSpPr/>
          <p:nvPr/>
        </p:nvSpPr>
        <p:spPr>
          <a:xfrm>
            <a:off x="640080" y="1335024"/>
            <a:ext cx="530352" cy="530352"/>
          </a:xfrm>
          <a:prstGeom prst="ellipse">
            <a:avLst/>
          </a:prstGeom>
          <a:solidFill>
            <a:srgbClr val="1E2761"/>
          </a:solidFill>
          <a:ln/>
        </p:spPr>
      </p:sp>
      <p:sp>
        <p:nvSpPr>
          <p:cNvPr id="5" name="Text 3"/>
          <p:cNvSpPr/>
          <p:nvPr/>
        </p:nvSpPr>
        <p:spPr>
          <a:xfrm>
            <a:off x="640080" y="1335024"/>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p:nvPr/>
        </p:nvSpPr>
        <p:spPr>
          <a:xfrm>
            <a:off x="1463040" y="1298448"/>
            <a:ext cx="3566160" cy="347472"/>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Nobody notices</a:t>
            </a:r>
            <a:endParaRPr lang="en-US" sz="1900" dirty="0"/>
          </a:p>
        </p:txBody>
      </p:sp>
      <p:sp>
        <p:nvSpPr>
          <p:cNvPr id="7" name="Text 5"/>
          <p:cNvSpPr/>
          <p:nvPr/>
        </p:nvSpPr>
        <p:spPr>
          <a:xfrm>
            <a:off x="5120640" y="1298448"/>
            <a:ext cx="6400800" cy="914400"/>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These operations leave no wreckage and no photographs. There is no burning building, so no public pressure and no political demand for a response.</a:t>
            </a:r>
            <a:endParaRPr lang="en-US" sz="1400" dirty="0"/>
          </a:p>
        </p:txBody>
      </p:sp>
      <p:sp>
        <p:nvSpPr>
          <p:cNvPr id="8" name="Shape 6"/>
          <p:cNvSpPr/>
          <p:nvPr/>
        </p:nvSpPr>
        <p:spPr>
          <a:xfrm>
            <a:off x="640080" y="2633472"/>
            <a:ext cx="530352" cy="530352"/>
          </a:xfrm>
          <a:prstGeom prst="ellipse">
            <a:avLst/>
          </a:prstGeom>
          <a:solidFill>
            <a:srgbClr val="1E2761"/>
          </a:solidFill>
          <a:ln/>
        </p:spPr>
      </p:sp>
      <p:sp>
        <p:nvSpPr>
          <p:cNvPr id="9" name="Text 7"/>
          <p:cNvSpPr/>
          <p:nvPr/>
        </p:nvSpPr>
        <p:spPr>
          <a:xfrm>
            <a:off x="640080" y="2633472"/>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463040" y="2596896"/>
            <a:ext cx="3566160" cy="347472"/>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The sender denies it</a:t>
            </a:r>
            <a:endParaRPr lang="en-US" sz="1900" dirty="0"/>
          </a:p>
        </p:txBody>
      </p:sp>
      <p:sp>
        <p:nvSpPr>
          <p:cNvPr id="11" name="Text 9"/>
          <p:cNvSpPr/>
          <p:nvPr/>
        </p:nvSpPr>
        <p:spPr>
          <a:xfrm>
            <a:off x="5120640" y="2596896"/>
            <a:ext cx="6400800" cy="914400"/>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China calls the accusation disinformation and makes counter-accusations of its own. A warning nobody admits sending is very hard to receive.</a:t>
            </a:r>
            <a:endParaRPr lang="en-US" sz="1400" dirty="0"/>
          </a:p>
        </p:txBody>
      </p:sp>
      <p:sp>
        <p:nvSpPr>
          <p:cNvPr id="12" name="Shape 10"/>
          <p:cNvSpPr/>
          <p:nvPr/>
        </p:nvSpPr>
        <p:spPr>
          <a:xfrm>
            <a:off x="640080" y="3931920"/>
            <a:ext cx="530352" cy="530352"/>
          </a:xfrm>
          <a:prstGeom prst="ellipse">
            <a:avLst/>
          </a:prstGeom>
          <a:solidFill>
            <a:srgbClr val="1E2761"/>
          </a:solidFill>
          <a:ln/>
        </p:spPr>
      </p:sp>
      <p:sp>
        <p:nvSpPr>
          <p:cNvPr id="13" name="Text 11"/>
          <p:cNvSpPr/>
          <p:nvPr/>
        </p:nvSpPr>
        <p:spPr>
          <a:xfrm>
            <a:off x="640080" y="3931920"/>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2"/>
          <p:cNvSpPr/>
          <p:nvPr/>
        </p:nvSpPr>
        <p:spPr>
          <a:xfrm>
            <a:off x="1463040" y="3895344"/>
            <a:ext cx="3566160" cy="347472"/>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It reaches the wrong desk</a:t>
            </a:r>
            <a:endParaRPr lang="en-US" sz="1900" dirty="0"/>
          </a:p>
        </p:txBody>
      </p:sp>
      <p:sp>
        <p:nvSpPr>
          <p:cNvPr id="15" name="Text 13"/>
          <p:cNvSpPr/>
          <p:nvPr/>
        </p:nvSpPr>
        <p:spPr>
          <a:xfrm>
            <a:off x="5120640" y="3895344"/>
            <a:ext cx="6400800" cy="914400"/>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The response is a technical advisory. Its audience is network defenders, not the ministers and commanders who decide on war and peace.</a:t>
            </a:r>
            <a:endParaRPr lang="en-US" sz="1400" dirty="0"/>
          </a:p>
        </p:txBody>
      </p:sp>
      <p:sp>
        <p:nvSpPr>
          <p:cNvPr id="16" name="Shape 14"/>
          <p:cNvSpPr/>
          <p:nvPr/>
        </p:nvSpPr>
        <p:spPr>
          <a:xfrm>
            <a:off x="640080" y="5303520"/>
            <a:ext cx="10881360" cy="914400"/>
          </a:xfrm>
          <a:prstGeom prst="roundRect">
            <a:avLst>
              <a:gd name="adj" fmla="val 8000"/>
            </a:avLst>
          </a:prstGeom>
          <a:solidFill>
            <a:srgbClr val="F4F6FB"/>
          </a:solidFill>
          <a:ln w="9525">
            <a:solidFill>
              <a:srgbClr val="E2E7F2"/>
            </a:solidFill>
            <a:prstDash val="solid"/>
          </a:ln>
        </p:spPr>
      </p:sp>
      <p:sp>
        <p:nvSpPr>
          <p:cNvPr id="17" name="Text 15"/>
          <p:cNvSpPr/>
          <p:nvPr/>
        </p:nvSpPr>
        <p:spPr>
          <a:xfrm>
            <a:off x="1005840" y="5413248"/>
            <a:ext cx="10149840" cy="713232"/>
          </a:xfrm>
          <a:prstGeom prst="rect">
            <a:avLst/>
          </a:prstGeom>
          <a:noFill/>
          <a:ln/>
        </p:spPr>
        <p:txBody>
          <a:bodyPr wrap="square" lIns="0" tIns="0" rIns="0" bIns="0" rtlCol="0" anchor="ctr"/>
          <a:lstStyle/>
          <a:p>
            <a:pPr indent="0" marL="0">
              <a:buNone/>
            </a:pPr>
            <a:r>
              <a:rPr lang="en-US" sz="1750" i="1" dirty="0">
                <a:solidFill>
                  <a:srgbClr val="1E2761"/>
                </a:solidFill>
                <a:latin typeface="Cambria" pitchFamily="34" charset="0"/>
                <a:ea typeface="Cambria" pitchFamily="34" charset="-122"/>
                <a:cs typeface="Cambria" pitchFamily="34" charset="-120"/>
              </a:rPr>
              <a:t>A threat only works if it is seen, believed, and read by the right people. This one fails all three tests.</a:t>
            </a:r>
            <a:endParaRPr lang="en-US" sz="1750" dirty="0"/>
          </a:p>
        </p:txBody>
      </p:sp>
      <p:sp>
        <p:nvSpPr>
          <p:cNvPr id="18" name="Text 16"/>
          <p:cNvSpPr/>
          <p:nvPr/>
        </p:nvSpPr>
        <p:spPr>
          <a:xfrm>
            <a:off x="640080" y="6355080"/>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Sullivan (2025); Singh, Jash and Nanjappa (2025); Codreanu (2025); Baram (2026).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FINDING TWO</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And it has never actually led anywhere</a:t>
            </a:r>
            <a:endParaRPr lang="en-US" sz="3000" dirty="0"/>
          </a:p>
        </p:txBody>
      </p:sp>
      <p:sp>
        <p:nvSpPr>
          <p:cNvPr id="4" name="Shape 2"/>
          <p:cNvSpPr/>
          <p:nvPr/>
        </p:nvSpPr>
        <p:spPr>
          <a:xfrm>
            <a:off x="640080" y="1280160"/>
            <a:ext cx="7223760" cy="1060704"/>
          </a:xfrm>
          <a:prstGeom prst="roundRect">
            <a:avLst>
              <a:gd name="adj" fmla="val 6897"/>
            </a:avLst>
          </a:prstGeom>
          <a:solidFill>
            <a:srgbClr val="F4F6FB"/>
          </a:solidFill>
          <a:ln w="9525">
            <a:solidFill>
              <a:srgbClr val="E2E7F2"/>
            </a:solidFill>
            <a:prstDash val="solid"/>
          </a:ln>
        </p:spPr>
      </p:sp>
      <p:sp>
        <p:nvSpPr>
          <p:cNvPr id="5" name="Text 3"/>
          <p:cNvSpPr/>
          <p:nvPr/>
        </p:nvSpPr>
        <p:spPr>
          <a:xfrm>
            <a:off x="914400" y="1408176"/>
            <a:ext cx="4023360" cy="310896"/>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Russia inside US infrastructure</a:t>
            </a:r>
            <a:endParaRPr lang="en-US" sz="1600" dirty="0"/>
          </a:p>
        </p:txBody>
      </p:sp>
      <p:sp>
        <p:nvSpPr>
          <p:cNvPr id="6" name="Text 4"/>
          <p:cNvSpPr/>
          <p:nvPr/>
        </p:nvSpPr>
        <p:spPr>
          <a:xfrm>
            <a:off x="914400" y="1737360"/>
            <a:ext cx="4023360" cy="274320"/>
          </a:xfrm>
          <a:prstGeom prst="rect">
            <a:avLst/>
          </a:prstGeom>
          <a:noFill/>
          <a:ln/>
        </p:spPr>
        <p:txBody>
          <a:bodyPr wrap="square" lIns="0" tIns="0" rIns="0" bIns="0" rtlCol="0" anchor="ctr"/>
          <a:lstStyle/>
          <a:p>
            <a:pPr indent="0" marL="0">
              <a:buNone/>
            </a:pPr>
            <a:r>
              <a:rPr lang="en-US" sz="1250" dirty="0">
                <a:solidFill>
                  <a:srgbClr val="6A6F7D"/>
                </a:solidFill>
                <a:latin typeface="Calibri" pitchFamily="34" charset="0"/>
                <a:ea typeface="Calibri" pitchFamily="34" charset="-122"/>
                <a:cs typeface="Calibri" pitchFamily="34" charset="-120"/>
              </a:rPr>
              <a:t>2018 to today</a:t>
            </a:r>
            <a:endParaRPr lang="en-US" sz="1250" dirty="0"/>
          </a:p>
        </p:txBody>
      </p:sp>
      <p:sp>
        <p:nvSpPr>
          <p:cNvPr id="7" name="Text 5"/>
          <p:cNvSpPr/>
          <p:nvPr/>
        </p:nvSpPr>
        <p:spPr>
          <a:xfrm>
            <a:off x="5074920" y="1408176"/>
            <a:ext cx="2651760" cy="859536"/>
          </a:xfrm>
          <a:prstGeom prst="rect">
            <a:avLst/>
          </a:prstGeom>
          <a:noFill/>
          <a:ln/>
        </p:spPr>
        <p:txBody>
          <a:bodyPr wrap="square" lIns="0" tIns="0" rIns="0" bIns="0" rtlCol="0" anchor="ctr"/>
          <a:lstStyle/>
          <a:p>
            <a:pPr indent="0" marL="0">
              <a:lnSpc>
                <a:spcPts val="1700"/>
              </a:lnSpc>
              <a:buNone/>
            </a:pPr>
            <a:r>
              <a:rPr lang="en-US" sz="1250" dirty="0">
                <a:solidFill>
                  <a:srgbClr val="22252E"/>
                </a:solidFill>
                <a:latin typeface="Calibri" pitchFamily="34" charset="0"/>
                <a:ea typeface="Calibri" pitchFamily="34" charset="-122"/>
                <a:cs typeface="Calibri" pitchFamily="34" charset="-120"/>
              </a:rPr>
              <a:t>Found in nuclear, energy, aviation and water systems. Still there. Seven years, never used.</a:t>
            </a:r>
            <a:endParaRPr lang="en-US" sz="1250" dirty="0"/>
          </a:p>
        </p:txBody>
      </p:sp>
      <p:sp>
        <p:nvSpPr>
          <p:cNvPr id="8" name="Shape 6"/>
          <p:cNvSpPr/>
          <p:nvPr/>
        </p:nvSpPr>
        <p:spPr>
          <a:xfrm>
            <a:off x="640080" y="2468880"/>
            <a:ext cx="7223760" cy="1060704"/>
          </a:xfrm>
          <a:prstGeom prst="roundRect">
            <a:avLst>
              <a:gd name="adj" fmla="val 6897"/>
            </a:avLst>
          </a:prstGeom>
          <a:solidFill>
            <a:srgbClr val="F4F6FB"/>
          </a:solidFill>
          <a:ln w="9525">
            <a:solidFill>
              <a:srgbClr val="E2E7F2"/>
            </a:solidFill>
            <a:prstDash val="solid"/>
          </a:ln>
        </p:spPr>
      </p:sp>
      <p:sp>
        <p:nvSpPr>
          <p:cNvPr id="9" name="Text 7"/>
          <p:cNvSpPr/>
          <p:nvPr/>
        </p:nvSpPr>
        <p:spPr>
          <a:xfrm>
            <a:off x="914400" y="2596896"/>
            <a:ext cx="4023360" cy="310896"/>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Volt Typhoon</a:t>
            </a:r>
            <a:endParaRPr lang="en-US" sz="1600" dirty="0"/>
          </a:p>
        </p:txBody>
      </p:sp>
      <p:sp>
        <p:nvSpPr>
          <p:cNvPr id="10" name="Text 8"/>
          <p:cNvSpPr/>
          <p:nvPr/>
        </p:nvSpPr>
        <p:spPr>
          <a:xfrm>
            <a:off x="914400" y="2926080"/>
            <a:ext cx="4023360" cy="274320"/>
          </a:xfrm>
          <a:prstGeom prst="rect">
            <a:avLst/>
          </a:prstGeom>
          <a:noFill/>
          <a:ln/>
        </p:spPr>
        <p:txBody>
          <a:bodyPr wrap="square" lIns="0" tIns="0" rIns="0" bIns="0" rtlCol="0" anchor="ctr"/>
          <a:lstStyle/>
          <a:p>
            <a:pPr indent="0" marL="0">
              <a:buNone/>
            </a:pPr>
            <a:r>
              <a:rPr lang="en-US" sz="1250" dirty="0">
                <a:solidFill>
                  <a:srgbClr val="6A6F7D"/>
                </a:solidFill>
                <a:latin typeface="Calibri" pitchFamily="34" charset="0"/>
                <a:ea typeface="Calibri" pitchFamily="34" charset="-122"/>
                <a:cs typeface="Calibri" pitchFamily="34" charset="-120"/>
              </a:rPr>
              <a:t>2023 to today</a:t>
            </a:r>
            <a:endParaRPr lang="en-US" sz="1250" dirty="0"/>
          </a:p>
        </p:txBody>
      </p:sp>
      <p:sp>
        <p:nvSpPr>
          <p:cNvPr id="11" name="Text 9"/>
          <p:cNvSpPr/>
          <p:nvPr/>
        </p:nvSpPr>
        <p:spPr>
          <a:xfrm>
            <a:off x="5074920" y="2596896"/>
            <a:ext cx="2651760" cy="859536"/>
          </a:xfrm>
          <a:prstGeom prst="rect">
            <a:avLst/>
          </a:prstGeom>
          <a:noFill/>
          <a:ln/>
        </p:spPr>
        <p:txBody>
          <a:bodyPr wrap="square" lIns="0" tIns="0" rIns="0" bIns="0" rtlCol="0" anchor="ctr"/>
          <a:lstStyle/>
          <a:p>
            <a:pPr indent="0" marL="0">
              <a:lnSpc>
                <a:spcPts val="1700"/>
              </a:lnSpc>
              <a:buNone/>
            </a:pPr>
            <a:r>
              <a:rPr lang="en-US" sz="1250" dirty="0">
                <a:solidFill>
                  <a:srgbClr val="22252E"/>
                </a:solidFill>
                <a:latin typeface="Calibri" pitchFamily="34" charset="0"/>
                <a:ea typeface="Calibri" pitchFamily="34" charset="-122"/>
                <a:cs typeface="Calibri" pitchFamily="34" charset="-120"/>
              </a:rPr>
              <a:t>Found across four infrastructure sectors. Still there. Never used.</a:t>
            </a:r>
            <a:endParaRPr lang="en-US" sz="1250" dirty="0"/>
          </a:p>
        </p:txBody>
      </p:sp>
      <p:sp>
        <p:nvSpPr>
          <p:cNvPr id="12" name="Shape 10"/>
          <p:cNvSpPr/>
          <p:nvPr/>
        </p:nvSpPr>
        <p:spPr>
          <a:xfrm>
            <a:off x="640080" y="3657600"/>
            <a:ext cx="7223760" cy="1060704"/>
          </a:xfrm>
          <a:prstGeom prst="roundRect">
            <a:avLst>
              <a:gd name="adj" fmla="val 6897"/>
            </a:avLst>
          </a:prstGeom>
          <a:solidFill>
            <a:srgbClr val="F4F6FB"/>
          </a:solidFill>
          <a:ln w="9525">
            <a:solidFill>
              <a:srgbClr val="E2E7F2"/>
            </a:solidFill>
            <a:prstDash val="solid"/>
          </a:ln>
        </p:spPr>
      </p:sp>
      <p:sp>
        <p:nvSpPr>
          <p:cNvPr id="13" name="Text 11"/>
          <p:cNvSpPr/>
          <p:nvPr/>
        </p:nvSpPr>
        <p:spPr>
          <a:xfrm>
            <a:off x="914400" y="3785616"/>
            <a:ext cx="4023360" cy="310896"/>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Russia inside Ukraine</a:t>
            </a:r>
            <a:endParaRPr lang="en-US" sz="1600" dirty="0"/>
          </a:p>
        </p:txBody>
      </p:sp>
      <p:sp>
        <p:nvSpPr>
          <p:cNvPr id="14" name="Text 12"/>
          <p:cNvSpPr/>
          <p:nvPr/>
        </p:nvSpPr>
        <p:spPr>
          <a:xfrm>
            <a:off x="914400" y="4114800"/>
            <a:ext cx="4023360" cy="274320"/>
          </a:xfrm>
          <a:prstGeom prst="rect">
            <a:avLst/>
          </a:prstGeom>
          <a:noFill/>
          <a:ln/>
        </p:spPr>
        <p:txBody>
          <a:bodyPr wrap="square" lIns="0" tIns="0" rIns="0" bIns="0" rtlCol="0" anchor="ctr"/>
          <a:lstStyle/>
          <a:p>
            <a:pPr indent="0" marL="0">
              <a:buNone/>
            </a:pPr>
            <a:r>
              <a:rPr lang="en-US" sz="1250" dirty="0">
                <a:solidFill>
                  <a:srgbClr val="6A6F7D"/>
                </a:solidFill>
                <a:latin typeface="Calibri" pitchFamily="34" charset="0"/>
                <a:ea typeface="Calibri" pitchFamily="34" charset="-122"/>
                <a:cs typeface="Calibri" pitchFamily="34" charset="-120"/>
              </a:rPr>
              <a:t>2021 to 2022</a:t>
            </a:r>
            <a:endParaRPr lang="en-US" sz="1250" dirty="0"/>
          </a:p>
        </p:txBody>
      </p:sp>
      <p:sp>
        <p:nvSpPr>
          <p:cNvPr id="15" name="Text 13"/>
          <p:cNvSpPr/>
          <p:nvPr/>
        </p:nvSpPr>
        <p:spPr>
          <a:xfrm>
            <a:off x="5074920" y="3785616"/>
            <a:ext cx="2651760" cy="859536"/>
          </a:xfrm>
          <a:prstGeom prst="rect">
            <a:avLst/>
          </a:prstGeom>
          <a:noFill/>
          <a:ln/>
        </p:spPr>
        <p:txBody>
          <a:bodyPr wrap="square" lIns="0" tIns="0" rIns="0" bIns="0" rtlCol="0" anchor="ctr"/>
          <a:lstStyle/>
          <a:p>
            <a:pPr indent="0" marL="0">
              <a:lnSpc>
                <a:spcPts val="1700"/>
              </a:lnSpc>
              <a:buNone/>
            </a:pPr>
            <a:r>
              <a:rPr lang="en-US" sz="1250" dirty="0">
                <a:solidFill>
                  <a:srgbClr val="22252E"/>
                </a:solidFill>
                <a:latin typeface="Calibri" pitchFamily="34" charset="0"/>
                <a:ea typeface="Calibri" pitchFamily="34" charset="-122"/>
                <a:cs typeface="Calibri" pitchFamily="34" charset="-120"/>
              </a:rPr>
              <a:t>Used in April 2022. It would have cut power to two million people. Ukrainian defenders stopped it.</a:t>
            </a:r>
            <a:endParaRPr lang="en-US" sz="1250" dirty="0"/>
          </a:p>
        </p:txBody>
      </p:sp>
      <p:sp>
        <p:nvSpPr>
          <p:cNvPr id="16" name="Shape 14"/>
          <p:cNvSpPr/>
          <p:nvPr/>
        </p:nvSpPr>
        <p:spPr>
          <a:xfrm>
            <a:off x="8183880" y="1280160"/>
            <a:ext cx="3337560" cy="3566160"/>
          </a:xfrm>
          <a:prstGeom prst="roundRect">
            <a:avLst>
              <a:gd name="adj" fmla="val 2192"/>
            </a:avLst>
          </a:prstGeom>
          <a:solidFill>
            <a:srgbClr val="FDF6EA"/>
          </a:solidFill>
          <a:ln w="9525">
            <a:solidFill>
              <a:srgbClr val="E2E7F2"/>
            </a:solidFill>
            <a:prstDash val="solid"/>
          </a:ln>
        </p:spPr>
      </p:sp>
      <p:sp>
        <p:nvSpPr>
          <p:cNvPr id="17" name="Text 15"/>
          <p:cNvSpPr/>
          <p:nvPr/>
        </p:nvSpPr>
        <p:spPr>
          <a:xfrm>
            <a:off x="8366760" y="1554480"/>
            <a:ext cx="2971800" cy="1417320"/>
          </a:xfrm>
          <a:prstGeom prst="rect">
            <a:avLst/>
          </a:prstGeom>
          <a:noFill/>
          <a:ln/>
        </p:spPr>
        <p:txBody>
          <a:bodyPr wrap="square" lIns="0" tIns="0" rIns="0" bIns="0" rtlCol="0" anchor="ctr"/>
          <a:lstStyle/>
          <a:p>
            <a:pPr algn="ctr" indent="0" marL="0">
              <a:buNone/>
            </a:pPr>
            <a:r>
              <a:rPr lang="en-US" sz="8000" b="1" dirty="0">
                <a:solidFill>
                  <a:srgbClr val="D98C1F"/>
                </a:solidFill>
                <a:latin typeface="Cambria" pitchFamily="34" charset="0"/>
                <a:ea typeface="Cambria" pitchFamily="34" charset="-122"/>
                <a:cs typeface="Cambria" pitchFamily="34" charset="-120"/>
              </a:rPr>
              <a:t>0</a:t>
            </a:r>
            <a:endParaRPr lang="en-US" sz="8000" dirty="0"/>
          </a:p>
        </p:txBody>
      </p:sp>
      <p:sp>
        <p:nvSpPr>
          <p:cNvPr id="18" name="Text 16"/>
          <p:cNvSpPr/>
          <p:nvPr/>
        </p:nvSpPr>
        <p:spPr>
          <a:xfrm>
            <a:off x="8366760" y="3017520"/>
            <a:ext cx="2971800" cy="640080"/>
          </a:xfrm>
          <a:prstGeom prst="rect">
            <a:avLst/>
          </a:prstGeom>
          <a:noFill/>
          <a:ln/>
        </p:spPr>
        <p:txBody>
          <a:bodyPr wrap="square" lIns="0" tIns="0" rIns="0" bIns="0" rtlCol="0" anchor="ctr"/>
          <a:lstStyle/>
          <a:p>
            <a:pPr algn="ctr" indent="0" marL="0">
              <a:lnSpc>
                <a:spcPts val="2100"/>
              </a:lnSpc>
              <a:buNone/>
            </a:pPr>
            <a:r>
              <a:rPr lang="en-US" sz="1500" dirty="0">
                <a:solidFill>
                  <a:srgbClr val="22252E"/>
                </a:solidFill>
                <a:latin typeface="Calibri" pitchFamily="34" charset="0"/>
                <a:ea typeface="Calibri" pitchFamily="34" charset="-122"/>
                <a:cs typeface="Calibri" pitchFamily="34" charset="-120"/>
              </a:rPr>
              <a:t>cases where this led</a:t>
            </a:r>
            <a:endParaRPr lang="en-US" sz="1500" dirty="0"/>
          </a:p>
          <a:p>
            <a:pPr algn="ctr" indent="0" marL="0">
              <a:lnSpc>
                <a:spcPts val="2100"/>
              </a:lnSpc>
              <a:buNone/>
            </a:pPr>
            <a:r>
              <a:rPr lang="en-US" sz="1500" dirty="0">
                <a:solidFill>
                  <a:srgbClr val="22252E"/>
                </a:solidFill>
                <a:latin typeface="Calibri" pitchFamily="34" charset="0"/>
                <a:ea typeface="Calibri" pitchFamily="34" charset="-122"/>
                <a:cs typeface="Calibri" pitchFamily="34" charset="-120"/>
              </a:rPr>
              <a:t>to a successful attack</a:t>
            </a:r>
            <a:endParaRPr lang="en-US" sz="1500" dirty="0"/>
          </a:p>
        </p:txBody>
      </p:sp>
      <p:sp>
        <p:nvSpPr>
          <p:cNvPr id="19" name="Text 17"/>
          <p:cNvSpPr/>
          <p:nvPr/>
        </p:nvSpPr>
        <p:spPr>
          <a:xfrm>
            <a:off x="8366760" y="3794760"/>
            <a:ext cx="2971800" cy="777240"/>
          </a:xfrm>
          <a:prstGeom prst="rect">
            <a:avLst/>
          </a:prstGeom>
          <a:noFill/>
          <a:ln/>
        </p:spPr>
        <p:txBody>
          <a:bodyPr wrap="square" lIns="0" tIns="0" rIns="0" bIns="0" rtlCol="0" anchor="ctr"/>
          <a:lstStyle/>
          <a:p>
            <a:pPr algn="ctr" indent="0" marL="0">
              <a:lnSpc>
                <a:spcPts val="1800"/>
              </a:lnSpc>
              <a:buNone/>
            </a:pPr>
            <a:r>
              <a:rPr lang="en-US" sz="1250" i="1" dirty="0">
                <a:solidFill>
                  <a:srgbClr val="6A6F7D"/>
                </a:solidFill>
                <a:latin typeface="Calibri" pitchFamily="34" charset="0"/>
                <a:ea typeface="Calibri" pitchFamily="34" charset="-122"/>
                <a:cs typeface="Calibri" pitchFamily="34" charset="-120"/>
              </a:rPr>
              <a:t>Three chances to see what</a:t>
            </a:r>
            <a:endParaRPr lang="en-US" sz="1250" dirty="0"/>
          </a:p>
          <a:p>
            <a:pPr algn="ctr" indent="0" marL="0">
              <a:lnSpc>
                <a:spcPts val="1800"/>
              </a:lnSpc>
              <a:buNone/>
            </a:pPr>
            <a:r>
              <a:rPr lang="en-US" sz="1250" i="1" dirty="0">
                <a:solidFill>
                  <a:srgbClr val="6A6F7D"/>
                </a:solidFill>
                <a:latin typeface="Calibri" pitchFamily="34" charset="0"/>
                <a:ea typeface="Calibri" pitchFamily="34" charset="-122"/>
                <a:cs typeface="Calibri" pitchFamily="34" charset="-120"/>
              </a:rPr>
              <a:t>it means. Not one</a:t>
            </a:r>
            <a:endParaRPr lang="en-US" sz="1250" dirty="0"/>
          </a:p>
          <a:p>
            <a:pPr algn="ctr" indent="0" marL="0">
              <a:lnSpc>
                <a:spcPts val="1800"/>
              </a:lnSpc>
              <a:buNone/>
            </a:pPr>
            <a:r>
              <a:rPr lang="en-US" sz="1250" i="1" dirty="0">
                <a:solidFill>
                  <a:srgbClr val="6A6F7D"/>
                </a:solidFill>
                <a:latin typeface="Calibri" pitchFamily="34" charset="0"/>
                <a:ea typeface="Calibri" pitchFamily="34" charset="-122"/>
                <a:cs typeface="Calibri" pitchFamily="34" charset="-120"/>
              </a:rPr>
              <a:t>successful example.</a:t>
            </a:r>
            <a:endParaRPr lang="en-US" sz="1250" dirty="0"/>
          </a:p>
        </p:txBody>
      </p:sp>
      <p:sp>
        <p:nvSpPr>
          <p:cNvPr id="20" name="Text 18"/>
          <p:cNvSpPr/>
          <p:nvPr/>
        </p:nvSpPr>
        <p:spPr>
          <a:xfrm>
            <a:off x="640080" y="5010912"/>
            <a:ext cx="10881360" cy="411480"/>
          </a:xfrm>
          <a:prstGeom prst="rect">
            <a:avLst/>
          </a:prstGeom>
          <a:noFill/>
          <a:ln/>
        </p:spPr>
        <p:txBody>
          <a:bodyPr wrap="square" lIns="0" tIns="0" rIns="0" bIns="0" rtlCol="0" anchor="ctr"/>
          <a:lstStyle/>
          <a:p>
            <a:pPr indent="0" marL="0">
              <a:buNone/>
            </a:pPr>
            <a:r>
              <a:rPr lang="en-US" sz="1850" b="1" dirty="0">
                <a:solidFill>
                  <a:srgbClr val="1E2761"/>
                </a:solidFill>
                <a:latin typeface="Cambria" pitchFamily="34" charset="0"/>
                <a:ea typeface="Cambria" pitchFamily="34" charset="-122"/>
                <a:cs typeface="Cambria" pitchFamily="34" charset="-120"/>
              </a:rPr>
              <a:t>Everything the field says about what this activity means rests on no successful examples.</a:t>
            </a:r>
            <a:endParaRPr lang="en-US" sz="1850" dirty="0"/>
          </a:p>
        </p:txBody>
      </p:sp>
      <p:sp>
        <p:nvSpPr>
          <p:cNvPr id="21" name="Text 19"/>
          <p:cNvSpPr/>
          <p:nvPr/>
        </p:nvSpPr>
        <p:spPr>
          <a:xfrm>
            <a:off x="640080" y="5431536"/>
            <a:ext cx="10881360" cy="411480"/>
          </a:xfrm>
          <a:prstGeom prst="rect">
            <a:avLst/>
          </a:prstGeom>
          <a:noFill/>
          <a:ln/>
        </p:spPr>
        <p:txBody>
          <a:bodyPr wrap="square" lIns="0" tIns="0" rIns="0" bIns="0" rtlCol="0" anchor="ctr"/>
          <a:lstStyle/>
          <a:p>
            <a:pPr indent="0" marL="0">
              <a:buNone/>
            </a:pPr>
            <a:r>
              <a:rPr lang="en-US" sz="1450" dirty="0">
                <a:solidFill>
                  <a:srgbClr val="22252E"/>
                </a:solidFill>
                <a:latin typeface="Calibri" pitchFamily="34" charset="0"/>
                <a:ea typeface="Calibri" pitchFamily="34" charset="-122"/>
                <a:cs typeface="Calibri" pitchFamily="34" charset="-120"/>
              </a:rPr>
              <a:t>Two intrusions have simply sat there for years. The one attempt was defeated by the defender.</a:t>
            </a:r>
            <a:endParaRPr lang="en-US" sz="1450" dirty="0"/>
          </a:p>
        </p:txBody>
      </p:sp>
      <p:sp>
        <p:nvSpPr>
          <p:cNvPr id="22" name="Text 20"/>
          <p:cNvSpPr/>
          <p:nvPr/>
        </p:nvSpPr>
        <p:spPr>
          <a:xfrm>
            <a:off x="640080" y="6355080"/>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Russian access reported in Codreanu (2025); the Ukrainian attempt and its defeat in Willett (2022).</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FINDING THREE</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Does AI favour the attacker? Probably not yet</a:t>
            </a:r>
            <a:endParaRPr lang="en-US" sz="3000" dirty="0"/>
          </a:p>
        </p:txBody>
      </p:sp>
      <p:sp>
        <p:nvSpPr>
          <p:cNvPr id="4" name="Shape 2"/>
          <p:cNvSpPr/>
          <p:nvPr/>
        </p:nvSpPr>
        <p:spPr>
          <a:xfrm>
            <a:off x="640080" y="1316736"/>
            <a:ext cx="502920" cy="502920"/>
          </a:xfrm>
          <a:prstGeom prst="ellipse">
            <a:avLst/>
          </a:prstGeom>
          <a:solidFill>
            <a:srgbClr val="1E2761"/>
          </a:solidFill>
          <a:ln/>
        </p:spPr>
      </p:sp>
      <p:sp>
        <p:nvSpPr>
          <p:cNvPr id="5" name="Text 3"/>
          <p:cNvSpPr/>
          <p:nvPr/>
        </p:nvSpPr>
        <p:spPr>
          <a:xfrm>
            <a:off x="640080" y="1316736"/>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p:nvPr/>
        </p:nvSpPr>
        <p:spPr>
          <a:xfrm>
            <a:off x="1417320" y="1280160"/>
            <a:ext cx="10104120" cy="329184"/>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Attack tools are assisted, not automatic</a:t>
            </a:r>
            <a:endParaRPr lang="en-US" sz="1700" dirty="0"/>
          </a:p>
        </p:txBody>
      </p:sp>
      <p:sp>
        <p:nvSpPr>
          <p:cNvPr id="7" name="Text 5"/>
          <p:cNvSpPr/>
          <p:nvPr/>
        </p:nvSpPr>
        <p:spPr>
          <a:xfrm>
            <a:off x="1417320" y="1627632"/>
            <a:ext cx="10104120" cy="82296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AI helps with scouting targets, finding weaknesses and adapting tools. Fully automatic attack systems remain, in the words of the literature itself, largely theoretical.</a:t>
            </a:r>
            <a:endParaRPr lang="en-US" sz="1350" dirty="0"/>
          </a:p>
        </p:txBody>
      </p:sp>
      <p:sp>
        <p:nvSpPr>
          <p:cNvPr id="8" name="Shape 6"/>
          <p:cNvSpPr/>
          <p:nvPr/>
        </p:nvSpPr>
        <p:spPr>
          <a:xfrm>
            <a:off x="640080" y="2596896"/>
            <a:ext cx="502920" cy="502920"/>
          </a:xfrm>
          <a:prstGeom prst="ellipse">
            <a:avLst/>
          </a:prstGeom>
          <a:solidFill>
            <a:srgbClr val="1E2761"/>
          </a:solidFill>
          <a:ln/>
        </p:spPr>
      </p:sp>
      <p:sp>
        <p:nvSpPr>
          <p:cNvPr id="9" name="Text 7"/>
          <p:cNvSpPr/>
          <p:nvPr/>
        </p:nvSpPr>
        <p:spPr>
          <a:xfrm>
            <a:off x="640080" y="2596896"/>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417320" y="2560320"/>
            <a:ext cx="10104120" cy="329184"/>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Almost all the published AI work is defensive</a:t>
            </a:r>
            <a:endParaRPr lang="en-US" sz="1700" dirty="0"/>
          </a:p>
        </p:txBody>
      </p:sp>
      <p:sp>
        <p:nvSpPr>
          <p:cNvPr id="11" name="Text 9"/>
          <p:cNvSpPr/>
          <p:nvPr/>
        </p:nvSpPr>
        <p:spPr>
          <a:xfrm>
            <a:off x="1417320" y="2907792"/>
            <a:ext cx="10104120" cy="82296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The research is overwhelmingly about spotting intruders faster and responding automatically, not about replacing the attacker.</a:t>
            </a:r>
            <a:endParaRPr lang="en-US" sz="1350" dirty="0"/>
          </a:p>
        </p:txBody>
      </p:sp>
      <p:sp>
        <p:nvSpPr>
          <p:cNvPr id="12" name="Shape 10"/>
          <p:cNvSpPr/>
          <p:nvPr/>
        </p:nvSpPr>
        <p:spPr>
          <a:xfrm>
            <a:off x="640080" y="3877056"/>
            <a:ext cx="502920" cy="502920"/>
          </a:xfrm>
          <a:prstGeom prst="ellipse">
            <a:avLst/>
          </a:prstGeom>
          <a:solidFill>
            <a:srgbClr val="1E2761"/>
          </a:solidFill>
          <a:ln/>
        </p:spPr>
      </p:sp>
      <p:sp>
        <p:nvSpPr>
          <p:cNvPr id="13" name="Text 11"/>
          <p:cNvSpPr/>
          <p:nvPr/>
        </p:nvSpPr>
        <p:spPr>
          <a:xfrm>
            <a:off x="640080" y="3877056"/>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2"/>
          <p:cNvSpPr/>
          <p:nvPr/>
        </p:nvSpPr>
        <p:spPr>
          <a:xfrm>
            <a:off x="1417320" y="3840480"/>
            <a:ext cx="10104120" cy="329184"/>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Defenders cannot see, and that is the gap AI closes</a:t>
            </a:r>
            <a:endParaRPr lang="en-US" sz="1700" dirty="0"/>
          </a:p>
        </p:txBody>
      </p:sp>
      <p:sp>
        <p:nvSpPr>
          <p:cNvPr id="15" name="Text 13"/>
          <p:cNvSpPr/>
          <p:nvPr/>
        </p:nvSpPr>
        <p:spPr>
          <a:xfrm>
            <a:off x="1417320" y="4187952"/>
            <a:ext cx="10104120" cy="82296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Intrusions go unnoticed for 197 days on average, and roughly three quarters are found by outsiders rather than the victim. Intruders survive partly because detection is poor. Better detection makes hiding harder, not easier.</a:t>
            </a:r>
            <a:endParaRPr lang="en-US" sz="1350" dirty="0"/>
          </a:p>
        </p:txBody>
      </p:sp>
      <p:sp>
        <p:nvSpPr>
          <p:cNvPr id="16" name="Shape 14"/>
          <p:cNvSpPr/>
          <p:nvPr/>
        </p:nvSpPr>
        <p:spPr>
          <a:xfrm>
            <a:off x="640080" y="5212080"/>
            <a:ext cx="10881360" cy="1005840"/>
          </a:xfrm>
          <a:prstGeom prst="roundRect">
            <a:avLst>
              <a:gd name="adj" fmla="val 7273"/>
            </a:avLst>
          </a:prstGeom>
          <a:solidFill>
            <a:srgbClr val="F4F6FB"/>
          </a:solidFill>
          <a:ln w="9525">
            <a:solidFill>
              <a:srgbClr val="E2E7F2"/>
            </a:solidFill>
            <a:prstDash val="solid"/>
          </a:ln>
        </p:spPr>
      </p:sp>
      <p:sp>
        <p:nvSpPr>
          <p:cNvPr id="17" name="Text 15"/>
          <p:cNvSpPr/>
          <p:nvPr/>
        </p:nvSpPr>
        <p:spPr>
          <a:xfrm>
            <a:off x="1005840" y="5321808"/>
            <a:ext cx="10149840" cy="804672"/>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In the one real war we can study, </a:t>
            </a:r>
            <a:pPr indent="0" marL="0">
              <a:lnSpc>
                <a:spcPts val="1900"/>
              </a:lnSpc>
              <a:buNone/>
            </a:pPr>
            <a:r>
              <a:rPr lang="en-US" sz="1350" b="1" dirty="0">
                <a:solidFill>
                  <a:srgbClr val="1E2761"/>
                </a:solidFill>
                <a:latin typeface="Calibri" pitchFamily="34" charset="0"/>
                <a:ea typeface="Calibri" pitchFamily="34" charset="-122"/>
                <a:cs typeface="Calibri" pitchFamily="34" charset="-120"/>
              </a:rPr>
              <a:t>defence held most of the time</a:t>
            </a:r>
            <a:pPr indent="0" marL="0">
              <a:lnSpc>
                <a:spcPts val="1900"/>
              </a:lnSpc>
              <a:buNone/>
            </a:pPr>
            <a:r>
              <a:rPr lang="en-US" sz="1350" dirty="0">
                <a:solidFill>
                  <a:srgbClr val="22252E"/>
                </a:solidFill>
                <a:latin typeface="Calibri" pitchFamily="34" charset="0"/>
                <a:ea typeface="Calibri" pitchFamily="34" charset="-122"/>
                <a:cs typeface="Calibri" pitchFamily="34" charset="-120"/>
              </a:rPr>
              <a:t>. But Ukraine was backed by Western agencies and by Microsoft, Google and Cisco. A poorer defender would give a different answer, so the question is not whether AI helps attackers. It is which side can absorb it better.</a:t>
            </a:r>
            <a:endParaRPr lang="en-US" sz="1350" dirty="0"/>
          </a:p>
        </p:txBody>
      </p:sp>
      <p:sp>
        <p:nvSpPr>
          <p:cNvPr id="18" name="Text 16"/>
          <p:cNvSpPr/>
          <p:nvPr/>
        </p:nvSpPr>
        <p:spPr>
          <a:xfrm>
            <a:off x="640080" y="6355080"/>
            <a:ext cx="10881360" cy="274320"/>
          </a:xfrm>
          <a:prstGeom prst="rect">
            <a:avLst/>
          </a:prstGeom>
          <a:noFill/>
          <a:ln/>
        </p:spPr>
        <p:txBody>
          <a:bodyPr wrap="square" lIns="0" tIns="0" rIns="0" bIns="0" rtlCol="0" anchor="ctr"/>
          <a:lstStyle/>
          <a:p>
            <a:pPr indent="0" marL="0">
              <a:buNone/>
            </a:pPr>
            <a:r>
              <a:rPr lang="en-US" sz="1050" dirty="0">
                <a:solidFill>
                  <a:srgbClr val="6A6F7D"/>
                </a:solidFill>
                <a:latin typeface="Calibri" pitchFamily="34" charset="0"/>
                <a:ea typeface="Calibri" pitchFamily="34" charset="-122"/>
                <a:cs typeface="Calibri" pitchFamily="34" charset="-120"/>
              </a:rPr>
              <a:t>Butt and Ulina (2026); Yigit et al. (2025); Kabir et al. (2026); Willett (2022).</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9184"/>
            <a:ext cx="82296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TWO EXPLANATIONS</a:t>
            </a:r>
            <a:endParaRPr lang="en-US" sz="1200" dirty="0"/>
          </a:p>
        </p:txBody>
      </p:sp>
      <p:sp>
        <p:nvSpPr>
          <p:cNvPr id="3" name="Text 1"/>
          <p:cNvSpPr/>
          <p:nvPr/>
        </p:nvSpPr>
        <p:spPr>
          <a:xfrm>
            <a:off x="640080" y="603504"/>
            <a:ext cx="10881360" cy="566928"/>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So which is it?</a:t>
            </a:r>
            <a:endParaRPr lang="en-US" sz="3000" dirty="0"/>
          </a:p>
        </p:txBody>
      </p:sp>
      <p:sp>
        <p:nvSpPr>
          <p:cNvPr id="4" name="Shape 2"/>
          <p:cNvSpPr/>
          <p:nvPr/>
        </p:nvSpPr>
        <p:spPr>
          <a:xfrm>
            <a:off x="640080" y="1280160"/>
            <a:ext cx="5349240" cy="3703320"/>
          </a:xfrm>
          <a:prstGeom prst="roundRect">
            <a:avLst>
              <a:gd name="adj" fmla="val 1975"/>
            </a:avLst>
          </a:prstGeom>
          <a:solidFill>
            <a:srgbClr val="F4F6FB"/>
          </a:solidFill>
          <a:ln w="9525">
            <a:solidFill>
              <a:srgbClr val="E2E7F2"/>
            </a:solidFill>
            <a:prstDash val="solid"/>
          </a:ln>
        </p:spPr>
      </p:sp>
      <p:sp>
        <p:nvSpPr>
          <p:cNvPr id="5" name="Shape 3"/>
          <p:cNvSpPr/>
          <p:nvPr/>
        </p:nvSpPr>
        <p:spPr>
          <a:xfrm>
            <a:off x="960120" y="1517904"/>
            <a:ext cx="548640" cy="548640"/>
          </a:xfrm>
          <a:prstGeom prst="ellipse">
            <a:avLst/>
          </a:prstGeom>
          <a:solidFill>
            <a:srgbClr val="1E2761"/>
          </a:solidFill>
          <a:ln/>
        </p:spPr>
      </p:sp>
      <p:sp>
        <p:nvSpPr>
          <p:cNvPr id="6" name="Text 4"/>
          <p:cNvSpPr/>
          <p:nvPr/>
        </p:nvSpPr>
        <p:spPr>
          <a:xfrm>
            <a:off x="960120" y="1517904"/>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A</a:t>
            </a:r>
            <a:endParaRPr lang="en-US" sz="1900" dirty="0"/>
          </a:p>
        </p:txBody>
      </p:sp>
      <p:sp>
        <p:nvSpPr>
          <p:cNvPr id="7" name="Text 5"/>
          <p:cNvSpPr/>
          <p:nvPr/>
        </p:nvSpPr>
        <p:spPr>
          <a:xfrm>
            <a:off x="1664208" y="1581912"/>
            <a:ext cx="4069080" cy="411480"/>
          </a:xfrm>
          <a:prstGeom prst="rect">
            <a:avLst/>
          </a:prstGeom>
          <a:noFill/>
          <a:ln/>
        </p:spPr>
        <p:txBody>
          <a:bodyPr wrap="square" lIns="0" tIns="0" rIns="0" bIns="0" rtlCol="0" anchor="ctr"/>
          <a:lstStyle/>
          <a:p>
            <a:pPr indent="0" marL="0">
              <a:buNone/>
            </a:pPr>
            <a:r>
              <a:rPr lang="en-US" sz="2000" b="1" dirty="0">
                <a:solidFill>
                  <a:srgbClr val="1E2761"/>
                </a:solidFill>
                <a:latin typeface="Cambria" pitchFamily="34" charset="0"/>
                <a:ea typeface="Cambria" pitchFamily="34" charset="-122"/>
                <a:cs typeface="Cambria" pitchFamily="34" charset="-120"/>
              </a:rPr>
              <a:t>The warning is fading</a:t>
            </a:r>
            <a:endParaRPr lang="en-US" sz="2000" dirty="0"/>
          </a:p>
        </p:txBody>
      </p:sp>
      <p:sp>
        <p:nvSpPr>
          <p:cNvPr id="8" name="Text 6"/>
          <p:cNvSpPr/>
          <p:nvPr/>
        </p:nvSpPr>
        <p:spPr>
          <a:xfrm>
            <a:off x="960120" y="2267712"/>
            <a:ext cx="4709160" cy="123444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It did mean something once, because staying hidden was genuinely expensive. As AI takes over the work it gets cheaper, and the meaning drains out of the act.</a:t>
            </a:r>
            <a:endParaRPr lang="en-US" sz="1350" dirty="0"/>
          </a:p>
        </p:txBody>
      </p:sp>
      <p:sp>
        <p:nvSpPr>
          <p:cNvPr id="9" name="Text 7"/>
          <p:cNvSpPr/>
          <p:nvPr/>
        </p:nvSpPr>
        <p:spPr>
          <a:xfrm>
            <a:off x="960120" y="3593592"/>
            <a:ext cx="4709160" cy="1051560"/>
          </a:xfrm>
          <a:prstGeom prst="rect">
            <a:avLst/>
          </a:prstGeom>
          <a:noFill/>
          <a:ln/>
        </p:spPr>
        <p:txBody>
          <a:bodyPr wrap="square" lIns="0" tIns="0" rIns="0" bIns="0" rtlCol="0" anchor="ctr"/>
          <a:lstStyle/>
          <a:p>
            <a:pPr indent="0" marL="0">
              <a:lnSpc>
                <a:spcPts val="1800"/>
              </a:lnSpc>
              <a:buNone/>
            </a:pPr>
            <a:r>
              <a:rPr lang="en-US" sz="1300" i="1" dirty="0">
                <a:solidFill>
                  <a:srgbClr val="6A6F7D"/>
                </a:solidFill>
                <a:latin typeface="Calibri" pitchFamily="34" charset="0"/>
                <a:ea typeface="Calibri" pitchFamily="34" charset="-122"/>
                <a:cs typeface="Calibri" pitchFamily="34" charset="-120"/>
              </a:rPr>
              <a:t>If this is right, the gap between what we say and what we do should keep widening as automation spreads.</a:t>
            </a:r>
            <a:endParaRPr lang="en-US" sz="1300" dirty="0"/>
          </a:p>
        </p:txBody>
      </p:sp>
      <p:sp>
        <p:nvSpPr>
          <p:cNvPr id="10" name="Shape 8"/>
          <p:cNvSpPr/>
          <p:nvPr/>
        </p:nvSpPr>
        <p:spPr>
          <a:xfrm>
            <a:off x="6263640" y="1280160"/>
            <a:ext cx="5349240" cy="3703320"/>
          </a:xfrm>
          <a:prstGeom prst="roundRect">
            <a:avLst>
              <a:gd name="adj" fmla="val 1975"/>
            </a:avLst>
          </a:prstGeom>
          <a:solidFill>
            <a:srgbClr val="FDF6EA"/>
          </a:solidFill>
          <a:ln w="9525">
            <a:solidFill>
              <a:srgbClr val="E2E7F2"/>
            </a:solidFill>
            <a:prstDash val="solid"/>
          </a:ln>
        </p:spPr>
      </p:sp>
      <p:sp>
        <p:nvSpPr>
          <p:cNvPr id="11" name="Shape 9"/>
          <p:cNvSpPr/>
          <p:nvPr/>
        </p:nvSpPr>
        <p:spPr>
          <a:xfrm>
            <a:off x="6583680" y="1517904"/>
            <a:ext cx="548640" cy="548640"/>
          </a:xfrm>
          <a:prstGeom prst="ellipse">
            <a:avLst/>
          </a:prstGeom>
          <a:solidFill>
            <a:srgbClr val="D98C1F"/>
          </a:solidFill>
          <a:ln/>
        </p:spPr>
      </p:sp>
      <p:sp>
        <p:nvSpPr>
          <p:cNvPr id="12" name="Text 10"/>
          <p:cNvSpPr/>
          <p:nvPr/>
        </p:nvSpPr>
        <p:spPr>
          <a:xfrm>
            <a:off x="6583680" y="1517904"/>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B</a:t>
            </a:r>
            <a:endParaRPr lang="en-US" sz="1900" dirty="0"/>
          </a:p>
        </p:txBody>
      </p:sp>
      <p:sp>
        <p:nvSpPr>
          <p:cNvPr id="13" name="Text 11"/>
          <p:cNvSpPr/>
          <p:nvPr/>
        </p:nvSpPr>
        <p:spPr>
          <a:xfrm>
            <a:off x="7287768" y="1581912"/>
            <a:ext cx="4069080" cy="411480"/>
          </a:xfrm>
          <a:prstGeom prst="rect">
            <a:avLst/>
          </a:prstGeom>
          <a:noFill/>
          <a:ln/>
        </p:spPr>
        <p:txBody>
          <a:bodyPr wrap="square" lIns="0" tIns="0" rIns="0" bIns="0" rtlCol="0" anchor="ctr"/>
          <a:lstStyle/>
          <a:p>
            <a:pPr indent="0" marL="0">
              <a:buNone/>
            </a:pPr>
            <a:r>
              <a:rPr lang="en-US" sz="2000" b="1" dirty="0">
                <a:solidFill>
                  <a:srgbClr val="D98C1F"/>
                </a:solidFill>
                <a:latin typeface="Cambria" pitchFamily="34" charset="0"/>
                <a:ea typeface="Cambria" pitchFamily="34" charset="-122"/>
                <a:cs typeface="Cambria" pitchFamily="34" charset="-120"/>
              </a:rPr>
              <a:t>There never was a warning</a:t>
            </a:r>
            <a:endParaRPr lang="en-US" sz="2000" dirty="0"/>
          </a:p>
        </p:txBody>
      </p:sp>
      <p:sp>
        <p:nvSpPr>
          <p:cNvPr id="14" name="Text 12"/>
          <p:cNvSpPr/>
          <p:nvPr/>
        </p:nvSpPr>
        <p:spPr>
          <a:xfrm>
            <a:off x="6583680" y="2267712"/>
            <a:ext cx="4709160" cy="123444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It was never meant to say anything. Staying quiet, and keeping effects below the level that triggers a response, was always the whole point.</a:t>
            </a:r>
            <a:endParaRPr lang="en-US" sz="1350" dirty="0"/>
          </a:p>
        </p:txBody>
      </p:sp>
      <p:sp>
        <p:nvSpPr>
          <p:cNvPr id="15" name="Text 13"/>
          <p:cNvSpPr/>
          <p:nvPr/>
        </p:nvSpPr>
        <p:spPr>
          <a:xfrm>
            <a:off x="6583680" y="3593592"/>
            <a:ext cx="4709160" cy="1051560"/>
          </a:xfrm>
          <a:prstGeom prst="rect">
            <a:avLst/>
          </a:prstGeom>
          <a:noFill/>
          <a:ln/>
        </p:spPr>
        <p:txBody>
          <a:bodyPr wrap="square" lIns="0" tIns="0" rIns="0" bIns="0" rtlCol="0" anchor="ctr"/>
          <a:lstStyle/>
          <a:p>
            <a:pPr indent="0" marL="0">
              <a:lnSpc>
                <a:spcPts val="1800"/>
              </a:lnSpc>
              <a:buNone/>
            </a:pPr>
            <a:r>
              <a:rPr lang="en-US" sz="1300" i="1" dirty="0">
                <a:solidFill>
                  <a:srgbClr val="6A6F7D"/>
                </a:solidFill>
                <a:latin typeface="Calibri" pitchFamily="34" charset="0"/>
                <a:ea typeface="Calibri" pitchFamily="34" charset="-122"/>
                <a:cs typeface="Calibri" pitchFamily="34" charset="-120"/>
              </a:rPr>
              <a:t>If this is right, the gap stays roughly constant, because it was never about cost in the first place.</a:t>
            </a:r>
            <a:endParaRPr lang="en-US" sz="1300" dirty="0"/>
          </a:p>
        </p:txBody>
      </p:sp>
      <p:sp>
        <p:nvSpPr>
          <p:cNvPr id="16" name="Text 14"/>
          <p:cNvSpPr/>
          <p:nvPr/>
        </p:nvSpPr>
        <p:spPr>
          <a:xfrm>
            <a:off x="640080" y="5166360"/>
            <a:ext cx="10881360" cy="658368"/>
          </a:xfrm>
          <a:prstGeom prst="rect">
            <a:avLst/>
          </a:prstGeom>
          <a:noFill/>
          <a:ln/>
        </p:spPr>
        <p:txBody>
          <a:bodyPr wrap="square" lIns="0" tIns="0" rIns="0" bIns="0" rtlCol="0" anchor="ctr"/>
          <a:lstStyle/>
          <a:p>
            <a:pPr indent="0" marL="0">
              <a:lnSpc>
                <a:spcPts val="2400"/>
              </a:lnSpc>
              <a:buNone/>
            </a:pPr>
            <a:r>
              <a:rPr lang="en-US" sz="1800" b="1" dirty="0">
                <a:solidFill>
                  <a:srgbClr val="1E2761"/>
                </a:solidFill>
                <a:latin typeface="Cambria" pitchFamily="34" charset="0"/>
                <a:ea typeface="Cambria" pitchFamily="34" charset="-122"/>
                <a:cs typeface="Cambria" pitchFamily="34" charset="-120"/>
              </a:rPr>
              <a:t>The evidence so far fits B at least as well as A. That is uncomfortable, because doctrine assumes A.</a:t>
            </a:r>
            <a:endParaRPr lang="en-US" sz="1800" dirty="0"/>
          </a:p>
        </p:txBody>
      </p:sp>
      <p:sp>
        <p:nvSpPr>
          <p:cNvPr id="17" name="Text 15"/>
          <p:cNvSpPr/>
          <p:nvPr/>
        </p:nvSpPr>
        <p:spPr>
          <a:xfrm>
            <a:off x="640080" y="5806440"/>
            <a:ext cx="10881360" cy="457200"/>
          </a:xfrm>
          <a:prstGeom prst="rect">
            <a:avLst/>
          </a:prstGeom>
          <a:noFill/>
          <a:ln/>
        </p:spPr>
        <p:txBody>
          <a:bodyPr wrap="square" lIns="0" tIns="0" rIns="0" bIns="0" rtlCol="0" anchor="ctr"/>
          <a:lstStyle/>
          <a:p>
            <a:pPr indent="0" marL="0">
              <a:buNone/>
            </a:pPr>
            <a:r>
              <a:rPr lang="en-US" sz="1400" dirty="0">
                <a:solidFill>
                  <a:srgbClr val="22252E"/>
                </a:solidFill>
                <a:latin typeface="Calibri" pitchFamily="34" charset="0"/>
                <a:ea typeface="Calibri" pitchFamily="34" charset="-122"/>
                <a:cs typeface="Calibri" pitchFamily="34" charset="-120"/>
              </a:rPr>
              <a:t>This study does not settle it. It shows the question is answerable and that nobody has asked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737360" y="4023360"/>
            <a:ext cx="4572000" cy="4572000"/>
          </a:xfrm>
          <a:prstGeom prst="ellipse">
            <a:avLst/>
          </a:prstGeom>
          <a:solidFill>
            <a:srgbClr val="141B45"/>
          </a:solidFill>
          <a:ln/>
        </p:spPr>
      </p:sp>
      <p:sp>
        <p:nvSpPr>
          <p:cNvPr id="3" name="Shape 1"/>
          <p:cNvSpPr/>
          <p:nvPr/>
        </p:nvSpPr>
        <p:spPr>
          <a:xfrm>
            <a:off x="11064240" y="-1280160"/>
            <a:ext cx="3291840" cy="3291840"/>
          </a:xfrm>
          <a:prstGeom prst="ellipse">
            <a:avLst/>
          </a:prstGeom>
          <a:solidFill>
            <a:srgbClr val="141B45"/>
          </a:solidFill>
          <a:ln/>
        </p:spPr>
      </p:sp>
      <p:sp>
        <p:nvSpPr>
          <p:cNvPr id="4" name="Text 2"/>
          <p:cNvSpPr/>
          <p:nvPr/>
        </p:nvSpPr>
        <p:spPr>
          <a:xfrm>
            <a:off x="640080" y="548640"/>
            <a:ext cx="10881360" cy="5029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Answering the question</a:t>
            </a:r>
            <a:endParaRPr lang="en-US" sz="3000" dirty="0"/>
          </a:p>
        </p:txBody>
      </p:sp>
      <p:sp>
        <p:nvSpPr>
          <p:cNvPr id="5" name="Shape 3"/>
          <p:cNvSpPr/>
          <p:nvPr/>
        </p:nvSpPr>
        <p:spPr>
          <a:xfrm>
            <a:off x="640080" y="1280160"/>
            <a:ext cx="502920" cy="502920"/>
          </a:xfrm>
          <a:prstGeom prst="ellipse">
            <a:avLst/>
          </a:prstGeom>
          <a:solidFill>
            <a:srgbClr val="D98C1F"/>
          </a:solidFill>
          <a:ln/>
        </p:spPr>
      </p:sp>
      <p:sp>
        <p:nvSpPr>
          <p:cNvPr id="6" name="Text 4"/>
          <p:cNvSpPr/>
          <p:nvPr/>
        </p:nvSpPr>
        <p:spPr>
          <a:xfrm>
            <a:off x="640080" y="1280160"/>
            <a:ext cx="502920" cy="502920"/>
          </a:xfrm>
          <a:prstGeom prst="rect">
            <a:avLst/>
          </a:prstGeom>
          <a:noFill/>
          <a:ln/>
        </p:spPr>
        <p:txBody>
          <a:bodyPr wrap="square" lIns="0" tIns="0" rIns="0" bIns="0" rtlCol="0" anchor="ctr"/>
          <a:lstStyle/>
          <a:p>
            <a:pPr algn="ctr" indent="0" marL="0">
              <a:buNone/>
            </a:pPr>
            <a:r>
              <a:rPr lang="en-US" sz="1300" b="1" dirty="0">
                <a:solidFill>
                  <a:srgbClr val="141B45"/>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417320" y="1261872"/>
            <a:ext cx="2834640" cy="32004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Is it a signal?</a:t>
            </a:r>
            <a:endParaRPr lang="en-US" sz="1550" dirty="0"/>
          </a:p>
        </p:txBody>
      </p:sp>
      <p:sp>
        <p:nvSpPr>
          <p:cNvPr id="8" name="Text 6"/>
          <p:cNvSpPr/>
          <p:nvPr/>
        </p:nvSpPr>
        <p:spPr>
          <a:xfrm>
            <a:off x="4389120" y="1261872"/>
            <a:ext cx="7132320" cy="868680"/>
          </a:xfrm>
          <a:prstGeom prst="rect">
            <a:avLst/>
          </a:prstGeom>
          <a:noFill/>
          <a:ln/>
        </p:spPr>
        <p:txBody>
          <a:bodyPr wrap="square" lIns="0" tIns="0" rIns="0" bIns="0" rtlCol="0" anchor="ctr"/>
          <a:lstStyle/>
          <a:p>
            <a:pPr indent="0" marL="0">
              <a:lnSpc>
                <a:spcPts val="1900"/>
              </a:lnSpc>
              <a:buNone/>
            </a:pPr>
            <a:r>
              <a:rPr lang="en-US" sz="1350" dirty="0">
                <a:solidFill>
                  <a:srgbClr val="CADCFC"/>
                </a:solidFill>
                <a:latin typeface="Calibri" pitchFamily="34" charset="0"/>
                <a:ea typeface="Calibri" pitchFamily="34" charset="-122"/>
                <a:cs typeface="Calibri" pitchFamily="34" charset="-120"/>
              </a:rPr>
              <a:t>On the evidence, it does not function as one. It is not noticed, it is denied by its sender, and it draws a technical answer rather than a political one.</a:t>
            </a:r>
            <a:endParaRPr lang="en-US" sz="1350" dirty="0"/>
          </a:p>
        </p:txBody>
      </p:sp>
      <p:sp>
        <p:nvSpPr>
          <p:cNvPr id="9" name="Shape 7"/>
          <p:cNvSpPr/>
          <p:nvPr/>
        </p:nvSpPr>
        <p:spPr>
          <a:xfrm>
            <a:off x="640080" y="2304288"/>
            <a:ext cx="502920" cy="502920"/>
          </a:xfrm>
          <a:prstGeom prst="ellipse">
            <a:avLst/>
          </a:prstGeom>
          <a:solidFill>
            <a:srgbClr val="D98C1F"/>
          </a:solidFill>
          <a:ln/>
        </p:spPr>
      </p:sp>
      <p:sp>
        <p:nvSpPr>
          <p:cNvPr id="10" name="Text 8"/>
          <p:cNvSpPr/>
          <p:nvPr/>
        </p:nvSpPr>
        <p:spPr>
          <a:xfrm>
            <a:off x="640080" y="2304288"/>
            <a:ext cx="502920" cy="502920"/>
          </a:xfrm>
          <a:prstGeom prst="rect">
            <a:avLst/>
          </a:prstGeom>
          <a:noFill/>
          <a:ln/>
        </p:spPr>
        <p:txBody>
          <a:bodyPr wrap="square" lIns="0" tIns="0" rIns="0" bIns="0" rtlCol="0" anchor="ctr"/>
          <a:lstStyle/>
          <a:p>
            <a:pPr algn="ctr" indent="0" marL="0">
              <a:buNone/>
            </a:pPr>
            <a:r>
              <a:rPr lang="en-US" sz="1300" b="1" dirty="0">
                <a:solidFill>
                  <a:srgbClr val="141B45"/>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417320" y="2286000"/>
            <a:ext cx="2834640" cy="32004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Does AI shift the balance?</a:t>
            </a:r>
            <a:endParaRPr lang="en-US" sz="1550" dirty="0"/>
          </a:p>
        </p:txBody>
      </p:sp>
      <p:sp>
        <p:nvSpPr>
          <p:cNvPr id="12" name="Text 10"/>
          <p:cNvSpPr/>
          <p:nvPr/>
        </p:nvSpPr>
        <p:spPr>
          <a:xfrm>
            <a:off x="4389120" y="2286000"/>
            <a:ext cx="7132320" cy="868680"/>
          </a:xfrm>
          <a:prstGeom prst="rect">
            <a:avLst/>
          </a:prstGeom>
          <a:noFill/>
          <a:ln/>
        </p:spPr>
        <p:txBody>
          <a:bodyPr wrap="square" lIns="0" tIns="0" rIns="0" bIns="0" rtlCol="0" anchor="ctr"/>
          <a:lstStyle/>
          <a:p>
            <a:pPr indent="0" marL="0">
              <a:lnSpc>
                <a:spcPts val="1900"/>
              </a:lnSpc>
              <a:buNone/>
            </a:pPr>
            <a:r>
              <a:rPr lang="en-US" sz="1350" dirty="0">
                <a:solidFill>
                  <a:srgbClr val="CADCFC"/>
                </a:solidFill>
                <a:latin typeface="Calibri" pitchFamily="34" charset="0"/>
                <a:ea typeface="Calibri" pitchFamily="34" charset="-122"/>
                <a:cs typeface="Calibri" pitchFamily="34" charset="-120"/>
              </a:rPr>
              <a:t>Not yet in the attacker’s favour. Automatic attack tools are still theoretical, and the AI being built is mostly defensive.</a:t>
            </a:r>
            <a:endParaRPr lang="en-US" sz="1350" dirty="0"/>
          </a:p>
        </p:txBody>
      </p:sp>
      <p:sp>
        <p:nvSpPr>
          <p:cNvPr id="13" name="Shape 11"/>
          <p:cNvSpPr/>
          <p:nvPr/>
        </p:nvSpPr>
        <p:spPr>
          <a:xfrm>
            <a:off x="640080" y="3328416"/>
            <a:ext cx="502920" cy="502920"/>
          </a:xfrm>
          <a:prstGeom prst="ellipse">
            <a:avLst/>
          </a:prstGeom>
          <a:solidFill>
            <a:srgbClr val="D98C1F"/>
          </a:solidFill>
          <a:ln/>
        </p:spPr>
      </p:sp>
      <p:sp>
        <p:nvSpPr>
          <p:cNvPr id="14" name="Text 12"/>
          <p:cNvSpPr/>
          <p:nvPr/>
        </p:nvSpPr>
        <p:spPr>
          <a:xfrm>
            <a:off x="640080" y="3328416"/>
            <a:ext cx="502920" cy="502920"/>
          </a:xfrm>
          <a:prstGeom prst="rect">
            <a:avLst/>
          </a:prstGeom>
          <a:noFill/>
          <a:ln/>
        </p:spPr>
        <p:txBody>
          <a:bodyPr wrap="square" lIns="0" tIns="0" rIns="0" bIns="0" rtlCol="0" anchor="ctr"/>
          <a:lstStyle/>
          <a:p>
            <a:pPr algn="ctr" indent="0" marL="0">
              <a:buNone/>
            </a:pPr>
            <a:r>
              <a:rPr lang="en-US" sz="1300" b="1" dirty="0">
                <a:solidFill>
                  <a:srgbClr val="141B45"/>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417320" y="3310128"/>
            <a:ext cx="2834640" cy="32004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When is it destabilising?</a:t>
            </a:r>
            <a:endParaRPr lang="en-US" sz="1550" dirty="0"/>
          </a:p>
        </p:txBody>
      </p:sp>
      <p:sp>
        <p:nvSpPr>
          <p:cNvPr id="16" name="Text 14"/>
          <p:cNvSpPr/>
          <p:nvPr/>
        </p:nvSpPr>
        <p:spPr>
          <a:xfrm>
            <a:off x="4389120" y="3310128"/>
            <a:ext cx="7132320" cy="868680"/>
          </a:xfrm>
          <a:prstGeom prst="rect">
            <a:avLst/>
          </a:prstGeom>
          <a:noFill/>
          <a:ln/>
        </p:spPr>
        <p:txBody>
          <a:bodyPr wrap="square" lIns="0" tIns="0" rIns="0" bIns="0" rtlCol="0" anchor="ctr"/>
          <a:lstStyle/>
          <a:p>
            <a:pPr indent="0" marL="0">
              <a:lnSpc>
                <a:spcPts val="1900"/>
              </a:lnSpc>
              <a:buNone/>
            </a:pPr>
            <a:r>
              <a:rPr lang="en-US" sz="1350" dirty="0">
                <a:solidFill>
                  <a:srgbClr val="CADCFC"/>
                </a:solidFill>
                <a:latin typeface="Calibri" pitchFamily="34" charset="0"/>
                <a:ea typeface="Calibri" pitchFamily="34" charset="-122"/>
                <a:cs typeface="Calibri" pitchFamily="34" charset="-120"/>
              </a:rPr>
              <a:t>Not when it is used, but when it is misread. Over-read it and we escalate over nothing. Under-read it and we file real preparation as a maintenance job.</a:t>
            </a:r>
            <a:endParaRPr lang="en-US" sz="1350" dirty="0"/>
          </a:p>
        </p:txBody>
      </p:sp>
      <p:sp>
        <p:nvSpPr>
          <p:cNvPr id="17" name="Shape 15"/>
          <p:cNvSpPr/>
          <p:nvPr/>
        </p:nvSpPr>
        <p:spPr>
          <a:xfrm>
            <a:off x="640080" y="4352544"/>
            <a:ext cx="502920" cy="502920"/>
          </a:xfrm>
          <a:prstGeom prst="ellipse">
            <a:avLst/>
          </a:prstGeom>
          <a:solidFill>
            <a:srgbClr val="D98C1F"/>
          </a:solidFill>
          <a:ln/>
        </p:spPr>
      </p:sp>
      <p:sp>
        <p:nvSpPr>
          <p:cNvPr id="18" name="Text 16"/>
          <p:cNvSpPr/>
          <p:nvPr/>
        </p:nvSpPr>
        <p:spPr>
          <a:xfrm>
            <a:off x="640080" y="4352544"/>
            <a:ext cx="502920" cy="502920"/>
          </a:xfrm>
          <a:prstGeom prst="rect">
            <a:avLst/>
          </a:prstGeom>
          <a:noFill/>
          <a:ln/>
        </p:spPr>
        <p:txBody>
          <a:bodyPr wrap="square" lIns="0" tIns="0" rIns="0" bIns="0" rtlCol="0" anchor="ctr"/>
          <a:lstStyle/>
          <a:p>
            <a:pPr algn="ctr" indent="0" marL="0">
              <a:buNone/>
            </a:pPr>
            <a:r>
              <a:rPr lang="en-US" sz="1300" b="1" dirty="0">
                <a:solidFill>
                  <a:srgbClr val="141B45"/>
                </a:solidFill>
                <a:latin typeface="Cambria" pitchFamily="34" charset="0"/>
                <a:ea typeface="Cambria" pitchFamily="34" charset="-122"/>
                <a:cs typeface="Cambria" pitchFamily="34" charset="-120"/>
              </a:rPr>
              <a:t>4</a:t>
            </a:r>
            <a:endParaRPr lang="en-US" sz="1300" dirty="0"/>
          </a:p>
        </p:txBody>
      </p:sp>
      <p:sp>
        <p:nvSpPr>
          <p:cNvPr id="19" name="Text 17"/>
          <p:cNvSpPr/>
          <p:nvPr/>
        </p:nvSpPr>
        <p:spPr>
          <a:xfrm>
            <a:off x="1417320" y="4334256"/>
            <a:ext cx="2834640" cy="32004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What is left to do?</a:t>
            </a:r>
            <a:endParaRPr lang="en-US" sz="1550" dirty="0"/>
          </a:p>
        </p:txBody>
      </p:sp>
      <p:sp>
        <p:nvSpPr>
          <p:cNvPr id="20" name="Text 18"/>
          <p:cNvSpPr/>
          <p:nvPr/>
        </p:nvSpPr>
        <p:spPr>
          <a:xfrm>
            <a:off x="4389120" y="4334256"/>
            <a:ext cx="7132320" cy="868680"/>
          </a:xfrm>
          <a:prstGeom prst="rect">
            <a:avLst/>
          </a:prstGeom>
          <a:noFill/>
          <a:ln/>
        </p:spPr>
        <p:txBody>
          <a:bodyPr wrap="square" lIns="0" tIns="0" rIns="0" bIns="0" rtlCol="0" anchor="ctr"/>
          <a:lstStyle/>
          <a:p>
            <a:pPr indent="0" marL="0">
              <a:lnSpc>
                <a:spcPts val="1900"/>
              </a:lnSpc>
              <a:buNone/>
            </a:pPr>
            <a:r>
              <a:rPr lang="en-US" sz="1350" dirty="0">
                <a:solidFill>
                  <a:srgbClr val="CADCFC"/>
                </a:solidFill>
                <a:latin typeface="Calibri" pitchFamily="34" charset="0"/>
                <a:ea typeface="Calibri" pitchFamily="34" charset="-122"/>
                <a:cs typeface="Calibri" pitchFamily="34" charset="-120"/>
              </a:rPr>
              <a:t>Test which of the two explanations holds, by tracking whether the gap between interpretation and response widens as automation spreads.</a:t>
            </a:r>
            <a:endParaRPr lang="en-US" sz="1350" dirty="0"/>
          </a:p>
        </p:txBody>
      </p:sp>
      <p:sp>
        <p:nvSpPr>
          <p:cNvPr id="21" name="Shape 19"/>
          <p:cNvSpPr/>
          <p:nvPr/>
        </p:nvSpPr>
        <p:spPr>
          <a:xfrm>
            <a:off x="640080" y="5532120"/>
            <a:ext cx="1005840" cy="32004"/>
          </a:xfrm>
          <a:prstGeom prst="rect">
            <a:avLst/>
          </a:prstGeom>
          <a:solidFill>
            <a:srgbClr val="D98C1F"/>
          </a:solidFill>
          <a:ln/>
        </p:spPr>
      </p:sp>
      <p:sp>
        <p:nvSpPr>
          <p:cNvPr id="22" name="Text 20"/>
          <p:cNvSpPr/>
          <p:nvPr/>
        </p:nvSpPr>
        <p:spPr>
          <a:xfrm>
            <a:off x="640080" y="5779008"/>
            <a:ext cx="10881360" cy="457200"/>
          </a:xfrm>
          <a:prstGeom prst="rect">
            <a:avLst/>
          </a:prstGeom>
          <a:noFill/>
          <a:ln/>
        </p:spPr>
        <p:txBody>
          <a:bodyPr wrap="square" lIns="0" tIns="0" rIns="0" bIns="0" rtlCol="0" anchor="ctr"/>
          <a:lstStyle/>
          <a:p>
            <a:pPr indent="0" marL="0">
              <a:buNone/>
            </a:pPr>
            <a:r>
              <a:rPr lang="en-US" sz="2100" i="1" dirty="0">
                <a:solidFill>
                  <a:srgbClr val="FFFFFF"/>
                </a:solidFill>
                <a:latin typeface="Cambria" pitchFamily="34" charset="0"/>
                <a:ea typeface="Cambria" pitchFamily="34" charset="-122"/>
                <a:cs typeface="Cambria" pitchFamily="34" charset="-120"/>
              </a:rPr>
              <a:t>We have been reading a message that may never have been sent.</a:t>
            </a:r>
            <a:endParaRPr lang="en-US" sz="2100" dirty="0"/>
          </a:p>
        </p:txBody>
      </p:sp>
      <p:sp>
        <p:nvSpPr>
          <p:cNvPr id="23" name="Text 21"/>
          <p:cNvSpPr/>
          <p:nvPr/>
        </p:nvSpPr>
        <p:spPr>
          <a:xfrm>
            <a:off x="640080" y="6327648"/>
            <a:ext cx="10881360" cy="320040"/>
          </a:xfrm>
          <a:prstGeom prst="rect">
            <a:avLst/>
          </a:prstGeom>
          <a:noFill/>
          <a:ln/>
        </p:spPr>
        <p:txBody>
          <a:bodyPr wrap="square" lIns="0" tIns="0" rIns="0" bIns="0" rtlCol="0" anchor="ctr"/>
          <a:lstStyle/>
          <a:p>
            <a:pPr indent="0" marL="0">
              <a:buNone/>
            </a:pPr>
            <a:r>
              <a:rPr lang="en-US" sz="1350" dirty="0">
                <a:solidFill>
                  <a:srgbClr val="A9B6DC"/>
                </a:solidFill>
                <a:latin typeface="Calibri" pitchFamily="34" charset="0"/>
                <a:ea typeface="Calibri" pitchFamily="34" charset="-122"/>
                <a:cs typeface="Calibri" pitchFamily="34" charset="-120"/>
              </a:rPr>
              <a:t>Thank you. Questions welcome.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Future of Cyber Operations</dc:title>
  <dc:subject>PptxGenJS Presentation</dc:subject>
  <dc:creator>Strategic Studies</dc:creator>
  <cp:lastModifiedBy>Strategic Studies</cp:lastModifiedBy>
  <cp:revision>1</cp:revision>
  <dcterms:created xsi:type="dcterms:W3CDTF">2026-08-05T17:46:09Z</dcterms:created>
  <dcterms:modified xsi:type="dcterms:W3CDTF">2026-08-05T17:46:09Z</dcterms:modified>
</cp:coreProperties>
</file>