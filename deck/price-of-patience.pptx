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object of the talk: software left sitting inside civilian infrastructure. Say the question up front. When we find it, what does it actually tell us, and does AI change the answer. About one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striking thing is what did not happen. No theft worth the effort. Nakasone is saying, in effect, nobody puts code in a power station to read your email. Use the bottom band to make the infrastructure point: these are the systems defence itself depends on, and Guam is not a random target, it is the base you would need for a Taiwan contingency.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obvious question: how does anyone stay inside for years without being caught. The 197 days and the three quarters figure are the two numbers worth saying out loud. They also matter later, on the AI slide, so plant them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logic the whole field runs on, put plainly. Walk the three boxes left to right. Land hard on the amber box. Tell the audience to hold on to the word expensive, because the next slides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talk. Slow right down. Read the two columns across, then deliver the bottom line. Weapons in the water supply got a memo. Stolen call records got sanctions. Let the room sit with how strange that ordering is. Give this a minute and a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short beats, one each, do not over-explain. The closing line is the point. For something to function as a warning it must be seen, believed, and land on the right desk. This fails on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cases is the entire record. Two are still sitting there doing nothing. One was tried and stopped. The zero is the number to leave in the room. Pause after saying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back on the room’s instinct that AI obviously helps attackers. The evidence points the other way for now. The bottom box is the qualifier that matters: who wins depends on who is fighting whom.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both fairly, then give the verdict. Years of sitting still, no punishment, effects kept carefully small: that fits B. Be honest that the paper does not decide. Saying so is a strength, not a weakness.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four points, briefly, then the last line slowly. That sentence is what you want them to remember. Stop there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326880" y="-1554480"/>
            <a:ext cx="4937760" cy="4937760"/>
          </a:xfrm>
          <a:prstGeom prst="ellipse">
            <a:avLst/>
          </a:prstGeom>
          <a:solidFill>
            <a:srgbClr val="141B45"/>
          </a:solidFill>
          <a:ln/>
        </p:spPr>
      </p:sp>
      <p:sp>
        <p:nvSpPr>
          <p:cNvPr id="3" name="Shape 1"/>
          <p:cNvSpPr/>
          <p:nvPr/>
        </p:nvSpPr>
        <p:spPr>
          <a:xfrm>
            <a:off x="10698480" y="4480560"/>
            <a:ext cx="2926080" cy="2926080"/>
          </a:xfrm>
          <a:prstGeom prst="ellipse">
            <a:avLst/>
          </a:prstGeom>
          <a:solidFill>
            <a:srgbClr val="141B45"/>
          </a:solidFill>
          <a:ln/>
        </p:spPr>
      </p:sp>
      <p:sp>
        <p:nvSpPr>
          <p:cNvPr id="4" name="Text 2"/>
          <p:cNvSpPr/>
          <p:nvPr/>
        </p:nvSpPr>
        <p:spPr>
          <a:xfrm>
            <a:off x="640080" y="1691640"/>
            <a:ext cx="877824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FUTURE OF CYBER OPERATIONS</a:t>
            </a:r>
            <a:endParaRPr lang="en-US" sz="4000" dirty="0"/>
          </a:p>
        </p:txBody>
      </p:sp>
      <p:sp>
        <p:nvSpPr>
          <p:cNvPr id="5" name="Text 3"/>
          <p:cNvSpPr/>
          <p:nvPr/>
        </p:nvSpPr>
        <p:spPr>
          <a:xfrm>
            <a:off x="640080" y="2450592"/>
            <a:ext cx="8778240" cy="457200"/>
          </a:xfrm>
          <a:prstGeom prst="rect">
            <a:avLst/>
          </a:prstGeom>
          <a:noFill/>
          <a:ln/>
        </p:spPr>
        <p:txBody>
          <a:bodyPr wrap="square" lIns="0" tIns="0" rIns="0" bIns="0" rtlCol="0" anchor="ctr"/>
          <a:lstStyle/>
          <a:p>
            <a:pPr indent="0" marL="0">
              <a:buNone/>
            </a:pPr>
            <a:r>
              <a:rPr lang="en-US" sz="2400" dirty="0">
                <a:solidFill>
                  <a:srgbClr val="CADCFC"/>
                </a:solidFill>
                <a:latin typeface="Cambria" pitchFamily="34" charset="0"/>
                <a:ea typeface="Cambria" pitchFamily="34" charset="-122"/>
                <a:cs typeface="Cambria" pitchFamily="34" charset="-120"/>
              </a:rPr>
              <a:t>Vulnerabilities of Critical National Infrastructure</a:t>
            </a:r>
            <a:endParaRPr lang="en-US" sz="2400" dirty="0"/>
          </a:p>
        </p:txBody>
      </p:sp>
      <p:sp>
        <p:nvSpPr>
          <p:cNvPr id="6" name="Shape 4"/>
          <p:cNvSpPr/>
          <p:nvPr/>
        </p:nvSpPr>
        <p:spPr>
          <a:xfrm>
            <a:off x="640080" y="3200400"/>
            <a:ext cx="1005840" cy="32004"/>
          </a:xfrm>
          <a:prstGeom prst="rect">
            <a:avLst/>
          </a:prstGeom>
          <a:solidFill>
            <a:srgbClr val="D98C1F"/>
          </a:solidFill>
          <a:ln/>
        </p:spPr>
      </p:sp>
      <p:sp>
        <p:nvSpPr>
          <p:cNvPr id="7" name="Text 5"/>
          <p:cNvSpPr/>
          <p:nvPr/>
        </p:nvSpPr>
        <p:spPr>
          <a:xfrm>
            <a:off x="640080" y="3520440"/>
            <a:ext cx="8778240" cy="868680"/>
          </a:xfrm>
          <a:prstGeom prst="rect">
            <a:avLst/>
          </a:prstGeom>
          <a:noFill/>
          <a:ln/>
        </p:spPr>
        <p:txBody>
          <a:bodyPr wrap="square" lIns="0" tIns="0" rIns="0" bIns="0" rtlCol="0" anchor="ctr"/>
          <a:lstStyle/>
          <a:p>
            <a:pPr indent="0" marL="0">
              <a:lnSpc>
                <a:spcPts val="2400"/>
              </a:lnSpc>
              <a:buNone/>
            </a:pPr>
            <a:r>
              <a:rPr lang="en-US" sz="1600" dirty="0">
                <a:solidFill>
                  <a:srgbClr val="C3CEEC"/>
                </a:solidFill>
                <a:latin typeface="Calibri" pitchFamily="34" charset="0"/>
                <a:ea typeface="Calibri" pitchFamily="34" charset="-122"/>
                <a:cs typeface="Calibri" pitchFamily="34" charset="-120"/>
              </a:rPr>
              <a:t>The Price of Patience: what foreign code inside our infrastructure</a:t>
            </a:r>
            <a:endParaRPr lang="en-US" sz="1600" dirty="0"/>
          </a:p>
          <a:p>
            <a:pPr indent="0" marL="0">
              <a:lnSpc>
                <a:spcPts val="2400"/>
              </a:lnSpc>
              <a:buNone/>
            </a:pPr>
            <a:r>
              <a:rPr lang="en-US" sz="1600" dirty="0">
                <a:solidFill>
                  <a:srgbClr val="C3CEEC"/>
                </a:solidFill>
                <a:latin typeface="Calibri" pitchFamily="34" charset="0"/>
                <a:ea typeface="Calibri" pitchFamily="34" charset="-122"/>
                <a:cs typeface="Calibri" pitchFamily="34" charset="-120"/>
              </a:rPr>
              <a:t>really tells us, and what artificial intelligence does to that message</a:t>
            </a:r>
            <a:endParaRPr lang="en-US" sz="1600" dirty="0"/>
          </a:p>
        </p:txBody>
      </p:sp>
      <p:sp>
        <p:nvSpPr>
          <p:cNvPr id="8" name="Text 6"/>
          <p:cNvSpPr/>
          <p:nvPr/>
        </p:nvSpPr>
        <p:spPr>
          <a:xfrm>
            <a:off x="640080" y="4617720"/>
            <a:ext cx="8778240" cy="274320"/>
          </a:xfrm>
          <a:prstGeom prst="rect">
            <a:avLst/>
          </a:prstGeom>
          <a:noFill/>
          <a:ln/>
        </p:spPr>
        <p:txBody>
          <a:bodyPr wrap="square" lIns="0" tIns="0" rIns="0" bIns="0" rtlCol="0" anchor="ctr"/>
          <a:lstStyle/>
          <a:p>
            <a:pPr indent="0" marL="0">
              <a:buNone/>
            </a:pPr>
            <a:r>
              <a:rPr lang="en-US" sz="1350" dirty="0">
                <a:solidFill>
                  <a:srgbClr val="A9B6DC"/>
                </a:solidFill>
                <a:latin typeface="Calibri" pitchFamily="34" charset="0"/>
                <a:ea typeface="Calibri" pitchFamily="34" charset="-122"/>
                <a:cs typeface="Calibri" pitchFamily="34" charset="-120"/>
              </a:rPr>
              <a:t>Based on sixteen studies of cyber conflict, 2018 to 2026</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8229600" cy="256032"/>
          </a:xfrm>
          <a:prstGeom prst="rect">
            <a:avLst/>
          </a:prstGeom>
          <a:noFill/>
          <a:ln/>
        </p:spPr>
        <p:txBody>
          <a:bodyPr wrap="square" lIns="0" tIns="0" rIns="0" bIns="0" rtlCol="0" anchor="ctr"/>
          <a:lstStyle/>
          <a:p>
            <a:pPr indent="0" marL="0">
              <a:buNone/>
            </a:pPr>
            <a:r>
              <a:rPr lang="en-US" sz="1200" b="1" spc="200" kern="0" dirty="0">
                <a:solidFill>
                  <a:srgbClr val="D98C1F"/>
                </a:solidFill>
                <a:latin typeface="Calibri" pitchFamily="34" charset="0"/>
                <a:ea typeface="Calibri" pitchFamily="34" charset="-122"/>
                <a:cs typeface="Calibri" pitchFamily="34" charset="-120"/>
              </a:rPr>
              <a:t>THE PUZZLE</a:t>
            </a:r>
            <a:endParaRPr lang="en-US" sz="1200" dirty="0"/>
          </a:p>
        </p:txBody>
      </p:sp>
      <p:sp>
        <p:nvSpPr>
          <p:cNvPr id="3" name="Text 1"/>
          <p:cNvSpPr/>
          <p:nvPr/>
        </p:nvSpPr>
        <p:spPr>
          <a:xfrm>
            <a:off x="640080" y="603504"/>
            <a:ext cx="1088136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An intrusion that made no sense as spying</a:t>
            </a:r>
            <a:endParaRPr lang="en-US" sz="3000" dirty="0"/>
          </a:p>
        </p:txBody>
      </p:sp>
      <p:sp>
        <p:nvSpPr>
          <p:cNvPr id="4" name="Text 2"/>
          <p:cNvSpPr/>
          <p:nvPr/>
        </p:nvSpPr>
        <p:spPr>
          <a:xfrm>
            <a:off x="640080" y="1298448"/>
            <a:ext cx="6035040" cy="1234440"/>
          </a:xfrm>
          <a:prstGeom prst="rect">
            <a:avLst/>
          </a:prstGeom>
          <a:noFill/>
          <a:ln/>
        </p:spPr>
        <p:txBody>
          <a:bodyPr wrap="square" lIns="0" tIns="0" rIns="0" bIns="0" rtlCol="0" anchor="ctr"/>
          <a:lstStyle/>
          <a:p>
            <a:pPr indent="0" marL="0">
              <a:lnSpc>
                <a:spcPts val="2200"/>
              </a:lnSpc>
              <a:buNone/>
            </a:pPr>
            <a:r>
              <a:rPr lang="en-US" sz="1550" b="1" dirty="0">
                <a:solidFill>
                  <a:srgbClr val="22252E"/>
                </a:solidFill>
                <a:latin typeface="Calibri" pitchFamily="34" charset="0"/>
                <a:ea typeface="Calibri" pitchFamily="34" charset="-122"/>
                <a:cs typeface="Calibri" pitchFamily="34" charset="-120"/>
              </a:rPr>
              <a:t>May 2023.</a:t>
            </a:r>
            <a:pPr indent="0" marL="0">
              <a:lnSpc>
                <a:spcPts val="2200"/>
              </a:lnSpc>
              <a:buNone/>
            </a:pPr>
            <a:r>
              <a:rPr lang="en-US" sz="1550" dirty="0">
                <a:solidFill>
                  <a:srgbClr val="22252E"/>
                </a:solidFill>
                <a:latin typeface="Calibri" pitchFamily="34" charset="0"/>
                <a:ea typeface="Calibri" pitchFamily="34" charset="-122"/>
                <a:cs typeface="Calibri" pitchFamily="34" charset="-120"/>
              </a:rPr>
              <a:t> The United States and its Five Eyes partners named China as the source of a campaign called </a:t>
            </a:r>
            <a:pPr indent="0" marL="0">
              <a:lnSpc>
                <a:spcPts val="2200"/>
              </a:lnSpc>
              <a:buNone/>
            </a:pPr>
            <a:r>
              <a:rPr lang="en-US" sz="1550" b="1" dirty="0">
                <a:solidFill>
                  <a:srgbClr val="22252E"/>
                </a:solidFill>
                <a:latin typeface="Calibri" pitchFamily="34" charset="0"/>
                <a:ea typeface="Calibri" pitchFamily="34" charset="-122"/>
                <a:cs typeface="Calibri" pitchFamily="34" charset="-120"/>
              </a:rPr>
              <a:t>Volt Typhoon</a:t>
            </a:r>
            <a:pPr indent="0" marL="0">
              <a:lnSpc>
                <a:spcPts val="2200"/>
              </a:lnSpc>
              <a:buNone/>
            </a:pPr>
            <a:r>
              <a:rPr lang="en-US" sz="1550" dirty="0">
                <a:solidFill>
                  <a:srgbClr val="22252E"/>
                </a:solidFill>
                <a:latin typeface="Calibri" pitchFamily="34" charset="0"/>
                <a:ea typeface="Calibri" pitchFamily="34" charset="-122"/>
                <a:cs typeface="Calibri" pitchFamily="34" charset="-120"/>
              </a:rPr>
              <a:t>. Operators had been living inside American energy, water, communications and transport networks for an extended period.</a:t>
            </a:r>
            <a:endParaRPr lang="en-US" sz="1550" dirty="0"/>
          </a:p>
        </p:txBody>
      </p:sp>
      <p:sp>
        <p:nvSpPr>
          <p:cNvPr id="5" name="Text 3"/>
          <p:cNvSpPr/>
          <p:nvPr/>
        </p:nvSpPr>
        <p:spPr>
          <a:xfrm>
            <a:off x="640080" y="2670048"/>
            <a:ext cx="6035040" cy="36576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They took almost nothing.</a:t>
            </a:r>
            <a:endParaRPr lang="en-US" sz="2200" dirty="0"/>
          </a:p>
        </p:txBody>
      </p:sp>
      <p:sp>
        <p:nvSpPr>
          <p:cNvPr id="6" name="Text 4"/>
          <p:cNvSpPr/>
          <p:nvPr/>
        </p:nvSpPr>
        <p:spPr>
          <a:xfrm>
            <a:off x="640080" y="3072384"/>
            <a:ext cx="6035040" cy="640080"/>
          </a:xfrm>
          <a:prstGeom prst="rect">
            <a:avLst/>
          </a:prstGeom>
          <a:noFill/>
          <a:ln/>
        </p:spPr>
        <p:txBody>
          <a:bodyPr wrap="square" lIns="0" tIns="0" rIns="0" bIns="0" rtlCol="0" anchor="ctr"/>
          <a:lstStyle/>
          <a:p>
            <a:pPr indent="0" marL="0">
              <a:lnSpc>
                <a:spcPts val="2000"/>
              </a:lnSpc>
              <a:buNone/>
            </a:pPr>
            <a:r>
              <a:rPr lang="en-US" sz="1450" dirty="0">
                <a:solidFill>
                  <a:srgbClr val="6A6F7D"/>
                </a:solidFill>
                <a:latin typeface="Calibri" pitchFamily="34" charset="0"/>
                <a:ea typeface="Calibri" pitchFamily="34" charset="-122"/>
                <a:cs typeface="Calibri" pitchFamily="34" charset="-120"/>
              </a:rPr>
              <a:t>That is the puzzle. A spy steals and leaves. These operators arrived, settled in, and waited.</a:t>
            </a:r>
            <a:endParaRPr lang="en-US" sz="1450" dirty="0"/>
          </a:p>
        </p:txBody>
      </p:sp>
      <p:sp>
        <p:nvSpPr>
          <p:cNvPr id="7" name="Shape 5"/>
          <p:cNvSpPr/>
          <p:nvPr/>
        </p:nvSpPr>
        <p:spPr>
          <a:xfrm>
            <a:off x="640080" y="3858768"/>
            <a:ext cx="6035040" cy="1371600"/>
          </a:xfrm>
          <a:prstGeom prst="roundRect">
            <a:avLst>
              <a:gd name="adj" fmla="val 5333"/>
            </a:avLst>
          </a:prstGeom>
          <a:solidFill>
            <a:srgbClr val="FDF6EA"/>
          </a:solidFill>
          <a:ln w="9525">
            <a:solidFill>
              <a:srgbClr val="E2E7F2"/>
            </a:solidFill>
            <a:prstDash val="solid"/>
          </a:ln>
        </p:spPr>
      </p:sp>
      <p:sp>
        <p:nvSpPr>
          <p:cNvPr id="8" name="Text 6"/>
          <p:cNvSpPr/>
          <p:nvPr/>
        </p:nvSpPr>
        <p:spPr>
          <a:xfrm>
            <a:off x="960120" y="4041648"/>
            <a:ext cx="5440680" cy="1005840"/>
          </a:xfrm>
          <a:prstGeom prst="rect">
            <a:avLst/>
          </a:prstGeom>
          <a:noFill/>
          <a:ln/>
        </p:spPr>
        <p:txBody>
          <a:bodyPr wrap="square" lIns="0" tIns="0" rIns="0" bIns="0" rtlCol="0" anchor="ctr"/>
          <a:lstStyle/>
          <a:p>
            <a:pPr indent="0" marL="0">
              <a:lnSpc>
                <a:spcPts val="2000"/>
              </a:lnSpc>
              <a:buNone/>
            </a:pPr>
            <a:r>
              <a:rPr lang="en-US" sz="1400" i="1" dirty="0">
                <a:solidFill>
                  <a:srgbClr val="22252E"/>
                </a:solidFill>
                <a:latin typeface="Calibri" pitchFamily="34" charset="0"/>
                <a:ea typeface="Calibri" pitchFamily="34" charset="-122"/>
                <a:cs typeface="Calibri" pitchFamily="34" charset="-120"/>
              </a:rPr>
              <a:t>American officials said the campaign "did not fit the pattern of a traditional cyber espionage campaign."</a:t>
            </a:r>
            <a:endParaRPr lang="en-US" sz="1400" dirty="0"/>
          </a:p>
        </p:txBody>
      </p:sp>
      <p:sp>
        <p:nvSpPr>
          <p:cNvPr id="9" name="Shape 7"/>
          <p:cNvSpPr/>
          <p:nvPr/>
        </p:nvSpPr>
        <p:spPr>
          <a:xfrm>
            <a:off x="7086600" y="1298448"/>
            <a:ext cx="4434840" cy="3931920"/>
          </a:xfrm>
          <a:prstGeom prst="roundRect">
            <a:avLst>
              <a:gd name="adj" fmla="val 1860"/>
            </a:avLst>
          </a:prstGeom>
          <a:solidFill>
            <a:srgbClr val="F4F6FB"/>
          </a:solidFill>
          <a:ln w="9525">
            <a:solidFill>
              <a:srgbClr val="E2E7F2"/>
            </a:solidFill>
            <a:prstDash val="solid"/>
          </a:ln>
        </p:spPr>
      </p:sp>
      <p:sp>
        <p:nvSpPr>
          <p:cNvPr id="10" name="Text 8"/>
          <p:cNvSpPr/>
          <p:nvPr/>
        </p:nvSpPr>
        <p:spPr>
          <a:xfrm>
            <a:off x="7269480" y="1280160"/>
            <a:ext cx="822960" cy="960120"/>
          </a:xfrm>
          <a:prstGeom prst="rect">
            <a:avLst/>
          </a:prstGeom>
          <a:noFill/>
          <a:ln/>
        </p:spPr>
        <p:txBody>
          <a:bodyPr wrap="square" lIns="0" tIns="0" rIns="0" bIns="0" rtlCol="0" anchor="ctr"/>
          <a:lstStyle/>
          <a:p>
            <a:pPr indent="0" marL="0">
              <a:buNone/>
            </a:pPr>
            <a:r>
              <a:rPr lang="en-US" sz="5800" b="1" dirty="0">
                <a:solidFill>
                  <a:srgbClr val="CADCFC"/>
                </a:solidFill>
                <a:latin typeface="Cambria" pitchFamily="34" charset="0"/>
                <a:ea typeface="Cambria" pitchFamily="34" charset="-122"/>
                <a:cs typeface="Cambria" pitchFamily="34" charset="-120"/>
              </a:rPr>
              <a:t>“</a:t>
            </a:r>
            <a:endParaRPr lang="en-US" sz="5800" dirty="0"/>
          </a:p>
        </p:txBody>
      </p:sp>
      <p:sp>
        <p:nvSpPr>
          <p:cNvPr id="11" name="Text 9"/>
          <p:cNvSpPr/>
          <p:nvPr/>
        </p:nvSpPr>
        <p:spPr>
          <a:xfrm>
            <a:off x="7360920" y="1965960"/>
            <a:ext cx="3886200" cy="1737360"/>
          </a:xfrm>
          <a:prstGeom prst="rect">
            <a:avLst/>
          </a:prstGeom>
          <a:noFill/>
          <a:ln/>
        </p:spPr>
        <p:txBody>
          <a:bodyPr wrap="square" lIns="0" tIns="0" rIns="0" bIns="0" rtlCol="0" anchor="ctr"/>
          <a:lstStyle/>
          <a:p>
            <a:pPr indent="0" marL="0">
              <a:lnSpc>
                <a:spcPts val="2500"/>
              </a:lnSpc>
              <a:buNone/>
            </a:pPr>
            <a:r>
              <a:rPr lang="en-US" sz="1650" i="1" dirty="0">
                <a:solidFill>
                  <a:srgbClr val="1E2761"/>
                </a:solidFill>
                <a:latin typeface="Cambria" pitchFamily="34" charset="0"/>
                <a:ea typeface="Cambria" pitchFamily="34" charset="-122"/>
                <a:cs typeface="Cambria" pitchFamily="34" charset="-120"/>
              </a:rPr>
              <a:t>There is absolutely no intelligence to be gathered by putting malicious code in critical infrastructure networks.</a:t>
            </a:r>
            <a:endParaRPr lang="en-US" sz="1650" dirty="0"/>
          </a:p>
        </p:txBody>
      </p:sp>
      <p:sp>
        <p:nvSpPr>
          <p:cNvPr id="12" name="Text 10"/>
          <p:cNvSpPr/>
          <p:nvPr/>
        </p:nvSpPr>
        <p:spPr>
          <a:xfrm>
            <a:off x="7360920" y="3886200"/>
            <a:ext cx="3886200" cy="256032"/>
          </a:xfrm>
          <a:prstGeom prst="rect">
            <a:avLst/>
          </a:prstGeom>
          <a:noFill/>
          <a:ln/>
        </p:spPr>
        <p:txBody>
          <a:bodyPr wrap="square" lIns="0" tIns="0" rIns="0" bIns="0" rtlCol="0" anchor="ctr"/>
          <a:lstStyle/>
          <a:p>
            <a:pPr indent="0" marL="0">
              <a:buNone/>
            </a:pPr>
            <a:r>
              <a:rPr lang="en-US" sz="1300" b="1" dirty="0">
                <a:solidFill>
                  <a:srgbClr val="22252E"/>
                </a:solidFill>
                <a:latin typeface="Calibri" pitchFamily="34" charset="0"/>
                <a:ea typeface="Calibri" pitchFamily="34" charset="-122"/>
                <a:cs typeface="Calibri" pitchFamily="34" charset="-120"/>
              </a:rPr>
              <a:t>General Paul Nakasone</a:t>
            </a:r>
            <a:endParaRPr lang="en-US" sz="1300" dirty="0"/>
          </a:p>
        </p:txBody>
      </p:sp>
      <p:sp>
        <p:nvSpPr>
          <p:cNvPr id="13" name="Text 11"/>
          <p:cNvSpPr/>
          <p:nvPr/>
        </p:nvSpPr>
        <p:spPr>
          <a:xfrm>
            <a:off x="7360920" y="4133088"/>
            <a:ext cx="3886200" cy="256032"/>
          </a:xfrm>
          <a:prstGeom prst="rect">
            <a:avLst/>
          </a:prstGeom>
          <a:noFill/>
          <a:ln/>
        </p:spPr>
        <p:txBody>
          <a:bodyPr wrap="square" lIns="0" tIns="0" rIns="0" bIns="0" rtlCol="0" anchor="ctr"/>
          <a:lstStyle/>
          <a:p>
            <a:pPr indent="0" marL="0">
              <a:buNone/>
            </a:pPr>
            <a:r>
              <a:rPr lang="en-US" sz="1200" dirty="0">
                <a:solidFill>
                  <a:srgbClr val="6A6F7D"/>
                </a:solidFill>
                <a:latin typeface="Calibri" pitchFamily="34" charset="0"/>
                <a:ea typeface="Calibri" pitchFamily="34" charset="-122"/>
                <a:cs typeface="Calibri" pitchFamily="34" charset="-120"/>
              </a:rPr>
              <a:t>Then head of US Cyber Command</a:t>
            </a:r>
            <a:endParaRPr lang="en-US" sz="1200" dirty="0"/>
          </a:p>
        </p:txBody>
      </p:sp>
      <p:sp>
        <p:nvSpPr>
          <p:cNvPr id="14" name="Shape 12"/>
          <p:cNvSpPr/>
          <p:nvPr/>
        </p:nvSpPr>
        <p:spPr>
          <a:xfrm>
            <a:off x="640080" y="5413248"/>
            <a:ext cx="10881360" cy="1051560"/>
          </a:xfrm>
          <a:prstGeom prst="roundRect">
            <a:avLst>
              <a:gd name="adj" fmla="val 6957"/>
            </a:avLst>
          </a:prstGeom>
          <a:solidFill>
            <a:srgbClr val="F4F6FB"/>
          </a:solidFill>
          <a:ln w="9525">
            <a:solidFill>
              <a:srgbClr val="E2E7F2"/>
            </a:solidFill>
            <a:prstDash val="solid"/>
          </a:ln>
        </p:spPr>
      </p:sp>
      <p:sp>
        <p:nvSpPr>
          <p:cNvPr id="15" name="Text 13"/>
          <p:cNvSpPr/>
          <p:nvPr/>
        </p:nvSpPr>
        <p:spPr>
          <a:xfrm>
            <a:off x="1005840" y="5541264"/>
            <a:ext cx="2743200" cy="292608"/>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Where they were found</a:t>
            </a:r>
            <a:endParaRPr lang="en-US" sz="1500" dirty="0"/>
          </a:p>
        </p:txBody>
      </p:sp>
      <p:sp>
        <p:nvSpPr>
          <p:cNvPr id="16" name="Text 14"/>
          <p:cNvSpPr/>
          <p:nvPr/>
        </p:nvSpPr>
        <p:spPr>
          <a:xfrm>
            <a:off x="3840480" y="5504688"/>
            <a:ext cx="7680960" cy="868680"/>
          </a:xfrm>
          <a:prstGeom prst="rect">
            <a:avLst/>
          </a:prstGeom>
          <a:noFill/>
          <a:ln/>
        </p:spPr>
        <p:txBody>
          <a:bodyPr wrap="square" lIns="0" tIns="0" rIns="0" bIns="0" rtlCol="0" anchor="ctr"/>
          <a:lstStyle/>
          <a:p>
            <a:pPr indent="0" marL="0">
              <a:lnSpc>
                <a:spcPts val="1800"/>
              </a:lnSpc>
              <a:buNone/>
            </a:pPr>
            <a:r>
              <a:rPr lang="en-US" sz="1300" dirty="0">
                <a:solidFill>
                  <a:srgbClr val="22252E"/>
                </a:solidFill>
                <a:latin typeface="Calibri" pitchFamily="34" charset="0"/>
                <a:ea typeface="Calibri" pitchFamily="34" charset="-122"/>
                <a:cs typeface="Calibri" pitchFamily="34" charset="-120"/>
              </a:rPr>
              <a:t>Energy, water, communications and transport networks, and in systems supporting American military operations on Guam, the logistics hub for any Pacific crisis. A target tied to one specific scenario, a conflict over Taiwan, says more about intent than a target chosen at random.</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8229600" cy="256032"/>
          </a:xfrm>
          <a:prstGeom prst="rect">
            <a:avLst/>
          </a:prstGeom>
          <a:noFill/>
          <a:ln/>
        </p:spPr>
        <p:txBody>
          <a:bodyPr wrap="square" lIns="0" tIns="0" rIns="0" bIns="0" rtlCol="0" anchor="ctr"/>
          <a:lstStyle/>
          <a:p>
            <a:pPr indent="0" marL="0">
              <a:buNone/>
            </a:pPr>
            <a:r>
              <a:rPr lang="en-US" sz="1200" b="1" spc="200" kern="0" dirty="0">
                <a:solidFill>
                  <a:srgbClr val="D98C1F"/>
                </a:solidFill>
                <a:latin typeface="Calibri" pitchFamily="34" charset="0"/>
                <a:ea typeface="Calibri" pitchFamily="34" charset="-122"/>
                <a:cs typeface="Calibri" pitchFamily="34" charset="-120"/>
              </a:rPr>
              <a:t>THE VULNERABILITY</a:t>
            </a:r>
            <a:endParaRPr lang="en-US" sz="1200" dirty="0"/>
          </a:p>
        </p:txBody>
      </p:sp>
      <p:sp>
        <p:nvSpPr>
          <p:cNvPr id="3" name="Text 1"/>
          <p:cNvSpPr/>
          <p:nvPr/>
        </p:nvSpPr>
        <p:spPr>
          <a:xfrm>
            <a:off x="640080" y="603504"/>
            <a:ext cx="1088136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How an intruder stays inside for years</a:t>
            </a:r>
            <a:endParaRPr lang="en-US" sz="3000" dirty="0"/>
          </a:p>
        </p:txBody>
      </p:sp>
      <p:sp>
        <p:nvSpPr>
          <p:cNvPr id="4" name="Shape 2"/>
          <p:cNvSpPr/>
          <p:nvPr/>
        </p:nvSpPr>
        <p:spPr>
          <a:xfrm>
            <a:off x="640080" y="1335024"/>
            <a:ext cx="502920" cy="502920"/>
          </a:xfrm>
          <a:prstGeom prst="ellipse">
            <a:avLst/>
          </a:prstGeom>
          <a:solidFill>
            <a:srgbClr val="1E2761"/>
          </a:solidFill>
          <a:ln/>
        </p:spPr>
      </p:sp>
      <p:sp>
        <p:nvSpPr>
          <p:cNvPr id="5" name="Text 3"/>
          <p:cNvSpPr/>
          <p:nvPr/>
        </p:nvSpPr>
        <p:spPr>
          <a:xfrm>
            <a:off x="640080" y="1335024"/>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p:nvPr/>
        </p:nvSpPr>
        <p:spPr>
          <a:xfrm>
            <a:off x="1417320" y="1298448"/>
            <a:ext cx="10104120" cy="329184"/>
          </a:xfrm>
          <a:prstGeom prst="rect">
            <a:avLst/>
          </a:prstGeom>
          <a:noFill/>
          <a:ln/>
        </p:spPr>
        <p:txBody>
          <a:bodyPr wrap="square" lIns="0" tIns="0" rIns="0" bIns="0" rtlCol="0" anchor="ctr"/>
          <a:lstStyle/>
          <a:p>
            <a:pPr indent="0" marL="0">
              <a:buNone/>
            </a:pPr>
            <a:r>
              <a:rPr lang="en-US" sz="1750" b="1" dirty="0">
                <a:solidFill>
                  <a:srgbClr val="1E2761"/>
                </a:solidFill>
                <a:latin typeface="Cambria" pitchFamily="34" charset="0"/>
                <a:ea typeface="Cambria" pitchFamily="34" charset="-122"/>
                <a:cs typeface="Cambria" pitchFamily="34" charset="-120"/>
              </a:rPr>
              <a:t>They use your own tools</a:t>
            </a:r>
            <a:endParaRPr lang="en-US" sz="1750" dirty="0"/>
          </a:p>
        </p:txBody>
      </p:sp>
      <p:sp>
        <p:nvSpPr>
          <p:cNvPr id="7" name="Text 5"/>
          <p:cNvSpPr/>
          <p:nvPr/>
        </p:nvSpPr>
        <p:spPr>
          <a:xfrm>
            <a:off x="1417320" y="1645920"/>
            <a:ext cx="10104120" cy="749808"/>
          </a:xfrm>
          <a:prstGeom prst="rect">
            <a:avLst/>
          </a:prstGeom>
          <a:noFill/>
          <a:ln/>
        </p:spPr>
        <p:txBody>
          <a:bodyPr wrap="square" lIns="0" tIns="0" rIns="0" bIns="0" rtlCol="0" anchor="ctr"/>
          <a:lstStyle/>
          <a:p>
            <a:pPr indent="0" marL="0">
              <a:lnSpc>
                <a:spcPts val="2000"/>
              </a:lnSpc>
              <a:buNone/>
            </a:pPr>
            <a:r>
              <a:rPr lang="en-US" sz="1400" dirty="0">
                <a:solidFill>
                  <a:srgbClr val="22252E"/>
                </a:solidFill>
                <a:latin typeface="Calibri" pitchFamily="34" charset="0"/>
                <a:ea typeface="Calibri" pitchFamily="34" charset="-122"/>
                <a:cs typeface="Calibri" pitchFamily="34" charset="-120"/>
              </a:rPr>
              <a:t>Rather than installing malware that security software would spot, the operators use the system’s own built-in utilities. Nothing looks out of place, because nothing foreign is running.</a:t>
            </a:r>
            <a:endParaRPr lang="en-US" sz="1400" dirty="0"/>
          </a:p>
        </p:txBody>
      </p:sp>
      <p:sp>
        <p:nvSpPr>
          <p:cNvPr id="8" name="Shape 6"/>
          <p:cNvSpPr/>
          <p:nvPr/>
        </p:nvSpPr>
        <p:spPr>
          <a:xfrm>
            <a:off x="640080" y="2542032"/>
            <a:ext cx="502920" cy="502920"/>
          </a:xfrm>
          <a:prstGeom prst="ellipse">
            <a:avLst/>
          </a:prstGeom>
          <a:solidFill>
            <a:srgbClr val="1E2761"/>
          </a:solidFill>
          <a:ln/>
        </p:spPr>
      </p:sp>
      <p:sp>
        <p:nvSpPr>
          <p:cNvPr id="9" name="Text 7"/>
          <p:cNvSpPr/>
          <p:nvPr/>
        </p:nvSpPr>
        <p:spPr>
          <a:xfrm>
            <a:off x="640080" y="2542032"/>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p:cNvSpPr/>
          <p:nvPr/>
        </p:nvSpPr>
        <p:spPr>
          <a:xfrm>
            <a:off x="1417320" y="2505456"/>
            <a:ext cx="10104120" cy="329184"/>
          </a:xfrm>
          <a:prstGeom prst="rect">
            <a:avLst/>
          </a:prstGeom>
          <a:noFill/>
          <a:ln/>
        </p:spPr>
        <p:txBody>
          <a:bodyPr wrap="square" lIns="0" tIns="0" rIns="0" bIns="0" rtlCol="0" anchor="ctr"/>
          <a:lstStyle/>
          <a:p>
            <a:pPr indent="0" marL="0">
              <a:buNone/>
            </a:pPr>
            <a:r>
              <a:rPr lang="en-US" sz="1750" b="1" dirty="0">
                <a:solidFill>
                  <a:srgbClr val="1E2761"/>
                </a:solidFill>
                <a:latin typeface="Cambria" pitchFamily="34" charset="0"/>
                <a:ea typeface="Cambria" pitchFamily="34" charset="-122"/>
                <a:cs typeface="Cambria" pitchFamily="34" charset="-120"/>
              </a:rPr>
              <a:t>Detection takes about six months</a:t>
            </a:r>
            <a:endParaRPr lang="en-US" sz="1750" dirty="0"/>
          </a:p>
        </p:txBody>
      </p:sp>
      <p:sp>
        <p:nvSpPr>
          <p:cNvPr id="11" name="Text 9"/>
          <p:cNvSpPr/>
          <p:nvPr/>
        </p:nvSpPr>
        <p:spPr>
          <a:xfrm>
            <a:off x="1417320" y="2852928"/>
            <a:ext cx="10104120" cy="749808"/>
          </a:xfrm>
          <a:prstGeom prst="rect">
            <a:avLst/>
          </a:prstGeom>
          <a:noFill/>
          <a:ln/>
        </p:spPr>
        <p:txBody>
          <a:bodyPr wrap="square" lIns="0" tIns="0" rIns="0" bIns="0" rtlCol="0" anchor="ctr"/>
          <a:lstStyle/>
          <a:p>
            <a:pPr indent="0" marL="0">
              <a:lnSpc>
                <a:spcPts val="2000"/>
              </a:lnSpc>
              <a:buNone/>
            </a:pPr>
            <a:r>
              <a:rPr lang="en-US" sz="1400" dirty="0">
                <a:solidFill>
                  <a:srgbClr val="22252E"/>
                </a:solidFill>
                <a:latin typeface="Calibri" pitchFamily="34" charset="0"/>
                <a:ea typeface="Calibri" pitchFamily="34" charset="-122"/>
                <a:cs typeface="Calibri" pitchFamily="34" charset="-120"/>
              </a:rPr>
              <a:t>Across nation-state intrusions coded from 2020 to 2024, the average time between break-in and discovery was 197 days. In the Volt Typhoon case, access is described as lasting up to five years.</a:t>
            </a:r>
            <a:endParaRPr lang="en-US" sz="1400" dirty="0"/>
          </a:p>
        </p:txBody>
      </p:sp>
      <p:sp>
        <p:nvSpPr>
          <p:cNvPr id="12" name="Shape 10"/>
          <p:cNvSpPr/>
          <p:nvPr/>
        </p:nvSpPr>
        <p:spPr>
          <a:xfrm>
            <a:off x="640080" y="3749040"/>
            <a:ext cx="502920" cy="502920"/>
          </a:xfrm>
          <a:prstGeom prst="ellipse">
            <a:avLst/>
          </a:prstGeom>
          <a:solidFill>
            <a:srgbClr val="1E2761"/>
          </a:solidFill>
          <a:ln/>
        </p:spPr>
      </p:sp>
      <p:sp>
        <p:nvSpPr>
          <p:cNvPr id="13" name="Text 11"/>
          <p:cNvSpPr/>
          <p:nvPr/>
        </p:nvSpPr>
        <p:spPr>
          <a:xfrm>
            <a:off x="640080" y="374904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4" name="Text 12"/>
          <p:cNvSpPr/>
          <p:nvPr/>
        </p:nvSpPr>
        <p:spPr>
          <a:xfrm>
            <a:off x="1417320" y="3712464"/>
            <a:ext cx="10104120" cy="329184"/>
          </a:xfrm>
          <a:prstGeom prst="rect">
            <a:avLst/>
          </a:prstGeom>
          <a:noFill/>
          <a:ln/>
        </p:spPr>
        <p:txBody>
          <a:bodyPr wrap="square" lIns="0" tIns="0" rIns="0" bIns="0" rtlCol="0" anchor="ctr"/>
          <a:lstStyle/>
          <a:p>
            <a:pPr indent="0" marL="0">
              <a:buNone/>
            </a:pPr>
            <a:r>
              <a:rPr lang="en-US" sz="1750" b="1" dirty="0">
                <a:solidFill>
                  <a:srgbClr val="1E2761"/>
                </a:solidFill>
                <a:latin typeface="Cambria" pitchFamily="34" charset="0"/>
                <a:ea typeface="Cambria" pitchFamily="34" charset="-122"/>
                <a:cs typeface="Cambria" pitchFamily="34" charset="-120"/>
              </a:rPr>
              <a:t>Victims usually are not the ones who notice</a:t>
            </a:r>
            <a:endParaRPr lang="en-US" sz="1750" dirty="0"/>
          </a:p>
        </p:txBody>
      </p:sp>
      <p:sp>
        <p:nvSpPr>
          <p:cNvPr id="15" name="Text 13"/>
          <p:cNvSpPr/>
          <p:nvPr/>
        </p:nvSpPr>
        <p:spPr>
          <a:xfrm>
            <a:off x="1417320" y="4059936"/>
            <a:ext cx="10104120" cy="749808"/>
          </a:xfrm>
          <a:prstGeom prst="rect">
            <a:avLst/>
          </a:prstGeom>
          <a:noFill/>
          <a:ln/>
        </p:spPr>
        <p:txBody>
          <a:bodyPr wrap="square" lIns="0" tIns="0" rIns="0" bIns="0" rtlCol="0" anchor="ctr"/>
          <a:lstStyle/>
          <a:p>
            <a:pPr indent="0" marL="0">
              <a:lnSpc>
                <a:spcPts val="2000"/>
              </a:lnSpc>
              <a:buNone/>
            </a:pPr>
            <a:r>
              <a:rPr lang="en-US" sz="1400" dirty="0">
                <a:solidFill>
                  <a:srgbClr val="22252E"/>
                </a:solidFill>
                <a:latin typeface="Calibri" pitchFamily="34" charset="0"/>
                <a:ea typeface="Calibri" pitchFamily="34" charset="-122"/>
                <a:cs typeface="Calibri" pitchFamily="34" charset="-120"/>
              </a:rPr>
              <a:t>Roughly three quarters of these intrusions were first spotted by someone other than the victim: a government agency, a security vendor, or a partner organisation.</a:t>
            </a:r>
            <a:endParaRPr lang="en-US" sz="1400" dirty="0"/>
          </a:p>
        </p:txBody>
      </p:sp>
      <p:sp>
        <p:nvSpPr>
          <p:cNvPr id="16" name="Shape 14"/>
          <p:cNvSpPr/>
          <p:nvPr/>
        </p:nvSpPr>
        <p:spPr>
          <a:xfrm>
            <a:off x="640080" y="5029200"/>
            <a:ext cx="10881360" cy="1097280"/>
          </a:xfrm>
          <a:prstGeom prst="roundRect">
            <a:avLst>
              <a:gd name="adj" fmla="val 6667"/>
            </a:avLst>
          </a:prstGeom>
          <a:solidFill>
            <a:srgbClr val="FDF6EA"/>
          </a:solidFill>
          <a:ln w="9525">
            <a:solidFill>
              <a:srgbClr val="E2E7F2"/>
            </a:solidFill>
            <a:prstDash val="solid"/>
          </a:ln>
        </p:spPr>
      </p:sp>
      <p:sp>
        <p:nvSpPr>
          <p:cNvPr id="17" name="Text 15"/>
          <p:cNvSpPr/>
          <p:nvPr/>
        </p:nvSpPr>
        <p:spPr>
          <a:xfrm>
            <a:off x="1005840" y="5138928"/>
            <a:ext cx="3017520" cy="292608"/>
          </a:xfrm>
          <a:prstGeom prst="rect">
            <a:avLst/>
          </a:prstGeom>
          <a:noFill/>
          <a:ln/>
        </p:spPr>
        <p:txBody>
          <a:bodyPr wrap="square" lIns="0" tIns="0" rIns="0" bIns="0" rtlCol="0" anchor="ctr"/>
          <a:lstStyle/>
          <a:p>
            <a:pPr indent="0" marL="0">
              <a:buNone/>
            </a:pPr>
            <a:r>
              <a:rPr lang="en-US" sz="1550" b="1" dirty="0">
                <a:solidFill>
                  <a:srgbClr val="D98C1F"/>
                </a:solidFill>
                <a:latin typeface="Cambria" pitchFamily="34" charset="0"/>
                <a:ea typeface="Cambria" pitchFamily="34" charset="-122"/>
                <a:cs typeface="Cambria" pitchFamily="34" charset="-120"/>
              </a:rPr>
              <a:t>What that access buys</a:t>
            </a:r>
            <a:endParaRPr lang="en-US" sz="1550" dirty="0"/>
          </a:p>
        </p:txBody>
      </p:sp>
      <p:sp>
        <p:nvSpPr>
          <p:cNvPr id="18" name="Text 16"/>
          <p:cNvSpPr/>
          <p:nvPr/>
        </p:nvSpPr>
        <p:spPr>
          <a:xfrm>
            <a:off x="1005840" y="5449824"/>
            <a:ext cx="10149840" cy="566928"/>
          </a:xfrm>
          <a:prstGeom prst="rect">
            <a:avLst/>
          </a:prstGeom>
          <a:noFill/>
          <a:ln/>
        </p:spPr>
        <p:txBody>
          <a:bodyPr wrap="square" lIns="0" tIns="0" rIns="0" bIns="0" rtlCol="0" anchor="ctr"/>
          <a:lstStyle/>
          <a:p>
            <a:pPr indent="0" marL="0">
              <a:lnSpc>
                <a:spcPts val="1900"/>
              </a:lnSpc>
              <a:buNone/>
            </a:pPr>
            <a:r>
              <a:rPr lang="en-US" sz="1350" dirty="0">
                <a:solidFill>
                  <a:srgbClr val="22252E"/>
                </a:solidFill>
                <a:latin typeface="Calibri" pitchFamily="34" charset="0"/>
                <a:ea typeface="Calibri" pitchFamily="34" charset="-122"/>
                <a:cs typeface="Calibri" pitchFamily="34" charset="-120"/>
              </a:rPr>
              <a:t>An intruder who sits quietly builds what one author calls a portfolio of future options: escalate, disrupt, keep watching, or withdraw. Over time they accumulate real power on that network without ever using it.</a:t>
            </a:r>
            <a:endParaRPr lang="en-US" sz="1350" dirty="0"/>
          </a:p>
        </p:txBody>
      </p:sp>
      <p:sp>
        <p:nvSpPr>
          <p:cNvPr id="19" name="Text 17"/>
          <p:cNvSpPr/>
          <p:nvPr/>
        </p:nvSpPr>
        <p:spPr>
          <a:xfrm>
            <a:off x="640080" y="6327648"/>
            <a:ext cx="10881360" cy="274320"/>
          </a:xfrm>
          <a:prstGeom prst="rect">
            <a:avLst/>
          </a:prstGeom>
          <a:noFill/>
          <a:ln/>
        </p:spPr>
        <p:txBody>
          <a:bodyPr wrap="square" lIns="0" tIns="0" rIns="0" bIns="0" rtlCol="0" anchor="ctr"/>
          <a:lstStyle/>
          <a:p>
            <a:pPr indent="0" marL="0">
              <a:buNone/>
            </a:pPr>
            <a:r>
              <a:rPr lang="en-US" sz="1050" dirty="0">
                <a:solidFill>
                  <a:srgbClr val="6A6F7D"/>
                </a:solidFill>
                <a:latin typeface="Calibri" pitchFamily="34" charset="0"/>
                <a:ea typeface="Calibri" pitchFamily="34" charset="-122"/>
                <a:cs typeface="Calibri" pitchFamily="34" charset="-120"/>
              </a:rPr>
              <a:t>Dwell time and detection figures from Kabir et al. (2026); the portfolio of options from Guttieri (2025).</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8229600" cy="256032"/>
          </a:xfrm>
          <a:prstGeom prst="rect">
            <a:avLst/>
          </a:prstGeom>
          <a:noFill/>
          <a:ln/>
        </p:spPr>
        <p:txBody>
          <a:bodyPr wrap="square" lIns="0" tIns="0" rIns="0" bIns="0" rtlCol="0" anchor="ctr"/>
          <a:lstStyle/>
          <a:p>
            <a:pPr indent="0" marL="0">
              <a:buNone/>
            </a:pPr>
            <a:r>
              <a:rPr lang="en-US" sz="1200" b="1" spc="200" kern="0" dirty="0">
                <a:solidFill>
                  <a:srgbClr val="D98C1F"/>
                </a:solidFill>
                <a:latin typeface="Calibri" pitchFamily="34" charset="0"/>
                <a:ea typeface="Calibri" pitchFamily="34" charset="-122"/>
                <a:cs typeface="Calibri" pitchFamily="34" charset="-120"/>
              </a:rPr>
              <a:t>THE STANDARD READING</a:t>
            </a:r>
            <a:endParaRPr lang="en-US" sz="1200" dirty="0"/>
          </a:p>
        </p:txBody>
      </p:sp>
      <p:sp>
        <p:nvSpPr>
          <p:cNvPr id="3" name="Text 1"/>
          <p:cNvSpPr/>
          <p:nvPr/>
        </p:nvSpPr>
        <p:spPr>
          <a:xfrm>
            <a:off x="640080" y="603504"/>
            <a:ext cx="1088136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So analysts read it as a warning</a:t>
            </a:r>
            <a:endParaRPr lang="en-US" sz="3000" dirty="0"/>
          </a:p>
        </p:txBody>
      </p:sp>
      <p:sp>
        <p:nvSpPr>
          <p:cNvPr id="4" name="Text 2"/>
          <p:cNvSpPr/>
          <p:nvPr/>
        </p:nvSpPr>
        <p:spPr>
          <a:xfrm>
            <a:off x="640080" y="1298448"/>
            <a:ext cx="10881360" cy="777240"/>
          </a:xfrm>
          <a:prstGeom prst="rect">
            <a:avLst/>
          </a:prstGeom>
          <a:noFill/>
          <a:ln/>
        </p:spPr>
        <p:txBody>
          <a:bodyPr wrap="square" lIns="0" tIns="0" rIns="0" bIns="0" rtlCol="0" anchor="ctr"/>
          <a:lstStyle/>
          <a:p>
            <a:pPr indent="0" marL="0">
              <a:lnSpc>
                <a:spcPts val="2700"/>
              </a:lnSpc>
              <a:buNone/>
            </a:pPr>
            <a:r>
              <a:rPr lang="en-US" sz="1950" i="1" dirty="0">
                <a:solidFill>
                  <a:srgbClr val="1E2761"/>
                </a:solidFill>
                <a:latin typeface="Cambria" pitchFamily="34" charset="0"/>
                <a:ea typeface="Cambria" pitchFamily="34" charset="-122"/>
                <a:cs typeface="Cambria" pitchFamily="34" charset="-120"/>
              </a:rPr>
              <a:t>If access gives you little to read but great power in a crisis, then the reason for being there is the crisis.</a:t>
            </a:r>
            <a:endParaRPr lang="en-US" sz="1950" dirty="0"/>
          </a:p>
        </p:txBody>
      </p:sp>
      <p:sp>
        <p:nvSpPr>
          <p:cNvPr id="5" name="Shape 3"/>
          <p:cNvSpPr/>
          <p:nvPr/>
        </p:nvSpPr>
        <p:spPr>
          <a:xfrm>
            <a:off x="640080" y="2212848"/>
            <a:ext cx="3429000" cy="2286000"/>
          </a:xfrm>
          <a:prstGeom prst="roundRect">
            <a:avLst>
              <a:gd name="adj" fmla="val 3200"/>
            </a:avLst>
          </a:prstGeom>
          <a:solidFill>
            <a:srgbClr val="F4F6FB"/>
          </a:solidFill>
          <a:ln w="9525">
            <a:solidFill>
              <a:srgbClr val="E2E7F2"/>
            </a:solidFill>
            <a:prstDash val="solid"/>
          </a:ln>
        </p:spPr>
      </p:sp>
      <p:sp>
        <p:nvSpPr>
          <p:cNvPr id="6" name="Shape 4"/>
          <p:cNvSpPr/>
          <p:nvPr/>
        </p:nvSpPr>
        <p:spPr>
          <a:xfrm>
            <a:off x="896112" y="2468880"/>
            <a:ext cx="502920" cy="502920"/>
          </a:xfrm>
          <a:prstGeom prst="ellipse">
            <a:avLst/>
          </a:prstGeom>
          <a:solidFill>
            <a:srgbClr val="1E2761"/>
          </a:solidFill>
          <a:ln/>
        </p:spPr>
      </p:sp>
      <p:sp>
        <p:nvSpPr>
          <p:cNvPr id="7" name="Text 5"/>
          <p:cNvSpPr/>
          <p:nvPr/>
        </p:nvSpPr>
        <p:spPr>
          <a:xfrm>
            <a:off x="896112" y="246888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896112" y="3127248"/>
            <a:ext cx="292608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Staying hidden is hard</a:t>
            </a:r>
            <a:endParaRPr lang="en-US" sz="1700" dirty="0"/>
          </a:p>
        </p:txBody>
      </p:sp>
      <p:sp>
        <p:nvSpPr>
          <p:cNvPr id="9" name="Text 7"/>
          <p:cNvSpPr/>
          <p:nvPr/>
        </p:nvSpPr>
        <p:spPr>
          <a:xfrm>
            <a:off x="896112" y="3520440"/>
            <a:ext cx="2926080" cy="914400"/>
          </a:xfrm>
          <a:prstGeom prst="rect">
            <a:avLst/>
          </a:prstGeom>
          <a:noFill/>
          <a:ln/>
        </p:spPr>
        <p:txBody>
          <a:bodyPr wrap="square" lIns="0" tIns="0" rIns="0" bIns="0" rtlCol="0" anchor="ctr"/>
          <a:lstStyle/>
          <a:p>
            <a:pPr indent="0" marL="0">
              <a:lnSpc>
                <a:spcPts val="1900"/>
              </a:lnSpc>
              <a:buNone/>
            </a:pPr>
            <a:r>
              <a:rPr lang="en-US" sz="1350" dirty="0">
                <a:solidFill>
                  <a:srgbClr val="22252E"/>
                </a:solidFill>
                <a:latin typeface="Calibri" pitchFamily="34" charset="0"/>
                <a:ea typeface="Calibri" pitchFamily="34" charset="-122"/>
                <a:cs typeface="Calibri" pitchFamily="34" charset="-120"/>
              </a:rPr>
              <a:t>Years inside a defended network takes skill and patience. It is not cheap and it is not easy.</a:t>
            </a:r>
            <a:endParaRPr lang="en-US" sz="1350" dirty="0"/>
          </a:p>
        </p:txBody>
      </p:sp>
      <p:sp>
        <p:nvSpPr>
          <p:cNvPr id="10" name="Shape 8"/>
          <p:cNvSpPr/>
          <p:nvPr/>
        </p:nvSpPr>
        <p:spPr>
          <a:xfrm>
            <a:off x="4325112" y="2212848"/>
            <a:ext cx="3429000" cy="2286000"/>
          </a:xfrm>
          <a:prstGeom prst="roundRect">
            <a:avLst>
              <a:gd name="adj" fmla="val 3200"/>
            </a:avLst>
          </a:prstGeom>
          <a:solidFill>
            <a:srgbClr val="F4F6FB"/>
          </a:solidFill>
          <a:ln w="9525">
            <a:solidFill>
              <a:srgbClr val="E2E7F2"/>
            </a:solidFill>
            <a:prstDash val="solid"/>
          </a:ln>
        </p:spPr>
      </p:sp>
      <p:sp>
        <p:nvSpPr>
          <p:cNvPr id="11" name="Shape 9"/>
          <p:cNvSpPr/>
          <p:nvPr/>
        </p:nvSpPr>
        <p:spPr>
          <a:xfrm>
            <a:off x="4581144" y="2468880"/>
            <a:ext cx="502920" cy="502920"/>
          </a:xfrm>
          <a:prstGeom prst="ellipse">
            <a:avLst/>
          </a:prstGeom>
          <a:solidFill>
            <a:srgbClr val="1E2761"/>
          </a:solidFill>
          <a:ln/>
        </p:spPr>
      </p:sp>
      <p:sp>
        <p:nvSpPr>
          <p:cNvPr id="12" name="Text 10"/>
          <p:cNvSpPr/>
          <p:nvPr/>
        </p:nvSpPr>
        <p:spPr>
          <a:xfrm>
            <a:off x="4581144" y="246888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p:nvPr/>
        </p:nvSpPr>
        <p:spPr>
          <a:xfrm>
            <a:off x="4581144" y="3127248"/>
            <a:ext cx="292608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So the act carries meaning</a:t>
            </a:r>
            <a:endParaRPr lang="en-US" sz="1700" dirty="0"/>
          </a:p>
        </p:txBody>
      </p:sp>
      <p:sp>
        <p:nvSpPr>
          <p:cNvPr id="14" name="Text 12"/>
          <p:cNvSpPr/>
          <p:nvPr/>
        </p:nvSpPr>
        <p:spPr>
          <a:xfrm>
            <a:off x="4581144" y="3520440"/>
            <a:ext cx="2926080" cy="914400"/>
          </a:xfrm>
          <a:prstGeom prst="rect">
            <a:avLst/>
          </a:prstGeom>
          <a:noFill/>
          <a:ln/>
        </p:spPr>
        <p:txBody>
          <a:bodyPr wrap="square" lIns="0" tIns="0" rIns="0" bIns="0" rtlCol="0" anchor="ctr"/>
          <a:lstStyle/>
          <a:p>
            <a:pPr indent="0" marL="0">
              <a:lnSpc>
                <a:spcPts val="1900"/>
              </a:lnSpc>
              <a:buNone/>
            </a:pPr>
            <a:r>
              <a:rPr lang="en-US" sz="1350" dirty="0">
                <a:solidFill>
                  <a:srgbClr val="22252E"/>
                </a:solidFill>
                <a:latin typeface="Calibri" pitchFamily="34" charset="0"/>
                <a:ea typeface="Calibri" pitchFamily="34" charset="-122"/>
                <a:cs typeface="Calibri" pitchFamily="34" charset="-120"/>
              </a:rPr>
              <a:t>People do not pay a high price for nothing. The effort itself is the message being sent.</a:t>
            </a:r>
            <a:endParaRPr lang="en-US" sz="1350" dirty="0"/>
          </a:p>
        </p:txBody>
      </p:sp>
      <p:sp>
        <p:nvSpPr>
          <p:cNvPr id="15" name="Shape 13"/>
          <p:cNvSpPr/>
          <p:nvPr/>
        </p:nvSpPr>
        <p:spPr>
          <a:xfrm>
            <a:off x="8010144" y="2212848"/>
            <a:ext cx="3429000" cy="2286000"/>
          </a:xfrm>
          <a:prstGeom prst="roundRect">
            <a:avLst>
              <a:gd name="adj" fmla="val 3200"/>
            </a:avLst>
          </a:prstGeom>
          <a:solidFill>
            <a:srgbClr val="F4F6FB"/>
          </a:solidFill>
          <a:ln w="9525">
            <a:solidFill>
              <a:srgbClr val="E2E7F2"/>
            </a:solidFill>
            <a:prstDash val="solid"/>
          </a:ln>
        </p:spPr>
      </p:sp>
      <p:sp>
        <p:nvSpPr>
          <p:cNvPr id="16" name="Shape 14"/>
          <p:cNvSpPr/>
          <p:nvPr/>
        </p:nvSpPr>
        <p:spPr>
          <a:xfrm>
            <a:off x="8266176" y="2468880"/>
            <a:ext cx="502920" cy="502920"/>
          </a:xfrm>
          <a:prstGeom prst="ellipse">
            <a:avLst/>
          </a:prstGeom>
          <a:solidFill>
            <a:srgbClr val="1E2761"/>
          </a:solidFill>
          <a:ln/>
        </p:spPr>
      </p:sp>
      <p:sp>
        <p:nvSpPr>
          <p:cNvPr id="17" name="Text 15"/>
          <p:cNvSpPr/>
          <p:nvPr/>
        </p:nvSpPr>
        <p:spPr>
          <a:xfrm>
            <a:off x="8266176" y="246888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p:nvPr/>
        </p:nvSpPr>
        <p:spPr>
          <a:xfrm>
            <a:off x="8266176" y="3127248"/>
            <a:ext cx="292608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Therefore: preparation</a:t>
            </a:r>
            <a:endParaRPr lang="en-US" sz="1700" dirty="0"/>
          </a:p>
        </p:txBody>
      </p:sp>
      <p:sp>
        <p:nvSpPr>
          <p:cNvPr id="19" name="Text 17"/>
          <p:cNvSpPr/>
          <p:nvPr/>
        </p:nvSpPr>
        <p:spPr>
          <a:xfrm>
            <a:off x="8266176" y="3520440"/>
            <a:ext cx="2926080" cy="914400"/>
          </a:xfrm>
          <a:prstGeom prst="rect">
            <a:avLst/>
          </a:prstGeom>
          <a:noFill/>
          <a:ln/>
        </p:spPr>
        <p:txBody>
          <a:bodyPr wrap="square" lIns="0" tIns="0" rIns="0" bIns="0" rtlCol="0" anchor="ctr"/>
          <a:lstStyle/>
          <a:p>
            <a:pPr indent="0" marL="0">
              <a:lnSpc>
                <a:spcPts val="1900"/>
              </a:lnSpc>
              <a:buNone/>
            </a:pPr>
            <a:r>
              <a:rPr lang="en-US" sz="1350" dirty="0">
                <a:solidFill>
                  <a:srgbClr val="22252E"/>
                </a:solidFill>
                <a:latin typeface="Calibri" pitchFamily="34" charset="0"/>
                <a:ea typeface="Calibri" pitchFamily="34" charset="-122"/>
                <a:cs typeface="Calibri" pitchFamily="34" charset="-120"/>
              </a:rPr>
              <a:t>The intrusion is read as a state getting ready for a fight it expects to have.</a:t>
            </a:r>
            <a:endParaRPr lang="en-US" sz="1350" dirty="0"/>
          </a:p>
        </p:txBody>
      </p:sp>
      <p:sp>
        <p:nvSpPr>
          <p:cNvPr id="20" name="Shape 18"/>
          <p:cNvSpPr/>
          <p:nvPr/>
        </p:nvSpPr>
        <p:spPr>
          <a:xfrm>
            <a:off x="640080" y="4754880"/>
            <a:ext cx="10881360" cy="1005840"/>
          </a:xfrm>
          <a:prstGeom prst="roundRect">
            <a:avLst>
              <a:gd name="adj" fmla="val 7273"/>
            </a:avLst>
          </a:prstGeom>
          <a:solidFill>
            <a:srgbClr val="FDF6EA"/>
          </a:solidFill>
          <a:ln w="9525">
            <a:solidFill>
              <a:srgbClr val="E2E7F2"/>
            </a:solidFill>
            <a:prstDash val="solid"/>
          </a:ln>
        </p:spPr>
      </p:sp>
      <p:sp>
        <p:nvSpPr>
          <p:cNvPr id="21" name="Text 19"/>
          <p:cNvSpPr/>
          <p:nvPr/>
        </p:nvSpPr>
        <p:spPr>
          <a:xfrm>
            <a:off x="1005840" y="4882896"/>
            <a:ext cx="10149840" cy="777240"/>
          </a:xfrm>
          <a:prstGeom prst="rect">
            <a:avLst/>
          </a:prstGeom>
          <a:noFill/>
          <a:ln/>
        </p:spPr>
        <p:txBody>
          <a:bodyPr wrap="square" lIns="0" tIns="0" rIns="0" bIns="0" rtlCol="0" anchor="ctr"/>
          <a:lstStyle/>
          <a:p>
            <a:pPr indent="0" marL="0">
              <a:lnSpc>
                <a:spcPts val="2300"/>
              </a:lnSpc>
              <a:buNone/>
            </a:pPr>
            <a:r>
              <a:rPr lang="en-US" sz="1700" b="1" dirty="0">
                <a:solidFill>
                  <a:srgbClr val="D98C1F"/>
                </a:solidFill>
                <a:latin typeface="Cambria" pitchFamily="34" charset="0"/>
                <a:ea typeface="Cambria" pitchFamily="34" charset="-122"/>
                <a:cs typeface="Cambria" pitchFamily="34" charset="-120"/>
              </a:rPr>
              <a:t>This whole reading rests on one word: expensive. Take that away and the reasoning has nothing left to stand on.</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8229600" cy="256032"/>
          </a:xfrm>
          <a:prstGeom prst="rect">
            <a:avLst/>
          </a:prstGeom>
          <a:noFill/>
          <a:ln/>
        </p:spPr>
        <p:txBody>
          <a:bodyPr wrap="square" lIns="0" tIns="0" rIns="0" bIns="0" rtlCol="0" anchor="ctr"/>
          <a:lstStyle/>
          <a:p>
            <a:pPr indent="0" marL="0">
              <a:buNone/>
            </a:pPr>
            <a:r>
              <a:rPr lang="en-US" sz="1200" b="1" spc="200" kern="0" dirty="0">
                <a:solidFill>
                  <a:srgbClr val="D98C1F"/>
                </a:solidFill>
                <a:latin typeface="Calibri" pitchFamily="34" charset="0"/>
                <a:ea typeface="Calibri" pitchFamily="34" charset="-122"/>
                <a:cs typeface="Calibri" pitchFamily="34" charset="-120"/>
              </a:rPr>
              <a:t>THE CENTRAL FINDING</a:t>
            </a:r>
            <a:endParaRPr lang="en-US" sz="1200" dirty="0"/>
          </a:p>
        </p:txBody>
      </p:sp>
      <p:sp>
        <p:nvSpPr>
          <p:cNvPr id="3" name="Text 1"/>
          <p:cNvSpPr/>
          <p:nvPr/>
        </p:nvSpPr>
        <p:spPr>
          <a:xfrm>
            <a:off x="640080" y="603504"/>
            <a:ext cx="1088136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But governments do not act as if they believe it</a:t>
            </a:r>
            <a:endParaRPr lang="en-US" sz="3000" dirty="0"/>
          </a:p>
        </p:txBody>
      </p:sp>
      <p:sp>
        <p:nvSpPr>
          <p:cNvPr id="4" name="Shape 2"/>
          <p:cNvSpPr/>
          <p:nvPr/>
        </p:nvSpPr>
        <p:spPr>
          <a:xfrm>
            <a:off x="640080" y="1298448"/>
            <a:ext cx="5349240" cy="3429000"/>
          </a:xfrm>
          <a:prstGeom prst="roundRect">
            <a:avLst>
              <a:gd name="adj" fmla="val 2133"/>
            </a:avLst>
          </a:prstGeom>
          <a:solidFill>
            <a:srgbClr val="FDF6EA"/>
          </a:solidFill>
          <a:ln w="9525">
            <a:solidFill>
              <a:srgbClr val="E2E7F2"/>
            </a:solidFill>
            <a:prstDash val="solid"/>
          </a:ln>
        </p:spPr>
      </p:sp>
      <p:sp>
        <p:nvSpPr>
          <p:cNvPr id="5" name="Text 3"/>
          <p:cNvSpPr/>
          <p:nvPr/>
        </p:nvSpPr>
        <p:spPr>
          <a:xfrm>
            <a:off x="960120" y="1517904"/>
            <a:ext cx="4663440" cy="411480"/>
          </a:xfrm>
          <a:prstGeom prst="rect">
            <a:avLst/>
          </a:prstGeom>
          <a:noFill/>
          <a:ln/>
        </p:spPr>
        <p:txBody>
          <a:bodyPr wrap="square" lIns="0" tIns="0" rIns="0" bIns="0" rtlCol="0" anchor="ctr"/>
          <a:lstStyle/>
          <a:p>
            <a:pPr indent="0" marL="0">
              <a:buNone/>
            </a:pPr>
            <a:r>
              <a:rPr lang="en-US" sz="2400" b="1" dirty="0">
                <a:solidFill>
                  <a:srgbClr val="D98C1F"/>
                </a:solidFill>
                <a:latin typeface="Cambria" pitchFamily="34" charset="0"/>
                <a:ea typeface="Cambria" pitchFamily="34" charset="-122"/>
                <a:cs typeface="Cambria" pitchFamily="34" charset="-120"/>
              </a:rPr>
              <a:t>Volt Typhoon</a:t>
            </a:r>
            <a:endParaRPr lang="en-US" sz="2400" dirty="0"/>
          </a:p>
        </p:txBody>
      </p:sp>
      <p:sp>
        <p:nvSpPr>
          <p:cNvPr id="6" name="Text 4"/>
          <p:cNvSpPr/>
          <p:nvPr/>
        </p:nvSpPr>
        <p:spPr>
          <a:xfrm>
            <a:off x="960120" y="1947672"/>
            <a:ext cx="4663440" cy="594360"/>
          </a:xfrm>
          <a:prstGeom prst="rect">
            <a:avLst/>
          </a:prstGeom>
          <a:noFill/>
          <a:ln/>
        </p:spPr>
        <p:txBody>
          <a:bodyPr wrap="square" lIns="0" tIns="0" rIns="0" bIns="0" rtlCol="0" anchor="ctr"/>
          <a:lstStyle/>
          <a:p>
            <a:pPr indent="0" marL="0">
              <a:lnSpc>
                <a:spcPts val="1900"/>
              </a:lnSpc>
              <a:buNone/>
            </a:pPr>
            <a:r>
              <a:rPr lang="en-US" sz="1350" dirty="0">
                <a:solidFill>
                  <a:srgbClr val="6A6F7D"/>
                </a:solidFill>
                <a:latin typeface="Calibri" pitchFamily="34" charset="0"/>
                <a:ea typeface="Calibri" pitchFamily="34" charset="-122"/>
                <a:cs typeface="Calibri" pitchFamily="34" charset="-120"/>
              </a:rPr>
              <a:t>Code left inside power, water,</a:t>
            </a:r>
            <a:endParaRPr lang="en-US" sz="1350" dirty="0"/>
          </a:p>
          <a:p>
            <a:pPr indent="0" marL="0">
              <a:lnSpc>
                <a:spcPts val="1900"/>
              </a:lnSpc>
              <a:buNone/>
            </a:pPr>
            <a:r>
              <a:rPr lang="en-US" sz="1350" dirty="0">
                <a:solidFill>
                  <a:srgbClr val="6A6F7D"/>
                </a:solidFill>
                <a:latin typeface="Calibri" pitchFamily="34" charset="0"/>
                <a:ea typeface="Calibri" pitchFamily="34" charset="-122"/>
                <a:cs typeface="Calibri" pitchFamily="34" charset="-120"/>
              </a:rPr>
              <a:t>communications and transport</a:t>
            </a:r>
            <a:endParaRPr lang="en-US" sz="1350" dirty="0"/>
          </a:p>
        </p:txBody>
      </p:sp>
      <p:sp>
        <p:nvSpPr>
          <p:cNvPr id="7" name="Text 5"/>
          <p:cNvSpPr/>
          <p:nvPr/>
        </p:nvSpPr>
        <p:spPr>
          <a:xfrm>
            <a:off x="960120" y="2633472"/>
            <a:ext cx="4663440" cy="237744"/>
          </a:xfrm>
          <a:prstGeom prst="rect">
            <a:avLst/>
          </a:prstGeom>
          <a:noFill/>
          <a:ln/>
        </p:spPr>
        <p:txBody>
          <a:bodyPr wrap="square" lIns="0" tIns="0" rIns="0" bIns="0" rtlCol="0" anchor="ctr"/>
          <a:lstStyle/>
          <a:p>
            <a:pPr indent="0" marL="0">
              <a:buNone/>
            </a:pPr>
            <a:r>
              <a:rPr lang="en-US" sz="1100" b="1" spc="100" kern="0" dirty="0">
                <a:solidFill>
                  <a:srgbClr val="6A6F7D"/>
                </a:solidFill>
                <a:latin typeface="Calibri" pitchFamily="34" charset="0"/>
                <a:ea typeface="Calibri" pitchFamily="34" charset="-122"/>
                <a:cs typeface="Calibri" pitchFamily="34" charset="-120"/>
              </a:rPr>
              <a:t>WHAT THE UNITED STATES DID</a:t>
            </a:r>
            <a:endParaRPr lang="en-US" sz="1100" dirty="0"/>
          </a:p>
        </p:txBody>
      </p:sp>
      <p:sp>
        <p:nvSpPr>
          <p:cNvPr id="8" name="Text 6"/>
          <p:cNvSpPr/>
          <p:nvPr/>
        </p:nvSpPr>
        <p:spPr>
          <a:xfrm>
            <a:off x="960120" y="2889504"/>
            <a:ext cx="4663440" cy="411480"/>
          </a:xfrm>
          <a:prstGeom prst="rect">
            <a:avLst/>
          </a:prstGeom>
          <a:noFill/>
          <a:ln/>
        </p:spPr>
        <p:txBody>
          <a:bodyPr wrap="square" lIns="0" tIns="0" rIns="0" bIns="0" rtlCol="0" anchor="ctr"/>
          <a:lstStyle/>
          <a:p>
            <a:pPr indent="0" marL="0">
              <a:buNone/>
            </a:pPr>
            <a:r>
              <a:rPr lang="en-US" sz="2100" b="1" dirty="0">
                <a:solidFill>
                  <a:srgbClr val="D98C1F"/>
                </a:solidFill>
                <a:latin typeface="Cambria" pitchFamily="34" charset="0"/>
                <a:ea typeface="Cambria" pitchFamily="34" charset="-122"/>
                <a:cs typeface="Cambria" pitchFamily="34" charset="-120"/>
              </a:rPr>
              <a:t>A technical advisory</a:t>
            </a:r>
            <a:endParaRPr lang="en-US" sz="2100" dirty="0"/>
          </a:p>
        </p:txBody>
      </p:sp>
      <p:sp>
        <p:nvSpPr>
          <p:cNvPr id="9" name="Text 7"/>
          <p:cNvSpPr/>
          <p:nvPr/>
        </p:nvSpPr>
        <p:spPr>
          <a:xfrm>
            <a:off x="960120" y="3364992"/>
            <a:ext cx="4663440" cy="822960"/>
          </a:xfrm>
          <a:prstGeom prst="rect">
            <a:avLst/>
          </a:prstGeom>
          <a:noFill/>
          <a:ln/>
        </p:spPr>
        <p:txBody>
          <a:bodyPr wrap="square" lIns="0" tIns="0" rIns="0" bIns="0" rtlCol="0" anchor="ctr"/>
          <a:lstStyle/>
          <a:p>
            <a:pPr indent="0" marL="0">
              <a:lnSpc>
                <a:spcPts val="1900"/>
              </a:lnSpc>
              <a:buNone/>
            </a:pPr>
            <a:r>
              <a:rPr lang="en-US" sz="1350" dirty="0">
                <a:solidFill>
                  <a:srgbClr val="22252E"/>
                </a:solidFill>
                <a:latin typeface="Calibri" pitchFamily="34" charset="0"/>
                <a:ea typeface="Calibri" pitchFamily="34" charset="-122"/>
                <a:cs typeface="Calibri" pitchFamily="34" charset="-120"/>
              </a:rPr>
              <a:t>No sanctions. No allied statement.</a:t>
            </a:r>
            <a:endParaRPr lang="en-US" sz="1350" dirty="0"/>
          </a:p>
          <a:p>
            <a:pPr indent="0" marL="0">
              <a:lnSpc>
                <a:spcPts val="1900"/>
              </a:lnSpc>
              <a:buNone/>
            </a:pPr>
            <a:r>
              <a:rPr lang="en-US" sz="1350" dirty="0">
                <a:solidFill>
                  <a:srgbClr val="22252E"/>
                </a:solidFill>
                <a:latin typeface="Calibri" pitchFamily="34" charset="0"/>
                <a:ea typeface="Calibri" pitchFamily="34" charset="-122"/>
                <a:cs typeface="Calibri" pitchFamily="34" charset="-120"/>
              </a:rPr>
              <a:t>Guidance written for network engineers.</a:t>
            </a:r>
            <a:endParaRPr lang="en-US" sz="1350" dirty="0"/>
          </a:p>
        </p:txBody>
      </p:sp>
      <p:sp>
        <p:nvSpPr>
          <p:cNvPr id="10" name="Shape 8"/>
          <p:cNvSpPr/>
          <p:nvPr/>
        </p:nvSpPr>
        <p:spPr>
          <a:xfrm>
            <a:off x="6263640" y="1298448"/>
            <a:ext cx="5349240" cy="3429000"/>
          </a:xfrm>
          <a:prstGeom prst="roundRect">
            <a:avLst>
              <a:gd name="adj" fmla="val 2133"/>
            </a:avLst>
          </a:prstGeom>
          <a:solidFill>
            <a:srgbClr val="F4F6FB"/>
          </a:solidFill>
          <a:ln w="9525">
            <a:solidFill>
              <a:srgbClr val="E2E7F2"/>
            </a:solidFill>
            <a:prstDash val="solid"/>
          </a:ln>
        </p:spPr>
      </p:sp>
      <p:sp>
        <p:nvSpPr>
          <p:cNvPr id="11" name="Text 9"/>
          <p:cNvSpPr/>
          <p:nvPr/>
        </p:nvSpPr>
        <p:spPr>
          <a:xfrm>
            <a:off x="6583680" y="1517904"/>
            <a:ext cx="4663440" cy="41148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Salt Typhoon</a:t>
            </a:r>
            <a:endParaRPr lang="en-US" sz="2400" dirty="0"/>
          </a:p>
        </p:txBody>
      </p:sp>
      <p:sp>
        <p:nvSpPr>
          <p:cNvPr id="12" name="Text 10"/>
          <p:cNvSpPr/>
          <p:nvPr/>
        </p:nvSpPr>
        <p:spPr>
          <a:xfrm>
            <a:off x="6583680" y="1947672"/>
            <a:ext cx="4663440" cy="594360"/>
          </a:xfrm>
          <a:prstGeom prst="rect">
            <a:avLst/>
          </a:prstGeom>
          <a:noFill/>
          <a:ln/>
        </p:spPr>
        <p:txBody>
          <a:bodyPr wrap="square" lIns="0" tIns="0" rIns="0" bIns="0" rtlCol="0" anchor="ctr"/>
          <a:lstStyle/>
          <a:p>
            <a:pPr indent="0" marL="0">
              <a:lnSpc>
                <a:spcPts val="1900"/>
              </a:lnSpc>
              <a:buNone/>
            </a:pPr>
            <a:r>
              <a:rPr lang="en-US" sz="1350" dirty="0">
                <a:solidFill>
                  <a:srgbClr val="6A6F7D"/>
                </a:solidFill>
                <a:latin typeface="Calibri" pitchFamily="34" charset="0"/>
                <a:ea typeface="Calibri" pitchFamily="34" charset="-122"/>
                <a:cs typeface="Calibri" pitchFamily="34" charset="-120"/>
              </a:rPr>
              <a:t>Spying on phone companies, call</a:t>
            </a:r>
            <a:endParaRPr lang="en-US" sz="1350" dirty="0"/>
          </a:p>
          <a:p>
            <a:pPr indent="0" marL="0">
              <a:lnSpc>
                <a:spcPts val="1900"/>
              </a:lnSpc>
              <a:buNone/>
            </a:pPr>
            <a:r>
              <a:rPr lang="en-US" sz="1350" dirty="0">
                <a:solidFill>
                  <a:srgbClr val="6A6F7D"/>
                </a:solidFill>
                <a:latin typeface="Calibri" pitchFamily="34" charset="0"/>
                <a:ea typeface="Calibri" pitchFamily="34" charset="-122"/>
                <a:cs typeface="Calibri" pitchFamily="34" charset="-120"/>
              </a:rPr>
              <a:t>records and surveillance systems</a:t>
            </a:r>
            <a:endParaRPr lang="en-US" sz="1350" dirty="0"/>
          </a:p>
        </p:txBody>
      </p:sp>
      <p:sp>
        <p:nvSpPr>
          <p:cNvPr id="13" name="Text 11"/>
          <p:cNvSpPr/>
          <p:nvPr/>
        </p:nvSpPr>
        <p:spPr>
          <a:xfrm>
            <a:off x="6583680" y="2633472"/>
            <a:ext cx="4663440" cy="237744"/>
          </a:xfrm>
          <a:prstGeom prst="rect">
            <a:avLst/>
          </a:prstGeom>
          <a:noFill/>
          <a:ln/>
        </p:spPr>
        <p:txBody>
          <a:bodyPr wrap="square" lIns="0" tIns="0" rIns="0" bIns="0" rtlCol="0" anchor="ctr"/>
          <a:lstStyle/>
          <a:p>
            <a:pPr indent="0" marL="0">
              <a:buNone/>
            </a:pPr>
            <a:r>
              <a:rPr lang="en-US" sz="1100" b="1" spc="100" kern="0" dirty="0">
                <a:solidFill>
                  <a:srgbClr val="6A6F7D"/>
                </a:solidFill>
                <a:latin typeface="Calibri" pitchFamily="34" charset="0"/>
                <a:ea typeface="Calibri" pitchFamily="34" charset="-122"/>
                <a:cs typeface="Calibri" pitchFamily="34" charset="-120"/>
              </a:rPr>
              <a:t>WHAT THE UNITED STATES DID</a:t>
            </a:r>
            <a:endParaRPr lang="en-US" sz="1100" dirty="0"/>
          </a:p>
        </p:txBody>
      </p:sp>
      <p:sp>
        <p:nvSpPr>
          <p:cNvPr id="14" name="Text 12"/>
          <p:cNvSpPr/>
          <p:nvPr/>
        </p:nvSpPr>
        <p:spPr>
          <a:xfrm>
            <a:off x="6583680" y="2889504"/>
            <a:ext cx="4663440" cy="4114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Treasury sanctions</a:t>
            </a:r>
            <a:endParaRPr lang="en-US" sz="2100" dirty="0"/>
          </a:p>
        </p:txBody>
      </p:sp>
      <p:sp>
        <p:nvSpPr>
          <p:cNvPr id="15" name="Text 13"/>
          <p:cNvSpPr/>
          <p:nvPr/>
        </p:nvSpPr>
        <p:spPr>
          <a:xfrm>
            <a:off x="6583680" y="3364992"/>
            <a:ext cx="4663440" cy="822960"/>
          </a:xfrm>
          <a:prstGeom prst="rect">
            <a:avLst/>
          </a:prstGeom>
          <a:noFill/>
          <a:ln/>
        </p:spPr>
        <p:txBody>
          <a:bodyPr wrap="square" lIns="0" tIns="0" rIns="0" bIns="0" rtlCol="0" anchor="ctr"/>
          <a:lstStyle/>
          <a:p>
            <a:pPr indent="0" marL="0">
              <a:lnSpc>
                <a:spcPts val="1900"/>
              </a:lnSpc>
              <a:buNone/>
            </a:pPr>
            <a:r>
              <a:rPr lang="en-US" sz="1350" dirty="0">
                <a:solidFill>
                  <a:srgbClr val="22252E"/>
                </a:solidFill>
                <a:latin typeface="Calibri" pitchFamily="34" charset="0"/>
                <a:ea typeface="Calibri" pitchFamily="34" charset="-122"/>
                <a:cs typeface="Calibri" pitchFamily="34" charset="-120"/>
              </a:rPr>
              <a:t>Named entities. Real financial</a:t>
            </a:r>
            <a:endParaRPr lang="en-US" sz="1350" dirty="0"/>
          </a:p>
          <a:p>
            <a:pPr indent="0" marL="0">
              <a:lnSpc>
                <a:spcPts val="1900"/>
              </a:lnSpc>
              <a:buNone/>
            </a:pPr>
            <a:r>
              <a:rPr lang="en-US" sz="1350" dirty="0">
                <a:solidFill>
                  <a:srgbClr val="22252E"/>
                </a:solidFill>
                <a:latin typeface="Calibri" pitchFamily="34" charset="0"/>
                <a:ea typeface="Calibri" pitchFamily="34" charset="-122"/>
                <a:cs typeface="Calibri" pitchFamily="34" charset="-120"/>
              </a:rPr>
              <a:t>penalties. A political response.</a:t>
            </a:r>
            <a:endParaRPr lang="en-US" sz="1350" dirty="0"/>
          </a:p>
        </p:txBody>
      </p:sp>
      <p:sp>
        <p:nvSpPr>
          <p:cNvPr id="16" name="Text 14"/>
          <p:cNvSpPr/>
          <p:nvPr/>
        </p:nvSpPr>
        <p:spPr>
          <a:xfrm>
            <a:off x="640080" y="4882896"/>
            <a:ext cx="10881360" cy="658368"/>
          </a:xfrm>
          <a:prstGeom prst="rect">
            <a:avLst/>
          </a:prstGeom>
          <a:noFill/>
          <a:ln/>
        </p:spPr>
        <p:txBody>
          <a:bodyPr wrap="square" lIns="0" tIns="0" rIns="0" bIns="0" rtlCol="0" anchor="ctr"/>
          <a:lstStyle/>
          <a:p>
            <a:pPr indent="0" marL="0">
              <a:lnSpc>
                <a:spcPts val="2500"/>
              </a:lnSpc>
              <a:buNone/>
            </a:pPr>
            <a:r>
              <a:rPr lang="en-US" sz="1900" b="1" dirty="0">
                <a:solidFill>
                  <a:srgbClr val="1E2761"/>
                </a:solidFill>
                <a:latin typeface="Cambria" pitchFamily="34" charset="0"/>
                <a:ea typeface="Cambria" pitchFamily="34" charset="-122"/>
                <a:cs typeface="Cambria" pitchFamily="34" charset="-120"/>
              </a:rPr>
              <a:t>Same country. Same period. Same victim. The lesser act was punished; the graver one was not.</a:t>
            </a:r>
            <a:endParaRPr lang="en-US" sz="1900" dirty="0"/>
          </a:p>
        </p:txBody>
      </p:sp>
      <p:sp>
        <p:nvSpPr>
          <p:cNvPr id="17" name="Text 15"/>
          <p:cNvSpPr/>
          <p:nvPr/>
        </p:nvSpPr>
        <p:spPr>
          <a:xfrm>
            <a:off x="640080" y="5541264"/>
            <a:ext cx="10881360" cy="566928"/>
          </a:xfrm>
          <a:prstGeom prst="rect">
            <a:avLst/>
          </a:prstGeom>
          <a:noFill/>
          <a:ln/>
        </p:spPr>
        <p:txBody>
          <a:bodyPr wrap="square" lIns="0" tIns="0" rIns="0" bIns="0" rtlCol="0" anchor="ctr"/>
          <a:lstStyle/>
          <a:p>
            <a:pPr indent="0" marL="0">
              <a:lnSpc>
                <a:spcPts val="2000"/>
              </a:lnSpc>
              <a:buNone/>
            </a:pPr>
            <a:r>
              <a:rPr lang="en-US" sz="1450" dirty="0">
                <a:solidFill>
                  <a:srgbClr val="22252E"/>
                </a:solidFill>
                <a:latin typeface="Calibri" pitchFamily="34" charset="0"/>
                <a:ea typeface="Calibri" pitchFamily="34" charset="-122"/>
                <a:cs typeface="Calibri" pitchFamily="34" charset="-120"/>
              </a:rPr>
              <a:t>Governments appear to respond to what is easy to explain and what fits past practice, not to what is actually dangerous.</a:t>
            </a:r>
            <a:endParaRPr lang="en-US" sz="1450" dirty="0"/>
          </a:p>
        </p:txBody>
      </p:sp>
      <p:sp>
        <p:nvSpPr>
          <p:cNvPr id="18" name="Text 16"/>
          <p:cNvSpPr/>
          <p:nvPr/>
        </p:nvSpPr>
        <p:spPr>
          <a:xfrm>
            <a:off x="640080" y="6327648"/>
            <a:ext cx="10881360" cy="274320"/>
          </a:xfrm>
          <a:prstGeom prst="rect">
            <a:avLst/>
          </a:prstGeom>
          <a:noFill/>
          <a:ln/>
        </p:spPr>
        <p:txBody>
          <a:bodyPr wrap="square" lIns="0" tIns="0" rIns="0" bIns="0" rtlCol="0" anchor="ctr"/>
          <a:lstStyle/>
          <a:p>
            <a:pPr indent="0" marL="0">
              <a:buNone/>
            </a:pPr>
            <a:r>
              <a:rPr lang="en-US" sz="1050" dirty="0">
                <a:solidFill>
                  <a:srgbClr val="6A6F7D"/>
                </a:solidFill>
                <a:latin typeface="Calibri" pitchFamily="34" charset="0"/>
                <a:ea typeface="Calibri" pitchFamily="34" charset="-122"/>
                <a:cs typeface="Calibri" pitchFamily="34" charset="-120"/>
              </a:rPr>
              <a:t>Volt Typhoon response coded in Baram (2026) from twenty joint attribution cases; Salt Typhoon sanctions recorded in Urbanczyk et al. (2025).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8229600" cy="256032"/>
          </a:xfrm>
          <a:prstGeom prst="rect">
            <a:avLst/>
          </a:prstGeom>
          <a:noFill/>
          <a:ln/>
        </p:spPr>
        <p:txBody>
          <a:bodyPr wrap="square" lIns="0" tIns="0" rIns="0" bIns="0" rtlCol="0" anchor="ctr"/>
          <a:lstStyle/>
          <a:p>
            <a:pPr indent="0" marL="0">
              <a:buNone/>
            </a:pPr>
            <a:r>
              <a:rPr lang="en-US" sz="1200" b="1" spc="200" kern="0" dirty="0">
                <a:solidFill>
                  <a:srgbClr val="D98C1F"/>
                </a:solidFill>
                <a:latin typeface="Calibri" pitchFamily="34" charset="0"/>
                <a:ea typeface="Calibri" pitchFamily="34" charset="-122"/>
                <a:cs typeface="Calibri" pitchFamily="34" charset="-120"/>
              </a:rPr>
              <a:t>WHY THE MESSAGE FAILS</a:t>
            </a:r>
            <a:endParaRPr lang="en-US" sz="1200" dirty="0"/>
          </a:p>
        </p:txBody>
      </p:sp>
      <p:sp>
        <p:nvSpPr>
          <p:cNvPr id="3" name="Text 1"/>
          <p:cNvSpPr/>
          <p:nvPr/>
        </p:nvSpPr>
        <p:spPr>
          <a:xfrm>
            <a:off x="640080" y="603504"/>
            <a:ext cx="1088136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Three reasons the warning never lands</a:t>
            </a:r>
            <a:endParaRPr lang="en-US" sz="3000" dirty="0"/>
          </a:p>
        </p:txBody>
      </p:sp>
      <p:sp>
        <p:nvSpPr>
          <p:cNvPr id="4" name="Shape 2"/>
          <p:cNvSpPr/>
          <p:nvPr/>
        </p:nvSpPr>
        <p:spPr>
          <a:xfrm>
            <a:off x="640080" y="1362456"/>
            <a:ext cx="530352" cy="530352"/>
          </a:xfrm>
          <a:prstGeom prst="ellipse">
            <a:avLst/>
          </a:prstGeom>
          <a:solidFill>
            <a:srgbClr val="1E2761"/>
          </a:solidFill>
          <a:ln/>
        </p:spPr>
      </p:sp>
      <p:sp>
        <p:nvSpPr>
          <p:cNvPr id="5" name="Text 3"/>
          <p:cNvSpPr/>
          <p:nvPr/>
        </p:nvSpPr>
        <p:spPr>
          <a:xfrm>
            <a:off x="640080" y="1362456"/>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p:nvPr/>
        </p:nvSpPr>
        <p:spPr>
          <a:xfrm>
            <a:off x="1463040" y="1325880"/>
            <a:ext cx="3566160" cy="347472"/>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Nobody notices</a:t>
            </a:r>
            <a:endParaRPr lang="en-US" sz="1900" dirty="0"/>
          </a:p>
        </p:txBody>
      </p:sp>
      <p:sp>
        <p:nvSpPr>
          <p:cNvPr id="7" name="Text 5"/>
          <p:cNvSpPr/>
          <p:nvPr/>
        </p:nvSpPr>
        <p:spPr>
          <a:xfrm>
            <a:off x="5120640" y="1325880"/>
            <a:ext cx="6400800" cy="914400"/>
          </a:xfrm>
          <a:prstGeom prst="rect">
            <a:avLst/>
          </a:prstGeom>
          <a:noFill/>
          <a:ln/>
        </p:spPr>
        <p:txBody>
          <a:bodyPr wrap="square" lIns="0" tIns="0" rIns="0" bIns="0" rtlCol="0" anchor="ctr"/>
          <a:lstStyle/>
          <a:p>
            <a:pPr indent="0" marL="0">
              <a:lnSpc>
                <a:spcPts val="2000"/>
              </a:lnSpc>
              <a:buNone/>
            </a:pPr>
            <a:r>
              <a:rPr lang="en-US" sz="1400" dirty="0">
                <a:solidFill>
                  <a:srgbClr val="22252E"/>
                </a:solidFill>
                <a:latin typeface="Calibri" pitchFamily="34" charset="0"/>
                <a:ea typeface="Calibri" pitchFamily="34" charset="-122"/>
                <a:cs typeface="Calibri" pitchFamily="34" charset="-120"/>
              </a:rPr>
              <a:t>These operations leave no wreckage and no photographs. There is no burning building, so no public pressure and no political demand for a response.</a:t>
            </a:r>
            <a:endParaRPr lang="en-US" sz="1400" dirty="0"/>
          </a:p>
        </p:txBody>
      </p:sp>
      <p:sp>
        <p:nvSpPr>
          <p:cNvPr id="8" name="Shape 6"/>
          <p:cNvSpPr/>
          <p:nvPr/>
        </p:nvSpPr>
        <p:spPr>
          <a:xfrm>
            <a:off x="640080" y="2660904"/>
            <a:ext cx="530352" cy="530352"/>
          </a:xfrm>
          <a:prstGeom prst="ellipse">
            <a:avLst/>
          </a:prstGeom>
          <a:solidFill>
            <a:srgbClr val="1E2761"/>
          </a:solidFill>
          <a:ln/>
        </p:spPr>
      </p:sp>
      <p:sp>
        <p:nvSpPr>
          <p:cNvPr id="9" name="Text 7"/>
          <p:cNvSpPr/>
          <p:nvPr/>
        </p:nvSpPr>
        <p:spPr>
          <a:xfrm>
            <a:off x="640080" y="2660904"/>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p:cNvSpPr/>
          <p:nvPr/>
        </p:nvSpPr>
        <p:spPr>
          <a:xfrm>
            <a:off x="1463040" y="2624328"/>
            <a:ext cx="3566160" cy="347472"/>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The sender denies it</a:t>
            </a:r>
            <a:endParaRPr lang="en-US" sz="1900" dirty="0"/>
          </a:p>
        </p:txBody>
      </p:sp>
      <p:sp>
        <p:nvSpPr>
          <p:cNvPr id="11" name="Text 9"/>
          <p:cNvSpPr/>
          <p:nvPr/>
        </p:nvSpPr>
        <p:spPr>
          <a:xfrm>
            <a:off x="5120640" y="2624328"/>
            <a:ext cx="6400800" cy="914400"/>
          </a:xfrm>
          <a:prstGeom prst="rect">
            <a:avLst/>
          </a:prstGeom>
          <a:noFill/>
          <a:ln/>
        </p:spPr>
        <p:txBody>
          <a:bodyPr wrap="square" lIns="0" tIns="0" rIns="0" bIns="0" rtlCol="0" anchor="ctr"/>
          <a:lstStyle/>
          <a:p>
            <a:pPr indent="0" marL="0">
              <a:lnSpc>
                <a:spcPts val="2000"/>
              </a:lnSpc>
              <a:buNone/>
            </a:pPr>
            <a:r>
              <a:rPr lang="en-US" sz="1400" dirty="0">
                <a:solidFill>
                  <a:srgbClr val="22252E"/>
                </a:solidFill>
                <a:latin typeface="Calibri" pitchFamily="34" charset="0"/>
                <a:ea typeface="Calibri" pitchFamily="34" charset="-122"/>
                <a:cs typeface="Calibri" pitchFamily="34" charset="-120"/>
              </a:rPr>
              <a:t>China calls the accusation disinformation and makes counter-accusations of its own. A warning nobody admits sending is very hard to receive.</a:t>
            </a:r>
            <a:endParaRPr lang="en-US" sz="1400" dirty="0"/>
          </a:p>
        </p:txBody>
      </p:sp>
      <p:sp>
        <p:nvSpPr>
          <p:cNvPr id="12" name="Shape 10"/>
          <p:cNvSpPr/>
          <p:nvPr/>
        </p:nvSpPr>
        <p:spPr>
          <a:xfrm>
            <a:off x="640080" y="3959352"/>
            <a:ext cx="530352" cy="530352"/>
          </a:xfrm>
          <a:prstGeom prst="ellipse">
            <a:avLst/>
          </a:prstGeom>
          <a:solidFill>
            <a:srgbClr val="1E2761"/>
          </a:solidFill>
          <a:ln/>
        </p:spPr>
      </p:sp>
      <p:sp>
        <p:nvSpPr>
          <p:cNvPr id="13" name="Text 11"/>
          <p:cNvSpPr/>
          <p:nvPr/>
        </p:nvSpPr>
        <p:spPr>
          <a:xfrm>
            <a:off x="640080" y="3959352"/>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4" name="Text 12"/>
          <p:cNvSpPr/>
          <p:nvPr/>
        </p:nvSpPr>
        <p:spPr>
          <a:xfrm>
            <a:off x="1463040" y="3922776"/>
            <a:ext cx="3566160" cy="347472"/>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It reaches the wrong desk</a:t>
            </a:r>
            <a:endParaRPr lang="en-US" sz="1900" dirty="0"/>
          </a:p>
        </p:txBody>
      </p:sp>
      <p:sp>
        <p:nvSpPr>
          <p:cNvPr id="15" name="Text 13"/>
          <p:cNvSpPr/>
          <p:nvPr/>
        </p:nvSpPr>
        <p:spPr>
          <a:xfrm>
            <a:off x="5120640" y="3922776"/>
            <a:ext cx="6400800" cy="914400"/>
          </a:xfrm>
          <a:prstGeom prst="rect">
            <a:avLst/>
          </a:prstGeom>
          <a:noFill/>
          <a:ln/>
        </p:spPr>
        <p:txBody>
          <a:bodyPr wrap="square" lIns="0" tIns="0" rIns="0" bIns="0" rtlCol="0" anchor="ctr"/>
          <a:lstStyle/>
          <a:p>
            <a:pPr indent="0" marL="0">
              <a:lnSpc>
                <a:spcPts val="2000"/>
              </a:lnSpc>
              <a:buNone/>
            </a:pPr>
            <a:r>
              <a:rPr lang="en-US" sz="1400" dirty="0">
                <a:solidFill>
                  <a:srgbClr val="22252E"/>
                </a:solidFill>
                <a:latin typeface="Calibri" pitchFamily="34" charset="0"/>
                <a:ea typeface="Calibri" pitchFamily="34" charset="-122"/>
                <a:cs typeface="Calibri" pitchFamily="34" charset="-120"/>
              </a:rPr>
              <a:t>The response is a technical advisory. Its audience is network defenders, not the ministers and commanders who decide on war and peace.</a:t>
            </a:r>
            <a:endParaRPr lang="en-US" sz="1400" dirty="0"/>
          </a:p>
        </p:txBody>
      </p:sp>
      <p:sp>
        <p:nvSpPr>
          <p:cNvPr id="16" name="Shape 14"/>
          <p:cNvSpPr/>
          <p:nvPr/>
        </p:nvSpPr>
        <p:spPr>
          <a:xfrm>
            <a:off x="640080" y="5321808"/>
            <a:ext cx="10881360" cy="914400"/>
          </a:xfrm>
          <a:prstGeom prst="roundRect">
            <a:avLst>
              <a:gd name="adj" fmla="val 8000"/>
            </a:avLst>
          </a:prstGeom>
          <a:solidFill>
            <a:srgbClr val="F4F6FB"/>
          </a:solidFill>
          <a:ln w="9525">
            <a:solidFill>
              <a:srgbClr val="E2E7F2"/>
            </a:solidFill>
            <a:prstDash val="solid"/>
          </a:ln>
        </p:spPr>
      </p:sp>
      <p:sp>
        <p:nvSpPr>
          <p:cNvPr id="17" name="Text 15"/>
          <p:cNvSpPr/>
          <p:nvPr/>
        </p:nvSpPr>
        <p:spPr>
          <a:xfrm>
            <a:off x="1005840" y="5431536"/>
            <a:ext cx="10149840" cy="713232"/>
          </a:xfrm>
          <a:prstGeom prst="rect">
            <a:avLst/>
          </a:prstGeom>
          <a:noFill/>
          <a:ln/>
        </p:spPr>
        <p:txBody>
          <a:bodyPr wrap="square" lIns="0" tIns="0" rIns="0" bIns="0" rtlCol="0" anchor="ctr"/>
          <a:lstStyle/>
          <a:p>
            <a:pPr indent="0" marL="0">
              <a:buNone/>
            </a:pPr>
            <a:r>
              <a:rPr lang="en-US" sz="1750" i="1" dirty="0">
                <a:solidFill>
                  <a:srgbClr val="1E2761"/>
                </a:solidFill>
                <a:latin typeface="Cambria" pitchFamily="34" charset="0"/>
                <a:ea typeface="Cambria" pitchFamily="34" charset="-122"/>
                <a:cs typeface="Cambria" pitchFamily="34" charset="-120"/>
              </a:rPr>
              <a:t>A threat only works if it is seen, believed, and read by the right people. This one fails all three tests.</a:t>
            </a:r>
            <a:endParaRPr lang="en-US" sz="1750" dirty="0"/>
          </a:p>
        </p:txBody>
      </p:sp>
      <p:sp>
        <p:nvSpPr>
          <p:cNvPr id="18" name="Text 16"/>
          <p:cNvSpPr/>
          <p:nvPr/>
        </p:nvSpPr>
        <p:spPr>
          <a:xfrm>
            <a:off x="640080" y="6327648"/>
            <a:ext cx="10881360" cy="274320"/>
          </a:xfrm>
          <a:prstGeom prst="rect">
            <a:avLst/>
          </a:prstGeom>
          <a:noFill/>
          <a:ln/>
        </p:spPr>
        <p:txBody>
          <a:bodyPr wrap="square" lIns="0" tIns="0" rIns="0" bIns="0" rtlCol="0" anchor="ctr"/>
          <a:lstStyle/>
          <a:p>
            <a:pPr indent="0" marL="0">
              <a:buNone/>
            </a:pPr>
            <a:r>
              <a:rPr lang="en-US" sz="1050" dirty="0">
                <a:solidFill>
                  <a:srgbClr val="6A6F7D"/>
                </a:solidFill>
                <a:latin typeface="Calibri" pitchFamily="34" charset="0"/>
                <a:ea typeface="Calibri" pitchFamily="34" charset="-122"/>
                <a:cs typeface="Calibri" pitchFamily="34" charset="-120"/>
              </a:rPr>
              <a:t>Salience from Sullivan (2025); denial from Singh, Jash and Nanjappa (2025) and Codreanu (2025); audience from Baram (2026).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8229600" cy="256032"/>
          </a:xfrm>
          <a:prstGeom prst="rect">
            <a:avLst/>
          </a:prstGeom>
          <a:noFill/>
          <a:ln/>
        </p:spPr>
        <p:txBody>
          <a:bodyPr wrap="square" lIns="0" tIns="0" rIns="0" bIns="0" rtlCol="0" anchor="ctr"/>
          <a:lstStyle/>
          <a:p>
            <a:pPr indent="0" marL="0">
              <a:buNone/>
            </a:pPr>
            <a:r>
              <a:rPr lang="en-US" sz="1200" b="1" spc="200" kern="0" dirty="0">
                <a:solidFill>
                  <a:srgbClr val="D98C1F"/>
                </a:solidFill>
                <a:latin typeface="Calibri" pitchFamily="34" charset="0"/>
                <a:ea typeface="Calibri" pitchFamily="34" charset="-122"/>
                <a:cs typeface="Calibri" pitchFamily="34" charset="-120"/>
              </a:rPr>
              <a:t>THE RECORD</a:t>
            </a:r>
            <a:endParaRPr lang="en-US" sz="1200" dirty="0"/>
          </a:p>
        </p:txBody>
      </p:sp>
      <p:sp>
        <p:nvSpPr>
          <p:cNvPr id="3" name="Text 1"/>
          <p:cNvSpPr/>
          <p:nvPr/>
        </p:nvSpPr>
        <p:spPr>
          <a:xfrm>
            <a:off x="640080" y="603504"/>
            <a:ext cx="1088136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And it has never actually led anywhere</a:t>
            </a:r>
            <a:endParaRPr lang="en-US" sz="3000" dirty="0"/>
          </a:p>
        </p:txBody>
      </p:sp>
      <p:sp>
        <p:nvSpPr>
          <p:cNvPr id="4" name="Shape 2"/>
          <p:cNvSpPr/>
          <p:nvPr/>
        </p:nvSpPr>
        <p:spPr>
          <a:xfrm>
            <a:off x="640080" y="1298448"/>
            <a:ext cx="7223760" cy="1051560"/>
          </a:xfrm>
          <a:prstGeom prst="roundRect">
            <a:avLst>
              <a:gd name="adj" fmla="val 6957"/>
            </a:avLst>
          </a:prstGeom>
          <a:solidFill>
            <a:srgbClr val="F4F6FB"/>
          </a:solidFill>
          <a:ln w="9525">
            <a:solidFill>
              <a:srgbClr val="E2E7F2"/>
            </a:solidFill>
            <a:prstDash val="solid"/>
          </a:ln>
        </p:spPr>
      </p:sp>
      <p:sp>
        <p:nvSpPr>
          <p:cNvPr id="5" name="Text 3"/>
          <p:cNvSpPr/>
          <p:nvPr/>
        </p:nvSpPr>
        <p:spPr>
          <a:xfrm>
            <a:off x="914400" y="1426464"/>
            <a:ext cx="4023360" cy="310896"/>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Russia inside US infrastructure</a:t>
            </a:r>
            <a:endParaRPr lang="en-US" sz="1600" dirty="0"/>
          </a:p>
        </p:txBody>
      </p:sp>
      <p:sp>
        <p:nvSpPr>
          <p:cNvPr id="6" name="Text 4"/>
          <p:cNvSpPr/>
          <p:nvPr/>
        </p:nvSpPr>
        <p:spPr>
          <a:xfrm>
            <a:off x="914400" y="1755648"/>
            <a:ext cx="4023360" cy="274320"/>
          </a:xfrm>
          <a:prstGeom prst="rect">
            <a:avLst/>
          </a:prstGeom>
          <a:noFill/>
          <a:ln/>
        </p:spPr>
        <p:txBody>
          <a:bodyPr wrap="square" lIns="0" tIns="0" rIns="0" bIns="0" rtlCol="0" anchor="ctr"/>
          <a:lstStyle/>
          <a:p>
            <a:pPr indent="0" marL="0">
              <a:buNone/>
            </a:pPr>
            <a:r>
              <a:rPr lang="en-US" sz="1250" dirty="0">
                <a:solidFill>
                  <a:srgbClr val="6A6F7D"/>
                </a:solidFill>
                <a:latin typeface="Calibri" pitchFamily="34" charset="0"/>
                <a:ea typeface="Calibri" pitchFamily="34" charset="-122"/>
                <a:cs typeface="Calibri" pitchFamily="34" charset="-120"/>
              </a:rPr>
              <a:t>2018 to today</a:t>
            </a:r>
            <a:endParaRPr lang="en-US" sz="1250" dirty="0"/>
          </a:p>
        </p:txBody>
      </p:sp>
      <p:sp>
        <p:nvSpPr>
          <p:cNvPr id="7" name="Text 5"/>
          <p:cNvSpPr/>
          <p:nvPr/>
        </p:nvSpPr>
        <p:spPr>
          <a:xfrm>
            <a:off x="5074920" y="1426464"/>
            <a:ext cx="2651760" cy="841248"/>
          </a:xfrm>
          <a:prstGeom prst="rect">
            <a:avLst/>
          </a:prstGeom>
          <a:noFill/>
          <a:ln/>
        </p:spPr>
        <p:txBody>
          <a:bodyPr wrap="square" lIns="0" tIns="0" rIns="0" bIns="0" rtlCol="0" anchor="ctr"/>
          <a:lstStyle/>
          <a:p>
            <a:pPr indent="0" marL="0">
              <a:lnSpc>
                <a:spcPts val="1700"/>
              </a:lnSpc>
              <a:buNone/>
            </a:pPr>
            <a:r>
              <a:rPr lang="en-US" sz="1250" dirty="0">
                <a:solidFill>
                  <a:srgbClr val="22252E"/>
                </a:solidFill>
                <a:latin typeface="Calibri" pitchFamily="34" charset="0"/>
                <a:ea typeface="Calibri" pitchFamily="34" charset="-122"/>
                <a:cs typeface="Calibri" pitchFamily="34" charset="-120"/>
              </a:rPr>
              <a:t>Found in nuclear, energy, aviation and water systems. Still there. Seven years, never used.</a:t>
            </a:r>
            <a:endParaRPr lang="en-US" sz="1250" dirty="0"/>
          </a:p>
        </p:txBody>
      </p:sp>
      <p:sp>
        <p:nvSpPr>
          <p:cNvPr id="8" name="Shape 6"/>
          <p:cNvSpPr/>
          <p:nvPr/>
        </p:nvSpPr>
        <p:spPr>
          <a:xfrm>
            <a:off x="640080" y="2468880"/>
            <a:ext cx="7223760" cy="1051560"/>
          </a:xfrm>
          <a:prstGeom prst="roundRect">
            <a:avLst>
              <a:gd name="adj" fmla="val 6957"/>
            </a:avLst>
          </a:prstGeom>
          <a:solidFill>
            <a:srgbClr val="F4F6FB"/>
          </a:solidFill>
          <a:ln w="9525">
            <a:solidFill>
              <a:srgbClr val="E2E7F2"/>
            </a:solidFill>
            <a:prstDash val="solid"/>
          </a:ln>
        </p:spPr>
      </p:sp>
      <p:sp>
        <p:nvSpPr>
          <p:cNvPr id="9" name="Text 7"/>
          <p:cNvSpPr/>
          <p:nvPr/>
        </p:nvSpPr>
        <p:spPr>
          <a:xfrm>
            <a:off x="914400" y="2596896"/>
            <a:ext cx="4023360" cy="310896"/>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Volt Typhoon</a:t>
            </a:r>
            <a:endParaRPr lang="en-US" sz="1600" dirty="0"/>
          </a:p>
        </p:txBody>
      </p:sp>
      <p:sp>
        <p:nvSpPr>
          <p:cNvPr id="10" name="Text 8"/>
          <p:cNvSpPr/>
          <p:nvPr/>
        </p:nvSpPr>
        <p:spPr>
          <a:xfrm>
            <a:off x="914400" y="2926080"/>
            <a:ext cx="4023360" cy="274320"/>
          </a:xfrm>
          <a:prstGeom prst="rect">
            <a:avLst/>
          </a:prstGeom>
          <a:noFill/>
          <a:ln/>
        </p:spPr>
        <p:txBody>
          <a:bodyPr wrap="square" lIns="0" tIns="0" rIns="0" bIns="0" rtlCol="0" anchor="ctr"/>
          <a:lstStyle/>
          <a:p>
            <a:pPr indent="0" marL="0">
              <a:buNone/>
            </a:pPr>
            <a:r>
              <a:rPr lang="en-US" sz="1250" dirty="0">
                <a:solidFill>
                  <a:srgbClr val="6A6F7D"/>
                </a:solidFill>
                <a:latin typeface="Calibri" pitchFamily="34" charset="0"/>
                <a:ea typeface="Calibri" pitchFamily="34" charset="-122"/>
                <a:cs typeface="Calibri" pitchFamily="34" charset="-120"/>
              </a:rPr>
              <a:t>2023 to today</a:t>
            </a:r>
            <a:endParaRPr lang="en-US" sz="1250" dirty="0"/>
          </a:p>
        </p:txBody>
      </p:sp>
      <p:sp>
        <p:nvSpPr>
          <p:cNvPr id="11" name="Text 9"/>
          <p:cNvSpPr/>
          <p:nvPr/>
        </p:nvSpPr>
        <p:spPr>
          <a:xfrm>
            <a:off x="5074920" y="2596896"/>
            <a:ext cx="2651760" cy="841248"/>
          </a:xfrm>
          <a:prstGeom prst="rect">
            <a:avLst/>
          </a:prstGeom>
          <a:noFill/>
          <a:ln/>
        </p:spPr>
        <p:txBody>
          <a:bodyPr wrap="square" lIns="0" tIns="0" rIns="0" bIns="0" rtlCol="0" anchor="ctr"/>
          <a:lstStyle/>
          <a:p>
            <a:pPr indent="0" marL="0">
              <a:lnSpc>
                <a:spcPts val="1700"/>
              </a:lnSpc>
              <a:buNone/>
            </a:pPr>
            <a:r>
              <a:rPr lang="en-US" sz="1250" dirty="0">
                <a:solidFill>
                  <a:srgbClr val="22252E"/>
                </a:solidFill>
                <a:latin typeface="Calibri" pitchFamily="34" charset="0"/>
                <a:ea typeface="Calibri" pitchFamily="34" charset="-122"/>
                <a:cs typeface="Calibri" pitchFamily="34" charset="-120"/>
              </a:rPr>
              <a:t>Found across four infrastructure sectors. Still there. Never used.</a:t>
            </a:r>
            <a:endParaRPr lang="en-US" sz="1250" dirty="0"/>
          </a:p>
        </p:txBody>
      </p:sp>
      <p:sp>
        <p:nvSpPr>
          <p:cNvPr id="12" name="Shape 10"/>
          <p:cNvSpPr/>
          <p:nvPr/>
        </p:nvSpPr>
        <p:spPr>
          <a:xfrm>
            <a:off x="640080" y="3639312"/>
            <a:ext cx="7223760" cy="1051560"/>
          </a:xfrm>
          <a:prstGeom prst="roundRect">
            <a:avLst>
              <a:gd name="adj" fmla="val 6957"/>
            </a:avLst>
          </a:prstGeom>
          <a:solidFill>
            <a:srgbClr val="F4F6FB"/>
          </a:solidFill>
          <a:ln w="9525">
            <a:solidFill>
              <a:srgbClr val="E2E7F2"/>
            </a:solidFill>
            <a:prstDash val="solid"/>
          </a:ln>
        </p:spPr>
      </p:sp>
      <p:sp>
        <p:nvSpPr>
          <p:cNvPr id="13" name="Text 11"/>
          <p:cNvSpPr/>
          <p:nvPr/>
        </p:nvSpPr>
        <p:spPr>
          <a:xfrm>
            <a:off x="914400" y="3767328"/>
            <a:ext cx="4023360" cy="310896"/>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Russia inside Ukraine</a:t>
            </a:r>
            <a:endParaRPr lang="en-US" sz="1600" dirty="0"/>
          </a:p>
        </p:txBody>
      </p:sp>
      <p:sp>
        <p:nvSpPr>
          <p:cNvPr id="14" name="Text 12"/>
          <p:cNvSpPr/>
          <p:nvPr/>
        </p:nvSpPr>
        <p:spPr>
          <a:xfrm>
            <a:off x="914400" y="4096512"/>
            <a:ext cx="4023360" cy="274320"/>
          </a:xfrm>
          <a:prstGeom prst="rect">
            <a:avLst/>
          </a:prstGeom>
          <a:noFill/>
          <a:ln/>
        </p:spPr>
        <p:txBody>
          <a:bodyPr wrap="square" lIns="0" tIns="0" rIns="0" bIns="0" rtlCol="0" anchor="ctr"/>
          <a:lstStyle/>
          <a:p>
            <a:pPr indent="0" marL="0">
              <a:buNone/>
            </a:pPr>
            <a:r>
              <a:rPr lang="en-US" sz="1250" dirty="0">
                <a:solidFill>
                  <a:srgbClr val="6A6F7D"/>
                </a:solidFill>
                <a:latin typeface="Calibri" pitchFamily="34" charset="0"/>
                <a:ea typeface="Calibri" pitchFamily="34" charset="-122"/>
                <a:cs typeface="Calibri" pitchFamily="34" charset="-120"/>
              </a:rPr>
              <a:t>2021 to 2022</a:t>
            </a:r>
            <a:endParaRPr lang="en-US" sz="1250" dirty="0"/>
          </a:p>
        </p:txBody>
      </p:sp>
      <p:sp>
        <p:nvSpPr>
          <p:cNvPr id="15" name="Text 13"/>
          <p:cNvSpPr/>
          <p:nvPr/>
        </p:nvSpPr>
        <p:spPr>
          <a:xfrm>
            <a:off x="5074920" y="3767328"/>
            <a:ext cx="2651760" cy="841248"/>
          </a:xfrm>
          <a:prstGeom prst="rect">
            <a:avLst/>
          </a:prstGeom>
          <a:noFill/>
          <a:ln/>
        </p:spPr>
        <p:txBody>
          <a:bodyPr wrap="square" lIns="0" tIns="0" rIns="0" bIns="0" rtlCol="0" anchor="ctr"/>
          <a:lstStyle/>
          <a:p>
            <a:pPr indent="0" marL="0">
              <a:lnSpc>
                <a:spcPts val="1700"/>
              </a:lnSpc>
              <a:buNone/>
            </a:pPr>
            <a:r>
              <a:rPr lang="en-US" sz="1250" dirty="0">
                <a:solidFill>
                  <a:srgbClr val="22252E"/>
                </a:solidFill>
                <a:latin typeface="Calibri" pitchFamily="34" charset="0"/>
                <a:ea typeface="Calibri" pitchFamily="34" charset="-122"/>
                <a:cs typeface="Calibri" pitchFamily="34" charset="-120"/>
              </a:rPr>
              <a:t>Used in April 2022. It would have cut power to two million people. Ukrainian defenders stopped it.</a:t>
            </a:r>
            <a:endParaRPr lang="en-US" sz="1250" dirty="0"/>
          </a:p>
        </p:txBody>
      </p:sp>
      <p:sp>
        <p:nvSpPr>
          <p:cNvPr id="16" name="Shape 14"/>
          <p:cNvSpPr/>
          <p:nvPr/>
        </p:nvSpPr>
        <p:spPr>
          <a:xfrm>
            <a:off x="8183880" y="1298448"/>
            <a:ext cx="3337560" cy="3520440"/>
          </a:xfrm>
          <a:prstGeom prst="roundRect">
            <a:avLst>
              <a:gd name="adj" fmla="val 2192"/>
            </a:avLst>
          </a:prstGeom>
          <a:solidFill>
            <a:srgbClr val="FDF6EA"/>
          </a:solidFill>
          <a:ln w="9525">
            <a:solidFill>
              <a:srgbClr val="E2E7F2"/>
            </a:solidFill>
            <a:prstDash val="solid"/>
          </a:ln>
        </p:spPr>
      </p:sp>
      <p:sp>
        <p:nvSpPr>
          <p:cNvPr id="17" name="Text 15"/>
          <p:cNvSpPr/>
          <p:nvPr/>
        </p:nvSpPr>
        <p:spPr>
          <a:xfrm>
            <a:off x="8366760" y="1572768"/>
            <a:ext cx="2971800" cy="1417320"/>
          </a:xfrm>
          <a:prstGeom prst="rect">
            <a:avLst/>
          </a:prstGeom>
          <a:noFill/>
          <a:ln/>
        </p:spPr>
        <p:txBody>
          <a:bodyPr wrap="square" lIns="0" tIns="0" rIns="0" bIns="0" rtlCol="0" anchor="ctr"/>
          <a:lstStyle/>
          <a:p>
            <a:pPr algn="ctr" indent="0" marL="0">
              <a:buNone/>
            </a:pPr>
            <a:r>
              <a:rPr lang="en-US" sz="8000" b="1" dirty="0">
                <a:solidFill>
                  <a:srgbClr val="D98C1F"/>
                </a:solidFill>
                <a:latin typeface="Cambria" pitchFamily="34" charset="0"/>
                <a:ea typeface="Cambria" pitchFamily="34" charset="-122"/>
                <a:cs typeface="Cambria" pitchFamily="34" charset="-120"/>
              </a:rPr>
              <a:t>0</a:t>
            </a:r>
            <a:endParaRPr lang="en-US" sz="8000" dirty="0"/>
          </a:p>
        </p:txBody>
      </p:sp>
      <p:sp>
        <p:nvSpPr>
          <p:cNvPr id="18" name="Text 16"/>
          <p:cNvSpPr/>
          <p:nvPr/>
        </p:nvSpPr>
        <p:spPr>
          <a:xfrm>
            <a:off x="8366760" y="3035808"/>
            <a:ext cx="2971800" cy="640080"/>
          </a:xfrm>
          <a:prstGeom prst="rect">
            <a:avLst/>
          </a:prstGeom>
          <a:noFill/>
          <a:ln/>
        </p:spPr>
        <p:txBody>
          <a:bodyPr wrap="square" lIns="0" tIns="0" rIns="0" bIns="0" rtlCol="0" anchor="ctr"/>
          <a:lstStyle/>
          <a:p>
            <a:pPr algn="ctr" indent="0" marL="0">
              <a:lnSpc>
                <a:spcPts val="2100"/>
              </a:lnSpc>
              <a:buNone/>
            </a:pPr>
            <a:r>
              <a:rPr lang="en-US" sz="1500" dirty="0">
                <a:solidFill>
                  <a:srgbClr val="22252E"/>
                </a:solidFill>
                <a:latin typeface="Calibri" pitchFamily="34" charset="0"/>
                <a:ea typeface="Calibri" pitchFamily="34" charset="-122"/>
                <a:cs typeface="Calibri" pitchFamily="34" charset="-120"/>
              </a:rPr>
              <a:t>cases where this led</a:t>
            </a:r>
            <a:endParaRPr lang="en-US" sz="1500" dirty="0"/>
          </a:p>
          <a:p>
            <a:pPr algn="ctr" indent="0" marL="0">
              <a:lnSpc>
                <a:spcPts val="2100"/>
              </a:lnSpc>
              <a:buNone/>
            </a:pPr>
            <a:r>
              <a:rPr lang="en-US" sz="1500" dirty="0">
                <a:solidFill>
                  <a:srgbClr val="22252E"/>
                </a:solidFill>
                <a:latin typeface="Calibri" pitchFamily="34" charset="0"/>
                <a:ea typeface="Calibri" pitchFamily="34" charset="-122"/>
                <a:cs typeface="Calibri" pitchFamily="34" charset="-120"/>
              </a:rPr>
              <a:t>to a successful attack</a:t>
            </a:r>
            <a:endParaRPr lang="en-US" sz="1500" dirty="0"/>
          </a:p>
        </p:txBody>
      </p:sp>
      <p:sp>
        <p:nvSpPr>
          <p:cNvPr id="19" name="Text 17"/>
          <p:cNvSpPr/>
          <p:nvPr/>
        </p:nvSpPr>
        <p:spPr>
          <a:xfrm>
            <a:off x="8366760" y="3794760"/>
            <a:ext cx="2971800" cy="777240"/>
          </a:xfrm>
          <a:prstGeom prst="rect">
            <a:avLst/>
          </a:prstGeom>
          <a:noFill/>
          <a:ln/>
        </p:spPr>
        <p:txBody>
          <a:bodyPr wrap="square" lIns="0" tIns="0" rIns="0" bIns="0" rtlCol="0" anchor="ctr"/>
          <a:lstStyle/>
          <a:p>
            <a:pPr algn="ctr" indent="0" marL="0">
              <a:lnSpc>
                <a:spcPts val="1800"/>
              </a:lnSpc>
              <a:buNone/>
            </a:pPr>
            <a:r>
              <a:rPr lang="en-US" sz="1250" i="1" dirty="0">
                <a:solidFill>
                  <a:srgbClr val="6A6F7D"/>
                </a:solidFill>
                <a:latin typeface="Calibri" pitchFamily="34" charset="0"/>
                <a:ea typeface="Calibri" pitchFamily="34" charset="-122"/>
                <a:cs typeface="Calibri" pitchFamily="34" charset="-120"/>
              </a:rPr>
              <a:t>Three chances to observe</a:t>
            </a:r>
            <a:endParaRPr lang="en-US" sz="1250" dirty="0"/>
          </a:p>
          <a:p>
            <a:pPr algn="ctr" indent="0" marL="0">
              <a:lnSpc>
                <a:spcPts val="1800"/>
              </a:lnSpc>
              <a:buNone/>
            </a:pPr>
            <a:r>
              <a:rPr lang="en-US" sz="1250" i="1" dirty="0">
                <a:solidFill>
                  <a:srgbClr val="6A6F7D"/>
                </a:solidFill>
                <a:latin typeface="Calibri" pitchFamily="34" charset="0"/>
                <a:ea typeface="Calibri" pitchFamily="34" charset="-122"/>
                <a:cs typeface="Calibri" pitchFamily="34" charset="-120"/>
              </a:rPr>
              <a:t>what it means. Not one</a:t>
            </a:r>
            <a:endParaRPr lang="en-US" sz="1250" dirty="0"/>
          </a:p>
          <a:p>
            <a:pPr algn="ctr" indent="0" marL="0">
              <a:lnSpc>
                <a:spcPts val="1800"/>
              </a:lnSpc>
              <a:buNone/>
            </a:pPr>
            <a:r>
              <a:rPr lang="en-US" sz="1250" i="1" dirty="0">
                <a:solidFill>
                  <a:srgbClr val="6A6F7D"/>
                </a:solidFill>
                <a:latin typeface="Calibri" pitchFamily="34" charset="0"/>
                <a:ea typeface="Calibri" pitchFamily="34" charset="-122"/>
                <a:cs typeface="Calibri" pitchFamily="34" charset="-120"/>
              </a:rPr>
              <a:t>successful example.</a:t>
            </a:r>
            <a:endParaRPr lang="en-US" sz="1250" dirty="0"/>
          </a:p>
        </p:txBody>
      </p:sp>
      <p:sp>
        <p:nvSpPr>
          <p:cNvPr id="20" name="Text 18"/>
          <p:cNvSpPr/>
          <p:nvPr/>
        </p:nvSpPr>
        <p:spPr>
          <a:xfrm>
            <a:off x="640080" y="4983480"/>
            <a:ext cx="10881360" cy="384048"/>
          </a:xfrm>
          <a:prstGeom prst="rect">
            <a:avLst/>
          </a:prstGeom>
          <a:noFill/>
          <a:ln/>
        </p:spPr>
        <p:txBody>
          <a:bodyPr wrap="square" lIns="0" tIns="0" rIns="0" bIns="0" rtlCol="0" anchor="ctr"/>
          <a:lstStyle/>
          <a:p>
            <a:pPr indent="0" marL="0">
              <a:buNone/>
            </a:pPr>
            <a:r>
              <a:rPr lang="en-US" sz="1850" b="1" dirty="0">
                <a:solidFill>
                  <a:srgbClr val="1E2761"/>
                </a:solidFill>
                <a:latin typeface="Cambria" pitchFamily="34" charset="0"/>
                <a:ea typeface="Cambria" pitchFamily="34" charset="-122"/>
                <a:cs typeface="Cambria" pitchFamily="34" charset="-120"/>
              </a:rPr>
              <a:t>Everything the field says about what this activity means rests on no successful examples.</a:t>
            </a:r>
            <a:endParaRPr lang="en-US" sz="1850" dirty="0"/>
          </a:p>
        </p:txBody>
      </p:sp>
      <p:sp>
        <p:nvSpPr>
          <p:cNvPr id="21" name="Text 19"/>
          <p:cNvSpPr/>
          <p:nvPr/>
        </p:nvSpPr>
        <p:spPr>
          <a:xfrm>
            <a:off x="640080" y="5394960"/>
            <a:ext cx="10881360" cy="384048"/>
          </a:xfrm>
          <a:prstGeom prst="rect">
            <a:avLst/>
          </a:prstGeom>
          <a:noFill/>
          <a:ln/>
        </p:spPr>
        <p:txBody>
          <a:bodyPr wrap="square" lIns="0" tIns="0" rIns="0" bIns="0" rtlCol="0" anchor="ctr"/>
          <a:lstStyle/>
          <a:p>
            <a:pPr indent="0" marL="0">
              <a:buNone/>
            </a:pPr>
            <a:r>
              <a:rPr lang="en-US" sz="1450" dirty="0">
                <a:solidFill>
                  <a:srgbClr val="22252E"/>
                </a:solidFill>
                <a:latin typeface="Calibri" pitchFamily="34" charset="0"/>
                <a:ea typeface="Calibri" pitchFamily="34" charset="-122"/>
                <a:cs typeface="Calibri" pitchFamily="34" charset="-120"/>
              </a:rPr>
              <a:t>Two intrusions have simply sat there for years. The one attempt was defeated by the defender.</a:t>
            </a:r>
            <a:endParaRPr lang="en-US" sz="1450" dirty="0"/>
          </a:p>
        </p:txBody>
      </p:sp>
      <p:sp>
        <p:nvSpPr>
          <p:cNvPr id="22" name="Text 20"/>
          <p:cNvSpPr/>
          <p:nvPr/>
        </p:nvSpPr>
        <p:spPr>
          <a:xfrm>
            <a:off x="640080" y="6327648"/>
            <a:ext cx="10881360" cy="274320"/>
          </a:xfrm>
          <a:prstGeom prst="rect">
            <a:avLst/>
          </a:prstGeom>
          <a:noFill/>
          <a:ln/>
        </p:spPr>
        <p:txBody>
          <a:bodyPr wrap="square" lIns="0" tIns="0" rIns="0" bIns="0" rtlCol="0" anchor="ctr"/>
          <a:lstStyle/>
          <a:p>
            <a:pPr indent="0" marL="0">
              <a:buNone/>
            </a:pPr>
            <a:r>
              <a:rPr lang="en-US" sz="1050" dirty="0">
                <a:solidFill>
                  <a:srgbClr val="6A6F7D"/>
                </a:solidFill>
                <a:latin typeface="Calibri" pitchFamily="34" charset="0"/>
                <a:ea typeface="Calibri" pitchFamily="34" charset="-122"/>
                <a:cs typeface="Calibri" pitchFamily="34" charset="-120"/>
              </a:rPr>
              <a:t>Russian access reported in Codreanu (2025); the Ukrainian attempt and its defeat in Willett (2022).</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8229600" cy="256032"/>
          </a:xfrm>
          <a:prstGeom prst="rect">
            <a:avLst/>
          </a:prstGeom>
          <a:noFill/>
          <a:ln/>
        </p:spPr>
        <p:txBody>
          <a:bodyPr wrap="square" lIns="0" tIns="0" rIns="0" bIns="0" rtlCol="0" anchor="ctr"/>
          <a:lstStyle/>
          <a:p>
            <a:pPr indent="0" marL="0">
              <a:buNone/>
            </a:pPr>
            <a:r>
              <a:rPr lang="en-US" sz="1200" b="1" spc="200" kern="0" dirty="0">
                <a:solidFill>
                  <a:srgbClr val="D98C1F"/>
                </a:solidFill>
                <a:latin typeface="Calibri" pitchFamily="34" charset="0"/>
                <a:ea typeface="Calibri" pitchFamily="34" charset="-122"/>
                <a:cs typeface="Calibri" pitchFamily="34" charset="-120"/>
              </a:rPr>
              <a:t>THE TECHNOLOGY</a:t>
            </a:r>
            <a:endParaRPr lang="en-US" sz="1200" dirty="0"/>
          </a:p>
        </p:txBody>
      </p:sp>
      <p:sp>
        <p:nvSpPr>
          <p:cNvPr id="3" name="Text 1"/>
          <p:cNvSpPr/>
          <p:nvPr/>
        </p:nvSpPr>
        <p:spPr>
          <a:xfrm>
            <a:off x="640080" y="603504"/>
            <a:ext cx="1088136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Does AI favour the attacker? Probably not yet</a:t>
            </a:r>
            <a:endParaRPr lang="en-US" sz="3000" dirty="0"/>
          </a:p>
        </p:txBody>
      </p:sp>
      <p:sp>
        <p:nvSpPr>
          <p:cNvPr id="4" name="Shape 2"/>
          <p:cNvSpPr/>
          <p:nvPr/>
        </p:nvSpPr>
        <p:spPr>
          <a:xfrm>
            <a:off x="640080" y="1335024"/>
            <a:ext cx="502920" cy="502920"/>
          </a:xfrm>
          <a:prstGeom prst="ellipse">
            <a:avLst/>
          </a:prstGeom>
          <a:solidFill>
            <a:srgbClr val="1E2761"/>
          </a:solidFill>
          <a:ln/>
        </p:spPr>
      </p:sp>
      <p:sp>
        <p:nvSpPr>
          <p:cNvPr id="5" name="Text 3"/>
          <p:cNvSpPr/>
          <p:nvPr/>
        </p:nvSpPr>
        <p:spPr>
          <a:xfrm>
            <a:off x="640080" y="1335024"/>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p:nvPr/>
        </p:nvSpPr>
        <p:spPr>
          <a:xfrm>
            <a:off x="1417320" y="1298448"/>
            <a:ext cx="10104120"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Attack tools are assisted, not automatic</a:t>
            </a:r>
            <a:endParaRPr lang="en-US" sz="1700" dirty="0"/>
          </a:p>
        </p:txBody>
      </p:sp>
      <p:sp>
        <p:nvSpPr>
          <p:cNvPr id="7" name="Text 5"/>
          <p:cNvSpPr/>
          <p:nvPr/>
        </p:nvSpPr>
        <p:spPr>
          <a:xfrm>
            <a:off x="1417320" y="1645920"/>
            <a:ext cx="10104120" cy="822960"/>
          </a:xfrm>
          <a:prstGeom prst="rect">
            <a:avLst/>
          </a:prstGeom>
          <a:noFill/>
          <a:ln/>
        </p:spPr>
        <p:txBody>
          <a:bodyPr wrap="square" lIns="0" tIns="0" rIns="0" bIns="0" rtlCol="0" anchor="ctr"/>
          <a:lstStyle/>
          <a:p>
            <a:pPr indent="0" marL="0">
              <a:lnSpc>
                <a:spcPts val="1900"/>
              </a:lnSpc>
              <a:buNone/>
            </a:pPr>
            <a:r>
              <a:rPr lang="en-US" sz="1350" dirty="0">
                <a:solidFill>
                  <a:srgbClr val="22252E"/>
                </a:solidFill>
                <a:latin typeface="Calibri" pitchFamily="34" charset="0"/>
                <a:ea typeface="Calibri" pitchFamily="34" charset="-122"/>
                <a:cs typeface="Calibri" pitchFamily="34" charset="-120"/>
              </a:rPr>
              <a:t>AI helps with scouting targets, finding weaknesses and adapting tools. Fully automatic attack systems remain, in the words of the literature itself, largely theoretical.</a:t>
            </a:r>
            <a:endParaRPr lang="en-US" sz="1350" dirty="0"/>
          </a:p>
        </p:txBody>
      </p:sp>
      <p:sp>
        <p:nvSpPr>
          <p:cNvPr id="8" name="Shape 6"/>
          <p:cNvSpPr/>
          <p:nvPr/>
        </p:nvSpPr>
        <p:spPr>
          <a:xfrm>
            <a:off x="640080" y="2615184"/>
            <a:ext cx="502920" cy="502920"/>
          </a:xfrm>
          <a:prstGeom prst="ellipse">
            <a:avLst/>
          </a:prstGeom>
          <a:solidFill>
            <a:srgbClr val="1E2761"/>
          </a:solidFill>
          <a:ln/>
        </p:spPr>
      </p:sp>
      <p:sp>
        <p:nvSpPr>
          <p:cNvPr id="9" name="Text 7"/>
          <p:cNvSpPr/>
          <p:nvPr/>
        </p:nvSpPr>
        <p:spPr>
          <a:xfrm>
            <a:off x="640080" y="2615184"/>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p:cNvSpPr/>
          <p:nvPr/>
        </p:nvSpPr>
        <p:spPr>
          <a:xfrm>
            <a:off x="1417320" y="2578608"/>
            <a:ext cx="10104120"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Almost all the published AI work is defensive</a:t>
            </a:r>
            <a:endParaRPr lang="en-US" sz="1700" dirty="0"/>
          </a:p>
        </p:txBody>
      </p:sp>
      <p:sp>
        <p:nvSpPr>
          <p:cNvPr id="11" name="Text 9"/>
          <p:cNvSpPr/>
          <p:nvPr/>
        </p:nvSpPr>
        <p:spPr>
          <a:xfrm>
            <a:off x="1417320" y="2926080"/>
            <a:ext cx="10104120" cy="822960"/>
          </a:xfrm>
          <a:prstGeom prst="rect">
            <a:avLst/>
          </a:prstGeom>
          <a:noFill/>
          <a:ln/>
        </p:spPr>
        <p:txBody>
          <a:bodyPr wrap="square" lIns="0" tIns="0" rIns="0" bIns="0" rtlCol="0" anchor="ctr"/>
          <a:lstStyle/>
          <a:p>
            <a:pPr indent="0" marL="0">
              <a:lnSpc>
                <a:spcPts val="1900"/>
              </a:lnSpc>
              <a:buNone/>
            </a:pPr>
            <a:r>
              <a:rPr lang="en-US" sz="1350" dirty="0">
                <a:solidFill>
                  <a:srgbClr val="22252E"/>
                </a:solidFill>
                <a:latin typeface="Calibri" pitchFamily="34" charset="0"/>
                <a:ea typeface="Calibri" pitchFamily="34" charset="-122"/>
                <a:cs typeface="Calibri" pitchFamily="34" charset="-120"/>
              </a:rPr>
              <a:t>The research is overwhelmingly about spotting intruders faster and responding automatically, not about replacing the attacker.</a:t>
            </a:r>
            <a:endParaRPr lang="en-US" sz="1350" dirty="0"/>
          </a:p>
        </p:txBody>
      </p:sp>
      <p:sp>
        <p:nvSpPr>
          <p:cNvPr id="12" name="Shape 10"/>
          <p:cNvSpPr/>
          <p:nvPr/>
        </p:nvSpPr>
        <p:spPr>
          <a:xfrm>
            <a:off x="640080" y="3895344"/>
            <a:ext cx="502920" cy="502920"/>
          </a:xfrm>
          <a:prstGeom prst="ellipse">
            <a:avLst/>
          </a:prstGeom>
          <a:solidFill>
            <a:srgbClr val="1E2761"/>
          </a:solidFill>
          <a:ln/>
        </p:spPr>
      </p:sp>
      <p:sp>
        <p:nvSpPr>
          <p:cNvPr id="13" name="Text 11"/>
          <p:cNvSpPr/>
          <p:nvPr/>
        </p:nvSpPr>
        <p:spPr>
          <a:xfrm>
            <a:off x="640080" y="3895344"/>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4" name="Text 12"/>
          <p:cNvSpPr/>
          <p:nvPr/>
        </p:nvSpPr>
        <p:spPr>
          <a:xfrm>
            <a:off x="1417320" y="3858768"/>
            <a:ext cx="10104120"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Defenders currently cannot see, and that is the gap AI closes</a:t>
            </a:r>
            <a:endParaRPr lang="en-US" sz="1700" dirty="0"/>
          </a:p>
        </p:txBody>
      </p:sp>
      <p:sp>
        <p:nvSpPr>
          <p:cNvPr id="15" name="Text 13"/>
          <p:cNvSpPr/>
          <p:nvPr/>
        </p:nvSpPr>
        <p:spPr>
          <a:xfrm>
            <a:off x="1417320" y="4206240"/>
            <a:ext cx="10104120" cy="822960"/>
          </a:xfrm>
          <a:prstGeom prst="rect">
            <a:avLst/>
          </a:prstGeom>
          <a:noFill/>
          <a:ln/>
        </p:spPr>
        <p:txBody>
          <a:bodyPr wrap="square" lIns="0" tIns="0" rIns="0" bIns="0" rtlCol="0" anchor="ctr"/>
          <a:lstStyle/>
          <a:p>
            <a:pPr indent="0" marL="0">
              <a:lnSpc>
                <a:spcPts val="1900"/>
              </a:lnSpc>
              <a:buNone/>
            </a:pPr>
            <a:r>
              <a:rPr lang="en-US" sz="1350" dirty="0">
                <a:solidFill>
                  <a:srgbClr val="22252E"/>
                </a:solidFill>
                <a:latin typeface="Calibri" pitchFamily="34" charset="0"/>
                <a:ea typeface="Calibri" pitchFamily="34" charset="-122"/>
                <a:cs typeface="Calibri" pitchFamily="34" charset="-120"/>
              </a:rPr>
              <a:t>Remember the numbers: 197 days to notice, and three quarters of intrusions found by outsiders. Intruders survive partly because detection is poor. Better automatic detection makes hiding harder, not easier.</a:t>
            </a:r>
            <a:endParaRPr lang="en-US" sz="1350" dirty="0"/>
          </a:p>
        </p:txBody>
      </p:sp>
      <p:sp>
        <p:nvSpPr>
          <p:cNvPr id="16" name="Shape 14"/>
          <p:cNvSpPr/>
          <p:nvPr/>
        </p:nvSpPr>
        <p:spPr>
          <a:xfrm>
            <a:off x="640080" y="5230368"/>
            <a:ext cx="10881360" cy="1005840"/>
          </a:xfrm>
          <a:prstGeom prst="roundRect">
            <a:avLst>
              <a:gd name="adj" fmla="val 7273"/>
            </a:avLst>
          </a:prstGeom>
          <a:solidFill>
            <a:srgbClr val="F4F6FB"/>
          </a:solidFill>
          <a:ln w="9525">
            <a:solidFill>
              <a:srgbClr val="E2E7F2"/>
            </a:solidFill>
            <a:prstDash val="solid"/>
          </a:ln>
        </p:spPr>
      </p:sp>
      <p:sp>
        <p:nvSpPr>
          <p:cNvPr id="17" name="Text 15"/>
          <p:cNvSpPr/>
          <p:nvPr/>
        </p:nvSpPr>
        <p:spPr>
          <a:xfrm>
            <a:off x="1005840" y="5340096"/>
            <a:ext cx="10149840" cy="804672"/>
          </a:xfrm>
          <a:prstGeom prst="rect">
            <a:avLst/>
          </a:prstGeom>
          <a:noFill/>
          <a:ln/>
        </p:spPr>
        <p:txBody>
          <a:bodyPr wrap="square" lIns="0" tIns="0" rIns="0" bIns="0" rtlCol="0" anchor="ctr"/>
          <a:lstStyle/>
          <a:p>
            <a:pPr indent="0" marL="0">
              <a:lnSpc>
                <a:spcPts val="1900"/>
              </a:lnSpc>
              <a:buNone/>
            </a:pPr>
            <a:r>
              <a:rPr lang="en-US" sz="1350" dirty="0">
                <a:solidFill>
                  <a:srgbClr val="22252E"/>
                </a:solidFill>
                <a:latin typeface="Calibri" pitchFamily="34" charset="0"/>
                <a:ea typeface="Calibri" pitchFamily="34" charset="-122"/>
                <a:cs typeface="Calibri" pitchFamily="34" charset="-120"/>
              </a:rPr>
              <a:t>In the one real war we can study, </a:t>
            </a:r>
            <a:pPr indent="0" marL="0">
              <a:lnSpc>
                <a:spcPts val="1900"/>
              </a:lnSpc>
              <a:buNone/>
            </a:pPr>
            <a:r>
              <a:rPr lang="en-US" sz="1350" b="1" dirty="0">
                <a:solidFill>
                  <a:srgbClr val="1E2761"/>
                </a:solidFill>
                <a:latin typeface="Calibri" pitchFamily="34" charset="0"/>
                <a:ea typeface="Calibri" pitchFamily="34" charset="-122"/>
                <a:cs typeface="Calibri" pitchFamily="34" charset="-120"/>
              </a:rPr>
              <a:t>defence held most of the time</a:t>
            </a:r>
            <a:pPr indent="0" marL="0">
              <a:lnSpc>
                <a:spcPts val="1900"/>
              </a:lnSpc>
              <a:buNone/>
            </a:pPr>
            <a:r>
              <a:rPr lang="en-US" sz="1350" dirty="0">
                <a:solidFill>
                  <a:srgbClr val="22252E"/>
                </a:solidFill>
                <a:latin typeface="Calibri" pitchFamily="34" charset="0"/>
                <a:ea typeface="Calibri" pitchFamily="34" charset="-122"/>
                <a:cs typeface="Calibri" pitchFamily="34" charset="-120"/>
              </a:rPr>
              <a:t>. But Ukraine was backed by Western agencies and by Microsoft, Google and Cisco. A poorer defender would give a different answer, so the real question is not whether AI helps attackers. It is which side can absorb it better.</a:t>
            </a:r>
            <a:endParaRPr lang="en-US" sz="1350" dirty="0"/>
          </a:p>
        </p:txBody>
      </p:sp>
      <p:sp>
        <p:nvSpPr>
          <p:cNvPr id="18" name="Text 16"/>
          <p:cNvSpPr/>
          <p:nvPr/>
        </p:nvSpPr>
        <p:spPr>
          <a:xfrm>
            <a:off x="640080" y="6327648"/>
            <a:ext cx="10881360" cy="274320"/>
          </a:xfrm>
          <a:prstGeom prst="rect">
            <a:avLst/>
          </a:prstGeom>
          <a:noFill/>
          <a:ln/>
        </p:spPr>
        <p:txBody>
          <a:bodyPr wrap="square" lIns="0" tIns="0" rIns="0" bIns="0" rtlCol="0" anchor="ctr"/>
          <a:lstStyle/>
          <a:p>
            <a:pPr indent="0" marL="0">
              <a:buNone/>
            </a:pPr>
            <a:r>
              <a:rPr lang="en-US" sz="1050" dirty="0">
                <a:solidFill>
                  <a:srgbClr val="6A6F7D"/>
                </a:solidFill>
                <a:latin typeface="Calibri" pitchFamily="34" charset="0"/>
                <a:ea typeface="Calibri" pitchFamily="34" charset="-122"/>
                <a:cs typeface="Calibri" pitchFamily="34" charset="-120"/>
              </a:rPr>
              <a:t>Capability assessment from Butt and Ulina (2026) and Yigit et al. (2025); the wartime judgement from Willett (2022).</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8229600" cy="256032"/>
          </a:xfrm>
          <a:prstGeom prst="rect">
            <a:avLst/>
          </a:prstGeom>
          <a:noFill/>
          <a:ln/>
        </p:spPr>
        <p:txBody>
          <a:bodyPr wrap="square" lIns="0" tIns="0" rIns="0" bIns="0" rtlCol="0" anchor="ctr"/>
          <a:lstStyle/>
          <a:p>
            <a:pPr indent="0" marL="0">
              <a:buNone/>
            </a:pPr>
            <a:r>
              <a:rPr lang="en-US" sz="1200" b="1" spc="200" kern="0" dirty="0">
                <a:solidFill>
                  <a:srgbClr val="D98C1F"/>
                </a:solidFill>
                <a:latin typeface="Calibri" pitchFamily="34" charset="0"/>
                <a:ea typeface="Calibri" pitchFamily="34" charset="-122"/>
                <a:cs typeface="Calibri" pitchFamily="34" charset="-120"/>
              </a:rPr>
              <a:t>TWO EXPLANATIONS</a:t>
            </a:r>
            <a:endParaRPr lang="en-US" sz="1200" dirty="0"/>
          </a:p>
        </p:txBody>
      </p:sp>
      <p:sp>
        <p:nvSpPr>
          <p:cNvPr id="3" name="Text 1"/>
          <p:cNvSpPr/>
          <p:nvPr/>
        </p:nvSpPr>
        <p:spPr>
          <a:xfrm>
            <a:off x="640080" y="603504"/>
            <a:ext cx="1088136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So which is it?</a:t>
            </a:r>
            <a:endParaRPr lang="en-US" sz="3000" dirty="0"/>
          </a:p>
        </p:txBody>
      </p:sp>
      <p:sp>
        <p:nvSpPr>
          <p:cNvPr id="4" name="Shape 2"/>
          <p:cNvSpPr/>
          <p:nvPr/>
        </p:nvSpPr>
        <p:spPr>
          <a:xfrm>
            <a:off x="640080" y="1298448"/>
            <a:ext cx="5349240" cy="3703320"/>
          </a:xfrm>
          <a:prstGeom prst="roundRect">
            <a:avLst>
              <a:gd name="adj" fmla="val 1975"/>
            </a:avLst>
          </a:prstGeom>
          <a:solidFill>
            <a:srgbClr val="F4F6FB"/>
          </a:solidFill>
          <a:ln w="9525">
            <a:solidFill>
              <a:srgbClr val="E2E7F2"/>
            </a:solidFill>
            <a:prstDash val="solid"/>
          </a:ln>
        </p:spPr>
      </p:sp>
      <p:sp>
        <p:nvSpPr>
          <p:cNvPr id="5" name="Shape 3"/>
          <p:cNvSpPr/>
          <p:nvPr/>
        </p:nvSpPr>
        <p:spPr>
          <a:xfrm>
            <a:off x="960120" y="1536192"/>
            <a:ext cx="548640" cy="548640"/>
          </a:xfrm>
          <a:prstGeom prst="ellipse">
            <a:avLst/>
          </a:prstGeom>
          <a:solidFill>
            <a:srgbClr val="1E2761"/>
          </a:solidFill>
          <a:ln/>
        </p:spPr>
      </p:sp>
      <p:sp>
        <p:nvSpPr>
          <p:cNvPr id="6" name="Text 4"/>
          <p:cNvSpPr/>
          <p:nvPr/>
        </p:nvSpPr>
        <p:spPr>
          <a:xfrm>
            <a:off x="960120" y="1536192"/>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A</a:t>
            </a:r>
            <a:endParaRPr lang="en-US" sz="1900" dirty="0"/>
          </a:p>
        </p:txBody>
      </p:sp>
      <p:sp>
        <p:nvSpPr>
          <p:cNvPr id="7" name="Text 5"/>
          <p:cNvSpPr/>
          <p:nvPr/>
        </p:nvSpPr>
        <p:spPr>
          <a:xfrm>
            <a:off x="1664208" y="1600200"/>
            <a:ext cx="4069080" cy="41148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The warning is fading</a:t>
            </a:r>
            <a:endParaRPr lang="en-US" sz="2000" dirty="0"/>
          </a:p>
        </p:txBody>
      </p:sp>
      <p:sp>
        <p:nvSpPr>
          <p:cNvPr id="8" name="Text 6"/>
          <p:cNvSpPr/>
          <p:nvPr/>
        </p:nvSpPr>
        <p:spPr>
          <a:xfrm>
            <a:off x="960120" y="2286000"/>
            <a:ext cx="4709160" cy="1234440"/>
          </a:xfrm>
          <a:prstGeom prst="rect">
            <a:avLst/>
          </a:prstGeom>
          <a:noFill/>
          <a:ln/>
        </p:spPr>
        <p:txBody>
          <a:bodyPr wrap="square" lIns="0" tIns="0" rIns="0" bIns="0" rtlCol="0" anchor="ctr"/>
          <a:lstStyle/>
          <a:p>
            <a:pPr indent="0" marL="0">
              <a:lnSpc>
                <a:spcPts val="1900"/>
              </a:lnSpc>
              <a:buNone/>
            </a:pPr>
            <a:r>
              <a:rPr lang="en-US" sz="1350" dirty="0">
                <a:solidFill>
                  <a:srgbClr val="22252E"/>
                </a:solidFill>
                <a:latin typeface="Calibri" pitchFamily="34" charset="0"/>
                <a:ea typeface="Calibri" pitchFamily="34" charset="-122"/>
                <a:cs typeface="Calibri" pitchFamily="34" charset="-120"/>
              </a:rPr>
              <a:t>It did mean something once, because staying hidden was genuinely expensive. As AI takes over the work, it gets cheaper, and the meaning drains out of the act.</a:t>
            </a:r>
            <a:endParaRPr lang="en-US" sz="1350" dirty="0"/>
          </a:p>
        </p:txBody>
      </p:sp>
      <p:sp>
        <p:nvSpPr>
          <p:cNvPr id="9" name="Text 7"/>
          <p:cNvSpPr/>
          <p:nvPr/>
        </p:nvSpPr>
        <p:spPr>
          <a:xfrm>
            <a:off x="960120" y="3611880"/>
            <a:ext cx="4709160" cy="1051560"/>
          </a:xfrm>
          <a:prstGeom prst="rect">
            <a:avLst/>
          </a:prstGeom>
          <a:noFill/>
          <a:ln/>
        </p:spPr>
        <p:txBody>
          <a:bodyPr wrap="square" lIns="0" tIns="0" rIns="0" bIns="0" rtlCol="0" anchor="ctr"/>
          <a:lstStyle/>
          <a:p>
            <a:pPr indent="0" marL="0">
              <a:lnSpc>
                <a:spcPts val="1800"/>
              </a:lnSpc>
              <a:buNone/>
            </a:pPr>
            <a:r>
              <a:rPr lang="en-US" sz="1300" i="1" dirty="0">
                <a:solidFill>
                  <a:srgbClr val="6A6F7D"/>
                </a:solidFill>
                <a:latin typeface="Calibri" pitchFamily="34" charset="0"/>
                <a:ea typeface="Calibri" pitchFamily="34" charset="-122"/>
                <a:cs typeface="Calibri" pitchFamily="34" charset="-120"/>
              </a:rPr>
              <a:t>If this is right, the gap between what we say and what we do should keep widening as automation spreads.</a:t>
            </a:r>
            <a:endParaRPr lang="en-US" sz="1300" dirty="0"/>
          </a:p>
        </p:txBody>
      </p:sp>
      <p:sp>
        <p:nvSpPr>
          <p:cNvPr id="10" name="Shape 8"/>
          <p:cNvSpPr/>
          <p:nvPr/>
        </p:nvSpPr>
        <p:spPr>
          <a:xfrm>
            <a:off x="6263640" y="1298448"/>
            <a:ext cx="5349240" cy="3703320"/>
          </a:xfrm>
          <a:prstGeom prst="roundRect">
            <a:avLst>
              <a:gd name="adj" fmla="val 1975"/>
            </a:avLst>
          </a:prstGeom>
          <a:solidFill>
            <a:srgbClr val="FDF6EA"/>
          </a:solidFill>
          <a:ln w="9525">
            <a:solidFill>
              <a:srgbClr val="E2E7F2"/>
            </a:solidFill>
            <a:prstDash val="solid"/>
          </a:ln>
        </p:spPr>
      </p:sp>
      <p:sp>
        <p:nvSpPr>
          <p:cNvPr id="11" name="Shape 9"/>
          <p:cNvSpPr/>
          <p:nvPr/>
        </p:nvSpPr>
        <p:spPr>
          <a:xfrm>
            <a:off x="6583680" y="1536192"/>
            <a:ext cx="548640" cy="548640"/>
          </a:xfrm>
          <a:prstGeom prst="ellipse">
            <a:avLst/>
          </a:prstGeom>
          <a:solidFill>
            <a:srgbClr val="D98C1F"/>
          </a:solidFill>
          <a:ln/>
        </p:spPr>
      </p:sp>
      <p:sp>
        <p:nvSpPr>
          <p:cNvPr id="12" name="Text 10"/>
          <p:cNvSpPr/>
          <p:nvPr/>
        </p:nvSpPr>
        <p:spPr>
          <a:xfrm>
            <a:off x="6583680" y="1536192"/>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B</a:t>
            </a:r>
            <a:endParaRPr lang="en-US" sz="1900" dirty="0"/>
          </a:p>
        </p:txBody>
      </p:sp>
      <p:sp>
        <p:nvSpPr>
          <p:cNvPr id="13" name="Text 11"/>
          <p:cNvSpPr/>
          <p:nvPr/>
        </p:nvSpPr>
        <p:spPr>
          <a:xfrm>
            <a:off x="7287768" y="1600200"/>
            <a:ext cx="4069080" cy="411480"/>
          </a:xfrm>
          <a:prstGeom prst="rect">
            <a:avLst/>
          </a:prstGeom>
          <a:noFill/>
          <a:ln/>
        </p:spPr>
        <p:txBody>
          <a:bodyPr wrap="square" lIns="0" tIns="0" rIns="0" bIns="0" rtlCol="0" anchor="ctr"/>
          <a:lstStyle/>
          <a:p>
            <a:pPr indent="0" marL="0">
              <a:buNone/>
            </a:pPr>
            <a:r>
              <a:rPr lang="en-US" sz="2000" b="1" dirty="0">
                <a:solidFill>
                  <a:srgbClr val="D98C1F"/>
                </a:solidFill>
                <a:latin typeface="Cambria" pitchFamily="34" charset="0"/>
                <a:ea typeface="Cambria" pitchFamily="34" charset="-122"/>
                <a:cs typeface="Cambria" pitchFamily="34" charset="-120"/>
              </a:rPr>
              <a:t>There never was a warning</a:t>
            </a:r>
            <a:endParaRPr lang="en-US" sz="2000" dirty="0"/>
          </a:p>
        </p:txBody>
      </p:sp>
      <p:sp>
        <p:nvSpPr>
          <p:cNvPr id="14" name="Text 12"/>
          <p:cNvSpPr/>
          <p:nvPr/>
        </p:nvSpPr>
        <p:spPr>
          <a:xfrm>
            <a:off x="6583680" y="2286000"/>
            <a:ext cx="4709160" cy="1234440"/>
          </a:xfrm>
          <a:prstGeom prst="rect">
            <a:avLst/>
          </a:prstGeom>
          <a:noFill/>
          <a:ln/>
        </p:spPr>
        <p:txBody>
          <a:bodyPr wrap="square" lIns="0" tIns="0" rIns="0" bIns="0" rtlCol="0" anchor="ctr"/>
          <a:lstStyle/>
          <a:p>
            <a:pPr indent="0" marL="0">
              <a:lnSpc>
                <a:spcPts val="1900"/>
              </a:lnSpc>
              <a:buNone/>
            </a:pPr>
            <a:r>
              <a:rPr lang="en-US" sz="1350" dirty="0">
                <a:solidFill>
                  <a:srgbClr val="22252E"/>
                </a:solidFill>
                <a:latin typeface="Calibri" pitchFamily="34" charset="0"/>
                <a:ea typeface="Calibri" pitchFamily="34" charset="-122"/>
                <a:cs typeface="Calibri" pitchFamily="34" charset="-120"/>
              </a:rPr>
              <a:t>It was never meant to say anything at all. Staying quiet, and keeping effects below the level that triggers a response, was always the whole point.</a:t>
            </a:r>
            <a:endParaRPr lang="en-US" sz="1350" dirty="0"/>
          </a:p>
        </p:txBody>
      </p:sp>
      <p:sp>
        <p:nvSpPr>
          <p:cNvPr id="15" name="Text 13"/>
          <p:cNvSpPr/>
          <p:nvPr/>
        </p:nvSpPr>
        <p:spPr>
          <a:xfrm>
            <a:off x="6583680" y="3611880"/>
            <a:ext cx="4709160" cy="1051560"/>
          </a:xfrm>
          <a:prstGeom prst="rect">
            <a:avLst/>
          </a:prstGeom>
          <a:noFill/>
          <a:ln/>
        </p:spPr>
        <p:txBody>
          <a:bodyPr wrap="square" lIns="0" tIns="0" rIns="0" bIns="0" rtlCol="0" anchor="ctr"/>
          <a:lstStyle/>
          <a:p>
            <a:pPr indent="0" marL="0">
              <a:lnSpc>
                <a:spcPts val="1800"/>
              </a:lnSpc>
              <a:buNone/>
            </a:pPr>
            <a:r>
              <a:rPr lang="en-US" sz="1300" i="1" dirty="0">
                <a:solidFill>
                  <a:srgbClr val="6A6F7D"/>
                </a:solidFill>
                <a:latin typeface="Calibri" pitchFamily="34" charset="0"/>
                <a:ea typeface="Calibri" pitchFamily="34" charset="-122"/>
                <a:cs typeface="Calibri" pitchFamily="34" charset="-120"/>
              </a:rPr>
              <a:t>If this is right, the gap stays roughly constant, because it was never about cost in the first place.</a:t>
            </a:r>
            <a:endParaRPr lang="en-US" sz="1300" dirty="0"/>
          </a:p>
        </p:txBody>
      </p:sp>
      <p:sp>
        <p:nvSpPr>
          <p:cNvPr id="16" name="Text 14"/>
          <p:cNvSpPr/>
          <p:nvPr/>
        </p:nvSpPr>
        <p:spPr>
          <a:xfrm>
            <a:off x="640080" y="5138928"/>
            <a:ext cx="10881360" cy="658368"/>
          </a:xfrm>
          <a:prstGeom prst="rect">
            <a:avLst/>
          </a:prstGeom>
          <a:noFill/>
          <a:ln/>
        </p:spPr>
        <p:txBody>
          <a:bodyPr wrap="square" lIns="0" tIns="0" rIns="0" bIns="0" rtlCol="0" anchor="ctr"/>
          <a:lstStyle/>
          <a:p>
            <a:pPr indent="0" marL="0">
              <a:lnSpc>
                <a:spcPts val="2400"/>
              </a:lnSpc>
              <a:buNone/>
            </a:pPr>
            <a:r>
              <a:rPr lang="en-US" sz="1800" b="1" dirty="0">
                <a:solidFill>
                  <a:srgbClr val="1E2761"/>
                </a:solidFill>
                <a:latin typeface="Cambria" pitchFamily="34" charset="0"/>
                <a:ea typeface="Cambria" pitchFamily="34" charset="-122"/>
                <a:cs typeface="Cambria" pitchFamily="34" charset="-120"/>
              </a:rPr>
              <a:t>The evidence so far fits B at least as well as A. That is uncomfortable, because our doctrine assumes A.</a:t>
            </a:r>
            <a:endParaRPr lang="en-US" sz="1800" dirty="0"/>
          </a:p>
        </p:txBody>
      </p:sp>
      <p:sp>
        <p:nvSpPr>
          <p:cNvPr id="17" name="Text 15"/>
          <p:cNvSpPr/>
          <p:nvPr/>
        </p:nvSpPr>
        <p:spPr>
          <a:xfrm>
            <a:off x="640080" y="5797296"/>
            <a:ext cx="10881360" cy="502920"/>
          </a:xfrm>
          <a:prstGeom prst="rect">
            <a:avLst/>
          </a:prstGeom>
          <a:noFill/>
          <a:ln/>
        </p:spPr>
        <p:txBody>
          <a:bodyPr wrap="square" lIns="0" tIns="0" rIns="0" bIns="0" rtlCol="0" anchor="ctr"/>
          <a:lstStyle/>
          <a:p>
            <a:pPr indent="0" marL="0">
              <a:buNone/>
            </a:pPr>
            <a:r>
              <a:rPr lang="en-US" sz="1400" dirty="0">
                <a:solidFill>
                  <a:srgbClr val="22252E"/>
                </a:solidFill>
                <a:latin typeface="Calibri" pitchFamily="34" charset="0"/>
                <a:ea typeface="Calibri" pitchFamily="34" charset="-122"/>
                <a:cs typeface="Calibri" pitchFamily="34" charset="-120"/>
              </a:rPr>
              <a:t>This study does not settle the question. It shows the question is answerable and that nobody has asked it.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737360" y="3931920"/>
            <a:ext cx="4572000" cy="4572000"/>
          </a:xfrm>
          <a:prstGeom prst="ellipse">
            <a:avLst/>
          </a:prstGeom>
          <a:solidFill>
            <a:srgbClr val="141B45"/>
          </a:solidFill>
          <a:ln/>
        </p:spPr>
      </p:sp>
      <p:sp>
        <p:nvSpPr>
          <p:cNvPr id="3" name="Shape 1"/>
          <p:cNvSpPr/>
          <p:nvPr/>
        </p:nvSpPr>
        <p:spPr>
          <a:xfrm>
            <a:off x="10972800" y="-1188720"/>
            <a:ext cx="3291840" cy="3291840"/>
          </a:xfrm>
          <a:prstGeom prst="ellipse">
            <a:avLst/>
          </a:prstGeom>
          <a:solidFill>
            <a:srgbClr val="141B45"/>
          </a:solidFill>
          <a:ln/>
        </p:spPr>
      </p:sp>
      <p:sp>
        <p:nvSpPr>
          <p:cNvPr id="4" name="Text 2"/>
          <p:cNvSpPr/>
          <p:nvPr/>
        </p:nvSpPr>
        <p:spPr>
          <a:xfrm>
            <a:off x="640080" y="566928"/>
            <a:ext cx="1088136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this means</a:t>
            </a:r>
            <a:endParaRPr lang="en-US" sz="3200" dirty="0"/>
          </a:p>
        </p:txBody>
      </p:sp>
      <p:sp>
        <p:nvSpPr>
          <p:cNvPr id="5" name="Shape 3"/>
          <p:cNvSpPr/>
          <p:nvPr/>
        </p:nvSpPr>
        <p:spPr>
          <a:xfrm>
            <a:off x="640080" y="1325880"/>
            <a:ext cx="502920" cy="502920"/>
          </a:xfrm>
          <a:prstGeom prst="ellipse">
            <a:avLst/>
          </a:prstGeom>
          <a:solidFill>
            <a:srgbClr val="D98C1F"/>
          </a:solidFill>
          <a:ln/>
        </p:spPr>
      </p:sp>
      <p:sp>
        <p:nvSpPr>
          <p:cNvPr id="6" name="Text 4"/>
          <p:cNvSpPr/>
          <p:nvPr/>
        </p:nvSpPr>
        <p:spPr>
          <a:xfrm>
            <a:off x="640080" y="1325880"/>
            <a:ext cx="502920" cy="502920"/>
          </a:xfrm>
          <a:prstGeom prst="rect">
            <a:avLst/>
          </a:prstGeom>
          <a:noFill/>
          <a:ln/>
        </p:spPr>
        <p:txBody>
          <a:bodyPr wrap="square" lIns="0" tIns="0" rIns="0" bIns="0" rtlCol="0" anchor="ctr"/>
          <a:lstStyle/>
          <a:p>
            <a:pPr algn="ctr" indent="0" marL="0">
              <a:buNone/>
            </a:pPr>
            <a:r>
              <a:rPr lang="en-US" sz="1300" b="1" dirty="0">
                <a:solidFill>
                  <a:srgbClr val="141B45"/>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417320" y="1307592"/>
            <a:ext cx="2286000" cy="32004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For scholarship</a:t>
            </a:r>
            <a:endParaRPr lang="en-US" sz="1550" dirty="0"/>
          </a:p>
        </p:txBody>
      </p:sp>
      <p:sp>
        <p:nvSpPr>
          <p:cNvPr id="8" name="Text 6"/>
          <p:cNvSpPr/>
          <p:nvPr/>
        </p:nvSpPr>
        <p:spPr>
          <a:xfrm>
            <a:off x="3840480" y="1307592"/>
            <a:ext cx="7680960" cy="822960"/>
          </a:xfrm>
          <a:prstGeom prst="rect">
            <a:avLst/>
          </a:prstGeom>
          <a:noFill/>
          <a:ln/>
        </p:spPr>
        <p:txBody>
          <a:bodyPr wrap="square" lIns="0" tIns="0" rIns="0" bIns="0" rtlCol="0" anchor="ctr"/>
          <a:lstStyle/>
          <a:p>
            <a:pPr indent="0" marL="0">
              <a:lnSpc>
                <a:spcPts val="1900"/>
              </a:lnSpc>
              <a:buNone/>
            </a:pPr>
            <a:r>
              <a:rPr lang="en-US" sz="1350" dirty="0">
                <a:solidFill>
                  <a:srgbClr val="CADCFC"/>
                </a:solidFill>
                <a:latin typeface="Calibri" pitchFamily="34" charset="0"/>
                <a:ea typeface="Calibri" pitchFamily="34" charset="-122"/>
                <a:cs typeface="Calibri" pitchFamily="34" charset="-120"/>
              </a:rPr>
              <a:t>It joins two findings nobody had put together: what analysts say this activity means, and how governments actually respond to it.</a:t>
            </a:r>
            <a:endParaRPr lang="en-US" sz="1350" dirty="0"/>
          </a:p>
        </p:txBody>
      </p:sp>
      <p:sp>
        <p:nvSpPr>
          <p:cNvPr id="9" name="Shape 7"/>
          <p:cNvSpPr/>
          <p:nvPr/>
        </p:nvSpPr>
        <p:spPr>
          <a:xfrm>
            <a:off x="640080" y="2313432"/>
            <a:ext cx="502920" cy="502920"/>
          </a:xfrm>
          <a:prstGeom prst="ellipse">
            <a:avLst/>
          </a:prstGeom>
          <a:solidFill>
            <a:srgbClr val="D98C1F"/>
          </a:solidFill>
          <a:ln/>
        </p:spPr>
      </p:sp>
      <p:sp>
        <p:nvSpPr>
          <p:cNvPr id="10" name="Text 8"/>
          <p:cNvSpPr/>
          <p:nvPr/>
        </p:nvSpPr>
        <p:spPr>
          <a:xfrm>
            <a:off x="640080" y="2313432"/>
            <a:ext cx="502920" cy="502920"/>
          </a:xfrm>
          <a:prstGeom prst="rect">
            <a:avLst/>
          </a:prstGeom>
          <a:noFill/>
          <a:ln/>
        </p:spPr>
        <p:txBody>
          <a:bodyPr wrap="square" lIns="0" tIns="0" rIns="0" bIns="0" rtlCol="0" anchor="ctr"/>
          <a:lstStyle/>
          <a:p>
            <a:pPr algn="ctr" indent="0" marL="0">
              <a:buNone/>
            </a:pPr>
            <a:r>
              <a:rPr lang="en-US" sz="1300" b="1" dirty="0">
                <a:solidFill>
                  <a:srgbClr val="141B45"/>
                </a:solidFill>
                <a:latin typeface="Cambria" pitchFamily="34" charset="0"/>
                <a:ea typeface="Cambria" pitchFamily="34" charset="-122"/>
                <a:cs typeface="Cambria" pitchFamily="34" charset="-120"/>
              </a:rPr>
              <a:t>2</a:t>
            </a:r>
            <a:endParaRPr lang="en-US" sz="1300" dirty="0"/>
          </a:p>
        </p:txBody>
      </p:sp>
      <p:sp>
        <p:nvSpPr>
          <p:cNvPr id="11" name="Text 9"/>
          <p:cNvSpPr/>
          <p:nvPr/>
        </p:nvSpPr>
        <p:spPr>
          <a:xfrm>
            <a:off x="1417320" y="2295144"/>
            <a:ext cx="2286000" cy="32004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For the argument</a:t>
            </a:r>
            <a:endParaRPr lang="en-US" sz="1550" dirty="0"/>
          </a:p>
        </p:txBody>
      </p:sp>
      <p:sp>
        <p:nvSpPr>
          <p:cNvPr id="12" name="Text 10"/>
          <p:cNvSpPr/>
          <p:nvPr/>
        </p:nvSpPr>
        <p:spPr>
          <a:xfrm>
            <a:off x="3840480" y="2295144"/>
            <a:ext cx="7680960" cy="822960"/>
          </a:xfrm>
          <a:prstGeom prst="rect">
            <a:avLst/>
          </a:prstGeom>
          <a:noFill/>
          <a:ln/>
        </p:spPr>
        <p:txBody>
          <a:bodyPr wrap="square" lIns="0" tIns="0" rIns="0" bIns="0" rtlCol="0" anchor="ctr"/>
          <a:lstStyle/>
          <a:p>
            <a:pPr indent="0" marL="0">
              <a:lnSpc>
                <a:spcPts val="1900"/>
              </a:lnSpc>
              <a:buNone/>
            </a:pPr>
            <a:r>
              <a:rPr lang="en-US" sz="1350" dirty="0">
                <a:solidFill>
                  <a:srgbClr val="CADCFC"/>
                </a:solidFill>
                <a:latin typeface="Calibri" pitchFamily="34" charset="0"/>
                <a:ea typeface="Calibri" pitchFamily="34" charset="-122"/>
                <a:cs typeface="Calibri" pitchFamily="34" charset="-120"/>
              </a:rPr>
              <a:t>It questions the assumption underneath the standard reading, that staying hidden is expensive, and asks what AI does to it.</a:t>
            </a:r>
            <a:endParaRPr lang="en-US" sz="1350" dirty="0"/>
          </a:p>
        </p:txBody>
      </p:sp>
      <p:sp>
        <p:nvSpPr>
          <p:cNvPr id="13" name="Shape 11"/>
          <p:cNvSpPr/>
          <p:nvPr/>
        </p:nvSpPr>
        <p:spPr>
          <a:xfrm>
            <a:off x="640080" y="3300984"/>
            <a:ext cx="502920" cy="502920"/>
          </a:xfrm>
          <a:prstGeom prst="ellipse">
            <a:avLst/>
          </a:prstGeom>
          <a:solidFill>
            <a:srgbClr val="D98C1F"/>
          </a:solidFill>
          <a:ln/>
        </p:spPr>
      </p:sp>
      <p:sp>
        <p:nvSpPr>
          <p:cNvPr id="14" name="Text 12"/>
          <p:cNvSpPr/>
          <p:nvPr/>
        </p:nvSpPr>
        <p:spPr>
          <a:xfrm>
            <a:off x="640080" y="3300984"/>
            <a:ext cx="502920" cy="502920"/>
          </a:xfrm>
          <a:prstGeom prst="rect">
            <a:avLst/>
          </a:prstGeom>
          <a:noFill/>
          <a:ln/>
        </p:spPr>
        <p:txBody>
          <a:bodyPr wrap="square" lIns="0" tIns="0" rIns="0" bIns="0" rtlCol="0" anchor="ctr"/>
          <a:lstStyle/>
          <a:p>
            <a:pPr algn="ctr" indent="0" marL="0">
              <a:buNone/>
            </a:pPr>
            <a:r>
              <a:rPr lang="en-US" sz="1300" b="1" dirty="0">
                <a:solidFill>
                  <a:srgbClr val="141B45"/>
                </a:solidFill>
                <a:latin typeface="Cambria" pitchFamily="34" charset="0"/>
                <a:ea typeface="Cambria" pitchFamily="34" charset="-122"/>
                <a:cs typeface="Cambria" pitchFamily="34" charset="-120"/>
              </a:rPr>
              <a:t>3</a:t>
            </a:r>
            <a:endParaRPr lang="en-US" sz="1300" dirty="0"/>
          </a:p>
        </p:txBody>
      </p:sp>
      <p:sp>
        <p:nvSpPr>
          <p:cNvPr id="15" name="Text 13"/>
          <p:cNvSpPr/>
          <p:nvPr/>
        </p:nvSpPr>
        <p:spPr>
          <a:xfrm>
            <a:off x="1417320" y="3282696"/>
            <a:ext cx="2286000" cy="32004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For the record</a:t>
            </a:r>
            <a:endParaRPr lang="en-US" sz="1550" dirty="0"/>
          </a:p>
        </p:txBody>
      </p:sp>
      <p:sp>
        <p:nvSpPr>
          <p:cNvPr id="16" name="Text 14"/>
          <p:cNvSpPr/>
          <p:nvPr/>
        </p:nvSpPr>
        <p:spPr>
          <a:xfrm>
            <a:off x="3840480" y="3282696"/>
            <a:ext cx="7680960" cy="822960"/>
          </a:xfrm>
          <a:prstGeom prst="rect">
            <a:avLst/>
          </a:prstGeom>
          <a:noFill/>
          <a:ln/>
        </p:spPr>
        <p:txBody>
          <a:bodyPr wrap="square" lIns="0" tIns="0" rIns="0" bIns="0" rtlCol="0" anchor="ctr"/>
          <a:lstStyle/>
          <a:p>
            <a:pPr indent="0" marL="0">
              <a:lnSpc>
                <a:spcPts val="1900"/>
              </a:lnSpc>
              <a:buNone/>
            </a:pPr>
            <a:r>
              <a:rPr lang="en-US" sz="1350" dirty="0">
                <a:solidFill>
                  <a:srgbClr val="CADCFC"/>
                </a:solidFill>
                <a:latin typeface="Calibri" pitchFamily="34" charset="0"/>
                <a:ea typeface="Calibri" pitchFamily="34" charset="-122"/>
                <a:cs typeface="Calibri" pitchFamily="34" charset="-120"/>
              </a:rPr>
              <a:t>It states a fact the field has not faced. There is no case where this led to a successful attack.</a:t>
            </a:r>
            <a:endParaRPr lang="en-US" sz="1350" dirty="0"/>
          </a:p>
        </p:txBody>
      </p:sp>
      <p:sp>
        <p:nvSpPr>
          <p:cNvPr id="17" name="Shape 15"/>
          <p:cNvSpPr/>
          <p:nvPr/>
        </p:nvSpPr>
        <p:spPr>
          <a:xfrm>
            <a:off x="640080" y="4288536"/>
            <a:ext cx="502920" cy="502920"/>
          </a:xfrm>
          <a:prstGeom prst="ellipse">
            <a:avLst/>
          </a:prstGeom>
          <a:solidFill>
            <a:srgbClr val="D98C1F"/>
          </a:solidFill>
          <a:ln/>
        </p:spPr>
      </p:sp>
      <p:sp>
        <p:nvSpPr>
          <p:cNvPr id="18" name="Text 16"/>
          <p:cNvSpPr/>
          <p:nvPr/>
        </p:nvSpPr>
        <p:spPr>
          <a:xfrm>
            <a:off x="640080" y="4288536"/>
            <a:ext cx="502920" cy="502920"/>
          </a:xfrm>
          <a:prstGeom prst="rect">
            <a:avLst/>
          </a:prstGeom>
          <a:noFill/>
          <a:ln/>
        </p:spPr>
        <p:txBody>
          <a:bodyPr wrap="square" lIns="0" tIns="0" rIns="0" bIns="0" rtlCol="0" anchor="ctr"/>
          <a:lstStyle/>
          <a:p>
            <a:pPr algn="ctr" indent="0" marL="0">
              <a:buNone/>
            </a:pPr>
            <a:r>
              <a:rPr lang="en-US" sz="1300" b="1" dirty="0">
                <a:solidFill>
                  <a:srgbClr val="141B45"/>
                </a:solidFill>
                <a:latin typeface="Cambria" pitchFamily="34" charset="0"/>
                <a:ea typeface="Cambria" pitchFamily="34" charset="-122"/>
                <a:cs typeface="Cambria" pitchFamily="34" charset="-120"/>
              </a:rPr>
              <a:t>4</a:t>
            </a:r>
            <a:endParaRPr lang="en-US" sz="1300" dirty="0"/>
          </a:p>
        </p:txBody>
      </p:sp>
      <p:sp>
        <p:nvSpPr>
          <p:cNvPr id="19" name="Text 17"/>
          <p:cNvSpPr/>
          <p:nvPr/>
        </p:nvSpPr>
        <p:spPr>
          <a:xfrm>
            <a:off x="1417320" y="4270248"/>
            <a:ext cx="2286000" cy="32004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For policy</a:t>
            </a:r>
            <a:endParaRPr lang="en-US" sz="1550" dirty="0"/>
          </a:p>
        </p:txBody>
      </p:sp>
      <p:sp>
        <p:nvSpPr>
          <p:cNvPr id="20" name="Text 18"/>
          <p:cNvSpPr/>
          <p:nvPr/>
        </p:nvSpPr>
        <p:spPr>
          <a:xfrm>
            <a:off x="3840480" y="4270248"/>
            <a:ext cx="7680960" cy="822960"/>
          </a:xfrm>
          <a:prstGeom prst="rect">
            <a:avLst/>
          </a:prstGeom>
          <a:noFill/>
          <a:ln/>
        </p:spPr>
        <p:txBody>
          <a:bodyPr wrap="square" lIns="0" tIns="0" rIns="0" bIns="0" rtlCol="0" anchor="ctr"/>
          <a:lstStyle/>
          <a:p>
            <a:pPr indent="0" marL="0">
              <a:lnSpc>
                <a:spcPts val="1900"/>
              </a:lnSpc>
              <a:buNone/>
            </a:pPr>
            <a:r>
              <a:rPr lang="en-US" sz="1350" dirty="0">
                <a:solidFill>
                  <a:srgbClr val="CADCFC"/>
                </a:solidFill>
                <a:latin typeface="Calibri" pitchFamily="34" charset="0"/>
                <a:ea typeface="Calibri" pitchFamily="34" charset="-122"/>
                <a:cs typeface="Calibri" pitchFamily="34" charset="-120"/>
              </a:rPr>
              <a:t>Over-read it and we may escalate over nothing. Under-read it and we may file real preparation as a maintenance job. Both errors come from the same weak signal.</a:t>
            </a:r>
            <a:endParaRPr lang="en-US" sz="1350" dirty="0"/>
          </a:p>
        </p:txBody>
      </p:sp>
      <p:sp>
        <p:nvSpPr>
          <p:cNvPr id="21" name="Shape 19"/>
          <p:cNvSpPr/>
          <p:nvPr/>
        </p:nvSpPr>
        <p:spPr>
          <a:xfrm>
            <a:off x="640080" y="5468112"/>
            <a:ext cx="1005840" cy="32004"/>
          </a:xfrm>
          <a:prstGeom prst="rect">
            <a:avLst/>
          </a:prstGeom>
          <a:solidFill>
            <a:srgbClr val="D98C1F"/>
          </a:solidFill>
          <a:ln/>
        </p:spPr>
      </p:sp>
      <p:sp>
        <p:nvSpPr>
          <p:cNvPr id="22" name="Text 20"/>
          <p:cNvSpPr/>
          <p:nvPr/>
        </p:nvSpPr>
        <p:spPr>
          <a:xfrm>
            <a:off x="640080" y="5715000"/>
            <a:ext cx="10881360" cy="457200"/>
          </a:xfrm>
          <a:prstGeom prst="rect">
            <a:avLst/>
          </a:prstGeom>
          <a:noFill/>
          <a:ln/>
        </p:spPr>
        <p:txBody>
          <a:bodyPr wrap="square" lIns="0" tIns="0" rIns="0" bIns="0" rtlCol="0" anchor="ctr"/>
          <a:lstStyle/>
          <a:p>
            <a:pPr indent="0" marL="0">
              <a:buNone/>
            </a:pPr>
            <a:r>
              <a:rPr lang="en-US" sz="2100" i="1" dirty="0">
                <a:solidFill>
                  <a:srgbClr val="FFFFFF"/>
                </a:solidFill>
                <a:latin typeface="Cambria" pitchFamily="34" charset="0"/>
                <a:ea typeface="Cambria" pitchFamily="34" charset="-122"/>
                <a:cs typeface="Cambria" pitchFamily="34" charset="-120"/>
              </a:rPr>
              <a:t>We have been reading a message that may never have been sent.</a:t>
            </a:r>
            <a:endParaRPr lang="en-US" sz="2100" dirty="0"/>
          </a:p>
        </p:txBody>
      </p:sp>
      <p:sp>
        <p:nvSpPr>
          <p:cNvPr id="23" name="Text 21"/>
          <p:cNvSpPr/>
          <p:nvPr/>
        </p:nvSpPr>
        <p:spPr>
          <a:xfrm>
            <a:off x="640080" y="6263640"/>
            <a:ext cx="10881360" cy="320040"/>
          </a:xfrm>
          <a:prstGeom prst="rect">
            <a:avLst/>
          </a:prstGeom>
          <a:noFill/>
          <a:ln/>
        </p:spPr>
        <p:txBody>
          <a:bodyPr wrap="square" lIns="0" tIns="0" rIns="0" bIns="0" rtlCol="0" anchor="ctr"/>
          <a:lstStyle/>
          <a:p>
            <a:pPr indent="0" marL="0">
              <a:buNone/>
            </a:pPr>
            <a:r>
              <a:rPr lang="en-US" sz="1350" dirty="0">
                <a:solidFill>
                  <a:srgbClr val="A9B6DC"/>
                </a:solidFill>
                <a:latin typeface="Calibri" pitchFamily="34" charset="0"/>
                <a:ea typeface="Calibri" pitchFamily="34" charset="-122"/>
                <a:cs typeface="Calibri" pitchFamily="34" charset="-120"/>
              </a:rPr>
              <a:t>Thank you. Questions welcome.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 of Cyber Operations</dc:title>
  <dc:subject>PptxGenJS Presentation</dc:subject>
  <dc:creator>Strategic Studies</dc:creator>
  <cp:lastModifiedBy>Strategic Studies</cp:lastModifiedBy>
  <cp:revision>1</cp:revision>
  <dcterms:created xsi:type="dcterms:W3CDTF">2026-08-05T17:29:00Z</dcterms:created>
  <dcterms:modified xsi:type="dcterms:W3CDTF">2026-08-05T17:29:00Z</dcterms:modified>
</cp:coreProperties>
</file>