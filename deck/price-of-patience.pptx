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the object: software left sitting inside civilian infrastructure. The talk asks one question. When we find it, what does it actually tell us, and does AI change the answer. Roughly one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quickly. The campaign was found in the systems that keep the lights and water on. The striking thing is what did not happen: no theft worth the effort. Nakasone is saying, in effect, nobody puts code there to read your email. Use the quote,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logic the whole field runs on, in plain terms. Walk the three boxes left to right. Land hard on the last line: the argument only works if staying hidden is expensive. Flag that we will come back to that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talk. Slow down. Read the two columns across, then deliver the bottom line. Weapons in the water supply got a memo. Stolen call records got sanctions. Ask the room to sit with how strange that ordering is. Take a full minute and a half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short beats, one each. Do not over-explain. The closing line is the point: for something to work as a warning it has to be seen, believed and land on the right desk. This one fails on all three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cases is the entire record. Two are still just sitting there doing nothing, one was tried and defeated. In Ukraine the malware would have cut power to two million people, and Ukrainian defenders stopped it. The zero is the number to leave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back on the room’s instinct that AI obviously helps attackers. The evidence points the other way, at least for now. The bottom box is the important qualifier: who wins depends on who is fighting whom. So the useful question is not whether AI helps attackers, but which side can use it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both fairly, then give the verdict. Years of sitting still, no punishment, effects kept carefully small: that fits B. Say plainly that the paper does not settle it, and that saying so honestly is the right position. The point is that the question is answerable and nobody has asked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risks, opposite directions, both live. Over-reading risks escalating over nothing. Under-reading risks missing the real thing. Stress that these are not alternatives to pick between; they are the two ways the same weak signal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contributions, briefly. Then the last line, slowly. That single sentence is what you want them to remember. Stop there and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141B45"/>
          </a:solidFill>
          <a:ln/>
        </p:spPr>
      </p:sp>
      <p:sp>
        <p:nvSpPr>
          <p:cNvPr id="3" name="Shape 1"/>
          <p:cNvSpPr/>
          <p:nvPr/>
        </p:nvSpPr>
        <p:spPr>
          <a:xfrm>
            <a:off x="10607040" y="4206240"/>
            <a:ext cx="3108960" cy="3108960"/>
          </a:xfrm>
          <a:prstGeom prst="ellipse">
            <a:avLst/>
          </a:prstGeom>
          <a:solidFill>
            <a:srgbClr val="141B45"/>
          </a:solidFill>
          <a:ln/>
        </p:spPr>
      </p:sp>
      <p:sp>
        <p:nvSpPr>
          <p:cNvPr id="4" name="Text 2"/>
          <p:cNvSpPr/>
          <p:nvPr/>
        </p:nvSpPr>
        <p:spPr>
          <a:xfrm>
            <a:off x="640080" y="1874520"/>
            <a:ext cx="8595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PRICE OF PATIENCE</a:t>
            </a:r>
            <a:endParaRPr lang="en-US" sz="4400" dirty="0"/>
          </a:p>
        </p:txBody>
      </p:sp>
      <p:sp>
        <p:nvSpPr>
          <p:cNvPr id="5" name="Text 3"/>
          <p:cNvSpPr/>
          <p:nvPr/>
        </p:nvSpPr>
        <p:spPr>
          <a:xfrm>
            <a:off x="640080" y="2788920"/>
            <a:ext cx="8412480" cy="914400"/>
          </a:xfrm>
          <a:prstGeom prst="rect">
            <a:avLst/>
          </a:prstGeom>
          <a:noFill/>
          <a:ln/>
        </p:spPr>
        <p:txBody>
          <a:bodyPr wrap="square" lIns="0" tIns="0" rIns="0" bIns="0" rtlCol="0" anchor="ctr"/>
          <a:lstStyle/>
          <a:p>
            <a:pPr indent="0" marL="0">
              <a:lnSpc>
                <a:spcPts val="2800"/>
              </a:lnSpc>
              <a:buNone/>
            </a:pPr>
            <a:r>
              <a:rPr lang="en-US" sz="1900" dirty="0">
                <a:solidFill>
                  <a:srgbClr val="CADCFC"/>
                </a:solidFill>
                <a:latin typeface="Calibri" pitchFamily="34" charset="0"/>
                <a:ea typeface="Calibri" pitchFamily="34" charset="-122"/>
                <a:cs typeface="Calibri" pitchFamily="34" charset="-120"/>
              </a:rPr>
              <a:t>What foreign code inside our power grids really tells us,</a:t>
            </a:r>
            <a:endParaRPr lang="en-US" sz="1900" dirty="0"/>
          </a:p>
          <a:p>
            <a:pPr indent="0" marL="0">
              <a:lnSpc>
                <a:spcPts val="2800"/>
              </a:lnSpc>
              <a:buNone/>
            </a:pPr>
            <a:r>
              <a:rPr lang="en-US" sz="1900" dirty="0">
                <a:solidFill>
                  <a:srgbClr val="CADCFC"/>
                </a:solidFill>
                <a:latin typeface="Calibri" pitchFamily="34" charset="0"/>
                <a:ea typeface="Calibri" pitchFamily="34" charset="-122"/>
                <a:cs typeface="Calibri" pitchFamily="34" charset="-120"/>
              </a:rPr>
              <a:t>and what AI does to that message</a:t>
            </a:r>
            <a:endParaRPr lang="en-US" sz="1900" dirty="0"/>
          </a:p>
        </p:txBody>
      </p:sp>
      <p:sp>
        <p:nvSpPr>
          <p:cNvPr id="6" name="Shape 4"/>
          <p:cNvSpPr/>
          <p:nvPr/>
        </p:nvSpPr>
        <p:spPr>
          <a:xfrm>
            <a:off x="640080" y="3977640"/>
            <a:ext cx="1005840" cy="32004"/>
          </a:xfrm>
          <a:prstGeom prst="rect">
            <a:avLst/>
          </a:prstGeom>
          <a:solidFill>
            <a:srgbClr val="D98C1F"/>
          </a:solidFill>
          <a:ln/>
        </p:spPr>
      </p:sp>
      <p:sp>
        <p:nvSpPr>
          <p:cNvPr id="7" name="Text 5"/>
          <p:cNvSpPr/>
          <p:nvPr/>
        </p:nvSpPr>
        <p:spPr>
          <a:xfrm>
            <a:off x="640080" y="4279392"/>
            <a:ext cx="8229600" cy="274320"/>
          </a:xfrm>
          <a:prstGeom prst="rect">
            <a:avLst/>
          </a:prstGeom>
          <a:noFill/>
          <a:ln/>
        </p:spPr>
        <p:txBody>
          <a:bodyPr wrap="square" lIns="0" tIns="0" rIns="0" bIns="0" rtlCol="0" anchor="ctr"/>
          <a:lstStyle/>
          <a:p>
            <a:pPr indent="0" marL="0">
              <a:buNone/>
            </a:pPr>
            <a:r>
              <a:rPr lang="en-US" sz="1400" dirty="0">
                <a:solidFill>
                  <a:srgbClr val="A9B6DC"/>
                </a:solidFill>
                <a:latin typeface="Calibri" pitchFamily="34" charset="0"/>
                <a:ea typeface="Calibri" pitchFamily="34" charset="-122"/>
                <a:cs typeface="Calibri" pitchFamily="34" charset="-120"/>
              </a:rPr>
              <a:t>A study of sixteen works on cyber conflict, 2018 to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73152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THE PUZZLE</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An intrusion that made no sense as spying</a:t>
            </a:r>
            <a:endParaRPr lang="en-US" sz="3200" dirty="0"/>
          </a:p>
        </p:txBody>
      </p:sp>
      <p:sp>
        <p:nvSpPr>
          <p:cNvPr id="4" name="Text 2"/>
          <p:cNvSpPr/>
          <p:nvPr/>
        </p:nvSpPr>
        <p:spPr>
          <a:xfrm>
            <a:off x="640080" y="1572768"/>
            <a:ext cx="5943600" cy="1463040"/>
          </a:xfrm>
          <a:prstGeom prst="rect">
            <a:avLst/>
          </a:prstGeom>
          <a:noFill/>
          <a:ln/>
        </p:spPr>
        <p:txBody>
          <a:bodyPr wrap="square" lIns="0" tIns="0" rIns="0" bIns="0" rtlCol="0" anchor="ctr"/>
          <a:lstStyle/>
          <a:p>
            <a:pPr indent="0" marL="0">
              <a:lnSpc>
                <a:spcPts val="2400"/>
              </a:lnSpc>
              <a:buNone/>
            </a:pPr>
            <a:r>
              <a:rPr lang="en-US" sz="1600" b="1" dirty="0">
                <a:solidFill>
                  <a:srgbClr val="22252E"/>
                </a:solidFill>
                <a:latin typeface="Calibri" pitchFamily="34" charset="0"/>
                <a:ea typeface="Calibri" pitchFamily="34" charset="-122"/>
                <a:cs typeface="Calibri" pitchFamily="34" charset="-120"/>
              </a:rPr>
              <a:t>May 2023.</a:t>
            </a:r>
            <a:pPr indent="0" marL="0">
              <a:lnSpc>
                <a:spcPts val="2400"/>
              </a:lnSpc>
              <a:buNone/>
            </a:pPr>
            <a:r>
              <a:rPr lang="en-US" sz="1600" dirty="0">
                <a:solidFill>
                  <a:srgbClr val="22252E"/>
                </a:solidFill>
                <a:latin typeface="Calibri" pitchFamily="34" charset="0"/>
                <a:ea typeface="Calibri" pitchFamily="34" charset="-122"/>
                <a:cs typeface="Calibri" pitchFamily="34" charset="-120"/>
              </a:rPr>
              <a:t> The United States and its Five Eyes partners named China as the source of a campaign called </a:t>
            </a:r>
            <a:pPr indent="0" marL="0">
              <a:lnSpc>
                <a:spcPts val="2400"/>
              </a:lnSpc>
              <a:buNone/>
            </a:pPr>
            <a:r>
              <a:rPr lang="en-US" sz="1600" b="1" dirty="0">
                <a:solidFill>
                  <a:srgbClr val="22252E"/>
                </a:solidFill>
                <a:latin typeface="Calibri" pitchFamily="34" charset="0"/>
                <a:ea typeface="Calibri" pitchFamily="34" charset="-122"/>
                <a:cs typeface="Calibri" pitchFamily="34" charset="-120"/>
              </a:rPr>
              <a:t>Volt Typhoon</a:t>
            </a:r>
            <a:pPr indent="0" marL="0">
              <a:lnSpc>
                <a:spcPts val="2400"/>
              </a:lnSpc>
              <a:buNone/>
            </a:pPr>
            <a:r>
              <a:rPr lang="en-US" sz="1600" dirty="0">
                <a:solidFill>
                  <a:srgbClr val="22252E"/>
                </a:solidFill>
                <a:latin typeface="Calibri" pitchFamily="34" charset="0"/>
                <a:ea typeface="Calibri" pitchFamily="34" charset="-122"/>
                <a:cs typeface="Calibri" pitchFamily="34" charset="-120"/>
              </a:rPr>
              <a:t>. Operators had been living inside American energy, water, communications and transport networks, and in systems supporting the military base on Guam.</a:t>
            </a:r>
            <a:endParaRPr lang="en-US" sz="1600" dirty="0"/>
          </a:p>
        </p:txBody>
      </p:sp>
      <p:sp>
        <p:nvSpPr>
          <p:cNvPr id="5" name="Text 3"/>
          <p:cNvSpPr/>
          <p:nvPr/>
        </p:nvSpPr>
        <p:spPr>
          <a:xfrm>
            <a:off x="640080" y="3154680"/>
            <a:ext cx="5943600" cy="365760"/>
          </a:xfrm>
          <a:prstGeom prst="rect">
            <a:avLst/>
          </a:prstGeom>
          <a:noFill/>
          <a:ln/>
        </p:spPr>
        <p:txBody>
          <a:bodyPr wrap="square" lIns="0" tIns="0" rIns="0" bIns="0" rtlCol="0" anchor="ctr"/>
          <a:lstStyle/>
          <a:p>
            <a:pPr indent="0" marL="0">
              <a:buNone/>
            </a:pPr>
            <a:r>
              <a:rPr lang="en-US" sz="2200" b="1" dirty="0">
                <a:solidFill>
                  <a:srgbClr val="1E2761"/>
                </a:solidFill>
                <a:latin typeface="Cambria" pitchFamily="34" charset="0"/>
                <a:ea typeface="Cambria" pitchFamily="34" charset="-122"/>
                <a:cs typeface="Cambria" pitchFamily="34" charset="-120"/>
              </a:rPr>
              <a:t>They took almost nothing.</a:t>
            </a:r>
            <a:endParaRPr lang="en-US" sz="2200" dirty="0"/>
          </a:p>
        </p:txBody>
      </p:sp>
      <p:sp>
        <p:nvSpPr>
          <p:cNvPr id="6" name="Text 4"/>
          <p:cNvSpPr/>
          <p:nvPr/>
        </p:nvSpPr>
        <p:spPr>
          <a:xfrm>
            <a:off x="640080" y="3611880"/>
            <a:ext cx="5943600" cy="365760"/>
          </a:xfrm>
          <a:prstGeom prst="rect">
            <a:avLst/>
          </a:prstGeom>
          <a:noFill/>
          <a:ln/>
        </p:spPr>
        <p:txBody>
          <a:bodyPr wrap="square" lIns="0" tIns="0" rIns="0" bIns="0" rtlCol="0" anchor="ctr"/>
          <a:lstStyle/>
          <a:p>
            <a:pPr indent="0" marL="0">
              <a:buNone/>
            </a:pPr>
            <a:r>
              <a:rPr lang="en-US" sz="1500" dirty="0">
                <a:solidFill>
                  <a:srgbClr val="6A6F7D"/>
                </a:solidFill>
                <a:latin typeface="Calibri" pitchFamily="34" charset="0"/>
                <a:ea typeface="Calibri" pitchFamily="34" charset="-122"/>
                <a:cs typeface="Calibri" pitchFamily="34" charset="-120"/>
              </a:rPr>
              <a:t>That is the puzzle. A spy steals. These operators sat still.</a:t>
            </a:r>
            <a:endParaRPr lang="en-US" sz="1500" dirty="0"/>
          </a:p>
        </p:txBody>
      </p:sp>
      <p:sp>
        <p:nvSpPr>
          <p:cNvPr id="7" name="Shape 5"/>
          <p:cNvSpPr/>
          <p:nvPr/>
        </p:nvSpPr>
        <p:spPr>
          <a:xfrm>
            <a:off x="7086600" y="1572768"/>
            <a:ext cx="4434840" cy="2880360"/>
          </a:xfrm>
          <a:prstGeom prst="roundRect">
            <a:avLst>
              <a:gd name="adj" fmla="val 2540"/>
            </a:avLst>
          </a:prstGeom>
          <a:solidFill>
            <a:srgbClr val="F4F6FB"/>
          </a:solidFill>
          <a:ln w="9525">
            <a:solidFill>
              <a:srgbClr val="E2E7F2"/>
            </a:solidFill>
            <a:prstDash val="solid"/>
          </a:ln>
        </p:spPr>
      </p:sp>
      <p:sp>
        <p:nvSpPr>
          <p:cNvPr id="8" name="Text 6"/>
          <p:cNvSpPr/>
          <p:nvPr/>
        </p:nvSpPr>
        <p:spPr>
          <a:xfrm>
            <a:off x="7269480" y="1536192"/>
            <a:ext cx="822960" cy="960120"/>
          </a:xfrm>
          <a:prstGeom prst="rect">
            <a:avLst/>
          </a:prstGeom>
          <a:noFill/>
          <a:ln/>
        </p:spPr>
        <p:txBody>
          <a:bodyPr wrap="square" lIns="0" tIns="0" rIns="0" bIns="0" rtlCol="0" anchor="ctr"/>
          <a:lstStyle/>
          <a:p>
            <a:pPr indent="0" marL="0">
              <a:buNone/>
            </a:pPr>
            <a:r>
              <a:rPr lang="en-US" sz="6000" b="1" dirty="0">
                <a:solidFill>
                  <a:srgbClr val="CADCFC"/>
                </a:solidFill>
                <a:latin typeface="Cambria" pitchFamily="34" charset="0"/>
                <a:ea typeface="Cambria" pitchFamily="34" charset="-122"/>
                <a:cs typeface="Cambria" pitchFamily="34" charset="-120"/>
              </a:rPr>
              <a:t>“</a:t>
            </a:r>
            <a:endParaRPr lang="en-US" sz="6000" dirty="0"/>
          </a:p>
        </p:txBody>
      </p:sp>
      <p:sp>
        <p:nvSpPr>
          <p:cNvPr id="9" name="Text 7"/>
          <p:cNvSpPr/>
          <p:nvPr/>
        </p:nvSpPr>
        <p:spPr>
          <a:xfrm>
            <a:off x="7360920" y="2148840"/>
            <a:ext cx="3886200" cy="1554480"/>
          </a:xfrm>
          <a:prstGeom prst="rect">
            <a:avLst/>
          </a:prstGeom>
          <a:noFill/>
          <a:ln/>
        </p:spPr>
        <p:txBody>
          <a:bodyPr wrap="square" lIns="0" tIns="0" rIns="0" bIns="0" rtlCol="0" anchor="ctr"/>
          <a:lstStyle/>
          <a:p>
            <a:pPr indent="0" marL="0">
              <a:lnSpc>
                <a:spcPts val="2400"/>
              </a:lnSpc>
              <a:buNone/>
            </a:pPr>
            <a:r>
              <a:rPr lang="en-US" sz="1600" i="1" dirty="0">
                <a:solidFill>
                  <a:srgbClr val="1E2761"/>
                </a:solidFill>
                <a:latin typeface="Cambria" pitchFamily="34" charset="0"/>
                <a:ea typeface="Cambria" pitchFamily="34" charset="-122"/>
                <a:cs typeface="Cambria" pitchFamily="34" charset="-120"/>
              </a:rPr>
              <a:t>There is absolutely no intelligence to be gathered by putting malicious code in critical infrastructure networks.</a:t>
            </a:r>
            <a:endParaRPr lang="en-US" sz="1600" dirty="0"/>
          </a:p>
        </p:txBody>
      </p:sp>
      <p:sp>
        <p:nvSpPr>
          <p:cNvPr id="10" name="Text 8"/>
          <p:cNvSpPr/>
          <p:nvPr/>
        </p:nvSpPr>
        <p:spPr>
          <a:xfrm>
            <a:off x="7360920" y="3794760"/>
            <a:ext cx="3886200" cy="256032"/>
          </a:xfrm>
          <a:prstGeom prst="rect">
            <a:avLst/>
          </a:prstGeom>
          <a:noFill/>
          <a:ln/>
        </p:spPr>
        <p:txBody>
          <a:bodyPr wrap="square" lIns="0" tIns="0" rIns="0" bIns="0" rtlCol="0" anchor="ctr"/>
          <a:lstStyle/>
          <a:p>
            <a:pPr indent="0" marL="0">
              <a:buNone/>
            </a:pPr>
            <a:r>
              <a:rPr lang="en-US" sz="1300" b="1" dirty="0">
                <a:solidFill>
                  <a:srgbClr val="22252E"/>
                </a:solidFill>
                <a:latin typeface="Calibri" pitchFamily="34" charset="0"/>
                <a:ea typeface="Calibri" pitchFamily="34" charset="-122"/>
                <a:cs typeface="Calibri" pitchFamily="34" charset="-120"/>
              </a:rPr>
              <a:t>General Paul Nakasone</a:t>
            </a:r>
            <a:endParaRPr lang="en-US" sz="1300" dirty="0"/>
          </a:p>
        </p:txBody>
      </p:sp>
      <p:sp>
        <p:nvSpPr>
          <p:cNvPr id="11" name="Text 9"/>
          <p:cNvSpPr/>
          <p:nvPr/>
        </p:nvSpPr>
        <p:spPr>
          <a:xfrm>
            <a:off x="7360920" y="4041648"/>
            <a:ext cx="3886200" cy="256032"/>
          </a:xfrm>
          <a:prstGeom prst="rect">
            <a:avLst/>
          </a:prstGeom>
          <a:noFill/>
          <a:ln/>
        </p:spPr>
        <p:txBody>
          <a:bodyPr wrap="square" lIns="0" tIns="0" rIns="0" bIns="0" rtlCol="0" anchor="ctr"/>
          <a:lstStyle/>
          <a:p>
            <a:pPr indent="0" marL="0">
              <a:buNone/>
            </a:pPr>
            <a:r>
              <a:rPr lang="en-US" sz="1200" dirty="0">
                <a:solidFill>
                  <a:srgbClr val="6A6F7D"/>
                </a:solidFill>
                <a:latin typeface="Calibri" pitchFamily="34" charset="0"/>
                <a:ea typeface="Calibri" pitchFamily="34" charset="-122"/>
                <a:cs typeface="Calibri" pitchFamily="34" charset="-120"/>
              </a:rPr>
              <a:t>Then head of US Cyber Command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73152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THE ASSUMPTION BEHIND THAT READING</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So analysts read it as a warning</a:t>
            </a:r>
            <a:endParaRPr lang="en-US" sz="3200" dirty="0"/>
          </a:p>
        </p:txBody>
      </p:sp>
      <p:sp>
        <p:nvSpPr>
          <p:cNvPr id="4" name="Text 2"/>
          <p:cNvSpPr/>
          <p:nvPr/>
        </p:nvSpPr>
        <p:spPr>
          <a:xfrm>
            <a:off x="640080" y="1536192"/>
            <a:ext cx="10881360" cy="822960"/>
          </a:xfrm>
          <a:prstGeom prst="rect">
            <a:avLst/>
          </a:prstGeom>
          <a:noFill/>
          <a:ln/>
        </p:spPr>
        <p:txBody>
          <a:bodyPr wrap="square" lIns="0" tIns="0" rIns="0" bIns="0" rtlCol="0" anchor="ctr"/>
          <a:lstStyle/>
          <a:p>
            <a:pPr indent="0" marL="0">
              <a:lnSpc>
                <a:spcPts val="2800"/>
              </a:lnSpc>
              <a:buNone/>
            </a:pPr>
            <a:r>
              <a:rPr lang="en-US" sz="2000" i="1" dirty="0">
                <a:solidFill>
                  <a:srgbClr val="1E2761"/>
                </a:solidFill>
                <a:latin typeface="Cambria" pitchFamily="34" charset="0"/>
                <a:ea typeface="Cambria" pitchFamily="34" charset="-122"/>
                <a:cs typeface="Cambria" pitchFamily="34" charset="-120"/>
              </a:rPr>
              <a:t>If access gives you little to read but great power in a crisis, the reason for being there is the crisis.</a:t>
            </a:r>
            <a:endParaRPr lang="en-US" sz="2000" dirty="0"/>
          </a:p>
        </p:txBody>
      </p:sp>
      <p:sp>
        <p:nvSpPr>
          <p:cNvPr id="5" name="Shape 3"/>
          <p:cNvSpPr/>
          <p:nvPr/>
        </p:nvSpPr>
        <p:spPr>
          <a:xfrm>
            <a:off x="640080" y="2395728"/>
            <a:ext cx="3429000" cy="2148840"/>
          </a:xfrm>
          <a:prstGeom prst="roundRect">
            <a:avLst>
              <a:gd name="adj" fmla="val 3404"/>
            </a:avLst>
          </a:prstGeom>
          <a:solidFill>
            <a:srgbClr val="F4F6FB"/>
          </a:solidFill>
          <a:ln w="9525">
            <a:solidFill>
              <a:srgbClr val="E2E7F2"/>
            </a:solidFill>
            <a:prstDash val="solid"/>
          </a:ln>
        </p:spPr>
      </p:sp>
      <p:sp>
        <p:nvSpPr>
          <p:cNvPr id="6" name="Shape 4"/>
          <p:cNvSpPr/>
          <p:nvPr/>
        </p:nvSpPr>
        <p:spPr>
          <a:xfrm>
            <a:off x="896112" y="2651760"/>
            <a:ext cx="502920" cy="502920"/>
          </a:xfrm>
          <a:prstGeom prst="ellipse">
            <a:avLst/>
          </a:prstGeom>
          <a:solidFill>
            <a:srgbClr val="1E2761"/>
          </a:solidFill>
          <a:ln/>
        </p:spPr>
      </p:sp>
      <p:sp>
        <p:nvSpPr>
          <p:cNvPr id="7" name="Text 5"/>
          <p:cNvSpPr/>
          <p:nvPr/>
        </p:nvSpPr>
        <p:spPr>
          <a:xfrm>
            <a:off x="896112" y="265176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8" name="Text 6"/>
          <p:cNvSpPr/>
          <p:nvPr/>
        </p:nvSpPr>
        <p:spPr>
          <a:xfrm>
            <a:off x="896112" y="3310128"/>
            <a:ext cx="292608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Staying hidden is hard</a:t>
            </a:r>
            <a:endParaRPr lang="en-US" sz="1700" dirty="0"/>
          </a:p>
        </p:txBody>
      </p:sp>
      <p:sp>
        <p:nvSpPr>
          <p:cNvPr id="9" name="Text 7"/>
          <p:cNvSpPr/>
          <p:nvPr/>
        </p:nvSpPr>
        <p:spPr>
          <a:xfrm>
            <a:off x="896112" y="3703320"/>
            <a:ext cx="2926080" cy="77724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Years inside a defended network takes skill and patience. It is not cheap.</a:t>
            </a:r>
            <a:endParaRPr lang="en-US" sz="1350" dirty="0"/>
          </a:p>
        </p:txBody>
      </p:sp>
      <p:sp>
        <p:nvSpPr>
          <p:cNvPr id="10" name="Shape 8"/>
          <p:cNvSpPr/>
          <p:nvPr/>
        </p:nvSpPr>
        <p:spPr>
          <a:xfrm>
            <a:off x="4325112" y="2395728"/>
            <a:ext cx="3429000" cy="2148840"/>
          </a:xfrm>
          <a:prstGeom prst="roundRect">
            <a:avLst>
              <a:gd name="adj" fmla="val 3404"/>
            </a:avLst>
          </a:prstGeom>
          <a:solidFill>
            <a:srgbClr val="F4F6FB"/>
          </a:solidFill>
          <a:ln w="9525">
            <a:solidFill>
              <a:srgbClr val="E2E7F2"/>
            </a:solidFill>
            <a:prstDash val="solid"/>
          </a:ln>
        </p:spPr>
      </p:sp>
      <p:sp>
        <p:nvSpPr>
          <p:cNvPr id="11" name="Shape 9"/>
          <p:cNvSpPr/>
          <p:nvPr/>
        </p:nvSpPr>
        <p:spPr>
          <a:xfrm>
            <a:off x="4581144" y="2651760"/>
            <a:ext cx="502920" cy="502920"/>
          </a:xfrm>
          <a:prstGeom prst="ellipse">
            <a:avLst/>
          </a:prstGeom>
          <a:solidFill>
            <a:srgbClr val="1E2761"/>
          </a:solidFill>
          <a:ln/>
        </p:spPr>
      </p:sp>
      <p:sp>
        <p:nvSpPr>
          <p:cNvPr id="12" name="Text 10"/>
          <p:cNvSpPr/>
          <p:nvPr/>
        </p:nvSpPr>
        <p:spPr>
          <a:xfrm>
            <a:off x="4581144" y="265176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3" name="Text 11"/>
          <p:cNvSpPr/>
          <p:nvPr/>
        </p:nvSpPr>
        <p:spPr>
          <a:xfrm>
            <a:off x="4581144" y="3310128"/>
            <a:ext cx="292608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So the act carries meaning</a:t>
            </a:r>
            <a:endParaRPr lang="en-US" sz="1700" dirty="0"/>
          </a:p>
        </p:txBody>
      </p:sp>
      <p:sp>
        <p:nvSpPr>
          <p:cNvPr id="14" name="Text 12"/>
          <p:cNvSpPr/>
          <p:nvPr/>
        </p:nvSpPr>
        <p:spPr>
          <a:xfrm>
            <a:off x="4581144" y="3703320"/>
            <a:ext cx="2926080" cy="77724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People do not pay a high price for nothing. The effort itself is the message.</a:t>
            </a:r>
            <a:endParaRPr lang="en-US" sz="1350" dirty="0"/>
          </a:p>
        </p:txBody>
      </p:sp>
      <p:sp>
        <p:nvSpPr>
          <p:cNvPr id="15" name="Shape 13"/>
          <p:cNvSpPr/>
          <p:nvPr/>
        </p:nvSpPr>
        <p:spPr>
          <a:xfrm>
            <a:off x="8010144" y="2395728"/>
            <a:ext cx="3429000" cy="2148840"/>
          </a:xfrm>
          <a:prstGeom prst="roundRect">
            <a:avLst>
              <a:gd name="adj" fmla="val 3404"/>
            </a:avLst>
          </a:prstGeom>
          <a:solidFill>
            <a:srgbClr val="F4F6FB"/>
          </a:solidFill>
          <a:ln w="9525">
            <a:solidFill>
              <a:srgbClr val="E2E7F2"/>
            </a:solidFill>
            <a:prstDash val="solid"/>
          </a:ln>
        </p:spPr>
      </p:sp>
      <p:sp>
        <p:nvSpPr>
          <p:cNvPr id="16" name="Shape 14"/>
          <p:cNvSpPr/>
          <p:nvPr/>
        </p:nvSpPr>
        <p:spPr>
          <a:xfrm>
            <a:off x="8266176" y="2651760"/>
            <a:ext cx="502920" cy="502920"/>
          </a:xfrm>
          <a:prstGeom prst="ellipse">
            <a:avLst/>
          </a:prstGeom>
          <a:solidFill>
            <a:srgbClr val="1E2761"/>
          </a:solidFill>
          <a:ln/>
        </p:spPr>
      </p:sp>
      <p:sp>
        <p:nvSpPr>
          <p:cNvPr id="17" name="Text 15"/>
          <p:cNvSpPr/>
          <p:nvPr/>
        </p:nvSpPr>
        <p:spPr>
          <a:xfrm>
            <a:off x="8266176" y="265176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8" name="Text 16"/>
          <p:cNvSpPr/>
          <p:nvPr/>
        </p:nvSpPr>
        <p:spPr>
          <a:xfrm>
            <a:off x="8266176" y="3310128"/>
            <a:ext cx="2926080" cy="36576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Therefore: preparation</a:t>
            </a:r>
            <a:endParaRPr lang="en-US" sz="1700" dirty="0"/>
          </a:p>
        </p:txBody>
      </p:sp>
      <p:sp>
        <p:nvSpPr>
          <p:cNvPr id="19" name="Text 17"/>
          <p:cNvSpPr/>
          <p:nvPr/>
        </p:nvSpPr>
        <p:spPr>
          <a:xfrm>
            <a:off x="8266176" y="3703320"/>
            <a:ext cx="2926080" cy="777240"/>
          </a:xfrm>
          <a:prstGeom prst="rect">
            <a:avLst/>
          </a:prstGeom>
          <a:noFill/>
          <a:ln/>
        </p:spPr>
        <p:txBody>
          <a:bodyPr wrap="square" lIns="0" tIns="0" rIns="0" bIns="0" rtlCol="0" anchor="ctr"/>
          <a:lstStyle/>
          <a:p>
            <a:pPr indent="0" marL="0">
              <a:lnSpc>
                <a:spcPts val="1900"/>
              </a:lnSpc>
              <a:buNone/>
            </a:pPr>
            <a:r>
              <a:rPr lang="en-US" sz="1350" dirty="0">
                <a:solidFill>
                  <a:srgbClr val="22252E"/>
                </a:solidFill>
                <a:latin typeface="Calibri" pitchFamily="34" charset="0"/>
                <a:ea typeface="Calibri" pitchFamily="34" charset="-122"/>
                <a:cs typeface="Calibri" pitchFamily="34" charset="-120"/>
              </a:rPr>
              <a:t>The intrusion is read as a state getting ready for a fight it expects to have.</a:t>
            </a:r>
            <a:endParaRPr lang="en-US" sz="1350" dirty="0"/>
          </a:p>
        </p:txBody>
      </p:sp>
      <p:sp>
        <p:nvSpPr>
          <p:cNvPr id="20" name="Text 18"/>
          <p:cNvSpPr/>
          <p:nvPr/>
        </p:nvSpPr>
        <p:spPr>
          <a:xfrm>
            <a:off x="640080" y="4800600"/>
            <a:ext cx="10881360" cy="365760"/>
          </a:xfrm>
          <a:prstGeom prst="rect">
            <a:avLst/>
          </a:prstGeom>
          <a:noFill/>
          <a:ln/>
        </p:spPr>
        <p:txBody>
          <a:bodyPr wrap="square" lIns="0" tIns="0" rIns="0" bIns="0" rtlCol="0" anchor="ctr"/>
          <a:lstStyle/>
          <a:p>
            <a:pPr indent="0" marL="0">
              <a:buNone/>
            </a:pPr>
            <a:r>
              <a:rPr lang="en-US" sz="1500" b="1" dirty="0">
                <a:solidFill>
                  <a:srgbClr val="D98C1F"/>
                </a:solidFill>
                <a:latin typeface="Calibri" pitchFamily="34" charset="0"/>
                <a:ea typeface="Calibri" pitchFamily="34" charset="-122"/>
                <a:cs typeface="Calibri" pitchFamily="34" charset="-120"/>
              </a:rPr>
              <a:t>This whole reading rests on one word: expensive.</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73152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THE FINDING</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But governments do not act as if they believe it</a:t>
            </a:r>
            <a:endParaRPr lang="en-US" sz="3200" dirty="0"/>
          </a:p>
        </p:txBody>
      </p:sp>
      <p:sp>
        <p:nvSpPr>
          <p:cNvPr id="4" name="Shape 2"/>
          <p:cNvSpPr/>
          <p:nvPr/>
        </p:nvSpPr>
        <p:spPr>
          <a:xfrm>
            <a:off x="640080" y="1536192"/>
            <a:ext cx="5349240" cy="2880360"/>
          </a:xfrm>
          <a:prstGeom prst="roundRect">
            <a:avLst>
              <a:gd name="adj" fmla="val 2540"/>
            </a:avLst>
          </a:prstGeom>
          <a:solidFill>
            <a:srgbClr val="FDF6EA"/>
          </a:solidFill>
          <a:ln w="9525">
            <a:solidFill>
              <a:srgbClr val="E2E7F2"/>
            </a:solidFill>
            <a:prstDash val="solid"/>
          </a:ln>
        </p:spPr>
      </p:sp>
      <p:sp>
        <p:nvSpPr>
          <p:cNvPr id="5" name="Text 3"/>
          <p:cNvSpPr/>
          <p:nvPr/>
        </p:nvSpPr>
        <p:spPr>
          <a:xfrm>
            <a:off x="960120" y="1783080"/>
            <a:ext cx="4663440" cy="411480"/>
          </a:xfrm>
          <a:prstGeom prst="rect">
            <a:avLst/>
          </a:prstGeom>
          <a:noFill/>
          <a:ln/>
        </p:spPr>
        <p:txBody>
          <a:bodyPr wrap="square" lIns="0" tIns="0" rIns="0" bIns="0" rtlCol="0" anchor="ctr"/>
          <a:lstStyle/>
          <a:p>
            <a:pPr indent="0" marL="0">
              <a:buNone/>
            </a:pPr>
            <a:r>
              <a:rPr lang="en-US" sz="2400" b="1" dirty="0">
                <a:solidFill>
                  <a:srgbClr val="D98C1F"/>
                </a:solidFill>
                <a:latin typeface="Cambria" pitchFamily="34" charset="0"/>
                <a:ea typeface="Cambria" pitchFamily="34" charset="-122"/>
                <a:cs typeface="Cambria" pitchFamily="34" charset="-120"/>
              </a:rPr>
              <a:t>Volt Typhoon</a:t>
            </a:r>
            <a:endParaRPr lang="en-US" sz="2400" dirty="0"/>
          </a:p>
        </p:txBody>
      </p:sp>
      <p:sp>
        <p:nvSpPr>
          <p:cNvPr id="6" name="Text 4"/>
          <p:cNvSpPr/>
          <p:nvPr/>
        </p:nvSpPr>
        <p:spPr>
          <a:xfrm>
            <a:off x="960120" y="2212848"/>
            <a:ext cx="4663440" cy="640080"/>
          </a:xfrm>
          <a:prstGeom prst="rect">
            <a:avLst/>
          </a:prstGeom>
          <a:noFill/>
          <a:ln/>
        </p:spPr>
        <p:txBody>
          <a:bodyPr wrap="square" lIns="0" tIns="0" rIns="0" bIns="0" rtlCol="0" anchor="ctr"/>
          <a:lstStyle/>
          <a:p>
            <a:pPr indent="0" marL="0">
              <a:lnSpc>
                <a:spcPts val="1900"/>
              </a:lnSpc>
              <a:buNone/>
            </a:pPr>
            <a:r>
              <a:rPr lang="en-US" sz="1350" dirty="0">
                <a:solidFill>
                  <a:srgbClr val="6A6F7D"/>
                </a:solidFill>
                <a:latin typeface="Calibri" pitchFamily="34" charset="0"/>
                <a:ea typeface="Calibri" pitchFamily="34" charset="-122"/>
                <a:cs typeface="Calibri" pitchFamily="34" charset="-120"/>
              </a:rPr>
              <a:t>Code left inside power, water</a:t>
            </a:r>
            <a:endParaRPr lang="en-US" sz="1350" dirty="0"/>
          </a:p>
          <a:p>
            <a:pPr indent="0" marL="0">
              <a:lnSpc>
                <a:spcPts val="1900"/>
              </a:lnSpc>
              <a:buNone/>
            </a:pPr>
            <a:r>
              <a:rPr lang="en-US" sz="1350" dirty="0">
                <a:solidFill>
                  <a:srgbClr val="6A6F7D"/>
                </a:solidFill>
                <a:latin typeface="Calibri" pitchFamily="34" charset="0"/>
                <a:ea typeface="Calibri" pitchFamily="34" charset="-122"/>
                <a:cs typeface="Calibri" pitchFamily="34" charset="-120"/>
              </a:rPr>
              <a:t>and transport systems</a:t>
            </a:r>
            <a:endParaRPr lang="en-US" sz="1350" dirty="0"/>
          </a:p>
        </p:txBody>
      </p:sp>
      <p:sp>
        <p:nvSpPr>
          <p:cNvPr id="7" name="Text 5"/>
          <p:cNvSpPr/>
          <p:nvPr/>
        </p:nvSpPr>
        <p:spPr>
          <a:xfrm>
            <a:off x="960120" y="2907792"/>
            <a:ext cx="4663440" cy="237744"/>
          </a:xfrm>
          <a:prstGeom prst="rect">
            <a:avLst/>
          </a:prstGeom>
          <a:noFill/>
          <a:ln/>
        </p:spPr>
        <p:txBody>
          <a:bodyPr wrap="square" lIns="0" tIns="0" rIns="0" bIns="0" rtlCol="0" anchor="ctr"/>
          <a:lstStyle/>
          <a:p>
            <a:pPr indent="0" marL="0">
              <a:buNone/>
            </a:pPr>
            <a:r>
              <a:rPr lang="en-US" sz="1150" b="1" spc="100" kern="0" dirty="0">
                <a:solidFill>
                  <a:srgbClr val="6A6F7D"/>
                </a:solidFill>
                <a:latin typeface="Calibri" pitchFamily="34" charset="0"/>
                <a:ea typeface="Calibri" pitchFamily="34" charset="-122"/>
                <a:cs typeface="Calibri" pitchFamily="34" charset="-120"/>
              </a:rPr>
              <a:t>What the United States did</a:t>
            </a:r>
            <a:endParaRPr lang="en-US" sz="1150" dirty="0"/>
          </a:p>
        </p:txBody>
      </p:sp>
      <p:sp>
        <p:nvSpPr>
          <p:cNvPr id="8" name="Text 6"/>
          <p:cNvSpPr/>
          <p:nvPr/>
        </p:nvSpPr>
        <p:spPr>
          <a:xfrm>
            <a:off x="960120" y="3163824"/>
            <a:ext cx="4663440" cy="411480"/>
          </a:xfrm>
          <a:prstGeom prst="rect">
            <a:avLst/>
          </a:prstGeom>
          <a:noFill/>
          <a:ln/>
        </p:spPr>
        <p:txBody>
          <a:bodyPr wrap="square" lIns="0" tIns="0" rIns="0" bIns="0" rtlCol="0" anchor="ctr"/>
          <a:lstStyle/>
          <a:p>
            <a:pPr indent="0" marL="0">
              <a:buNone/>
            </a:pPr>
            <a:r>
              <a:rPr lang="en-US" sz="2100" b="1" dirty="0">
                <a:solidFill>
                  <a:srgbClr val="D98C1F"/>
                </a:solidFill>
                <a:latin typeface="Cambria" pitchFamily="34" charset="0"/>
                <a:ea typeface="Cambria" pitchFamily="34" charset="-122"/>
                <a:cs typeface="Cambria" pitchFamily="34" charset="-120"/>
              </a:rPr>
              <a:t>A technical advisory</a:t>
            </a:r>
            <a:endParaRPr lang="en-US" sz="2100" dirty="0"/>
          </a:p>
        </p:txBody>
      </p:sp>
      <p:sp>
        <p:nvSpPr>
          <p:cNvPr id="9" name="Text 7"/>
          <p:cNvSpPr/>
          <p:nvPr/>
        </p:nvSpPr>
        <p:spPr>
          <a:xfrm>
            <a:off x="960120" y="3639312"/>
            <a:ext cx="4663440" cy="502920"/>
          </a:xfrm>
          <a:prstGeom prst="rect">
            <a:avLst/>
          </a:prstGeom>
          <a:noFill/>
          <a:ln/>
        </p:spPr>
        <p:txBody>
          <a:bodyPr wrap="square" lIns="0" tIns="0" rIns="0" bIns="0" rtlCol="0" anchor="ctr"/>
          <a:lstStyle/>
          <a:p>
            <a:pPr indent="0" marL="0">
              <a:buNone/>
            </a:pPr>
            <a:r>
              <a:rPr lang="en-US" sz="1350" dirty="0">
                <a:solidFill>
                  <a:srgbClr val="22252E"/>
                </a:solidFill>
                <a:latin typeface="Calibri" pitchFamily="34" charset="0"/>
                <a:ea typeface="Calibri" pitchFamily="34" charset="-122"/>
                <a:cs typeface="Calibri" pitchFamily="34" charset="-120"/>
              </a:rPr>
              <a:t>No sanctions. No allied statement.</a:t>
            </a:r>
            <a:endParaRPr lang="en-US" sz="1350" dirty="0"/>
          </a:p>
        </p:txBody>
      </p:sp>
      <p:sp>
        <p:nvSpPr>
          <p:cNvPr id="10" name="Shape 8"/>
          <p:cNvSpPr/>
          <p:nvPr/>
        </p:nvSpPr>
        <p:spPr>
          <a:xfrm>
            <a:off x="6263640" y="1536192"/>
            <a:ext cx="5349240" cy="2880360"/>
          </a:xfrm>
          <a:prstGeom prst="roundRect">
            <a:avLst>
              <a:gd name="adj" fmla="val 2540"/>
            </a:avLst>
          </a:prstGeom>
          <a:solidFill>
            <a:srgbClr val="F4F6FB"/>
          </a:solidFill>
          <a:ln w="9525">
            <a:solidFill>
              <a:srgbClr val="E2E7F2"/>
            </a:solidFill>
            <a:prstDash val="solid"/>
          </a:ln>
        </p:spPr>
      </p:sp>
      <p:sp>
        <p:nvSpPr>
          <p:cNvPr id="11" name="Text 9"/>
          <p:cNvSpPr/>
          <p:nvPr/>
        </p:nvSpPr>
        <p:spPr>
          <a:xfrm>
            <a:off x="6583680" y="1783080"/>
            <a:ext cx="4663440" cy="4114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Salt Typhoon</a:t>
            </a:r>
            <a:endParaRPr lang="en-US" sz="2400" dirty="0"/>
          </a:p>
        </p:txBody>
      </p:sp>
      <p:sp>
        <p:nvSpPr>
          <p:cNvPr id="12" name="Text 10"/>
          <p:cNvSpPr/>
          <p:nvPr/>
        </p:nvSpPr>
        <p:spPr>
          <a:xfrm>
            <a:off x="6583680" y="2212848"/>
            <a:ext cx="4663440" cy="640080"/>
          </a:xfrm>
          <a:prstGeom prst="rect">
            <a:avLst/>
          </a:prstGeom>
          <a:noFill/>
          <a:ln/>
        </p:spPr>
        <p:txBody>
          <a:bodyPr wrap="square" lIns="0" tIns="0" rIns="0" bIns="0" rtlCol="0" anchor="ctr"/>
          <a:lstStyle/>
          <a:p>
            <a:pPr indent="0" marL="0">
              <a:lnSpc>
                <a:spcPts val="1900"/>
              </a:lnSpc>
              <a:buNone/>
            </a:pPr>
            <a:r>
              <a:rPr lang="en-US" sz="1350" dirty="0">
                <a:solidFill>
                  <a:srgbClr val="6A6F7D"/>
                </a:solidFill>
                <a:latin typeface="Calibri" pitchFamily="34" charset="0"/>
                <a:ea typeface="Calibri" pitchFamily="34" charset="-122"/>
                <a:cs typeface="Calibri" pitchFamily="34" charset="-120"/>
              </a:rPr>
              <a:t>Spying on phone companies</a:t>
            </a:r>
            <a:endParaRPr lang="en-US" sz="1350" dirty="0"/>
          </a:p>
          <a:p>
            <a:pPr indent="0" marL="0">
              <a:lnSpc>
                <a:spcPts val="1900"/>
              </a:lnSpc>
              <a:buNone/>
            </a:pPr>
            <a:r>
              <a:rPr lang="en-US" sz="1350" dirty="0">
                <a:solidFill>
                  <a:srgbClr val="6A6F7D"/>
                </a:solidFill>
                <a:latin typeface="Calibri" pitchFamily="34" charset="0"/>
                <a:ea typeface="Calibri" pitchFamily="34" charset="-122"/>
                <a:cs typeface="Calibri" pitchFamily="34" charset="-120"/>
              </a:rPr>
              <a:t>and call records</a:t>
            </a:r>
            <a:endParaRPr lang="en-US" sz="1350" dirty="0"/>
          </a:p>
        </p:txBody>
      </p:sp>
      <p:sp>
        <p:nvSpPr>
          <p:cNvPr id="13" name="Text 11"/>
          <p:cNvSpPr/>
          <p:nvPr/>
        </p:nvSpPr>
        <p:spPr>
          <a:xfrm>
            <a:off x="6583680" y="2907792"/>
            <a:ext cx="4663440" cy="237744"/>
          </a:xfrm>
          <a:prstGeom prst="rect">
            <a:avLst/>
          </a:prstGeom>
          <a:noFill/>
          <a:ln/>
        </p:spPr>
        <p:txBody>
          <a:bodyPr wrap="square" lIns="0" tIns="0" rIns="0" bIns="0" rtlCol="0" anchor="ctr"/>
          <a:lstStyle/>
          <a:p>
            <a:pPr indent="0" marL="0">
              <a:buNone/>
            </a:pPr>
            <a:r>
              <a:rPr lang="en-US" sz="1150" b="1" spc="100" kern="0" dirty="0">
                <a:solidFill>
                  <a:srgbClr val="6A6F7D"/>
                </a:solidFill>
                <a:latin typeface="Calibri" pitchFamily="34" charset="0"/>
                <a:ea typeface="Calibri" pitchFamily="34" charset="-122"/>
                <a:cs typeface="Calibri" pitchFamily="34" charset="-120"/>
              </a:rPr>
              <a:t>What the United States did</a:t>
            </a:r>
            <a:endParaRPr lang="en-US" sz="1150" dirty="0"/>
          </a:p>
        </p:txBody>
      </p:sp>
      <p:sp>
        <p:nvSpPr>
          <p:cNvPr id="14" name="Text 12"/>
          <p:cNvSpPr/>
          <p:nvPr/>
        </p:nvSpPr>
        <p:spPr>
          <a:xfrm>
            <a:off x="6583680" y="3163824"/>
            <a:ext cx="4663440" cy="41148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Treasury sanctions</a:t>
            </a:r>
            <a:endParaRPr lang="en-US" sz="2100" dirty="0"/>
          </a:p>
        </p:txBody>
      </p:sp>
      <p:sp>
        <p:nvSpPr>
          <p:cNvPr id="15" name="Text 13"/>
          <p:cNvSpPr/>
          <p:nvPr/>
        </p:nvSpPr>
        <p:spPr>
          <a:xfrm>
            <a:off x="6583680" y="3639312"/>
            <a:ext cx="4663440" cy="502920"/>
          </a:xfrm>
          <a:prstGeom prst="rect">
            <a:avLst/>
          </a:prstGeom>
          <a:noFill/>
          <a:ln/>
        </p:spPr>
        <p:txBody>
          <a:bodyPr wrap="square" lIns="0" tIns="0" rIns="0" bIns="0" rtlCol="0" anchor="ctr"/>
          <a:lstStyle/>
          <a:p>
            <a:pPr indent="0" marL="0">
              <a:buNone/>
            </a:pPr>
            <a:r>
              <a:rPr lang="en-US" sz="1350" dirty="0">
                <a:solidFill>
                  <a:srgbClr val="22252E"/>
                </a:solidFill>
                <a:latin typeface="Calibri" pitchFamily="34" charset="0"/>
                <a:ea typeface="Calibri" pitchFamily="34" charset="-122"/>
                <a:cs typeface="Calibri" pitchFamily="34" charset="-120"/>
              </a:rPr>
              <a:t>Named entities. Real penalties.</a:t>
            </a:r>
            <a:endParaRPr lang="en-US" sz="1350" dirty="0"/>
          </a:p>
        </p:txBody>
      </p:sp>
      <p:sp>
        <p:nvSpPr>
          <p:cNvPr id="16" name="Text 14"/>
          <p:cNvSpPr/>
          <p:nvPr/>
        </p:nvSpPr>
        <p:spPr>
          <a:xfrm>
            <a:off x="640080" y="4681728"/>
            <a:ext cx="10881360" cy="411480"/>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Same country. Same period. Same victim. The lesser act was punished; the graver one was not.</a:t>
            </a:r>
            <a:endParaRPr lang="en-US" sz="1800" dirty="0"/>
          </a:p>
        </p:txBody>
      </p:sp>
      <p:sp>
        <p:nvSpPr>
          <p:cNvPr id="17" name="Text 15"/>
          <p:cNvSpPr/>
          <p:nvPr/>
        </p:nvSpPr>
        <p:spPr>
          <a:xfrm>
            <a:off x="640080" y="5138928"/>
            <a:ext cx="10881360" cy="274320"/>
          </a:xfrm>
          <a:prstGeom prst="rect">
            <a:avLst/>
          </a:prstGeom>
          <a:noFill/>
          <a:ln/>
        </p:spPr>
        <p:txBody>
          <a:bodyPr wrap="square" lIns="0" tIns="0" rIns="0" bIns="0" rtlCol="0" anchor="ctr"/>
          <a:lstStyle/>
          <a:p>
            <a:pPr indent="0" marL="0">
              <a:buNone/>
            </a:pPr>
            <a:r>
              <a:rPr lang="en-US" sz="1100" dirty="0">
                <a:solidFill>
                  <a:srgbClr val="6A6F7D"/>
                </a:solidFill>
                <a:latin typeface="Calibri" pitchFamily="34" charset="0"/>
                <a:ea typeface="Calibri" pitchFamily="34" charset="-122"/>
                <a:cs typeface="Calibri" pitchFamily="34" charset="-120"/>
              </a:rPr>
              <a:t>Volt Typhoon coding from Baram (2026), a study of twenty joint attribution cases. Salt Typhoon sanctions from US Treasury.</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73152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WHY</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Three reasons the message never lands</a:t>
            </a:r>
            <a:endParaRPr lang="en-US" sz="3200" dirty="0"/>
          </a:p>
        </p:txBody>
      </p:sp>
      <p:sp>
        <p:nvSpPr>
          <p:cNvPr id="4" name="Shape 2"/>
          <p:cNvSpPr/>
          <p:nvPr/>
        </p:nvSpPr>
        <p:spPr>
          <a:xfrm>
            <a:off x="640080" y="1627632"/>
            <a:ext cx="566928" cy="566928"/>
          </a:xfrm>
          <a:prstGeom prst="ellipse">
            <a:avLst/>
          </a:prstGeom>
          <a:solidFill>
            <a:srgbClr val="1E2761"/>
          </a:solidFill>
          <a:ln/>
        </p:spPr>
      </p:sp>
      <p:sp>
        <p:nvSpPr>
          <p:cNvPr id="5" name="Text 3"/>
          <p:cNvSpPr/>
          <p:nvPr/>
        </p:nvSpPr>
        <p:spPr>
          <a:xfrm>
            <a:off x="640080" y="162763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481328" y="1609344"/>
            <a:ext cx="3657600" cy="36576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Nobody notices</a:t>
            </a:r>
            <a:endParaRPr lang="en-US" sz="1900" dirty="0"/>
          </a:p>
        </p:txBody>
      </p:sp>
      <p:sp>
        <p:nvSpPr>
          <p:cNvPr id="7" name="Text 5"/>
          <p:cNvSpPr/>
          <p:nvPr/>
        </p:nvSpPr>
        <p:spPr>
          <a:xfrm>
            <a:off x="5212080" y="1609344"/>
            <a:ext cx="6309360" cy="685800"/>
          </a:xfrm>
          <a:prstGeom prst="rect">
            <a:avLst/>
          </a:prstGeom>
          <a:noFill/>
          <a:ln/>
        </p:spPr>
        <p:txBody>
          <a:bodyPr wrap="square" lIns="0" tIns="0" rIns="0" bIns="0" rtlCol="0" anchor="ctr"/>
          <a:lstStyle/>
          <a:p>
            <a:pPr indent="0" marL="0">
              <a:lnSpc>
                <a:spcPts val="2000"/>
              </a:lnSpc>
              <a:buNone/>
            </a:pPr>
            <a:r>
              <a:rPr lang="en-US" sz="1450" dirty="0">
                <a:solidFill>
                  <a:srgbClr val="22252E"/>
                </a:solidFill>
                <a:latin typeface="Calibri" pitchFamily="34" charset="0"/>
                <a:ea typeface="Calibri" pitchFamily="34" charset="-122"/>
                <a:cs typeface="Calibri" pitchFamily="34" charset="-120"/>
              </a:rPr>
              <a:t>These operations leave no wreckage and no pictures. Nothing forces a government to act.</a:t>
            </a:r>
            <a:endParaRPr lang="en-US" sz="1450" dirty="0"/>
          </a:p>
        </p:txBody>
      </p:sp>
      <p:sp>
        <p:nvSpPr>
          <p:cNvPr id="8" name="Shape 6"/>
          <p:cNvSpPr/>
          <p:nvPr/>
        </p:nvSpPr>
        <p:spPr>
          <a:xfrm>
            <a:off x="640080" y="2743200"/>
            <a:ext cx="566928" cy="566928"/>
          </a:xfrm>
          <a:prstGeom prst="ellipse">
            <a:avLst/>
          </a:prstGeom>
          <a:solidFill>
            <a:srgbClr val="1E2761"/>
          </a:solidFill>
          <a:ln/>
        </p:spPr>
      </p:sp>
      <p:sp>
        <p:nvSpPr>
          <p:cNvPr id="9" name="Text 7"/>
          <p:cNvSpPr/>
          <p:nvPr/>
        </p:nvSpPr>
        <p:spPr>
          <a:xfrm>
            <a:off x="640080" y="274320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481328" y="2724912"/>
            <a:ext cx="3657600" cy="36576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The sender denies it</a:t>
            </a:r>
            <a:endParaRPr lang="en-US" sz="1900" dirty="0"/>
          </a:p>
        </p:txBody>
      </p:sp>
      <p:sp>
        <p:nvSpPr>
          <p:cNvPr id="11" name="Text 9"/>
          <p:cNvSpPr/>
          <p:nvPr/>
        </p:nvSpPr>
        <p:spPr>
          <a:xfrm>
            <a:off x="5212080" y="2724912"/>
            <a:ext cx="6309360" cy="685800"/>
          </a:xfrm>
          <a:prstGeom prst="rect">
            <a:avLst/>
          </a:prstGeom>
          <a:noFill/>
          <a:ln/>
        </p:spPr>
        <p:txBody>
          <a:bodyPr wrap="square" lIns="0" tIns="0" rIns="0" bIns="0" rtlCol="0" anchor="ctr"/>
          <a:lstStyle/>
          <a:p>
            <a:pPr indent="0" marL="0">
              <a:lnSpc>
                <a:spcPts val="2000"/>
              </a:lnSpc>
              <a:buNone/>
            </a:pPr>
            <a:r>
              <a:rPr lang="en-US" sz="1450" dirty="0">
                <a:solidFill>
                  <a:srgbClr val="22252E"/>
                </a:solidFill>
                <a:latin typeface="Calibri" pitchFamily="34" charset="0"/>
                <a:ea typeface="Calibri" pitchFamily="34" charset="-122"/>
                <a:cs typeface="Calibri" pitchFamily="34" charset="-120"/>
              </a:rPr>
              <a:t>China calls the accusation disinformation. A warning nobody admits sending is hard to receive.</a:t>
            </a:r>
            <a:endParaRPr lang="en-US" sz="1450" dirty="0"/>
          </a:p>
        </p:txBody>
      </p:sp>
      <p:sp>
        <p:nvSpPr>
          <p:cNvPr id="12" name="Shape 10"/>
          <p:cNvSpPr/>
          <p:nvPr/>
        </p:nvSpPr>
        <p:spPr>
          <a:xfrm>
            <a:off x="640080" y="3858768"/>
            <a:ext cx="566928" cy="566928"/>
          </a:xfrm>
          <a:prstGeom prst="ellipse">
            <a:avLst/>
          </a:prstGeom>
          <a:solidFill>
            <a:srgbClr val="1E2761"/>
          </a:solidFill>
          <a:ln/>
        </p:spPr>
      </p:sp>
      <p:sp>
        <p:nvSpPr>
          <p:cNvPr id="13" name="Text 11"/>
          <p:cNvSpPr/>
          <p:nvPr/>
        </p:nvSpPr>
        <p:spPr>
          <a:xfrm>
            <a:off x="640080" y="385876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481328" y="3840480"/>
            <a:ext cx="3657600" cy="365760"/>
          </a:xfrm>
          <a:prstGeom prst="rect">
            <a:avLst/>
          </a:prstGeom>
          <a:noFill/>
          <a:ln/>
        </p:spPr>
        <p:txBody>
          <a:bodyPr wrap="square" lIns="0" tIns="0" rIns="0" bIns="0" rtlCol="0" anchor="ctr"/>
          <a:lstStyle/>
          <a:p>
            <a:pPr indent="0" marL="0">
              <a:buNone/>
            </a:pPr>
            <a:r>
              <a:rPr lang="en-US" sz="1900" b="1" dirty="0">
                <a:solidFill>
                  <a:srgbClr val="1E2761"/>
                </a:solidFill>
                <a:latin typeface="Cambria" pitchFamily="34" charset="0"/>
                <a:ea typeface="Cambria" pitchFamily="34" charset="-122"/>
                <a:cs typeface="Cambria" pitchFamily="34" charset="-120"/>
              </a:rPr>
              <a:t>It reaches the wrong desk</a:t>
            </a:r>
            <a:endParaRPr lang="en-US" sz="1900" dirty="0"/>
          </a:p>
        </p:txBody>
      </p:sp>
      <p:sp>
        <p:nvSpPr>
          <p:cNvPr id="15" name="Text 13"/>
          <p:cNvSpPr/>
          <p:nvPr/>
        </p:nvSpPr>
        <p:spPr>
          <a:xfrm>
            <a:off x="5212080" y="3840480"/>
            <a:ext cx="6309360" cy="685800"/>
          </a:xfrm>
          <a:prstGeom prst="rect">
            <a:avLst/>
          </a:prstGeom>
          <a:noFill/>
          <a:ln/>
        </p:spPr>
        <p:txBody>
          <a:bodyPr wrap="square" lIns="0" tIns="0" rIns="0" bIns="0" rtlCol="0" anchor="ctr"/>
          <a:lstStyle/>
          <a:p>
            <a:pPr indent="0" marL="0">
              <a:lnSpc>
                <a:spcPts val="2000"/>
              </a:lnSpc>
              <a:buNone/>
            </a:pPr>
            <a:r>
              <a:rPr lang="en-US" sz="1450" dirty="0">
                <a:solidFill>
                  <a:srgbClr val="22252E"/>
                </a:solidFill>
                <a:latin typeface="Calibri" pitchFamily="34" charset="0"/>
                <a:ea typeface="Calibri" pitchFamily="34" charset="-122"/>
                <a:cs typeface="Calibri" pitchFamily="34" charset="-120"/>
              </a:rPr>
              <a:t>The response is written for network engineers, not for the people who decide on war and peace.</a:t>
            </a:r>
            <a:endParaRPr lang="en-US" sz="1450" dirty="0"/>
          </a:p>
        </p:txBody>
      </p:sp>
      <p:sp>
        <p:nvSpPr>
          <p:cNvPr id="16" name="Shape 14"/>
          <p:cNvSpPr/>
          <p:nvPr/>
        </p:nvSpPr>
        <p:spPr>
          <a:xfrm>
            <a:off x="640080" y="5029200"/>
            <a:ext cx="10881360" cy="868680"/>
          </a:xfrm>
          <a:prstGeom prst="roundRect">
            <a:avLst>
              <a:gd name="adj" fmla="val 8421"/>
            </a:avLst>
          </a:prstGeom>
          <a:solidFill>
            <a:srgbClr val="F4F6FB"/>
          </a:solidFill>
          <a:ln w="9525">
            <a:solidFill>
              <a:srgbClr val="E2E7F2"/>
            </a:solidFill>
            <a:prstDash val="solid"/>
          </a:ln>
        </p:spPr>
      </p:sp>
      <p:sp>
        <p:nvSpPr>
          <p:cNvPr id="17" name="Text 15"/>
          <p:cNvSpPr/>
          <p:nvPr/>
        </p:nvSpPr>
        <p:spPr>
          <a:xfrm>
            <a:off x="1005840" y="5138928"/>
            <a:ext cx="10149840" cy="640080"/>
          </a:xfrm>
          <a:prstGeom prst="rect">
            <a:avLst/>
          </a:prstGeom>
          <a:noFill/>
          <a:ln/>
        </p:spPr>
        <p:txBody>
          <a:bodyPr wrap="square" lIns="0" tIns="0" rIns="0" bIns="0" rtlCol="0" anchor="ctr"/>
          <a:lstStyle/>
          <a:p>
            <a:pPr indent="0" marL="0">
              <a:buNone/>
            </a:pPr>
            <a:r>
              <a:rPr lang="en-US" sz="1700" i="1" dirty="0">
                <a:solidFill>
                  <a:srgbClr val="1E2761"/>
                </a:solidFill>
                <a:latin typeface="Cambria" pitchFamily="34" charset="0"/>
                <a:ea typeface="Cambria" pitchFamily="34" charset="-122"/>
                <a:cs typeface="Cambria" pitchFamily="34" charset="-120"/>
              </a:rPr>
              <a:t>A threat only works if it is seen, believed, and read by the right people. This one fails all three tests.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73152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THE RECORD</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And it has never actually led anywhere</a:t>
            </a:r>
            <a:endParaRPr lang="en-US" sz="3200" dirty="0"/>
          </a:p>
        </p:txBody>
      </p:sp>
      <p:sp>
        <p:nvSpPr>
          <p:cNvPr id="4" name="Shape 2"/>
          <p:cNvSpPr/>
          <p:nvPr/>
        </p:nvSpPr>
        <p:spPr>
          <a:xfrm>
            <a:off x="640080" y="1572768"/>
            <a:ext cx="7223760" cy="868680"/>
          </a:xfrm>
          <a:prstGeom prst="roundRect">
            <a:avLst>
              <a:gd name="adj" fmla="val 8421"/>
            </a:avLst>
          </a:prstGeom>
          <a:solidFill>
            <a:srgbClr val="F4F6FB"/>
          </a:solidFill>
          <a:ln w="9525">
            <a:solidFill>
              <a:srgbClr val="E2E7F2"/>
            </a:solidFill>
            <a:prstDash val="solid"/>
          </a:ln>
        </p:spPr>
      </p:sp>
      <p:sp>
        <p:nvSpPr>
          <p:cNvPr id="5" name="Text 3"/>
          <p:cNvSpPr/>
          <p:nvPr/>
        </p:nvSpPr>
        <p:spPr>
          <a:xfrm>
            <a:off x="932688" y="1691640"/>
            <a:ext cx="3931920" cy="320040"/>
          </a:xfrm>
          <a:prstGeom prst="rect">
            <a:avLst/>
          </a:prstGeom>
          <a:noFill/>
          <a:ln/>
        </p:spPr>
        <p:txBody>
          <a:bodyPr wrap="square" lIns="0" tIns="0" rIns="0" bIns="0" rtlCol="0" anchor="ctr"/>
          <a:lstStyle/>
          <a:p>
            <a:pPr indent="0" marL="0">
              <a:buNone/>
            </a:pPr>
            <a:r>
              <a:rPr lang="en-US" sz="1650" b="1" dirty="0">
                <a:solidFill>
                  <a:srgbClr val="1E2761"/>
                </a:solidFill>
                <a:latin typeface="Cambria" pitchFamily="34" charset="0"/>
                <a:ea typeface="Cambria" pitchFamily="34" charset="-122"/>
                <a:cs typeface="Cambria" pitchFamily="34" charset="-120"/>
              </a:rPr>
              <a:t>Russia inside US infrastructure</a:t>
            </a:r>
            <a:endParaRPr lang="en-US" sz="1650" dirty="0"/>
          </a:p>
        </p:txBody>
      </p:sp>
      <p:sp>
        <p:nvSpPr>
          <p:cNvPr id="6" name="Text 4"/>
          <p:cNvSpPr/>
          <p:nvPr/>
        </p:nvSpPr>
        <p:spPr>
          <a:xfrm>
            <a:off x="932688" y="2029968"/>
            <a:ext cx="3931920" cy="274320"/>
          </a:xfrm>
          <a:prstGeom prst="rect">
            <a:avLst/>
          </a:prstGeom>
          <a:noFill/>
          <a:ln/>
        </p:spPr>
        <p:txBody>
          <a:bodyPr wrap="square" lIns="0" tIns="0" rIns="0" bIns="0" rtlCol="0" anchor="ctr"/>
          <a:lstStyle/>
          <a:p>
            <a:pPr indent="0" marL="0">
              <a:buNone/>
            </a:pPr>
            <a:r>
              <a:rPr lang="en-US" sz="1250" dirty="0">
                <a:solidFill>
                  <a:srgbClr val="6A6F7D"/>
                </a:solidFill>
                <a:latin typeface="Calibri" pitchFamily="34" charset="0"/>
                <a:ea typeface="Calibri" pitchFamily="34" charset="-122"/>
                <a:cs typeface="Calibri" pitchFamily="34" charset="-120"/>
              </a:rPr>
              <a:t>2018 to today</a:t>
            </a:r>
            <a:endParaRPr lang="en-US" sz="1250" dirty="0"/>
          </a:p>
        </p:txBody>
      </p:sp>
      <p:sp>
        <p:nvSpPr>
          <p:cNvPr id="7" name="Text 5"/>
          <p:cNvSpPr/>
          <p:nvPr/>
        </p:nvSpPr>
        <p:spPr>
          <a:xfrm>
            <a:off x="4983480" y="1755648"/>
            <a:ext cx="3063240" cy="548640"/>
          </a:xfrm>
          <a:prstGeom prst="rect">
            <a:avLst/>
          </a:prstGeom>
          <a:noFill/>
          <a:ln/>
        </p:spPr>
        <p:txBody>
          <a:bodyPr wrap="square" lIns="0" tIns="0" rIns="0" bIns="0" rtlCol="0" anchor="ctr"/>
          <a:lstStyle/>
          <a:p>
            <a:pPr indent="0" marL="0">
              <a:lnSpc>
                <a:spcPts val="1800"/>
              </a:lnSpc>
              <a:buNone/>
            </a:pPr>
            <a:r>
              <a:rPr lang="en-US" sz="1300" dirty="0">
                <a:solidFill>
                  <a:srgbClr val="22252E"/>
                </a:solidFill>
                <a:latin typeface="Calibri" pitchFamily="34" charset="0"/>
                <a:ea typeface="Calibri" pitchFamily="34" charset="-122"/>
                <a:cs typeface="Calibri" pitchFamily="34" charset="-120"/>
              </a:rPr>
              <a:t>Still sitting there. Seven years, never used.</a:t>
            </a:r>
            <a:endParaRPr lang="en-US" sz="1300" dirty="0"/>
          </a:p>
        </p:txBody>
      </p:sp>
      <p:sp>
        <p:nvSpPr>
          <p:cNvPr id="8" name="Shape 6"/>
          <p:cNvSpPr/>
          <p:nvPr/>
        </p:nvSpPr>
        <p:spPr>
          <a:xfrm>
            <a:off x="640080" y="2560320"/>
            <a:ext cx="7223760" cy="868680"/>
          </a:xfrm>
          <a:prstGeom prst="roundRect">
            <a:avLst>
              <a:gd name="adj" fmla="val 8421"/>
            </a:avLst>
          </a:prstGeom>
          <a:solidFill>
            <a:srgbClr val="F4F6FB"/>
          </a:solidFill>
          <a:ln w="9525">
            <a:solidFill>
              <a:srgbClr val="E2E7F2"/>
            </a:solidFill>
            <a:prstDash val="solid"/>
          </a:ln>
        </p:spPr>
      </p:sp>
      <p:sp>
        <p:nvSpPr>
          <p:cNvPr id="9" name="Text 7"/>
          <p:cNvSpPr/>
          <p:nvPr/>
        </p:nvSpPr>
        <p:spPr>
          <a:xfrm>
            <a:off x="932688" y="2679192"/>
            <a:ext cx="3931920" cy="320040"/>
          </a:xfrm>
          <a:prstGeom prst="rect">
            <a:avLst/>
          </a:prstGeom>
          <a:noFill/>
          <a:ln/>
        </p:spPr>
        <p:txBody>
          <a:bodyPr wrap="square" lIns="0" tIns="0" rIns="0" bIns="0" rtlCol="0" anchor="ctr"/>
          <a:lstStyle/>
          <a:p>
            <a:pPr indent="0" marL="0">
              <a:buNone/>
            </a:pPr>
            <a:r>
              <a:rPr lang="en-US" sz="1650" b="1" dirty="0">
                <a:solidFill>
                  <a:srgbClr val="1E2761"/>
                </a:solidFill>
                <a:latin typeface="Cambria" pitchFamily="34" charset="0"/>
                <a:ea typeface="Cambria" pitchFamily="34" charset="-122"/>
                <a:cs typeface="Cambria" pitchFamily="34" charset="-120"/>
              </a:rPr>
              <a:t>Volt Typhoon</a:t>
            </a:r>
            <a:endParaRPr lang="en-US" sz="1650" dirty="0"/>
          </a:p>
        </p:txBody>
      </p:sp>
      <p:sp>
        <p:nvSpPr>
          <p:cNvPr id="10" name="Text 8"/>
          <p:cNvSpPr/>
          <p:nvPr/>
        </p:nvSpPr>
        <p:spPr>
          <a:xfrm>
            <a:off x="932688" y="3017520"/>
            <a:ext cx="3931920" cy="274320"/>
          </a:xfrm>
          <a:prstGeom prst="rect">
            <a:avLst/>
          </a:prstGeom>
          <a:noFill/>
          <a:ln/>
        </p:spPr>
        <p:txBody>
          <a:bodyPr wrap="square" lIns="0" tIns="0" rIns="0" bIns="0" rtlCol="0" anchor="ctr"/>
          <a:lstStyle/>
          <a:p>
            <a:pPr indent="0" marL="0">
              <a:buNone/>
            </a:pPr>
            <a:r>
              <a:rPr lang="en-US" sz="1250" dirty="0">
                <a:solidFill>
                  <a:srgbClr val="6A6F7D"/>
                </a:solidFill>
                <a:latin typeface="Calibri" pitchFamily="34" charset="0"/>
                <a:ea typeface="Calibri" pitchFamily="34" charset="-122"/>
                <a:cs typeface="Calibri" pitchFamily="34" charset="-120"/>
              </a:rPr>
              <a:t>2023 to today</a:t>
            </a:r>
            <a:endParaRPr lang="en-US" sz="1250" dirty="0"/>
          </a:p>
        </p:txBody>
      </p:sp>
      <p:sp>
        <p:nvSpPr>
          <p:cNvPr id="11" name="Text 9"/>
          <p:cNvSpPr/>
          <p:nvPr/>
        </p:nvSpPr>
        <p:spPr>
          <a:xfrm>
            <a:off x="4983480" y="2743200"/>
            <a:ext cx="3063240" cy="548640"/>
          </a:xfrm>
          <a:prstGeom prst="rect">
            <a:avLst/>
          </a:prstGeom>
          <a:noFill/>
          <a:ln/>
        </p:spPr>
        <p:txBody>
          <a:bodyPr wrap="square" lIns="0" tIns="0" rIns="0" bIns="0" rtlCol="0" anchor="ctr"/>
          <a:lstStyle/>
          <a:p>
            <a:pPr indent="0" marL="0">
              <a:lnSpc>
                <a:spcPts val="1800"/>
              </a:lnSpc>
              <a:buNone/>
            </a:pPr>
            <a:r>
              <a:rPr lang="en-US" sz="1300" dirty="0">
                <a:solidFill>
                  <a:srgbClr val="22252E"/>
                </a:solidFill>
                <a:latin typeface="Calibri" pitchFamily="34" charset="0"/>
                <a:ea typeface="Calibri" pitchFamily="34" charset="-122"/>
                <a:cs typeface="Calibri" pitchFamily="34" charset="-120"/>
              </a:rPr>
              <a:t>Still sitting there. Never used.</a:t>
            </a:r>
            <a:endParaRPr lang="en-US" sz="1300" dirty="0"/>
          </a:p>
        </p:txBody>
      </p:sp>
      <p:sp>
        <p:nvSpPr>
          <p:cNvPr id="12" name="Shape 10"/>
          <p:cNvSpPr/>
          <p:nvPr/>
        </p:nvSpPr>
        <p:spPr>
          <a:xfrm>
            <a:off x="640080" y="3547872"/>
            <a:ext cx="7223760" cy="868680"/>
          </a:xfrm>
          <a:prstGeom prst="roundRect">
            <a:avLst>
              <a:gd name="adj" fmla="val 8421"/>
            </a:avLst>
          </a:prstGeom>
          <a:solidFill>
            <a:srgbClr val="F4F6FB"/>
          </a:solidFill>
          <a:ln w="9525">
            <a:solidFill>
              <a:srgbClr val="E2E7F2"/>
            </a:solidFill>
            <a:prstDash val="solid"/>
          </a:ln>
        </p:spPr>
      </p:sp>
      <p:sp>
        <p:nvSpPr>
          <p:cNvPr id="13" name="Text 11"/>
          <p:cNvSpPr/>
          <p:nvPr/>
        </p:nvSpPr>
        <p:spPr>
          <a:xfrm>
            <a:off x="932688" y="3666744"/>
            <a:ext cx="3931920" cy="320040"/>
          </a:xfrm>
          <a:prstGeom prst="rect">
            <a:avLst/>
          </a:prstGeom>
          <a:noFill/>
          <a:ln/>
        </p:spPr>
        <p:txBody>
          <a:bodyPr wrap="square" lIns="0" tIns="0" rIns="0" bIns="0" rtlCol="0" anchor="ctr"/>
          <a:lstStyle/>
          <a:p>
            <a:pPr indent="0" marL="0">
              <a:buNone/>
            </a:pPr>
            <a:r>
              <a:rPr lang="en-US" sz="1650" b="1" dirty="0">
                <a:solidFill>
                  <a:srgbClr val="1E2761"/>
                </a:solidFill>
                <a:latin typeface="Cambria" pitchFamily="34" charset="0"/>
                <a:ea typeface="Cambria" pitchFamily="34" charset="-122"/>
                <a:cs typeface="Cambria" pitchFamily="34" charset="-120"/>
              </a:rPr>
              <a:t>Russia inside Ukraine</a:t>
            </a:r>
            <a:endParaRPr lang="en-US" sz="1650" dirty="0"/>
          </a:p>
        </p:txBody>
      </p:sp>
      <p:sp>
        <p:nvSpPr>
          <p:cNvPr id="14" name="Text 12"/>
          <p:cNvSpPr/>
          <p:nvPr/>
        </p:nvSpPr>
        <p:spPr>
          <a:xfrm>
            <a:off x="932688" y="4005072"/>
            <a:ext cx="3931920" cy="274320"/>
          </a:xfrm>
          <a:prstGeom prst="rect">
            <a:avLst/>
          </a:prstGeom>
          <a:noFill/>
          <a:ln/>
        </p:spPr>
        <p:txBody>
          <a:bodyPr wrap="square" lIns="0" tIns="0" rIns="0" bIns="0" rtlCol="0" anchor="ctr"/>
          <a:lstStyle/>
          <a:p>
            <a:pPr indent="0" marL="0">
              <a:buNone/>
            </a:pPr>
            <a:r>
              <a:rPr lang="en-US" sz="1250" dirty="0">
                <a:solidFill>
                  <a:srgbClr val="6A6F7D"/>
                </a:solidFill>
                <a:latin typeface="Calibri" pitchFamily="34" charset="0"/>
                <a:ea typeface="Calibri" pitchFamily="34" charset="-122"/>
                <a:cs typeface="Calibri" pitchFamily="34" charset="-120"/>
              </a:rPr>
              <a:t>2021 to 2022</a:t>
            </a:r>
            <a:endParaRPr lang="en-US" sz="1250" dirty="0"/>
          </a:p>
        </p:txBody>
      </p:sp>
      <p:sp>
        <p:nvSpPr>
          <p:cNvPr id="15" name="Text 13"/>
          <p:cNvSpPr/>
          <p:nvPr/>
        </p:nvSpPr>
        <p:spPr>
          <a:xfrm>
            <a:off x="4983480" y="3730752"/>
            <a:ext cx="3063240" cy="548640"/>
          </a:xfrm>
          <a:prstGeom prst="rect">
            <a:avLst/>
          </a:prstGeom>
          <a:noFill/>
          <a:ln/>
        </p:spPr>
        <p:txBody>
          <a:bodyPr wrap="square" lIns="0" tIns="0" rIns="0" bIns="0" rtlCol="0" anchor="ctr"/>
          <a:lstStyle/>
          <a:p>
            <a:pPr indent="0" marL="0">
              <a:lnSpc>
                <a:spcPts val="1800"/>
              </a:lnSpc>
              <a:buNone/>
            </a:pPr>
            <a:r>
              <a:rPr lang="en-US" sz="1300" dirty="0">
                <a:solidFill>
                  <a:srgbClr val="22252E"/>
                </a:solidFill>
                <a:latin typeface="Calibri" pitchFamily="34" charset="0"/>
                <a:ea typeface="Calibri" pitchFamily="34" charset="-122"/>
                <a:cs typeface="Calibri" pitchFamily="34" charset="-120"/>
              </a:rPr>
              <a:t>Used in April 2022. Ukrainian defenders stopped it.</a:t>
            </a:r>
            <a:endParaRPr lang="en-US" sz="1300" dirty="0"/>
          </a:p>
        </p:txBody>
      </p:sp>
      <p:sp>
        <p:nvSpPr>
          <p:cNvPr id="16" name="Shape 14"/>
          <p:cNvSpPr/>
          <p:nvPr/>
        </p:nvSpPr>
        <p:spPr>
          <a:xfrm>
            <a:off x="8183880" y="1572768"/>
            <a:ext cx="3337560" cy="3026664"/>
          </a:xfrm>
          <a:prstGeom prst="roundRect">
            <a:avLst>
              <a:gd name="adj" fmla="val 2417"/>
            </a:avLst>
          </a:prstGeom>
          <a:solidFill>
            <a:srgbClr val="FDF6EA"/>
          </a:solidFill>
          <a:ln w="9525">
            <a:solidFill>
              <a:srgbClr val="E2E7F2"/>
            </a:solidFill>
            <a:prstDash val="solid"/>
          </a:ln>
        </p:spPr>
      </p:sp>
      <p:sp>
        <p:nvSpPr>
          <p:cNvPr id="17" name="Text 15"/>
          <p:cNvSpPr/>
          <p:nvPr/>
        </p:nvSpPr>
        <p:spPr>
          <a:xfrm>
            <a:off x="8366760" y="1810512"/>
            <a:ext cx="2971800" cy="1371600"/>
          </a:xfrm>
          <a:prstGeom prst="rect">
            <a:avLst/>
          </a:prstGeom>
          <a:noFill/>
          <a:ln/>
        </p:spPr>
        <p:txBody>
          <a:bodyPr wrap="square" lIns="0" tIns="0" rIns="0" bIns="0" rtlCol="0" anchor="ctr"/>
          <a:lstStyle/>
          <a:p>
            <a:pPr algn="ctr" indent="0" marL="0">
              <a:buNone/>
            </a:pPr>
            <a:r>
              <a:rPr lang="en-US" sz="8000" b="1" dirty="0">
                <a:solidFill>
                  <a:srgbClr val="D98C1F"/>
                </a:solidFill>
                <a:latin typeface="Cambria" pitchFamily="34" charset="0"/>
                <a:ea typeface="Cambria" pitchFamily="34" charset="-122"/>
                <a:cs typeface="Cambria" pitchFamily="34" charset="-120"/>
              </a:rPr>
              <a:t>0</a:t>
            </a:r>
            <a:endParaRPr lang="en-US" sz="8000" dirty="0"/>
          </a:p>
        </p:txBody>
      </p:sp>
      <p:sp>
        <p:nvSpPr>
          <p:cNvPr id="18" name="Text 16"/>
          <p:cNvSpPr/>
          <p:nvPr/>
        </p:nvSpPr>
        <p:spPr>
          <a:xfrm>
            <a:off x="8366760" y="3200400"/>
            <a:ext cx="2971800" cy="868680"/>
          </a:xfrm>
          <a:prstGeom prst="rect">
            <a:avLst/>
          </a:prstGeom>
          <a:noFill/>
          <a:ln/>
        </p:spPr>
        <p:txBody>
          <a:bodyPr wrap="square" lIns="0" tIns="0" rIns="0" bIns="0" rtlCol="0" anchor="ctr"/>
          <a:lstStyle/>
          <a:p>
            <a:pPr algn="ctr" indent="0" marL="0">
              <a:lnSpc>
                <a:spcPts val="2100"/>
              </a:lnSpc>
              <a:buNone/>
            </a:pPr>
            <a:r>
              <a:rPr lang="en-US" sz="1500" dirty="0">
                <a:solidFill>
                  <a:srgbClr val="22252E"/>
                </a:solidFill>
                <a:latin typeface="Calibri" pitchFamily="34" charset="0"/>
                <a:ea typeface="Calibri" pitchFamily="34" charset="-122"/>
                <a:cs typeface="Calibri" pitchFamily="34" charset="-120"/>
              </a:rPr>
              <a:t>cases where this</a:t>
            </a:r>
            <a:endParaRPr lang="en-US" sz="1500" dirty="0"/>
          </a:p>
          <a:p>
            <a:pPr algn="ctr" indent="0" marL="0">
              <a:lnSpc>
                <a:spcPts val="2100"/>
              </a:lnSpc>
              <a:buNone/>
            </a:pPr>
            <a:r>
              <a:rPr lang="en-US" sz="1500" dirty="0">
                <a:solidFill>
                  <a:srgbClr val="22252E"/>
                </a:solidFill>
                <a:latin typeface="Calibri" pitchFamily="34" charset="0"/>
                <a:ea typeface="Calibri" pitchFamily="34" charset="-122"/>
                <a:cs typeface="Calibri" pitchFamily="34" charset="-120"/>
              </a:rPr>
              <a:t>led to a successful</a:t>
            </a:r>
            <a:endParaRPr lang="en-US" sz="1500" dirty="0"/>
          </a:p>
          <a:p>
            <a:pPr algn="ctr" indent="0" marL="0">
              <a:lnSpc>
                <a:spcPts val="2100"/>
              </a:lnSpc>
              <a:buNone/>
            </a:pPr>
            <a:r>
              <a:rPr lang="en-US" sz="1500" dirty="0">
                <a:solidFill>
                  <a:srgbClr val="22252E"/>
                </a:solidFill>
                <a:latin typeface="Calibri" pitchFamily="34" charset="0"/>
                <a:ea typeface="Calibri" pitchFamily="34" charset="-122"/>
                <a:cs typeface="Calibri" pitchFamily="34" charset="-120"/>
              </a:rPr>
              <a:t>attack</a:t>
            </a:r>
            <a:endParaRPr lang="en-US" sz="1500" dirty="0"/>
          </a:p>
        </p:txBody>
      </p:sp>
      <p:sp>
        <p:nvSpPr>
          <p:cNvPr id="19" name="Text 17"/>
          <p:cNvSpPr/>
          <p:nvPr/>
        </p:nvSpPr>
        <p:spPr>
          <a:xfrm>
            <a:off x="8366760" y="4023360"/>
            <a:ext cx="2971800" cy="502920"/>
          </a:xfrm>
          <a:prstGeom prst="rect">
            <a:avLst/>
          </a:prstGeom>
          <a:noFill/>
          <a:ln/>
        </p:spPr>
        <p:txBody>
          <a:bodyPr wrap="square" lIns="0" tIns="0" rIns="0" bIns="0" rtlCol="0" anchor="ctr"/>
          <a:lstStyle/>
          <a:p>
            <a:pPr algn="ctr" indent="0" marL="0">
              <a:lnSpc>
                <a:spcPts val="1700"/>
              </a:lnSpc>
              <a:buNone/>
            </a:pPr>
            <a:r>
              <a:rPr lang="en-US" sz="1200" i="1" dirty="0">
                <a:solidFill>
                  <a:srgbClr val="6A6F7D"/>
                </a:solidFill>
                <a:latin typeface="Calibri" pitchFamily="34" charset="0"/>
                <a:ea typeface="Calibri" pitchFamily="34" charset="-122"/>
                <a:cs typeface="Calibri" pitchFamily="34" charset="-120"/>
              </a:rPr>
              <a:t>Three attempts at reading it.</a:t>
            </a:r>
            <a:endParaRPr lang="en-US" sz="1200" dirty="0"/>
          </a:p>
          <a:p>
            <a:pPr algn="ctr" indent="0" marL="0">
              <a:lnSpc>
                <a:spcPts val="1700"/>
              </a:lnSpc>
              <a:buNone/>
            </a:pPr>
            <a:r>
              <a:rPr lang="en-US" sz="1200" i="1" dirty="0">
                <a:solidFill>
                  <a:srgbClr val="6A6F7D"/>
                </a:solidFill>
                <a:latin typeface="Calibri" pitchFamily="34" charset="0"/>
                <a:ea typeface="Calibri" pitchFamily="34" charset="-122"/>
                <a:cs typeface="Calibri" pitchFamily="34" charset="-120"/>
              </a:rPr>
              <a:t>No successful example to read.</a:t>
            </a:r>
            <a:endParaRPr lang="en-US" sz="1200" dirty="0"/>
          </a:p>
        </p:txBody>
      </p:sp>
      <p:sp>
        <p:nvSpPr>
          <p:cNvPr id="20" name="Text 18"/>
          <p:cNvSpPr/>
          <p:nvPr/>
        </p:nvSpPr>
        <p:spPr>
          <a:xfrm>
            <a:off x="640080" y="4828032"/>
            <a:ext cx="10881360" cy="384048"/>
          </a:xfrm>
          <a:prstGeom prst="rect">
            <a:avLst/>
          </a:prstGeom>
          <a:noFill/>
          <a:ln/>
        </p:spPr>
        <p:txBody>
          <a:bodyPr wrap="square" lIns="0" tIns="0" rIns="0" bIns="0" rtlCol="0" anchor="ctr"/>
          <a:lstStyle/>
          <a:p>
            <a:pPr indent="0" marL="0">
              <a:buNone/>
            </a:pPr>
            <a:r>
              <a:rPr lang="en-US" sz="1800" b="1" dirty="0">
                <a:solidFill>
                  <a:srgbClr val="1E2761"/>
                </a:solidFill>
                <a:latin typeface="Cambria" pitchFamily="34" charset="0"/>
                <a:ea typeface="Cambria" pitchFamily="34" charset="-122"/>
                <a:cs typeface="Cambria" pitchFamily="34" charset="-120"/>
              </a:rPr>
              <a:t>Everything the field says about what this activity means rests on no successful examples.</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73152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THE TECHNOLOGY</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Does AI favour the attacker? Probably not yet</a:t>
            </a:r>
            <a:endParaRPr lang="en-US" sz="3200" dirty="0"/>
          </a:p>
        </p:txBody>
      </p:sp>
      <p:sp>
        <p:nvSpPr>
          <p:cNvPr id="4" name="Shape 2"/>
          <p:cNvSpPr/>
          <p:nvPr/>
        </p:nvSpPr>
        <p:spPr>
          <a:xfrm>
            <a:off x="640080" y="1609344"/>
            <a:ext cx="502920" cy="502920"/>
          </a:xfrm>
          <a:prstGeom prst="ellipse">
            <a:avLst/>
          </a:prstGeom>
          <a:solidFill>
            <a:srgbClr val="1E2761"/>
          </a:solidFill>
          <a:ln/>
        </p:spPr>
      </p:sp>
      <p:sp>
        <p:nvSpPr>
          <p:cNvPr id="5" name="Text 3"/>
          <p:cNvSpPr/>
          <p:nvPr/>
        </p:nvSpPr>
        <p:spPr>
          <a:xfrm>
            <a:off x="640080" y="1609344"/>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p:nvPr/>
        </p:nvSpPr>
        <p:spPr>
          <a:xfrm>
            <a:off x="1417320" y="1572768"/>
            <a:ext cx="10104120" cy="329184"/>
          </a:xfrm>
          <a:prstGeom prst="rect">
            <a:avLst/>
          </a:prstGeom>
          <a:noFill/>
          <a:ln/>
        </p:spPr>
        <p:txBody>
          <a:bodyPr wrap="square" lIns="0" tIns="0" rIns="0" bIns="0" rtlCol="0" anchor="ctr"/>
          <a:lstStyle/>
          <a:p>
            <a:pPr indent="0" marL="0">
              <a:buNone/>
            </a:pPr>
            <a:r>
              <a:rPr lang="en-US" sz="1750" b="1" dirty="0">
                <a:solidFill>
                  <a:srgbClr val="1E2761"/>
                </a:solidFill>
                <a:latin typeface="Cambria" pitchFamily="34" charset="0"/>
                <a:ea typeface="Cambria" pitchFamily="34" charset="-122"/>
                <a:cs typeface="Cambria" pitchFamily="34" charset="-120"/>
              </a:rPr>
              <a:t>Attack tools are still assisted, not automatic</a:t>
            </a:r>
            <a:endParaRPr lang="en-US" sz="1750" dirty="0"/>
          </a:p>
        </p:txBody>
      </p:sp>
      <p:sp>
        <p:nvSpPr>
          <p:cNvPr id="7" name="Text 5"/>
          <p:cNvSpPr/>
          <p:nvPr/>
        </p:nvSpPr>
        <p:spPr>
          <a:xfrm>
            <a:off x="1417320" y="1920240"/>
            <a:ext cx="10104120" cy="658368"/>
          </a:xfrm>
          <a:prstGeom prst="rect">
            <a:avLst/>
          </a:prstGeom>
          <a:noFill/>
          <a:ln/>
        </p:spPr>
        <p:txBody>
          <a:bodyPr wrap="square" lIns="0" tIns="0" rIns="0" bIns="0" rtlCol="0" anchor="ctr"/>
          <a:lstStyle/>
          <a:p>
            <a:pPr indent="0" marL="0">
              <a:lnSpc>
                <a:spcPts val="2000"/>
              </a:lnSpc>
              <a:buNone/>
            </a:pPr>
            <a:r>
              <a:rPr lang="en-US" sz="1400" dirty="0">
                <a:solidFill>
                  <a:srgbClr val="22252E"/>
                </a:solidFill>
                <a:latin typeface="Calibri" pitchFamily="34" charset="0"/>
                <a:ea typeface="Calibri" pitchFamily="34" charset="-122"/>
                <a:cs typeface="Calibri" pitchFamily="34" charset="-120"/>
              </a:rPr>
              <a:t>AI helps scout targets and adjust tools. Fully automatic attack systems remain, in the literature’s own word, theoretical.</a:t>
            </a:r>
            <a:endParaRPr lang="en-US" sz="1400" dirty="0"/>
          </a:p>
        </p:txBody>
      </p:sp>
      <p:sp>
        <p:nvSpPr>
          <p:cNvPr id="8" name="Shape 6"/>
          <p:cNvSpPr/>
          <p:nvPr/>
        </p:nvSpPr>
        <p:spPr>
          <a:xfrm>
            <a:off x="640080" y="2743200"/>
            <a:ext cx="502920" cy="502920"/>
          </a:xfrm>
          <a:prstGeom prst="ellipse">
            <a:avLst/>
          </a:prstGeom>
          <a:solidFill>
            <a:srgbClr val="1E2761"/>
          </a:solidFill>
          <a:ln/>
        </p:spPr>
      </p:sp>
      <p:sp>
        <p:nvSpPr>
          <p:cNvPr id="9" name="Text 7"/>
          <p:cNvSpPr/>
          <p:nvPr/>
        </p:nvSpPr>
        <p:spPr>
          <a:xfrm>
            <a:off x="640080" y="2743200"/>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8"/>
          <p:cNvSpPr/>
          <p:nvPr/>
        </p:nvSpPr>
        <p:spPr>
          <a:xfrm>
            <a:off x="1417320" y="2706624"/>
            <a:ext cx="10104120" cy="329184"/>
          </a:xfrm>
          <a:prstGeom prst="rect">
            <a:avLst/>
          </a:prstGeom>
          <a:noFill/>
          <a:ln/>
        </p:spPr>
        <p:txBody>
          <a:bodyPr wrap="square" lIns="0" tIns="0" rIns="0" bIns="0" rtlCol="0" anchor="ctr"/>
          <a:lstStyle/>
          <a:p>
            <a:pPr indent="0" marL="0">
              <a:buNone/>
            </a:pPr>
            <a:r>
              <a:rPr lang="en-US" sz="1750" b="1" dirty="0">
                <a:solidFill>
                  <a:srgbClr val="1E2761"/>
                </a:solidFill>
                <a:latin typeface="Cambria" pitchFamily="34" charset="0"/>
                <a:ea typeface="Cambria" pitchFamily="34" charset="-122"/>
                <a:cs typeface="Cambria" pitchFamily="34" charset="-120"/>
              </a:rPr>
              <a:t>Almost all the AI work is defensive</a:t>
            </a:r>
            <a:endParaRPr lang="en-US" sz="1750" dirty="0"/>
          </a:p>
        </p:txBody>
      </p:sp>
      <p:sp>
        <p:nvSpPr>
          <p:cNvPr id="11" name="Text 9"/>
          <p:cNvSpPr/>
          <p:nvPr/>
        </p:nvSpPr>
        <p:spPr>
          <a:xfrm>
            <a:off x="1417320" y="3054096"/>
            <a:ext cx="10104120" cy="658368"/>
          </a:xfrm>
          <a:prstGeom prst="rect">
            <a:avLst/>
          </a:prstGeom>
          <a:noFill/>
          <a:ln/>
        </p:spPr>
        <p:txBody>
          <a:bodyPr wrap="square" lIns="0" tIns="0" rIns="0" bIns="0" rtlCol="0" anchor="ctr"/>
          <a:lstStyle/>
          <a:p>
            <a:pPr indent="0" marL="0">
              <a:lnSpc>
                <a:spcPts val="2000"/>
              </a:lnSpc>
              <a:buNone/>
            </a:pPr>
            <a:r>
              <a:rPr lang="en-US" sz="1400" dirty="0">
                <a:solidFill>
                  <a:srgbClr val="22252E"/>
                </a:solidFill>
                <a:latin typeface="Calibri" pitchFamily="34" charset="0"/>
                <a:ea typeface="Calibri" pitchFamily="34" charset="-122"/>
                <a:cs typeface="Calibri" pitchFamily="34" charset="-120"/>
              </a:rPr>
              <a:t>The research being published is about spotting intruders faster, not about replacing them.</a:t>
            </a:r>
            <a:endParaRPr lang="en-US" sz="1400" dirty="0"/>
          </a:p>
        </p:txBody>
      </p:sp>
      <p:sp>
        <p:nvSpPr>
          <p:cNvPr id="12" name="Shape 10"/>
          <p:cNvSpPr/>
          <p:nvPr/>
        </p:nvSpPr>
        <p:spPr>
          <a:xfrm>
            <a:off x="640080" y="3877056"/>
            <a:ext cx="502920" cy="502920"/>
          </a:xfrm>
          <a:prstGeom prst="ellipse">
            <a:avLst/>
          </a:prstGeom>
          <a:solidFill>
            <a:srgbClr val="1E2761"/>
          </a:solidFill>
          <a:ln/>
        </p:spPr>
      </p:sp>
      <p:sp>
        <p:nvSpPr>
          <p:cNvPr id="13" name="Text 11"/>
          <p:cNvSpPr/>
          <p:nvPr/>
        </p:nvSpPr>
        <p:spPr>
          <a:xfrm>
            <a:off x="640080" y="3877056"/>
            <a:ext cx="502920" cy="50292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4" name="Text 12"/>
          <p:cNvSpPr/>
          <p:nvPr/>
        </p:nvSpPr>
        <p:spPr>
          <a:xfrm>
            <a:off x="1417320" y="3840480"/>
            <a:ext cx="10104120" cy="329184"/>
          </a:xfrm>
          <a:prstGeom prst="rect">
            <a:avLst/>
          </a:prstGeom>
          <a:noFill/>
          <a:ln/>
        </p:spPr>
        <p:txBody>
          <a:bodyPr wrap="square" lIns="0" tIns="0" rIns="0" bIns="0" rtlCol="0" anchor="ctr"/>
          <a:lstStyle/>
          <a:p>
            <a:pPr indent="0" marL="0">
              <a:buNone/>
            </a:pPr>
            <a:r>
              <a:rPr lang="en-US" sz="1750" b="1" dirty="0">
                <a:solidFill>
                  <a:srgbClr val="1E2761"/>
                </a:solidFill>
                <a:latin typeface="Cambria" pitchFamily="34" charset="0"/>
                <a:ea typeface="Cambria" pitchFamily="34" charset="-122"/>
                <a:cs typeface="Cambria" pitchFamily="34" charset="-120"/>
              </a:rPr>
              <a:t>Defenders currently cannot see</a:t>
            </a:r>
            <a:endParaRPr lang="en-US" sz="1750" dirty="0"/>
          </a:p>
        </p:txBody>
      </p:sp>
      <p:sp>
        <p:nvSpPr>
          <p:cNvPr id="15" name="Text 13"/>
          <p:cNvSpPr/>
          <p:nvPr/>
        </p:nvSpPr>
        <p:spPr>
          <a:xfrm>
            <a:off x="1417320" y="4187952"/>
            <a:ext cx="10104120" cy="658368"/>
          </a:xfrm>
          <a:prstGeom prst="rect">
            <a:avLst/>
          </a:prstGeom>
          <a:noFill/>
          <a:ln/>
        </p:spPr>
        <p:txBody>
          <a:bodyPr wrap="square" lIns="0" tIns="0" rIns="0" bIns="0" rtlCol="0" anchor="ctr"/>
          <a:lstStyle/>
          <a:p>
            <a:pPr indent="0" marL="0">
              <a:lnSpc>
                <a:spcPts val="2000"/>
              </a:lnSpc>
              <a:buNone/>
            </a:pPr>
            <a:r>
              <a:rPr lang="en-US" sz="1400" dirty="0">
                <a:solidFill>
                  <a:srgbClr val="22252E"/>
                </a:solidFill>
                <a:latin typeface="Calibri" pitchFamily="34" charset="0"/>
                <a:ea typeface="Calibri" pitchFamily="34" charset="-122"/>
                <a:cs typeface="Calibri" pitchFamily="34" charset="-120"/>
              </a:rPr>
              <a:t>Intrusions go unnoticed for 197 days on average, and roughly three quarters are spotted by outsiders rather than the victim. Better detection makes hiding harder, not easier.</a:t>
            </a:r>
            <a:endParaRPr lang="en-US" sz="1400" dirty="0"/>
          </a:p>
        </p:txBody>
      </p:sp>
      <p:sp>
        <p:nvSpPr>
          <p:cNvPr id="16" name="Shape 14"/>
          <p:cNvSpPr/>
          <p:nvPr/>
        </p:nvSpPr>
        <p:spPr>
          <a:xfrm>
            <a:off x="640080" y="5010912"/>
            <a:ext cx="10881360" cy="914400"/>
          </a:xfrm>
          <a:prstGeom prst="roundRect">
            <a:avLst>
              <a:gd name="adj" fmla="val 8000"/>
            </a:avLst>
          </a:prstGeom>
          <a:solidFill>
            <a:srgbClr val="F4F6FB"/>
          </a:solidFill>
          <a:ln w="9525">
            <a:solidFill>
              <a:srgbClr val="E2E7F2"/>
            </a:solidFill>
            <a:prstDash val="solid"/>
          </a:ln>
        </p:spPr>
      </p:sp>
      <p:sp>
        <p:nvSpPr>
          <p:cNvPr id="17" name="Text 15"/>
          <p:cNvSpPr/>
          <p:nvPr/>
        </p:nvSpPr>
        <p:spPr>
          <a:xfrm>
            <a:off x="1005840" y="5120640"/>
            <a:ext cx="10149840" cy="713232"/>
          </a:xfrm>
          <a:prstGeom prst="rect">
            <a:avLst/>
          </a:prstGeom>
          <a:noFill/>
          <a:ln/>
        </p:spPr>
        <p:txBody>
          <a:bodyPr wrap="square" lIns="0" tIns="0" rIns="0" bIns="0" rtlCol="0" anchor="ctr"/>
          <a:lstStyle/>
          <a:p>
            <a:pPr indent="0" marL="0">
              <a:lnSpc>
                <a:spcPts val="2000"/>
              </a:lnSpc>
              <a:buNone/>
            </a:pPr>
            <a:r>
              <a:rPr lang="en-US" sz="1450" dirty="0">
                <a:solidFill>
                  <a:srgbClr val="22252E"/>
                </a:solidFill>
                <a:latin typeface="Calibri" pitchFamily="34" charset="0"/>
                <a:ea typeface="Calibri" pitchFamily="34" charset="-122"/>
                <a:cs typeface="Calibri" pitchFamily="34" charset="-120"/>
              </a:rPr>
              <a:t>In the one real war we can study, </a:t>
            </a:r>
            <a:pPr indent="0" marL="0">
              <a:lnSpc>
                <a:spcPts val="2000"/>
              </a:lnSpc>
              <a:buNone/>
            </a:pPr>
            <a:r>
              <a:rPr lang="en-US" sz="1450" b="1" dirty="0">
                <a:solidFill>
                  <a:srgbClr val="1E2761"/>
                </a:solidFill>
                <a:latin typeface="Calibri" pitchFamily="34" charset="0"/>
                <a:ea typeface="Calibri" pitchFamily="34" charset="-122"/>
                <a:cs typeface="Calibri" pitchFamily="34" charset="-120"/>
              </a:rPr>
              <a:t>defence held</a:t>
            </a:r>
            <a:pPr indent="0" marL="0">
              <a:lnSpc>
                <a:spcPts val="2000"/>
              </a:lnSpc>
              <a:buNone/>
            </a:pPr>
            <a:r>
              <a:rPr lang="en-US" sz="1450" dirty="0">
                <a:solidFill>
                  <a:srgbClr val="22252E"/>
                </a:solidFill>
                <a:latin typeface="Calibri" pitchFamily="34" charset="0"/>
                <a:ea typeface="Calibri" pitchFamily="34" charset="-122"/>
                <a:cs typeface="Calibri" pitchFamily="34" charset="-120"/>
              </a:rPr>
              <a:t>. But that was Ukraine, backed by Western agencies and by Microsoft, Google and Cisco. A weaker defender would give a different answer.</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73152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TWO EXPLANATIONS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So which is it?</a:t>
            </a:r>
            <a:endParaRPr lang="en-US" sz="3200" dirty="0"/>
          </a:p>
        </p:txBody>
      </p:sp>
      <p:sp>
        <p:nvSpPr>
          <p:cNvPr id="4" name="Shape 2"/>
          <p:cNvSpPr/>
          <p:nvPr/>
        </p:nvSpPr>
        <p:spPr>
          <a:xfrm>
            <a:off x="640080" y="1536192"/>
            <a:ext cx="5349240" cy="3200400"/>
          </a:xfrm>
          <a:prstGeom prst="roundRect">
            <a:avLst>
              <a:gd name="adj" fmla="val 2286"/>
            </a:avLst>
          </a:prstGeom>
          <a:solidFill>
            <a:srgbClr val="F4F6FB"/>
          </a:solidFill>
          <a:ln w="9525">
            <a:solidFill>
              <a:srgbClr val="E2E7F2"/>
            </a:solidFill>
            <a:prstDash val="solid"/>
          </a:ln>
        </p:spPr>
      </p:sp>
      <p:sp>
        <p:nvSpPr>
          <p:cNvPr id="5" name="Shape 3"/>
          <p:cNvSpPr/>
          <p:nvPr/>
        </p:nvSpPr>
        <p:spPr>
          <a:xfrm>
            <a:off x="960120" y="1783080"/>
            <a:ext cx="566928" cy="566928"/>
          </a:xfrm>
          <a:prstGeom prst="ellipse">
            <a:avLst/>
          </a:prstGeom>
          <a:solidFill>
            <a:srgbClr val="1E2761"/>
          </a:solidFill>
          <a:ln/>
        </p:spPr>
      </p:sp>
      <p:sp>
        <p:nvSpPr>
          <p:cNvPr id="6" name="Text 4"/>
          <p:cNvSpPr/>
          <p:nvPr/>
        </p:nvSpPr>
        <p:spPr>
          <a:xfrm>
            <a:off x="960120" y="17830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A</a:t>
            </a:r>
            <a:endParaRPr lang="en-US" sz="2000" dirty="0"/>
          </a:p>
        </p:txBody>
      </p:sp>
      <p:sp>
        <p:nvSpPr>
          <p:cNvPr id="7" name="Text 5"/>
          <p:cNvSpPr/>
          <p:nvPr/>
        </p:nvSpPr>
        <p:spPr>
          <a:xfrm>
            <a:off x="1691640" y="1847088"/>
            <a:ext cx="4023360" cy="411480"/>
          </a:xfrm>
          <a:prstGeom prst="rect">
            <a:avLst/>
          </a:prstGeom>
          <a:noFill/>
          <a:ln/>
        </p:spPr>
        <p:txBody>
          <a:bodyPr wrap="square" lIns="0" tIns="0" rIns="0" bIns="0" rtlCol="0" anchor="ctr"/>
          <a:lstStyle/>
          <a:p>
            <a:pPr indent="0" marL="0">
              <a:buNone/>
            </a:pPr>
            <a:r>
              <a:rPr lang="en-US" sz="2000" b="1" dirty="0">
                <a:solidFill>
                  <a:srgbClr val="1E2761"/>
                </a:solidFill>
                <a:latin typeface="Cambria" pitchFamily="34" charset="0"/>
                <a:ea typeface="Cambria" pitchFamily="34" charset="-122"/>
                <a:cs typeface="Cambria" pitchFamily="34" charset="-120"/>
              </a:rPr>
              <a:t>The warning is fading</a:t>
            </a:r>
            <a:endParaRPr lang="en-US" sz="2000" dirty="0"/>
          </a:p>
        </p:txBody>
      </p:sp>
      <p:sp>
        <p:nvSpPr>
          <p:cNvPr id="8" name="Text 6"/>
          <p:cNvSpPr/>
          <p:nvPr/>
        </p:nvSpPr>
        <p:spPr>
          <a:xfrm>
            <a:off x="960120" y="2542032"/>
            <a:ext cx="4709160" cy="1051560"/>
          </a:xfrm>
          <a:prstGeom prst="rect">
            <a:avLst/>
          </a:prstGeom>
          <a:noFill/>
          <a:ln/>
        </p:spPr>
        <p:txBody>
          <a:bodyPr wrap="square" lIns="0" tIns="0" rIns="0" bIns="0" rtlCol="0" anchor="ctr"/>
          <a:lstStyle/>
          <a:p>
            <a:pPr indent="0" marL="0">
              <a:lnSpc>
                <a:spcPts val="2000"/>
              </a:lnSpc>
              <a:buNone/>
            </a:pPr>
            <a:r>
              <a:rPr lang="en-US" sz="1400" dirty="0">
                <a:solidFill>
                  <a:srgbClr val="22252E"/>
                </a:solidFill>
                <a:latin typeface="Calibri" pitchFamily="34" charset="0"/>
                <a:ea typeface="Calibri" pitchFamily="34" charset="-122"/>
                <a:cs typeface="Calibri" pitchFamily="34" charset="-120"/>
              </a:rPr>
              <a:t>It used to mean something, because staying hidden was expensive. AI makes it cheaper, so the meaning drains away.</a:t>
            </a:r>
            <a:endParaRPr lang="en-US" sz="1400" dirty="0"/>
          </a:p>
        </p:txBody>
      </p:sp>
      <p:sp>
        <p:nvSpPr>
          <p:cNvPr id="9" name="Text 7"/>
          <p:cNvSpPr/>
          <p:nvPr/>
        </p:nvSpPr>
        <p:spPr>
          <a:xfrm>
            <a:off x="960120" y="3703320"/>
            <a:ext cx="4709160" cy="777240"/>
          </a:xfrm>
          <a:prstGeom prst="rect">
            <a:avLst/>
          </a:prstGeom>
          <a:noFill/>
          <a:ln/>
        </p:spPr>
        <p:txBody>
          <a:bodyPr wrap="square" lIns="0" tIns="0" rIns="0" bIns="0" rtlCol="0" anchor="ctr"/>
          <a:lstStyle/>
          <a:p>
            <a:pPr indent="0" marL="0">
              <a:lnSpc>
                <a:spcPts val="1800"/>
              </a:lnSpc>
              <a:buNone/>
            </a:pPr>
            <a:r>
              <a:rPr lang="en-US" sz="1300" i="1" dirty="0">
                <a:solidFill>
                  <a:srgbClr val="6A6F7D"/>
                </a:solidFill>
                <a:latin typeface="Calibri" pitchFamily="34" charset="0"/>
                <a:ea typeface="Calibri" pitchFamily="34" charset="-122"/>
                <a:cs typeface="Calibri" pitchFamily="34" charset="-120"/>
              </a:rPr>
              <a:t>Predicts: the gap between what we say and what we do keeps widening.</a:t>
            </a:r>
            <a:endParaRPr lang="en-US" sz="1300" dirty="0"/>
          </a:p>
        </p:txBody>
      </p:sp>
      <p:sp>
        <p:nvSpPr>
          <p:cNvPr id="10" name="Shape 8"/>
          <p:cNvSpPr/>
          <p:nvPr/>
        </p:nvSpPr>
        <p:spPr>
          <a:xfrm>
            <a:off x="6263640" y="1536192"/>
            <a:ext cx="5349240" cy="3200400"/>
          </a:xfrm>
          <a:prstGeom prst="roundRect">
            <a:avLst>
              <a:gd name="adj" fmla="val 2286"/>
            </a:avLst>
          </a:prstGeom>
          <a:solidFill>
            <a:srgbClr val="FDF6EA"/>
          </a:solidFill>
          <a:ln w="9525">
            <a:solidFill>
              <a:srgbClr val="E2E7F2"/>
            </a:solidFill>
            <a:prstDash val="solid"/>
          </a:ln>
        </p:spPr>
      </p:sp>
      <p:sp>
        <p:nvSpPr>
          <p:cNvPr id="11" name="Shape 9"/>
          <p:cNvSpPr/>
          <p:nvPr/>
        </p:nvSpPr>
        <p:spPr>
          <a:xfrm>
            <a:off x="6583680" y="1783080"/>
            <a:ext cx="566928" cy="566928"/>
          </a:xfrm>
          <a:prstGeom prst="ellipse">
            <a:avLst/>
          </a:prstGeom>
          <a:solidFill>
            <a:srgbClr val="D98C1F"/>
          </a:solidFill>
          <a:ln/>
        </p:spPr>
      </p:sp>
      <p:sp>
        <p:nvSpPr>
          <p:cNvPr id="12" name="Text 10"/>
          <p:cNvSpPr/>
          <p:nvPr/>
        </p:nvSpPr>
        <p:spPr>
          <a:xfrm>
            <a:off x="6583680" y="17830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B</a:t>
            </a:r>
            <a:endParaRPr lang="en-US" sz="2000" dirty="0"/>
          </a:p>
        </p:txBody>
      </p:sp>
      <p:sp>
        <p:nvSpPr>
          <p:cNvPr id="13" name="Text 11"/>
          <p:cNvSpPr/>
          <p:nvPr/>
        </p:nvSpPr>
        <p:spPr>
          <a:xfrm>
            <a:off x="7315200" y="1847088"/>
            <a:ext cx="4023360" cy="411480"/>
          </a:xfrm>
          <a:prstGeom prst="rect">
            <a:avLst/>
          </a:prstGeom>
          <a:noFill/>
          <a:ln/>
        </p:spPr>
        <p:txBody>
          <a:bodyPr wrap="square" lIns="0" tIns="0" rIns="0" bIns="0" rtlCol="0" anchor="ctr"/>
          <a:lstStyle/>
          <a:p>
            <a:pPr indent="0" marL="0">
              <a:buNone/>
            </a:pPr>
            <a:r>
              <a:rPr lang="en-US" sz="2000" b="1" dirty="0">
                <a:solidFill>
                  <a:srgbClr val="D98C1F"/>
                </a:solidFill>
                <a:latin typeface="Cambria" pitchFamily="34" charset="0"/>
                <a:ea typeface="Cambria" pitchFamily="34" charset="-122"/>
                <a:cs typeface="Cambria" pitchFamily="34" charset="-120"/>
              </a:rPr>
              <a:t>There never was a warning</a:t>
            </a:r>
            <a:endParaRPr lang="en-US" sz="2000" dirty="0"/>
          </a:p>
        </p:txBody>
      </p:sp>
      <p:sp>
        <p:nvSpPr>
          <p:cNvPr id="14" name="Text 12"/>
          <p:cNvSpPr/>
          <p:nvPr/>
        </p:nvSpPr>
        <p:spPr>
          <a:xfrm>
            <a:off x="6583680" y="2542032"/>
            <a:ext cx="4709160" cy="1051560"/>
          </a:xfrm>
          <a:prstGeom prst="rect">
            <a:avLst/>
          </a:prstGeom>
          <a:noFill/>
          <a:ln/>
        </p:spPr>
        <p:txBody>
          <a:bodyPr wrap="square" lIns="0" tIns="0" rIns="0" bIns="0" rtlCol="0" anchor="ctr"/>
          <a:lstStyle/>
          <a:p>
            <a:pPr indent="0" marL="0">
              <a:lnSpc>
                <a:spcPts val="2000"/>
              </a:lnSpc>
              <a:buNone/>
            </a:pPr>
            <a:r>
              <a:rPr lang="en-US" sz="1400" dirty="0">
                <a:solidFill>
                  <a:srgbClr val="22252E"/>
                </a:solidFill>
                <a:latin typeface="Calibri" pitchFamily="34" charset="0"/>
                <a:ea typeface="Calibri" pitchFamily="34" charset="-122"/>
                <a:cs typeface="Calibri" pitchFamily="34" charset="-120"/>
              </a:rPr>
              <a:t>It was never meant to say anything. Staying quiet and below the line that triggers a response was always the point.</a:t>
            </a:r>
            <a:endParaRPr lang="en-US" sz="1400" dirty="0"/>
          </a:p>
        </p:txBody>
      </p:sp>
      <p:sp>
        <p:nvSpPr>
          <p:cNvPr id="15" name="Text 13"/>
          <p:cNvSpPr/>
          <p:nvPr/>
        </p:nvSpPr>
        <p:spPr>
          <a:xfrm>
            <a:off x="6583680" y="3703320"/>
            <a:ext cx="4709160" cy="777240"/>
          </a:xfrm>
          <a:prstGeom prst="rect">
            <a:avLst/>
          </a:prstGeom>
          <a:noFill/>
          <a:ln/>
        </p:spPr>
        <p:txBody>
          <a:bodyPr wrap="square" lIns="0" tIns="0" rIns="0" bIns="0" rtlCol="0" anchor="ctr"/>
          <a:lstStyle/>
          <a:p>
            <a:pPr indent="0" marL="0">
              <a:lnSpc>
                <a:spcPts val="1800"/>
              </a:lnSpc>
              <a:buNone/>
            </a:pPr>
            <a:r>
              <a:rPr lang="en-US" sz="1300" i="1" dirty="0">
                <a:solidFill>
                  <a:srgbClr val="6A6F7D"/>
                </a:solidFill>
                <a:latin typeface="Calibri" pitchFamily="34" charset="0"/>
                <a:ea typeface="Calibri" pitchFamily="34" charset="-122"/>
                <a:cs typeface="Calibri" pitchFamily="34" charset="-120"/>
              </a:rPr>
              <a:t>Predicts: the gap stays the same, because it was never about cost.</a:t>
            </a:r>
            <a:endParaRPr lang="en-US" sz="1300" dirty="0"/>
          </a:p>
        </p:txBody>
      </p:sp>
      <p:sp>
        <p:nvSpPr>
          <p:cNvPr id="16" name="Text 14"/>
          <p:cNvSpPr/>
          <p:nvPr/>
        </p:nvSpPr>
        <p:spPr>
          <a:xfrm>
            <a:off x="640080" y="4919472"/>
            <a:ext cx="10881360" cy="731520"/>
          </a:xfrm>
          <a:prstGeom prst="rect">
            <a:avLst/>
          </a:prstGeom>
          <a:noFill/>
          <a:ln/>
        </p:spPr>
        <p:txBody>
          <a:bodyPr wrap="square" lIns="0" tIns="0" rIns="0" bIns="0" rtlCol="0" anchor="ctr"/>
          <a:lstStyle/>
          <a:p>
            <a:pPr indent="0" marL="0">
              <a:lnSpc>
                <a:spcPts val="2400"/>
              </a:lnSpc>
              <a:buNone/>
            </a:pPr>
            <a:r>
              <a:rPr lang="en-US" sz="1800" b="1" dirty="0">
                <a:solidFill>
                  <a:srgbClr val="1E2761"/>
                </a:solidFill>
                <a:latin typeface="Cambria" pitchFamily="34" charset="0"/>
                <a:ea typeface="Cambria" pitchFamily="34" charset="-122"/>
                <a:cs typeface="Cambria" pitchFamily="34" charset="-120"/>
              </a:rPr>
              <a:t>The evidence so far fits B at least as well as A. That is uncomfortable, because our doctrine assumes A.</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84048"/>
            <a:ext cx="7315200" cy="256032"/>
          </a:xfrm>
          <a:prstGeom prst="rect">
            <a:avLst/>
          </a:prstGeom>
          <a:noFill/>
          <a:ln/>
        </p:spPr>
        <p:txBody>
          <a:bodyPr wrap="square" lIns="0" tIns="0" rIns="0" bIns="0" rtlCol="0" anchor="ctr"/>
          <a:lstStyle/>
          <a:p>
            <a:pPr indent="0" marL="0">
              <a:buNone/>
            </a:pPr>
            <a:r>
              <a:rPr lang="en-US" sz="1200" b="1" spc="200" kern="0" dirty="0">
                <a:solidFill>
                  <a:srgbClr val="D98C1F"/>
                </a:solidFill>
                <a:latin typeface="Calibri" pitchFamily="34" charset="0"/>
                <a:ea typeface="Calibri" pitchFamily="34" charset="-122"/>
                <a:cs typeface="Calibri" pitchFamily="34" charset="-120"/>
              </a:rPr>
              <a:t>WHY IT MATTERS</a:t>
            </a:r>
            <a:endParaRPr lang="en-US" sz="1200" dirty="0"/>
          </a:p>
        </p:txBody>
      </p:sp>
      <p:sp>
        <p:nvSpPr>
          <p:cNvPr id="3" name="Text 1"/>
          <p:cNvSpPr/>
          <p:nvPr/>
        </p:nvSpPr>
        <p:spPr>
          <a:xfrm>
            <a:off x="640080" y="658368"/>
            <a:ext cx="10881360" cy="68580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Two risks, pointing opposite ways</a:t>
            </a:r>
            <a:endParaRPr lang="en-US" sz="3200" dirty="0"/>
          </a:p>
        </p:txBody>
      </p:sp>
      <p:sp>
        <p:nvSpPr>
          <p:cNvPr id="4" name="Shape 2"/>
          <p:cNvSpPr/>
          <p:nvPr/>
        </p:nvSpPr>
        <p:spPr>
          <a:xfrm>
            <a:off x="640080" y="1572768"/>
            <a:ext cx="10881360" cy="1572768"/>
          </a:xfrm>
          <a:prstGeom prst="roundRect">
            <a:avLst>
              <a:gd name="adj" fmla="val 4651"/>
            </a:avLst>
          </a:prstGeom>
          <a:solidFill>
            <a:srgbClr val="FDF6EA"/>
          </a:solidFill>
          <a:ln w="9525">
            <a:solidFill>
              <a:srgbClr val="E2E7F2"/>
            </a:solidFill>
            <a:prstDash val="solid"/>
          </a:ln>
        </p:spPr>
      </p:sp>
      <p:sp>
        <p:nvSpPr>
          <p:cNvPr id="5" name="Text 3"/>
          <p:cNvSpPr/>
          <p:nvPr/>
        </p:nvSpPr>
        <p:spPr>
          <a:xfrm>
            <a:off x="1024128" y="1773936"/>
            <a:ext cx="3200400" cy="411480"/>
          </a:xfrm>
          <a:prstGeom prst="rect">
            <a:avLst/>
          </a:prstGeom>
          <a:noFill/>
          <a:ln/>
        </p:spPr>
        <p:txBody>
          <a:bodyPr wrap="square" lIns="0" tIns="0" rIns="0" bIns="0" rtlCol="0" anchor="ctr"/>
          <a:lstStyle/>
          <a:p>
            <a:pPr indent="0" marL="0">
              <a:buNone/>
            </a:pPr>
            <a:r>
              <a:rPr lang="en-US" sz="2100" b="1" dirty="0">
                <a:solidFill>
                  <a:srgbClr val="D98C1F"/>
                </a:solidFill>
                <a:latin typeface="Cambria" pitchFamily="34" charset="0"/>
                <a:ea typeface="Cambria" pitchFamily="34" charset="-122"/>
                <a:cs typeface="Cambria" pitchFamily="34" charset="-120"/>
              </a:rPr>
              <a:t>If we over-read it</a:t>
            </a:r>
            <a:endParaRPr lang="en-US" sz="2100" dirty="0"/>
          </a:p>
        </p:txBody>
      </p:sp>
      <p:sp>
        <p:nvSpPr>
          <p:cNvPr id="6" name="Text 4"/>
          <p:cNvSpPr/>
          <p:nvPr/>
        </p:nvSpPr>
        <p:spPr>
          <a:xfrm>
            <a:off x="4389120" y="1773936"/>
            <a:ext cx="6766560" cy="1188720"/>
          </a:xfrm>
          <a:prstGeom prst="rect">
            <a:avLst/>
          </a:prstGeom>
          <a:noFill/>
          <a:ln/>
        </p:spPr>
        <p:txBody>
          <a:bodyPr wrap="square" lIns="0" tIns="0" rIns="0" bIns="0" rtlCol="0" anchor="ctr"/>
          <a:lstStyle/>
          <a:p>
            <a:pPr indent="0" marL="0">
              <a:lnSpc>
                <a:spcPts val="2000"/>
              </a:lnSpc>
              <a:buNone/>
            </a:pPr>
            <a:r>
              <a:rPr lang="en-US" sz="1400" dirty="0">
                <a:solidFill>
                  <a:srgbClr val="22252E"/>
                </a:solidFill>
                <a:latin typeface="Calibri" pitchFamily="34" charset="0"/>
                <a:ea typeface="Calibri" pitchFamily="34" charset="-122"/>
                <a:cs typeface="Calibri" pitchFamily="34" charset="-120"/>
              </a:rPr>
              <a:t>We treat routine, automated activity as a warning of war, and punish something that meant nothing. Given how tangled cyber, space and nuclear systems are, a limited response can run far past what anyone intended.</a:t>
            </a:r>
            <a:endParaRPr lang="en-US" sz="1400" dirty="0"/>
          </a:p>
        </p:txBody>
      </p:sp>
      <p:sp>
        <p:nvSpPr>
          <p:cNvPr id="7" name="Shape 5"/>
          <p:cNvSpPr/>
          <p:nvPr/>
        </p:nvSpPr>
        <p:spPr>
          <a:xfrm>
            <a:off x="640080" y="3355848"/>
            <a:ext cx="10881360" cy="1572768"/>
          </a:xfrm>
          <a:prstGeom prst="roundRect">
            <a:avLst>
              <a:gd name="adj" fmla="val 4651"/>
            </a:avLst>
          </a:prstGeom>
          <a:solidFill>
            <a:srgbClr val="F4F6FB"/>
          </a:solidFill>
          <a:ln w="9525">
            <a:solidFill>
              <a:srgbClr val="E2E7F2"/>
            </a:solidFill>
            <a:prstDash val="solid"/>
          </a:ln>
        </p:spPr>
      </p:sp>
      <p:sp>
        <p:nvSpPr>
          <p:cNvPr id="8" name="Text 6"/>
          <p:cNvSpPr/>
          <p:nvPr/>
        </p:nvSpPr>
        <p:spPr>
          <a:xfrm>
            <a:off x="1024128" y="3557016"/>
            <a:ext cx="3200400" cy="41148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If we under-read it</a:t>
            </a:r>
            <a:endParaRPr lang="en-US" sz="2100" dirty="0"/>
          </a:p>
        </p:txBody>
      </p:sp>
      <p:sp>
        <p:nvSpPr>
          <p:cNvPr id="9" name="Text 7"/>
          <p:cNvSpPr/>
          <p:nvPr/>
        </p:nvSpPr>
        <p:spPr>
          <a:xfrm>
            <a:off x="4389120" y="3557016"/>
            <a:ext cx="6766560" cy="1188720"/>
          </a:xfrm>
          <a:prstGeom prst="rect">
            <a:avLst/>
          </a:prstGeom>
          <a:noFill/>
          <a:ln/>
        </p:spPr>
        <p:txBody>
          <a:bodyPr wrap="square" lIns="0" tIns="0" rIns="0" bIns="0" rtlCol="0" anchor="ctr"/>
          <a:lstStyle/>
          <a:p>
            <a:pPr indent="0" marL="0">
              <a:lnSpc>
                <a:spcPts val="2000"/>
              </a:lnSpc>
              <a:buNone/>
            </a:pPr>
            <a:r>
              <a:rPr lang="en-US" sz="1400" dirty="0">
                <a:solidFill>
                  <a:srgbClr val="22252E"/>
                </a:solidFill>
                <a:latin typeface="Calibri" pitchFamily="34" charset="0"/>
                <a:ea typeface="Calibri" pitchFamily="34" charset="-122"/>
                <a:cs typeface="Calibri" pitchFamily="34" charset="-120"/>
              </a:rPr>
              <a:t>Real preparation for an attack gets handed to network engineers and filed as a maintenance problem. The difference between how Volt Typhoon and Salt Typhoon were answered suggests this may already be happening.</a:t>
            </a:r>
            <a:endParaRPr lang="en-US" sz="1400" dirty="0"/>
          </a:p>
        </p:txBody>
      </p:sp>
      <p:sp>
        <p:nvSpPr>
          <p:cNvPr id="10" name="Text 8"/>
          <p:cNvSpPr/>
          <p:nvPr/>
        </p:nvSpPr>
        <p:spPr>
          <a:xfrm>
            <a:off x="640080" y="5349240"/>
            <a:ext cx="10881360" cy="411480"/>
          </a:xfrm>
          <a:prstGeom prst="rect">
            <a:avLst/>
          </a:prstGeom>
          <a:noFill/>
          <a:ln/>
        </p:spPr>
        <p:txBody>
          <a:bodyPr wrap="square" lIns="0" tIns="0" rIns="0" bIns="0" rtlCol="0" anchor="ctr"/>
          <a:lstStyle/>
          <a:p>
            <a:pPr indent="0" marL="0">
              <a:buNone/>
            </a:pPr>
            <a:r>
              <a:rPr lang="en-US" sz="1700" i="1" dirty="0">
                <a:solidFill>
                  <a:srgbClr val="1E2761"/>
                </a:solidFill>
                <a:latin typeface="Cambria" pitchFamily="34" charset="0"/>
                <a:ea typeface="Cambria" pitchFamily="34" charset="-122"/>
                <a:cs typeface="Cambria" pitchFamily="34" charset="-120"/>
              </a:rPr>
              <a:t>Getting this wrong is expensive in both directions. That is why the question deserves an answer.</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1645920" y="3840480"/>
            <a:ext cx="4572000" cy="4572000"/>
          </a:xfrm>
          <a:prstGeom prst="ellipse">
            <a:avLst/>
          </a:prstGeom>
          <a:solidFill>
            <a:srgbClr val="141B45"/>
          </a:solidFill>
          <a:ln/>
        </p:spPr>
      </p:sp>
      <p:sp>
        <p:nvSpPr>
          <p:cNvPr id="3" name="Shape 1"/>
          <p:cNvSpPr/>
          <p:nvPr/>
        </p:nvSpPr>
        <p:spPr>
          <a:xfrm>
            <a:off x="10881360" y="-1097280"/>
            <a:ext cx="3291840" cy="3291840"/>
          </a:xfrm>
          <a:prstGeom prst="ellipse">
            <a:avLst/>
          </a:prstGeom>
          <a:solidFill>
            <a:srgbClr val="141B45"/>
          </a:solidFill>
          <a:ln/>
        </p:spPr>
      </p:sp>
      <p:sp>
        <p:nvSpPr>
          <p:cNvPr id="4" name="Text 2"/>
          <p:cNvSpPr/>
          <p:nvPr/>
        </p:nvSpPr>
        <p:spPr>
          <a:xfrm>
            <a:off x="640080" y="777240"/>
            <a:ext cx="1088136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this study adds</a:t>
            </a:r>
            <a:endParaRPr lang="en-US" sz="3400" dirty="0"/>
          </a:p>
        </p:txBody>
      </p:sp>
      <p:sp>
        <p:nvSpPr>
          <p:cNvPr id="5" name="Shape 3"/>
          <p:cNvSpPr/>
          <p:nvPr/>
        </p:nvSpPr>
        <p:spPr>
          <a:xfrm>
            <a:off x="640080" y="1691640"/>
            <a:ext cx="530352" cy="530352"/>
          </a:xfrm>
          <a:prstGeom prst="ellipse">
            <a:avLst/>
          </a:prstGeom>
          <a:solidFill>
            <a:srgbClr val="D98C1F"/>
          </a:solidFill>
          <a:ln/>
        </p:spPr>
      </p:sp>
      <p:sp>
        <p:nvSpPr>
          <p:cNvPr id="6" name="Text 4"/>
          <p:cNvSpPr/>
          <p:nvPr/>
        </p:nvSpPr>
        <p:spPr>
          <a:xfrm>
            <a:off x="640080" y="1691640"/>
            <a:ext cx="530352" cy="530352"/>
          </a:xfrm>
          <a:prstGeom prst="rect">
            <a:avLst/>
          </a:prstGeom>
          <a:noFill/>
          <a:ln/>
        </p:spPr>
        <p:txBody>
          <a:bodyPr wrap="square" lIns="0" tIns="0" rIns="0" bIns="0" rtlCol="0" anchor="ctr"/>
          <a:lstStyle/>
          <a:p>
            <a:pPr algn="ctr" indent="0" marL="0">
              <a:buNone/>
            </a:pPr>
            <a:r>
              <a:rPr lang="en-US" sz="1400" b="1" dirty="0">
                <a:solidFill>
                  <a:srgbClr val="141B45"/>
                </a:solidFill>
                <a:latin typeface="Cambria" pitchFamily="34" charset="0"/>
                <a:ea typeface="Cambria" pitchFamily="34" charset="-122"/>
                <a:cs typeface="Cambria" pitchFamily="34" charset="-120"/>
              </a:rPr>
              <a:t>1</a:t>
            </a:r>
            <a:endParaRPr lang="en-US" sz="1400" dirty="0"/>
          </a:p>
        </p:txBody>
      </p:sp>
      <p:sp>
        <p:nvSpPr>
          <p:cNvPr id="7" name="Text 5"/>
          <p:cNvSpPr/>
          <p:nvPr/>
        </p:nvSpPr>
        <p:spPr>
          <a:xfrm>
            <a:off x="1444752" y="1645920"/>
            <a:ext cx="10058400" cy="777240"/>
          </a:xfrm>
          <a:prstGeom prst="rect">
            <a:avLst/>
          </a:prstGeom>
          <a:noFill/>
          <a:ln/>
        </p:spPr>
        <p:txBody>
          <a:bodyPr wrap="square" lIns="0" tIns="0" rIns="0" bIns="0" rtlCol="0" anchor="ctr"/>
          <a:lstStyle/>
          <a:p>
            <a:pPr indent="0" marL="0">
              <a:lnSpc>
                <a:spcPts val="2100"/>
              </a:lnSpc>
              <a:buNone/>
            </a:pPr>
            <a:r>
              <a:rPr lang="en-US" sz="1500" dirty="0">
                <a:solidFill>
                  <a:srgbClr val="CADCFC"/>
                </a:solidFill>
                <a:latin typeface="Calibri" pitchFamily="34" charset="0"/>
                <a:ea typeface="Calibri" pitchFamily="34" charset="-122"/>
                <a:cs typeface="Calibri" pitchFamily="34" charset="-120"/>
              </a:rPr>
              <a:t>It puts two findings side by side that nobody had joined: what analysts say this activity means, and how governments actually respond to it.</a:t>
            </a:r>
            <a:endParaRPr lang="en-US" sz="1500" dirty="0"/>
          </a:p>
        </p:txBody>
      </p:sp>
      <p:sp>
        <p:nvSpPr>
          <p:cNvPr id="8" name="Shape 6"/>
          <p:cNvSpPr/>
          <p:nvPr/>
        </p:nvSpPr>
        <p:spPr>
          <a:xfrm>
            <a:off x="640080" y="2679192"/>
            <a:ext cx="530352" cy="530352"/>
          </a:xfrm>
          <a:prstGeom prst="ellipse">
            <a:avLst/>
          </a:prstGeom>
          <a:solidFill>
            <a:srgbClr val="D98C1F"/>
          </a:solidFill>
          <a:ln/>
        </p:spPr>
      </p:sp>
      <p:sp>
        <p:nvSpPr>
          <p:cNvPr id="9" name="Text 7"/>
          <p:cNvSpPr/>
          <p:nvPr/>
        </p:nvSpPr>
        <p:spPr>
          <a:xfrm>
            <a:off x="640080" y="2679192"/>
            <a:ext cx="530352" cy="530352"/>
          </a:xfrm>
          <a:prstGeom prst="rect">
            <a:avLst/>
          </a:prstGeom>
          <a:noFill/>
          <a:ln/>
        </p:spPr>
        <p:txBody>
          <a:bodyPr wrap="square" lIns="0" tIns="0" rIns="0" bIns="0" rtlCol="0" anchor="ctr"/>
          <a:lstStyle/>
          <a:p>
            <a:pPr algn="ctr" indent="0" marL="0">
              <a:buNone/>
            </a:pPr>
            <a:r>
              <a:rPr lang="en-US" sz="1400" b="1" dirty="0">
                <a:solidFill>
                  <a:srgbClr val="141B45"/>
                </a:solidFill>
                <a:latin typeface="Cambria" pitchFamily="34" charset="0"/>
                <a:ea typeface="Cambria" pitchFamily="34" charset="-122"/>
                <a:cs typeface="Cambria" pitchFamily="34" charset="-120"/>
              </a:rPr>
              <a:t>2</a:t>
            </a:r>
            <a:endParaRPr lang="en-US" sz="1400" dirty="0"/>
          </a:p>
        </p:txBody>
      </p:sp>
      <p:sp>
        <p:nvSpPr>
          <p:cNvPr id="10" name="Text 8"/>
          <p:cNvSpPr/>
          <p:nvPr/>
        </p:nvSpPr>
        <p:spPr>
          <a:xfrm>
            <a:off x="1444752" y="2633472"/>
            <a:ext cx="10058400" cy="777240"/>
          </a:xfrm>
          <a:prstGeom prst="rect">
            <a:avLst/>
          </a:prstGeom>
          <a:noFill/>
          <a:ln/>
        </p:spPr>
        <p:txBody>
          <a:bodyPr wrap="square" lIns="0" tIns="0" rIns="0" bIns="0" rtlCol="0" anchor="ctr"/>
          <a:lstStyle/>
          <a:p>
            <a:pPr indent="0" marL="0">
              <a:lnSpc>
                <a:spcPts val="2100"/>
              </a:lnSpc>
              <a:buNone/>
            </a:pPr>
            <a:r>
              <a:rPr lang="en-US" sz="1500" dirty="0">
                <a:solidFill>
                  <a:srgbClr val="CADCFC"/>
                </a:solidFill>
                <a:latin typeface="Calibri" pitchFamily="34" charset="0"/>
                <a:ea typeface="Calibri" pitchFamily="34" charset="-122"/>
                <a:cs typeface="Calibri" pitchFamily="34" charset="-120"/>
              </a:rPr>
              <a:t>It questions the assumption underneath the standard reading, that staying hidden is expensive, and asks what AI does to it.</a:t>
            </a:r>
            <a:endParaRPr lang="en-US" sz="1500" dirty="0"/>
          </a:p>
        </p:txBody>
      </p:sp>
      <p:sp>
        <p:nvSpPr>
          <p:cNvPr id="11" name="Shape 9"/>
          <p:cNvSpPr/>
          <p:nvPr/>
        </p:nvSpPr>
        <p:spPr>
          <a:xfrm>
            <a:off x="640080" y="3666744"/>
            <a:ext cx="530352" cy="530352"/>
          </a:xfrm>
          <a:prstGeom prst="ellipse">
            <a:avLst/>
          </a:prstGeom>
          <a:solidFill>
            <a:srgbClr val="D98C1F"/>
          </a:solidFill>
          <a:ln/>
        </p:spPr>
      </p:sp>
      <p:sp>
        <p:nvSpPr>
          <p:cNvPr id="12" name="Text 10"/>
          <p:cNvSpPr/>
          <p:nvPr/>
        </p:nvSpPr>
        <p:spPr>
          <a:xfrm>
            <a:off x="640080" y="3666744"/>
            <a:ext cx="530352" cy="530352"/>
          </a:xfrm>
          <a:prstGeom prst="rect">
            <a:avLst/>
          </a:prstGeom>
          <a:noFill/>
          <a:ln/>
        </p:spPr>
        <p:txBody>
          <a:bodyPr wrap="square" lIns="0" tIns="0" rIns="0" bIns="0" rtlCol="0" anchor="ctr"/>
          <a:lstStyle/>
          <a:p>
            <a:pPr algn="ctr" indent="0" marL="0">
              <a:buNone/>
            </a:pPr>
            <a:r>
              <a:rPr lang="en-US" sz="1400" b="1" dirty="0">
                <a:solidFill>
                  <a:srgbClr val="141B45"/>
                </a:solidFill>
                <a:latin typeface="Cambria" pitchFamily="34" charset="0"/>
                <a:ea typeface="Cambria" pitchFamily="34" charset="-122"/>
                <a:cs typeface="Cambria" pitchFamily="34" charset="-120"/>
              </a:rPr>
              <a:t>3</a:t>
            </a:r>
            <a:endParaRPr lang="en-US" sz="1400" dirty="0"/>
          </a:p>
        </p:txBody>
      </p:sp>
      <p:sp>
        <p:nvSpPr>
          <p:cNvPr id="13" name="Text 11"/>
          <p:cNvSpPr/>
          <p:nvPr/>
        </p:nvSpPr>
        <p:spPr>
          <a:xfrm>
            <a:off x="1444752" y="3621024"/>
            <a:ext cx="10058400" cy="777240"/>
          </a:xfrm>
          <a:prstGeom prst="rect">
            <a:avLst/>
          </a:prstGeom>
          <a:noFill/>
          <a:ln/>
        </p:spPr>
        <p:txBody>
          <a:bodyPr wrap="square" lIns="0" tIns="0" rIns="0" bIns="0" rtlCol="0" anchor="ctr"/>
          <a:lstStyle/>
          <a:p>
            <a:pPr indent="0" marL="0">
              <a:lnSpc>
                <a:spcPts val="2100"/>
              </a:lnSpc>
              <a:buNone/>
            </a:pPr>
            <a:r>
              <a:rPr lang="en-US" sz="1500" dirty="0">
                <a:solidFill>
                  <a:srgbClr val="CADCFC"/>
                </a:solidFill>
                <a:latin typeface="Calibri" pitchFamily="34" charset="0"/>
                <a:ea typeface="Calibri" pitchFamily="34" charset="-122"/>
                <a:cs typeface="Calibri" pitchFamily="34" charset="-120"/>
              </a:rPr>
              <a:t>It records a fact the field has not faced. There is no case where this led to a successful attack.</a:t>
            </a:r>
            <a:endParaRPr lang="en-US" sz="1500" dirty="0"/>
          </a:p>
        </p:txBody>
      </p:sp>
      <p:sp>
        <p:nvSpPr>
          <p:cNvPr id="14" name="Shape 12"/>
          <p:cNvSpPr/>
          <p:nvPr/>
        </p:nvSpPr>
        <p:spPr>
          <a:xfrm>
            <a:off x="640080" y="4937760"/>
            <a:ext cx="1005840" cy="32004"/>
          </a:xfrm>
          <a:prstGeom prst="rect">
            <a:avLst/>
          </a:prstGeom>
          <a:solidFill>
            <a:srgbClr val="D98C1F"/>
          </a:solidFill>
          <a:ln/>
        </p:spPr>
      </p:sp>
      <p:sp>
        <p:nvSpPr>
          <p:cNvPr id="15" name="Text 13"/>
          <p:cNvSpPr/>
          <p:nvPr/>
        </p:nvSpPr>
        <p:spPr>
          <a:xfrm>
            <a:off x="640080" y="5212080"/>
            <a:ext cx="10881360" cy="502920"/>
          </a:xfrm>
          <a:prstGeom prst="rect">
            <a:avLst/>
          </a:prstGeom>
          <a:noFill/>
          <a:ln/>
        </p:spPr>
        <p:txBody>
          <a:bodyPr wrap="square" lIns="0" tIns="0" rIns="0" bIns="0" rtlCol="0" anchor="ctr"/>
          <a:lstStyle/>
          <a:p>
            <a:pPr indent="0" marL="0">
              <a:buNone/>
            </a:pPr>
            <a:r>
              <a:rPr lang="en-US" sz="2200" i="1" dirty="0">
                <a:solidFill>
                  <a:srgbClr val="FFFFFF"/>
                </a:solidFill>
                <a:latin typeface="Cambria" pitchFamily="34" charset="0"/>
                <a:ea typeface="Cambria" pitchFamily="34" charset="-122"/>
                <a:cs typeface="Cambria" pitchFamily="34" charset="-120"/>
              </a:rPr>
              <a:t>We have been reading a message that may never have been sent.</a:t>
            </a:r>
            <a:endParaRPr lang="en-US" sz="2200" dirty="0"/>
          </a:p>
        </p:txBody>
      </p:sp>
      <p:sp>
        <p:nvSpPr>
          <p:cNvPr id="16" name="Text 14"/>
          <p:cNvSpPr/>
          <p:nvPr/>
        </p:nvSpPr>
        <p:spPr>
          <a:xfrm>
            <a:off x="640080" y="5852160"/>
            <a:ext cx="10881360" cy="320040"/>
          </a:xfrm>
          <a:prstGeom prst="rect">
            <a:avLst/>
          </a:prstGeom>
          <a:noFill/>
          <a:ln/>
        </p:spPr>
        <p:txBody>
          <a:bodyPr wrap="square" lIns="0" tIns="0" rIns="0" bIns="0" rtlCol="0" anchor="ctr"/>
          <a:lstStyle/>
          <a:p>
            <a:pPr indent="0" marL="0">
              <a:buNone/>
            </a:pPr>
            <a:r>
              <a:rPr lang="en-US" sz="1400" dirty="0">
                <a:solidFill>
                  <a:srgbClr val="A9B6DC"/>
                </a:solidFill>
                <a:latin typeface="Calibri" pitchFamily="34" charset="0"/>
                <a:ea typeface="Calibri" pitchFamily="34" charset="-122"/>
                <a:cs typeface="Calibri" pitchFamily="34" charset="-120"/>
              </a:rPr>
              <a:t>Thank you. Questions welcome.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Price of Patience</dc:title>
  <dc:subject>PptxGenJS Presentation</dc:subject>
  <dc:creator>Strategic Studies</dc:creator>
  <cp:lastModifiedBy>Strategic Studies</cp:lastModifiedBy>
  <cp:revision>1</cp:revision>
  <dcterms:created xsi:type="dcterms:W3CDTF">2026-08-05T17:15:27Z</dcterms:created>
  <dcterms:modified xsi:type="dcterms:W3CDTF">2026-08-05T17:15:27Z</dcterms:modified>
</cp:coreProperties>
</file>