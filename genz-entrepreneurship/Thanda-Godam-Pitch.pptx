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6B63"/>
                </a:solidFill>
                <a:latin typeface="Calibri"/>
              </a:defRPr>
            </a:pPr>
            <a:r>
              <a:rPr sz="1200" b="0" i="0" u="none" strike="noStrike">
                <a:solidFill>
                  <a:srgbClr val="5F6B63"/>
                </a:solidFill>
                <a:latin typeface="Calibri"/>
              </a:rPr>
              <a:t>PKR per month, one 5 tonne unit</a:t>
            </a:r>
          </a:p>
        </c:rich>
      </c:tx>
      <c:layout/>
      <c:overlay val="0"/>
    </c:title>
    <c:autoTitleDeleted val="0"/>
    <c:plotArea>
      <c:layout/>
      <c:barChart>
        <c:barDir val="col"/>
        <c:grouping val="clustered"/>
        <c:varyColors val="0"/>
        <c:ser>
          <c:idx val="0"/>
          <c:order val="0"/>
          <c:tx>
            <c:strRef>
              <c:f>Sheet1!$B$1</c:f>
              <c:strCache>
                <c:ptCount val="1"/>
                <c:pt idx="0">
                  <c:v>PKR per month</c:v>
                </c:pt>
              </c:strCache>
            </c:strRef>
          </c:tx>
          <c:spPr>
            <a:solidFill>
              <a:srgbClr val="2E7D5B"/>
            </a:solidFill>
            <a:effectLst/>
          </c:spPr>
          <c:invertIfNegative val="0"/>
          <c:dLbls>
            <c:numFmt formatCode="#,##0" sourceLinked="0"/>
            <c:txPr>
              <a:bodyPr/>
              <a:lstStyle/>
              <a:p>
                <a:pPr>
                  <a:defRPr b="0" i="0" strike="noStrike" sz="1000" u="none">
                    <a:solidFill>
                      <a:srgbClr val="1A1A1A"/>
                    </a:solidFill>
                    <a:latin typeface="Calibri"/>
                  </a:defRPr>
                </a:pPr>
              </a:p>
            </c:txPr>
            <c:showLegendKey val="0"/>
            <c:showVal val="1"/>
            <c:showCatName val="0"/>
            <c:showSerName val="0"/>
            <c:showPercent val="0"/>
            <c:showBubbleSize val="0"/>
            <c:showLeaderLines val="0"/>
          </c:dLbls>
          <c:dPt>
            <c:idx val="0"/>
            <c:invertIfNegative val="0"/>
            <c:bubble3D val="0"/>
            <c:spPr>
              <a:solidFill>
                <a:srgbClr val="2E7D5B"/>
              </a:solidFill>
              <a:effectLst/>
            </c:spPr>
          </c:dPt>
          <c:dPt>
            <c:idx val="1"/>
            <c:invertIfNegative val="0"/>
            <c:bubble3D val="0"/>
            <c:spPr>
              <a:solidFill>
                <a:srgbClr val="6FB08C"/>
              </a:solidFill>
              <a:effectLst/>
            </c:spPr>
          </c:dPt>
          <c:dPt>
            <c:idx val="2"/>
            <c:invertIfNegative val="0"/>
            <c:bubble3D val="0"/>
            <c:spPr>
              <a:solidFill>
                <a:srgbClr val="C9552E"/>
              </a:solidFill>
              <a:effectLst/>
            </c:spPr>
          </c:dPt>
          <c:cat>
            <c:multiLvlStrRef>
              <c:f>Sheet1!$A$2:$A$4</c:f>
              <c:multiLvlStrCache>
                <c:ptCount val="3"/>
                <c:lvl>
                  <c:pt idx="0">
                    <c:v>Crate
rental</c:v>
                  </c:pt>
                  <c:pt idx="1">
                    <c:v>Aggregation
margin</c:v>
                  </c:pt>
                  <c:pt idx="2">
                    <c:v>Running
costs</c:v>
                  </c:pt>
                </c:lvl>
              </c:multiLvlStrCache>
            </c:multiLvlStrRef>
          </c:cat>
          <c:val>
            <c:numRef>
              <c:f>Sheet1!$B$2:$B$4</c:f>
              <c:numCache>
                <c:formatCode>General</c:formatCode>
                <c:ptCount val="3"/>
                <c:pt idx="0">
                  <c:v>54000</c:v>
                </c:pt>
                <c:pt idx="1">
                  <c:v>63000</c:v>
                </c:pt>
                <c:pt idx="2">
                  <c:v>85000</c:v>
                </c:pt>
              </c:numCache>
            </c:numRef>
          </c:val>
        </c:ser>
        <c:dLbls>
          <c:numFmt formatCode="#,##0" sourceLinked="0"/>
          <c:txPr>
            <a:bodyPr/>
            <a:lstStyle/>
            <a:p>
              <a:pPr>
                <a:defRPr b="0" i="0" strike="noStrike" sz="1000" u="none">
                  <a:solidFill>
                    <a:srgbClr val="1A1A1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A1A1A"/>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6EB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person, not the sector. Say: a grower in Okara picks 200 kilos of tomatoes on a Tuesday morning. By Thursday they are soft. He sells on Wednesday at whatever the mandi offers. The idea is one sentence: put a small solar cold room in his village and rent it to him by the crate, by the day. Say it and then stop. Do not add anything to it until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the numbers. The point of this slide is that the loss is not a farming failure, it is a storage and timing failure. Pakistan already grows the food. Roughly 900,000 tonnes of cold storage against 13 to 15 million tonnes of production is the gap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pitch rests on. If the panel remembers one thing, it should be that we are not selling refrigeration, we are selling the ability to wait. Say that out loud. The 20 to 30 percent farmer share figure comes from reporting on the arhti system and is worth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question: why has nobody done this already. The answer is on this slide. Cold storage in Pakistan was built as trader infrastructure. The economics of a 1,000 tonne facility force season contracts and truckload minimums. Nothing about it is designed for a two acre farmer.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Say which numbers are read and which are heard first hand. A panel trusts a presenter who separates the two. The three questions on the right are the ones that decide whether the idea works, so lead with those answers when you have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name and then the one line description, nothing more, before you go into the three pillars. Close on the two lines at the bottom and pause. That is the sentence you want repeated when the panel discusses the ideas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without reading the cards word for word. The important design choice is that step 5 is optional. The grower is never forced to sell through us, which is what makes him willing to try the storage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between user, payer and beneficiary clear, because it is the thing panels probe. The grower is both user and payer for storage. The city buyer is the payer for aggregation. Be upfront that the 300 to 400 household figure is our own estimate and not a published number. If asked why Okara: Okara, Depalpur, Kasur, Sahiwal and Pakpattan carry about 75 percent of Punjab's potato crop, so the district already has cold storage, all of it sized and contracted for potato traders. The vegetable growers farming next to it get nothing from it. That contrast is the reason we chose the site, and it is also why we lead with tomato, chili and leafy greens rather than potato.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slide slowly and let the panel follow the arithmetic. The argument is not that we save 40 percent of the national harvest, it is that one grower gets two and a half rupees back for every rupee he risks. That is what makes him try it a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hide the payback period. Saying it before the panel finds it is what makes the rest of the numbers credible. The structure is deliberate: grant capital for the room, trading income for the operations. The capital estimate of PKR 2.5 million still needs three supplier quotes, which is week 4 to 6 of 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card is the one that will earn you marks. Most student pitches paint the arhti as the enemy. PIDE's research argues he provides credit nobody else provides. Saying that shows you read past the obvious source, and it also makes our plan more realistic, because he is the person who can kill the project in a village if he wants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about social media or a mobile app, be clear that our customer decides at the input dealer's shop and at Friday prayers, not on a feed. A rate group on WhatsApp is the only digital piece we need at the start, and it works because everyone already has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ready but move through it quickly unless asked. The two in orange are the ones that actually decide whether a first season works. Trust is the real product in a village, not refrigeration.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ask, not on a thank you slide. Be specific and be small: one unit, one village, one season. A modest ask that can be said yes to in the room beats a large one that has to be taken away and thought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up during questions. If a number is challenged, point at where it came from. The box at the bottom lists everything that is our own estimate rather than a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731520"/>
            <a:ext cx="10881360" cy="274320"/>
          </a:xfrm>
          <a:prstGeom prst="rect">
            <a:avLst/>
          </a:prstGeom>
          <a:noFill/>
          <a:ln/>
        </p:spPr>
        <p:txBody>
          <a:bodyPr wrap="square" lIns="0" tIns="0" rIns="0" bIns="0" rtlCol="0" anchor="ctr"/>
          <a:lstStyle/>
          <a:p>
            <a:pPr indent="0" marL="0">
              <a:buNone/>
            </a:pPr>
            <a:r>
              <a:rPr lang="en-US" sz="1150" b="1" spc="160" kern="0" dirty="0">
                <a:solidFill>
                  <a:srgbClr val="9BC4A8"/>
                </a:solidFill>
                <a:latin typeface="Calibri" pitchFamily="34" charset="0"/>
                <a:ea typeface="Calibri" pitchFamily="34" charset="-122"/>
                <a:cs typeface="Calibri" pitchFamily="34" charset="-120"/>
              </a:rPr>
              <a:t>ALKHIDMAT SUMMER INTERNSHIP 2026   |   GEN Z ENTREPRENEURSHIP INITIATIVE</a:t>
            </a:r>
            <a:endParaRPr lang="en-US" sz="1150" dirty="0"/>
          </a:p>
        </p:txBody>
      </p:sp>
      <p:sp>
        <p:nvSpPr>
          <p:cNvPr id="3" name="Text 1"/>
          <p:cNvSpPr/>
          <p:nvPr/>
        </p:nvSpPr>
        <p:spPr>
          <a:xfrm>
            <a:off x="640080" y="1371600"/>
            <a:ext cx="10881360" cy="1143000"/>
          </a:xfrm>
          <a:prstGeom prst="rect">
            <a:avLst/>
          </a:prstGeom>
          <a:noFill/>
          <a:ln/>
        </p:spPr>
        <p:txBody>
          <a:bodyPr wrap="square" lIns="0" tIns="0" rIns="0" bIns="0" rtlCol="0" anchor="ctr"/>
          <a:lstStyle/>
          <a:p>
            <a:pPr indent="0" marL="0">
              <a:buNone/>
            </a:pPr>
            <a:r>
              <a:rPr lang="en-US" sz="6600" b="1" spc="100" kern="0" dirty="0">
                <a:solidFill>
                  <a:srgbClr val="FFFFFF"/>
                </a:solidFill>
                <a:latin typeface="Cambria" pitchFamily="34" charset="0"/>
                <a:ea typeface="Cambria" pitchFamily="34" charset="-122"/>
                <a:cs typeface="Cambria" pitchFamily="34" charset="-120"/>
              </a:rPr>
              <a:t>THANDA GODAM</a:t>
            </a:r>
            <a:endParaRPr lang="en-US" sz="6600" dirty="0"/>
          </a:p>
        </p:txBody>
      </p:sp>
      <p:sp>
        <p:nvSpPr>
          <p:cNvPr id="4" name="Text 2"/>
          <p:cNvSpPr/>
          <p:nvPr/>
        </p:nvSpPr>
        <p:spPr>
          <a:xfrm>
            <a:off x="640080" y="2514600"/>
            <a:ext cx="7863840" cy="457200"/>
          </a:xfrm>
          <a:prstGeom prst="rect">
            <a:avLst/>
          </a:prstGeom>
          <a:noFill/>
          <a:ln/>
        </p:spPr>
        <p:txBody>
          <a:bodyPr wrap="square" lIns="0" tIns="0" rIns="0" bIns="0" rtlCol="0" anchor="ctr"/>
          <a:lstStyle/>
          <a:p>
            <a:pPr indent="0" marL="0">
              <a:buNone/>
            </a:pPr>
            <a:r>
              <a:rPr lang="en-US" sz="2300" dirty="0">
                <a:solidFill>
                  <a:srgbClr val="E4572E"/>
                </a:solidFill>
                <a:latin typeface="Calibri" pitchFamily="34" charset="0"/>
                <a:ea typeface="Calibri" pitchFamily="34" charset="-122"/>
                <a:cs typeface="Calibri" pitchFamily="34" charset="-120"/>
              </a:rPr>
              <a:t>Village cold storage, rented by the crate.</a:t>
            </a:r>
            <a:endParaRPr lang="en-US" sz="2300" dirty="0"/>
          </a:p>
        </p:txBody>
      </p:sp>
      <p:sp>
        <p:nvSpPr>
          <p:cNvPr id="5" name="Text 3"/>
          <p:cNvSpPr/>
          <p:nvPr/>
        </p:nvSpPr>
        <p:spPr>
          <a:xfrm>
            <a:off x="640080" y="3127248"/>
            <a:ext cx="8138160" cy="868680"/>
          </a:xfrm>
          <a:prstGeom prst="rect">
            <a:avLst/>
          </a:prstGeom>
          <a:noFill/>
          <a:ln/>
        </p:spPr>
        <p:txBody>
          <a:bodyPr wrap="square" lIns="0" tIns="0" rIns="0" bIns="0" rtlCol="0" anchor="ctr"/>
          <a:lstStyle/>
          <a:p>
            <a:pPr indent="0" marL="0">
              <a:lnSpc>
                <a:spcPts val="2400"/>
              </a:lnSpc>
              <a:buNone/>
            </a:pPr>
            <a:r>
              <a:rPr lang="en-US" sz="1500" dirty="0">
                <a:solidFill>
                  <a:srgbClr val="CFE1D5"/>
                </a:solidFill>
                <a:latin typeface="Calibri" pitchFamily="34" charset="0"/>
                <a:ea typeface="Calibri" pitchFamily="34" charset="-122"/>
                <a:cs typeface="Calibri" pitchFamily="34" charset="-120"/>
              </a:rPr>
              <a:t>A small grower with 200 kg of tomatoes has nowhere to keep them and no way to wait for a better price. We put a solar powered cold room inside the village and rent it out one crate at a time.</a:t>
            </a:r>
            <a:endParaRPr lang="en-US" sz="1500" dirty="0"/>
          </a:p>
        </p:txBody>
      </p:sp>
      <p:sp>
        <p:nvSpPr>
          <p:cNvPr id="6" name="Text 4"/>
          <p:cNvSpPr/>
          <p:nvPr/>
        </p:nvSpPr>
        <p:spPr>
          <a:xfrm>
            <a:off x="640080"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40%</a:t>
            </a:r>
            <a:endParaRPr lang="en-US" sz="3800" dirty="0"/>
          </a:p>
        </p:txBody>
      </p:sp>
      <p:sp>
        <p:nvSpPr>
          <p:cNvPr id="7" name="Text 5"/>
          <p:cNvSpPr/>
          <p:nvPr/>
        </p:nvSpPr>
        <p:spPr>
          <a:xfrm>
            <a:off x="640080"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of what growers harvest is lost after harvest</a:t>
            </a:r>
            <a:endParaRPr lang="en-US" sz="1250" dirty="0"/>
          </a:p>
        </p:txBody>
      </p:sp>
      <p:sp>
        <p:nvSpPr>
          <p:cNvPr id="8" name="Text 6"/>
          <p:cNvSpPr/>
          <p:nvPr/>
        </p:nvSpPr>
        <p:spPr>
          <a:xfrm>
            <a:off x="4315968"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&lt;1m</a:t>
            </a:r>
            <a:endParaRPr lang="en-US" sz="3800" dirty="0"/>
          </a:p>
        </p:txBody>
      </p:sp>
      <p:sp>
        <p:nvSpPr>
          <p:cNvPr id="9" name="Text 7"/>
          <p:cNvSpPr/>
          <p:nvPr/>
        </p:nvSpPr>
        <p:spPr>
          <a:xfrm>
            <a:off x="4315968"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tonnes of cold storage against 13m tonnes grown</a:t>
            </a:r>
            <a:endParaRPr lang="en-US" sz="1250" dirty="0"/>
          </a:p>
        </p:txBody>
      </p:sp>
      <p:sp>
        <p:nvSpPr>
          <p:cNvPr id="10" name="Text 8"/>
          <p:cNvSpPr/>
          <p:nvPr/>
        </p:nvSpPr>
        <p:spPr>
          <a:xfrm>
            <a:off x="7991856"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64%</a:t>
            </a:r>
            <a:endParaRPr lang="en-US" sz="3800" dirty="0"/>
          </a:p>
        </p:txBody>
      </p:sp>
      <p:sp>
        <p:nvSpPr>
          <p:cNvPr id="11" name="Text 9"/>
          <p:cNvSpPr/>
          <p:nvPr/>
        </p:nvSpPr>
        <p:spPr>
          <a:xfrm>
            <a:off x="7991856"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of Pakistan's farms are under 5 acres</a:t>
            </a:r>
            <a:endParaRPr lang="en-US" sz="1250" dirty="0"/>
          </a:p>
        </p:txBody>
      </p:sp>
      <p:sp>
        <p:nvSpPr>
          <p:cNvPr id="12" name="Text 10"/>
          <p:cNvSpPr/>
          <p:nvPr/>
        </p:nvSpPr>
        <p:spPr>
          <a:xfrm>
            <a:off x="640080" y="5989320"/>
            <a:ext cx="10881360" cy="320040"/>
          </a:xfrm>
          <a:prstGeom prst="rect">
            <a:avLst/>
          </a:prstGeom>
          <a:noFill/>
          <a:ln/>
        </p:spPr>
        <p:txBody>
          <a:bodyPr wrap="square" lIns="0" tIns="0" rIns="0" bIns="0" rtlCol="0" anchor="t"/>
          <a:lstStyle/>
          <a:p>
            <a:pPr indent="0" marL="0">
              <a:buNone/>
            </a:pPr>
            <a:r>
              <a:rPr lang="en-US" sz="1250" dirty="0">
                <a:solidFill>
                  <a:srgbClr val="7FA98D"/>
                </a:solidFill>
                <a:latin typeface="Calibri" pitchFamily="34" charset="0"/>
                <a:ea typeface="Calibri" pitchFamily="34" charset="-122"/>
                <a:cs typeface="Calibri" pitchFamily="34" charset="-120"/>
              </a:rPr>
              <a:t>15 and 16 August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01  THE PROBLEM</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The crop is grown. It is lost after harvest.</a:t>
            </a:r>
            <a:endParaRPr lang="en-US" sz="3100" dirty="0"/>
          </a:p>
        </p:txBody>
      </p:sp>
      <p:sp>
        <p:nvSpPr>
          <p:cNvPr id="4" name="Shape 2"/>
          <p:cNvSpPr/>
          <p:nvPr/>
        </p:nvSpPr>
        <p:spPr>
          <a:xfrm>
            <a:off x="640080"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5" name="Text 3"/>
          <p:cNvSpPr/>
          <p:nvPr/>
        </p:nvSpPr>
        <p:spPr>
          <a:xfrm>
            <a:off x="896112" y="2048256"/>
            <a:ext cx="3017520" cy="658368"/>
          </a:xfrm>
          <a:prstGeom prst="rect">
            <a:avLst/>
          </a:prstGeom>
          <a:noFill/>
          <a:ln/>
        </p:spPr>
        <p:txBody>
          <a:bodyPr wrap="square" lIns="0" tIns="0" rIns="0" bIns="0" rtlCol="0" anchor="ctr"/>
          <a:lstStyle/>
          <a:p>
            <a:pPr indent="0" marL="0">
              <a:buNone/>
            </a:pPr>
            <a:r>
              <a:rPr lang="en-US" sz="4000" b="1" dirty="0">
                <a:solidFill>
                  <a:srgbClr val="E4572E"/>
                </a:solidFill>
                <a:latin typeface="Cambria" pitchFamily="34" charset="0"/>
                <a:ea typeface="Cambria" pitchFamily="34" charset="-122"/>
                <a:cs typeface="Cambria" pitchFamily="34" charset="-120"/>
              </a:rPr>
              <a:t>40%</a:t>
            </a:r>
            <a:endParaRPr lang="en-US" sz="4000" dirty="0"/>
          </a:p>
        </p:txBody>
      </p:sp>
      <p:sp>
        <p:nvSpPr>
          <p:cNvPr id="6" name="Text 4"/>
          <p:cNvSpPr/>
          <p:nvPr/>
        </p:nvSpPr>
        <p:spPr>
          <a:xfrm>
            <a:off x="896112"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of Pakistan's perishable harvest is lost between the field and the buyer</a:t>
            </a:r>
            <a:endParaRPr lang="en-US" sz="1250" dirty="0"/>
          </a:p>
        </p:txBody>
      </p:sp>
      <p:sp>
        <p:nvSpPr>
          <p:cNvPr id="7" name="Shape 5"/>
          <p:cNvSpPr/>
          <p:nvPr/>
        </p:nvSpPr>
        <p:spPr>
          <a:xfrm>
            <a:off x="4315968"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8" name="Text 6"/>
          <p:cNvSpPr/>
          <p:nvPr/>
        </p:nvSpPr>
        <p:spPr>
          <a:xfrm>
            <a:off x="4572000" y="2048256"/>
            <a:ext cx="3017520" cy="658368"/>
          </a:xfrm>
          <a:prstGeom prst="rect">
            <a:avLst/>
          </a:prstGeom>
          <a:noFill/>
          <a:ln/>
        </p:spPr>
        <p:txBody>
          <a:bodyPr wrap="square" lIns="0" tIns="0" rIns="0" bIns="0" rtlCol="0" anchor="ctr"/>
          <a:lstStyle/>
          <a:p>
            <a:pPr indent="0" marL="0">
              <a:buNone/>
            </a:pPr>
            <a:r>
              <a:rPr lang="en-US" sz="4000" b="1" dirty="0">
                <a:solidFill>
                  <a:srgbClr val="2E7D5B"/>
                </a:solidFill>
                <a:latin typeface="Cambria" pitchFamily="34" charset="0"/>
                <a:ea typeface="Cambria" pitchFamily="34" charset="-122"/>
                <a:cs typeface="Cambria" pitchFamily="34" charset="-120"/>
              </a:rPr>
              <a:t>$1bn+</a:t>
            </a:r>
            <a:endParaRPr lang="en-US" sz="4000" dirty="0"/>
          </a:p>
        </p:txBody>
      </p:sp>
      <p:sp>
        <p:nvSpPr>
          <p:cNvPr id="9" name="Text 7"/>
          <p:cNvSpPr/>
          <p:nvPr/>
        </p:nvSpPr>
        <p:spPr>
          <a:xfrm>
            <a:off x="4572000"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the value the Asian Development Bank puts on that loss every year</a:t>
            </a:r>
            <a:endParaRPr lang="en-US" sz="1250" dirty="0"/>
          </a:p>
        </p:txBody>
      </p:sp>
      <p:sp>
        <p:nvSpPr>
          <p:cNvPr id="10" name="Shape 8"/>
          <p:cNvSpPr/>
          <p:nvPr/>
        </p:nvSpPr>
        <p:spPr>
          <a:xfrm>
            <a:off x="7991856"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11" name="Text 9"/>
          <p:cNvSpPr/>
          <p:nvPr/>
        </p:nvSpPr>
        <p:spPr>
          <a:xfrm>
            <a:off x="8247888" y="2048256"/>
            <a:ext cx="3017520" cy="658368"/>
          </a:xfrm>
          <a:prstGeom prst="rect">
            <a:avLst/>
          </a:prstGeom>
          <a:noFill/>
          <a:ln/>
        </p:spPr>
        <p:txBody>
          <a:bodyPr wrap="square" lIns="0" tIns="0" rIns="0" bIns="0" rtlCol="0" anchor="ctr"/>
          <a:lstStyle/>
          <a:p>
            <a:pPr indent="0" marL="0">
              <a:buNone/>
            </a:pPr>
            <a:r>
              <a:rPr lang="en-US" sz="4000" b="1" dirty="0">
                <a:solidFill>
                  <a:srgbClr val="14392A"/>
                </a:solidFill>
                <a:latin typeface="Cambria" pitchFamily="34" charset="0"/>
                <a:ea typeface="Cambria" pitchFamily="34" charset="-122"/>
                <a:cs typeface="Cambria" pitchFamily="34" charset="-120"/>
              </a:rPr>
              <a:t>900,000</a:t>
            </a:r>
            <a:endParaRPr lang="en-US" sz="4000" dirty="0"/>
          </a:p>
        </p:txBody>
      </p:sp>
      <p:sp>
        <p:nvSpPr>
          <p:cNvPr id="12" name="Text 10"/>
          <p:cNvSpPr/>
          <p:nvPr/>
        </p:nvSpPr>
        <p:spPr>
          <a:xfrm>
            <a:off x="8247888"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tonnes of cold storage capacity against 13 to 15 million tonnes grown</a:t>
            </a:r>
            <a:endParaRPr lang="en-US" sz="1250" dirty="0"/>
          </a:p>
        </p:txBody>
      </p:sp>
      <p:sp>
        <p:nvSpPr>
          <p:cNvPr id="13" name="Shape 11"/>
          <p:cNvSpPr/>
          <p:nvPr/>
        </p:nvSpPr>
        <p:spPr>
          <a:xfrm>
            <a:off x="640080" y="3931920"/>
            <a:ext cx="10881360" cy="1965960"/>
          </a:xfrm>
          <a:prstGeom prst="roundRect">
            <a:avLst>
              <a:gd name="adj" fmla="val 3721"/>
            </a:avLst>
          </a:prstGeom>
          <a:solidFill>
            <a:srgbClr val="14392A"/>
          </a:solidFill>
          <a:ln/>
          <a:effectLst>
            <a:outerShdw sx="100000" sy="100000" kx="0" ky="0" algn="bl" rotWithShape="0" blurRad="101600" dist="635" dir="5400000">
              <a:srgbClr val="9AA69E">
                <a:alpha val="12000"/>
              </a:srgbClr>
            </a:outerShdw>
          </a:effectLst>
        </p:spPr>
      </p:sp>
      <p:sp>
        <p:nvSpPr>
          <p:cNvPr id="14" name="Text 12"/>
          <p:cNvSpPr/>
          <p:nvPr/>
        </p:nvSpPr>
        <p:spPr>
          <a:xfrm>
            <a:off x="1024128" y="4160520"/>
            <a:ext cx="47548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Where the loss actually happens</a:t>
            </a:r>
            <a:endParaRPr lang="en-US" sz="1700" dirty="0"/>
          </a:p>
        </p:txBody>
      </p:sp>
      <p:sp>
        <p:nvSpPr>
          <p:cNvPr id="15" name="Text 13"/>
          <p:cNvSpPr/>
          <p:nvPr/>
        </p:nvSpPr>
        <p:spPr>
          <a:xfrm>
            <a:off x="102412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5-8%</a:t>
            </a:r>
            <a:endParaRPr lang="en-US" sz="2700" dirty="0"/>
          </a:p>
        </p:txBody>
      </p:sp>
      <p:sp>
        <p:nvSpPr>
          <p:cNvPr id="16" name="Text 14"/>
          <p:cNvSpPr/>
          <p:nvPr/>
        </p:nvSpPr>
        <p:spPr>
          <a:xfrm>
            <a:off x="102412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at harvesting</a:t>
            </a:r>
            <a:endParaRPr lang="en-US" sz="1300" dirty="0"/>
          </a:p>
        </p:txBody>
      </p:sp>
      <p:sp>
        <p:nvSpPr>
          <p:cNvPr id="17" name="Text 15"/>
          <p:cNvSpPr/>
          <p:nvPr/>
        </p:nvSpPr>
        <p:spPr>
          <a:xfrm>
            <a:off x="459028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15-20%</a:t>
            </a:r>
            <a:endParaRPr lang="en-US" sz="2700" dirty="0"/>
          </a:p>
        </p:txBody>
      </p:sp>
      <p:sp>
        <p:nvSpPr>
          <p:cNvPr id="18" name="Text 16"/>
          <p:cNvSpPr/>
          <p:nvPr/>
        </p:nvSpPr>
        <p:spPr>
          <a:xfrm>
            <a:off x="459028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in handling the picked crop</a:t>
            </a:r>
            <a:endParaRPr lang="en-US" sz="1300" dirty="0"/>
          </a:p>
        </p:txBody>
      </p:sp>
      <p:sp>
        <p:nvSpPr>
          <p:cNvPr id="19" name="Text 17"/>
          <p:cNvSpPr/>
          <p:nvPr/>
        </p:nvSpPr>
        <p:spPr>
          <a:xfrm>
            <a:off x="815644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10-12%</a:t>
            </a:r>
            <a:endParaRPr lang="en-US" sz="2700" dirty="0"/>
          </a:p>
        </p:txBody>
      </p:sp>
      <p:sp>
        <p:nvSpPr>
          <p:cNvPr id="20" name="Text 18"/>
          <p:cNvSpPr/>
          <p:nvPr/>
        </p:nvSpPr>
        <p:spPr>
          <a:xfrm>
            <a:off x="815644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in transport to market</a:t>
            </a:r>
            <a:endParaRPr lang="en-US" sz="1300" dirty="0"/>
          </a:p>
        </p:txBody>
      </p:sp>
      <p:sp>
        <p:nvSpPr>
          <p:cNvPr id="21" name="Text 19"/>
          <p:cNvSpPr/>
          <p:nvPr/>
        </p:nvSpPr>
        <p:spPr>
          <a:xfrm>
            <a:off x="1024128" y="5504688"/>
            <a:ext cx="10332720" cy="292608"/>
          </a:xfrm>
          <a:prstGeom prst="rect">
            <a:avLst/>
          </a:prstGeom>
          <a:noFill/>
          <a:ln/>
        </p:spPr>
        <p:txBody>
          <a:bodyPr wrap="square" lIns="0" tIns="0" rIns="0" bIns="0" rtlCol="0" anchor="ctr"/>
          <a:lstStyle/>
          <a:p>
            <a:pPr indent="0" marL="0">
              <a:buNone/>
            </a:pPr>
            <a:r>
              <a:rPr lang="en-US" sz="1250" i="1" dirty="0">
                <a:solidFill>
                  <a:srgbClr val="9BC4A8"/>
                </a:solidFill>
                <a:latin typeface="Calibri" pitchFamily="34" charset="0"/>
                <a:ea typeface="Calibri" pitchFamily="34" charset="-122"/>
                <a:cs typeface="Calibri" pitchFamily="34" charset="-120"/>
              </a:rPr>
              <a:t>Almost all of it happens after the hard work of growing is already done.</a:t>
            </a:r>
            <a:endParaRPr lang="en-US" sz="1250" dirty="0"/>
          </a:p>
        </p:txBody>
      </p:sp>
      <p:sp>
        <p:nvSpPr>
          <p:cNvPr id="22" name="Text 20"/>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Sources: Pakistan Today and FreshPlaza on the 40 percent figure, Dawn reporting on the ADB estimate, AgriHunt on stage by stage losses. Full list at the end.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02  WHY IT HAPPENS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A small grower has about 48 hours to sell.</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This is the part that most storage projects miss.</a:t>
            </a:r>
            <a:endParaRPr lang="en-US" sz="1450" dirty="0"/>
          </a:p>
        </p:txBody>
      </p:sp>
      <p:sp>
        <p:nvSpPr>
          <p:cNvPr id="5" name="Shape 3"/>
          <p:cNvSpPr/>
          <p:nvPr/>
        </p:nvSpPr>
        <p:spPr>
          <a:xfrm>
            <a:off x="640080"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6" name="Shape 4"/>
          <p:cNvSpPr/>
          <p:nvPr/>
        </p:nvSpPr>
        <p:spPr>
          <a:xfrm>
            <a:off x="640080" y="1965960"/>
            <a:ext cx="3520440" cy="1691640"/>
          </a:xfrm>
          <a:prstGeom prst="roundRect">
            <a:avLst>
              <a:gd name="adj" fmla="val 4324"/>
            </a:avLst>
          </a:prstGeom>
          <a:solidFill>
            <a:srgbClr val="FFFFFF"/>
          </a:solidFill>
          <a:ln w="12700">
            <a:solidFill>
              <a:srgbClr val="D8E0DA"/>
            </a:solidFill>
            <a:prstDash val="solid"/>
          </a:ln>
        </p:spPr>
      </p:sp>
      <p:sp>
        <p:nvSpPr>
          <p:cNvPr id="7" name="Shape 5"/>
          <p:cNvSpPr/>
          <p:nvPr/>
        </p:nvSpPr>
        <p:spPr>
          <a:xfrm>
            <a:off x="896112" y="2194560"/>
            <a:ext cx="420624" cy="420624"/>
          </a:xfrm>
          <a:prstGeom prst="ellipse">
            <a:avLst/>
          </a:prstGeom>
          <a:solidFill>
            <a:srgbClr val="2E7D5B"/>
          </a:solidFill>
          <a:ln/>
        </p:spPr>
      </p:sp>
      <p:sp>
        <p:nvSpPr>
          <p:cNvPr id="8" name="Text 6"/>
          <p:cNvSpPr/>
          <p:nvPr/>
        </p:nvSpPr>
        <p:spPr>
          <a:xfrm>
            <a:off x="896112"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p:nvPr/>
        </p:nvSpPr>
        <p:spPr>
          <a:xfrm>
            <a:off x="1426464"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0</a:t>
            </a:r>
            <a:endParaRPr lang="en-US" sz="1800" dirty="0"/>
          </a:p>
        </p:txBody>
      </p:sp>
      <p:sp>
        <p:nvSpPr>
          <p:cNvPr id="10" name="Text 8"/>
          <p:cNvSpPr/>
          <p:nvPr/>
        </p:nvSpPr>
        <p:spPr>
          <a:xfrm>
            <a:off x="896112"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He picks 200 to 400 kg. There is no cool place on the farm. The crates sit in the shade of a tree.</a:t>
            </a:r>
            <a:endParaRPr lang="en-US" sz="1250" dirty="0"/>
          </a:p>
        </p:txBody>
      </p:sp>
      <p:sp>
        <p:nvSpPr>
          <p:cNvPr id="11" name="Shape 9"/>
          <p:cNvSpPr/>
          <p:nvPr/>
        </p:nvSpPr>
        <p:spPr>
          <a:xfrm>
            <a:off x="4315968"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12" name="Shape 10"/>
          <p:cNvSpPr/>
          <p:nvPr/>
        </p:nvSpPr>
        <p:spPr>
          <a:xfrm>
            <a:off x="4315968" y="1965960"/>
            <a:ext cx="3520440" cy="1691640"/>
          </a:xfrm>
          <a:prstGeom prst="roundRect">
            <a:avLst>
              <a:gd name="adj" fmla="val 4324"/>
            </a:avLst>
          </a:prstGeom>
          <a:solidFill>
            <a:srgbClr val="FFFFFF"/>
          </a:solidFill>
          <a:ln w="12700">
            <a:solidFill>
              <a:srgbClr val="D8E0DA"/>
            </a:solidFill>
            <a:prstDash val="solid"/>
          </a:ln>
        </p:spPr>
      </p:sp>
      <p:sp>
        <p:nvSpPr>
          <p:cNvPr id="13" name="Shape 11"/>
          <p:cNvSpPr/>
          <p:nvPr/>
        </p:nvSpPr>
        <p:spPr>
          <a:xfrm>
            <a:off x="4572000" y="2194560"/>
            <a:ext cx="420624" cy="420624"/>
          </a:xfrm>
          <a:prstGeom prst="ellipse">
            <a:avLst/>
          </a:prstGeom>
          <a:solidFill>
            <a:srgbClr val="2E7D5B"/>
          </a:solidFill>
          <a:ln/>
        </p:spPr>
      </p:sp>
      <p:sp>
        <p:nvSpPr>
          <p:cNvPr id="14" name="Text 12"/>
          <p:cNvSpPr/>
          <p:nvPr/>
        </p:nvSpPr>
        <p:spPr>
          <a:xfrm>
            <a:off x="4572000"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5" name="Text 13"/>
          <p:cNvSpPr/>
          <p:nvPr/>
        </p:nvSpPr>
        <p:spPr>
          <a:xfrm>
            <a:off x="5102352"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1</a:t>
            </a:r>
            <a:endParaRPr lang="en-US" sz="1800" dirty="0"/>
          </a:p>
        </p:txBody>
      </p:sp>
      <p:sp>
        <p:nvSpPr>
          <p:cNvPr id="16" name="Text 14"/>
          <p:cNvSpPr/>
          <p:nvPr/>
        </p:nvSpPr>
        <p:spPr>
          <a:xfrm>
            <a:off x="4572000"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Heat starts working on the crop. Tomatoes soften, leafy greens wilt, weight drops.</a:t>
            </a:r>
            <a:endParaRPr lang="en-US" sz="1250" dirty="0"/>
          </a:p>
        </p:txBody>
      </p:sp>
      <p:sp>
        <p:nvSpPr>
          <p:cNvPr id="17" name="Shape 15"/>
          <p:cNvSpPr/>
          <p:nvPr/>
        </p:nvSpPr>
        <p:spPr>
          <a:xfrm>
            <a:off x="7991856"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18" name="Shape 16"/>
          <p:cNvSpPr/>
          <p:nvPr/>
        </p:nvSpPr>
        <p:spPr>
          <a:xfrm>
            <a:off x="7991856" y="1965960"/>
            <a:ext cx="3520440" cy="1691640"/>
          </a:xfrm>
          <a:prstGeom prst="roundRect">
            <a:avLst>
              <a:gd name="adj" fmla="val 4324"/>
            </a:avLst>
          </a:prstGeom>
          <a:solidFill>
            <a:srgbClr val="FFFFFF"/>
          </a:solidFill>
          <a:ln w="12700">
            <a:solidFill>
              <a:srgbClr val="D8E0DA"/>
            </a:solidFill>
            <a:prstDash val="solid"/>
          </a:ln>
        </p:spPr>
      </p:sp>
      <p:sp>
        <p:nvSpPr>
          <p:cNvPr id="19" name="Shape 17"/>
          <p:cNvSpPr/>
          <p:nvPr/>
        </p:nvSpPr>
        <p:spPr>
          <a:xfrm>
            <a:off x="8247888" y="2194560"/>
            <a:ext cx="420624" cy="420624"/>
          </a:xfrm>
          <a:prstGeom prst="ellipse">
            <a:avLst/>
          </a:prstGeom>
          <a:solidFill>
            <a:srgbClr val="E4572E"/>
          </a:solidFill>
          <a:ln/>
        </p:spPr>
      </p:sp>
      <p:sp>
        <p:nvSpPr>
          <p:cNvPr id="20" name="Text 18"/>
          <p:cNvSpPr/>
          <p:nvPr/>
        </p:nvSpPr>
        <p:spPr>
          <a:xfrm>
            <a:off x="8247888"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1" name="Text 19"/>
          <p:cNvSpPr/>
          <p:nvPr/>
        </p:nvSpPr>
        <p:spPr>
          <a:xfrm>
            <a:off x="8778240"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2</a:t>
            </a:r>
            <a:endParaRPr lang="en-US" sz="1800" dirty="0"/>
          </a:p>
        </p:txBody>
      </p:sp>
      <p:sp>
        <p:nvSpPr>
          <p:cNvPr id="22" name="Text 20"/>
          <p:cNvSpPr/>
          <p:nvPr/>
        </p:nvSpPr>
        <p:spPr>
          <a:xfrm>
            <a:off x="8247888"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It has to move now or it is worth nothing. He loads it and takes whatever the mandi pays that morning.</a:t>
            </a:r>
            <a:endParaRPr lang="en-US" sz="1250" dirty="0"/>
          </a:p>
        </p:txBody>
      </p:sp>
      <p:sp>
        <p:nvSpPr>
          <p:cNvPr id="23" name="Shape 21"/>
          <p:cNvSpPr/>
          <p:nvPr/>
        </p:nvSpPr>
        <p:spPr>
          <a:xfrm>
            <a:off x="640080" y="3931920"/>
            <a:ext cx="10881360" cy="1463040"/>
          </a:xfrm>
          <a:prstGeom prst="roundRect">
            <a:avLst>
              <a:gd name="adj" fmla="val 5000"/>
            </a:avLst>
          </a:prstGeom>
          <a:solidFill>
            <a:srgbClr val="F2F5F1"/>
          </a:solidFill>
          <a:ln/>
          <a:effectLst>
            <a:outerShdw sx="100000" sy="100000" kx="0" ky="0" algn="bl" rotWithShape="0" blurRad="101600" dist="635" dir="5400000">
              <a:srgbClr val="9AA69E">
                <a:alpha val="12000"/>
              </a:srgbClr>
            </a:outerShdw>
          </a:effectLst>
        </p:spPr>
      </p:sp>
      <p:sp>
        <p:nvSpPr>
          <p:cNvPr id="24" name="Text 22"/>
          <p:cNvSpPr/>
          <p:nvPr/>
        </p:nvSpPr>
        <p:spPr>
          <a:xfrm>
            <a:off x="1097280" y="4114800"/>
            <a:ext cx="10424160" cy="1097280"/>
          </a:xfrm>
          <a:prstGeom prst="rect">
            <a:avLst/>
          </a:prstGeom>
          <a:noFill/>
          <a:ln/>
        </p:spPr>
        <p:txBody>
          <a:bodyPr wrap="square" lIns="0" tIns="0" rIns="0" bIns="0" rtlCol="0" anchor="ctr"/>
          <a:lstStyle/>
          <a:p>
            <a:pPr indent="0" marL="0">
              <a:lnSpc>
                <a:spcPts val="3200"/>
              </a:lnSpc>
              <a:buNone/>
            </a:pPr>
            <a:r>
              <a:rPr lang="en-US" sz="2200" b="1" dirty="0">
                <a:solidFill>
                  <a:srgbClr val="1A1A1A"/>
                </a:solidFill>
                <a:latin typeface="Cambria" pitchFamily="34" charset="0"/>
                <a:ea typeface="Cambria" pitchFamily="34" charset="-122"/>
                <a:cs typeface="Cambria" pitchFamily="34" charset="-120"/>
              </a:rPr>
              <a:t>Small growers do not lose money because they farm badly.</a:t>
            </a:r>
            <a:endParaRPr lang="en-US" sz="2200" dirty="0"/>
          </a:p>
          <a:p>
            <a:pPr indent="0" marL="0">
              <a:lnSpc>
                <a:spcPts val="3200"/>
              </a:lnSpc>
              <a:buNone/>
            </a:pPr>
            <a:r>
              <a:rPr lang="en-US" sz="2200" b="1" dirty="0">
                <a:solidFill>
                  <a:srgbClr val="E4572E"/>
                </a:solidFill>
                <a:latin typeface="Cambria" pitchFamily="34" charset="0"/>
                <a:ea typeface="Cambria" pitchFamily="34" charset="-122"/>
                <a:cs typeface="Cambria" pitchFamily="34" charset="-120"/>
              </a:rPr>
              <a:t>They lose it because they cannot wait.</a:t>
            </a:r>
            <a:endParaRPr lang="en-US" sz="2200" dirty="0"/>
          </a:p>
        </p:txBody>
      </p:sp>
      <p:sp>
        <p:nvSpPr>
          <p:cNvPr id="25" name="Text 23"/>
          <p:cNvSpPr/>
          <p:nvPr/>
        </p:nvSpPr>
        <p:spPr>
          <a:xfrm>
            <a:off x="640080" y="5623560"/>
            <a:ext cx="10881360" cy="594360"/>
          </a:xfrm>
          <a:prstGeom prst="rect">
            <a:avLst/>
          </a:prstGeom>
          <a:noFill/>
          <a:ln/>
        </p:spPr>
        <p:txBody>
          <a:bodyPr wrap="square" lIns="0" tIns="0" rIns="0" bIns="0" rtlCol="0" anchor="t"/>
          <a:lstStyle/>
          <a:p>
            <a:pPr indent="0" marL="0">
              <a:lnSpc>
                <a:spcPts val="1900"/>
              </a:lnSpc>
              <a:buNone/>
            </a:pPr>
            <a:r>
              <a:rPr lang="en-US" sz="1350" dirty="0">
                <a:solidFill>
                  <a:srgbClr val="5F6B63"/>
                </a:solidFill>
                <a:latin typeface="Calibri" pitchFamily="34" charset="0"/>
                <a:ea typeface="Calibri" pitchFamily="34" charset="-122"/>
                <a:cs typeface="Calibri" pitchFamily="34" charset="-120"/>
              </a:rPr>
              <a:t>Tomato went from roughly PKR 90 a kg to PKR 400 and above within a few weeks this year. Everyone in the chain who can wait captures that movement. The grower, who cannot, ends up with 20 to 30 percent of what the customer finally pays.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03  THE GAP</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Cold storage exists. Just not for a two acre farm.</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Pakistan has around 555 cold storage units. Not one of them will take ten crates for ten days.</a:t>
            </a:r>
            <a:endParaRPr lang="en-US" sz="1450" dirty="0"/>
          </a:p>
        </p:txBody>
      </p:sp>
      <p:sp>
        <p:nvSpPr>
          <p:cNvPr id="5" name="Text 3"/>
          <p:cNvSpPr/>
          <p:nvPr/>
        </p:nvSpPr>
        <p:spPr>
          <a:xfrm>
            <a:off x="4160520" y="1874520"/>
            <a:ext cx="3657600" cy="292608"/>
          </a:xfrm>
          <a:prstGeom prst="rect">
            <a:avLst/>
          </a:prstGeom>
          <a:noFill/>
          <a:ln/>
        </p:spPr>
        <p:txBody>
          <a:bodyPr wrap="square" lIns="0" tIns="0" rIns="0" bIns="0" rtlCol="0" anchor="t"/>
          <a:lstStyle/>
          <a:p>
            <a:pPr indent="0" marL="0">
              <a:buNone/>
            </a:pPr>
            <a:r>
              <a:rPr lang="en-US" sz="1200" b="1" spc="100" kern="0" dirty="0">
                <a:solidFill>
                  <a:srgbClr val="5F6B63"/>
                </a:solidFill>
                <a:latin typeface="Calibri" pitchFamily="34" charset="0"/>
                <a:ea typeface="Calibri" pitchFamily="34" charset="-122"/>
                <a:cs typeface="Calibri" pitchFamily="34" charset="-120"/>
              </a:rPr>
              <a:t>What the market offers today</a:t>
            </a:r>
            <a:endParaRPr lang="en-US" sz="1200" dirty="0"/>
          </a:p>
        </p:txBody>
      </p:sp>
      <p:sp>
        <p:nvSpPr>
          <p:cNvPr id="6" name="Text 4"/>
          <p:cNvSpPr/>
          <p:nvPr/>
        </p:nvSpPr>
        <p:spPr>
          <a:xfrm>
            <a:off x="8001000" y="1874520"/>
            <a:ext cx="3657600" cy="292608"/>
          </a:xfrm>
          <a:prstGeom prst="rect">
            <a:avLst/>
          </a:prstGeom>
          <a:noFill/>
          <a:ln/>
        </p:spPr>
        <p:txBody>
          <a:bodyPr wrap="square" lIns="0" tIns="0" rIns="0" bIns="0" rtlCol="0" anchor="t"/>
          <a:lstStyle/>
          <a:p>
            <a:pPr indent="0" marL="0">
              <a:buNone/>
            </a:pPr>
            <a:r>
              <a:rPr lang="en-US" sz="1200" b="1" spc="100" kern="0" dirty="0">
                <a:solidFill>
                  <a:srgbClr val="2E7D5B"/>
                </a:solidFill>
                <a:latin typeface="Calibri" pitchFamily="34" charset="0"/>
                <a:ea typeface="Calibri" pitchFamily="34" charset="-122"/>
                <a:cs typeface="Calibri" pitchFamily="34" charset="-120"/>
              </a:rPr>
              <a:t>What a small grower needs</a:t>
            </a:r>
            <a:endParaRPr lang="en-US" sz="1200" dirty="0"/>
          </a:p>
        </p:txBody>
      </p:sp>
      <p:sp>
        <p:nvSpPr>
          <p:cNvPr id="7" name="Shape 5"/>
          <p:cNvSpPr/>
          <p:nvPr/>
        </p:nvSpPr>
        <p:spPr>
          <a:xfrm>
            <a:off x="640080" y="2231136"/>
            <a:ext cx="10881360" cy="585216"/>
          </a:xfrm>
          <a:prstGeom prst="rect">
            <a:avLst/>
          </a:prstGeom>
          <a:solidFill>
            <a:srgbClr val="F2F5F1"/>
          </a:solidFill>
          <a:ln/>
        </p:spPr>
      </p:sp>
      <p:sp>
        <p:nvSpPr>
          <p:cNvPr id="8" name="Text 6"/>
          <p:cNvSpPr/>
          <p:nvPr/>
        </p:nvSpPr>
        <p:spPr>
          <a:xfrm>
            <a:off x="868680" y="2286000"/>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Size</a:t>
            </a:r>
            <a:endParaRPr lang="en-US" sz="1400" dirty="0"/>
          </a:p>
        </p:txBody>
      </p:sp>
      <p:sp>
        <p:nvSpPr>
          <p:cNvPr id="9" name="Text 7"/>
          <p:cNvSpPr/>
          <p:nvPr/>
        </p:nvSpPr>
        <p:spPr>
          <a:xfrm>
            <a:off x="4160520" y="2286000"/>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1,000 tonnes and up</a:t>
            </a:r>
            <a:endParaRPr lang="en-US" sz="1300" dirty="0"/>
          </a:p>
        </p:txBody>
      </p:sp>
      <p:sp>
        <p:nvSpPr>
          <p:cNvPr id="10" name="Text 8"/>
          <p:cNvSpPr/>
          <p:nvPr/>
        </p:nvSpPr>
        <p:spPr>
          <a:xfrm>
            <a:off x="8001000" y="2286000"/>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5 tonnes, in the village</a:t>
            </a:r>
            <a:endParaRPr lang="en-US" sz="1300" dirty="0"/>
          </a:p>
        </p:txBody>
      </p:sp>
      <p:sp>
        <p:nvSpPr>
          <p:cNvPr id="11" name="Text 9"/>
          <p:cNvSpPr/>
          <p:nvPr/>
        </p:nvSpPr>
        <p:spPr>
          <a:xfrm>
            <a:off x="868680" y="2907792"/>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Location</a:t>
            </a:r>
            <a:endParaRPr lang="en-US" sz="1400" dirty="0"/>
          </a:p>
        </p:txBody>
      </p:sp>
      <p:sp>
        <p:nvSpPr>
          <p:cNvPr id="12" name="Text 10"/>
          <p:cNvSpPr/>
          <p:nvPr/>
        </p:nvSpPr>
        <p:spPr>
          <a:xfrm>
            <a:off x="4160520" y="2907792"/>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Industrial areas near big cities</a:t>
            </a:r>
            <a:endParaRPr lang="en-US" sz="1300" dirty="0"/>
          </a:p>
        </p:txBody>
      </p:sp>
      <p:sp>
        <p:nvSpPr>
          <p:cNvPr id="13" name="Text 11"/>
          <p:cNvSpPr/>
          <p:nvPr/>
        </p:nvSpPr>
        <p:spPr>
          <a:xfrm>
            <a:off x="8001000" y="2907792"/>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Within 15 minutes of the field</a:t>
            </a:r>
            <a:endParaRPr lang="en-US" sz="1300" dirty="0"/>
          </a:p>
        </p:txBody>
      </p:sp>
      <p:sp>
        <p:nvSpPr>
          <p:cNvPr id="14" name="Shape 12"/>
          <p:cNvSpPr/>
          <p:nvPr/>
        </p:nvSpPr>
        <p:spPr>
          <a:xfrm>
            <a:off x="640080" y="3474720"/>
            <a:ext cx="10881360" cy="585216"/>
          </a:xfrm>
          <a:prstGeom prst="rect">
            <a:avLst/>
          </a:prstGeom>
          <a:solidFill>
            <a:srgbClr val="F2F5F1"/>
          </a:solidFill>
          <a:ln/>
        </p:spPr>
      </p:sp>
      <p:sp>
        <p:nvSpPr>
          <p:cNvPr id="15" name="Text 13"/>
          <p:cNvSpPr/>
          <p:nvPr/>
        </p:nvSpPr>
        <p:spPr>
          <a:xfrm>
            <a:off x="868680" y="3529584"/>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Booking</a:t>
            </a:r>
            <a:endParaRPr lang="en-US" sz="1400" dirty="0"/>
          </a:p>
        </p:txBody>
      </p:sp>
      <p:sp>
        <p:nvSpPr>
          <p:cNvPr id="16" name="Text 14"/>
          <p:cNvSpPr/>
          <p:nvPr/>
        </p:nvSpPr>
        <p:spPr>
          <a:xfrm>
            <a:off x="4160520" y="3529584"/>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Season long contracts</a:t>
            </a:r>
            <a:endParaRPr lang="en-US" sz="1300" dirty="0"/>
          </a:p>
        </p:txBody>
      </p:sp>
      <p:sp>
        <p:nvSpPr>
          <p:cNvPr id="17" name="Text 15"/>
          <p:cNvSpPr/>
          <p:nvPr/>
        </p:nvSpPr>
        <p:spPr>
          <a:xfrm>
            <a:off x="8001000" y="3529584"/>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A few days at a time</a:t>
            </a:r>
            <a:endParaRPr lang="en-US" sz="1300" dirty="0"/>
          </a:p>
        </p:txBody>
      </p:sp>
      <p:sp>
        <p:nvSpPr>
          <p:cNvPr id="18" name="Text 16"/>
          <p:cNvSpPr/>
          <p:nvPr/>
        </p:nvSpPr>
        <p:spPr>
          <a:xfrm>
            <a:off x="868680" y="4151376"/>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Minimum</a:t>
            </a:r>
            <a:endParaRPr lang="en-US" sz="1400" dirty="0"/>
          </a:p>
        </p:txBody>
      </p:sp>
      <p:sp>
        <p:nvSpPr>
          <p:cNvPr id="19" name="Text 17"/>
          <p:cNvSpPr/>
          <p:nvPr/>
        </p:nvSpPr>
        <p:spPr>
          <a:xfrm>
            <a:off x="4160520" y="4151376"/>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Full truckloads</a:t>
            </a:r>
            <a:endParaRPr lang="en-US" sz="1300" dirty="0"/>
          </a:p>
        </p:txBody>
      </p:sp>
      <p:sp>
        <p:nvSpPr>
          <p:cNvPr id="20" name="Text 18"/>
          <p:cNvSpPr/>
          <p:nvPr/>
        </p:nvSpPr>
        <p:spPr>
          <a:xfrm>
            <a:off x="8001000" y="4151376"/>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Ten crates</a:t>
            </a:r>
            <a:endParaRPr lang="en-US" sz="1300" dirty="0"/>
          </a:p>
        </p:txBody>
      </p:sp>
      <p:sp>
        <p:nvSpPr>
          <p:cNvPr id="21" name="Shape 19"/>
          <p:cNvSpPr/>
          <p:nvPr/>
        </p:nvSpPr>
        <p:spPr>
          <a:xfrm>
            <a:off x="640080" y="4718304"/>
            <a:ext cx="10881360" cy="585216"/>
          </a:xfrm>
          <a:prstGeom prst="rect">
            <a:avLst/>
          </a:prstGeom>
          <a:solidFill>
            <a:srgbClr val="F2F5F1"/>
          </a:solidFill>
          <a:ln/>
        </p:spPr>
      </p:sp>
      <p:sp>
        <p:nvSpPr>
          <p:cNvPr id="22" name="Text 20"/>
          <p:cNvSpPr/>
          <p:nvPr/>
        </p:nvSpPr>
        <p:spPr>
          <a:xfrm>
            <a:off x="868680" y="4773168"/>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Power</a:t>
            </a:r>
            <a:endParaRPr lang="en-US" sz="1400" dirty="0"/>
          </a:p>
        </p:txBody>
      </p:sp>
      <p:sp>
        <p:nvSpPr>
          <p:cNvPr id="23" name="Text 21"/>
          <p:cNvSpPr/>
          <p:nvPr/>
        </p:nvSpPr>
        <p:spPr>
          <a:xfrm>
            <a:off x="4160520" y="4773168"/>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Grid, so load shedding hits the stock</a:t>
            </a:r>
            <a:endParaRPr lang="en-US" sz="1300" dirty="0"/>
          </a:p>
        </p:txBody>
      </p:sp>
      <p:sp>
        <p:nvSpPr>
          <p:cNvPr id="24" name="Text 22"/>
          <p:cNvSpPr/>
          <p:nvPr/>
        </p:nvSpPr>
        <p:spPr>
          <a:xfrm>
            <a:off x="8001000" y="4773168"/>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Solar, so it keeps running</a:t>
            </a:r>
            <a:endParaRPr lang="en-US" sz="1300" dirty="0"/>
          </a:p>
        </p:txBody>
      </p:sp>
      <p:sp>
        <p:nvSpPr>
          <p:cNvPr id="25" name="Text 23"/>
          <p:cNvSpPr/>
          <p:nvPr/>
        </p:nvSpPr>
        <p:spPr>
          <a:xfrm>
            <a:off x="868680" y="5394960"/>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Customer</a:t>
            </a:r>
            <a:endParaRPr lang="en-US" sz="1400" dirty="0"/>
          </a:p>
        </p:txBody>
      </p:sp>
      <p:sp>
        <p:nvSpPr>
          <p:cNvPr id="26" name="Text 24"/>
          <p:cNvSpPr/>
          <p:nvPr/>
        </p:nvSpPr>
        <p:spPr>
          <a:xfrm>
            <a:off x="4160520" y="5394960"/>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Traders and large commission agents</a:t>
            </a:r>
            <a:endParaRPr lang="en-US" sz="1300" dirty="0"/>
          </a:p>
        </p:txBody>
      </p:sp>
      <p:sp>
        <p:nvSpPr>
          <p:cNvPr id="27" name="Text 25"/>
          <p:cNvSpPr/>
          <p:nvPr/>
        </p:nvSpPr>
        <p:spPr>
          <a:xfrm>
            <a:off x="8001000" y="5394960"/>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The grower himself</a:t>
            </a:r>
            <a:endParaRPr lang="en-US" sz="1300" dirty="0"/>
          </a:p>
        </p:txBody>
      </p:sp>
      <p:sp>
        <p:nvSpPr>
          <p:cNvPr id="28" name="Text 26"/>
          <p:cNvSpPr/>
          <p:nvPr/>
        </p:nvSpPr>
        <p:spPr>
          <a:xfrm>
            <a:off x="640080" y="6172200"/>
            <a:ext cx="10881360" cy="36576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The gap is not only how much capacity exists. It is who the capacity was built for.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04  OUR RESEARCH</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What the evidence already says.</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And the part that still has to be asked in the field.</a:t>
            </a:r>
            <a:endParaRPr lang="en-US" sz="1450" dirty="0"/>
          </a:p>
        </p:txBody>
      </p:sp>
      <p:sp>
        <p:nvSpPr>
          <p:cNvPr id="5" name="Shape 3"/>
          <p:cNvSpPr/>
          <p:nvPr/>
        </p:nvSpPr>
        <p:spPr>
          <a:xfrm>
            <a:off x="640080" y="1828800"/>
            <a:ext cx="5486400" cy="4114800"/>
          </a:xfrm>
          <a:prstGeom prst="roundRect">
            <a:avLst>
              <a:gd name="adj" fmla="val 1778"/>
            </a:avLst>
          </a:prstGeom>
          <a:solidFill>
            <a:srgbClr val="F2F5F1"/>
          </a:solidFill>
          <a:ln/>
          <a:effectLst>
            <a:outerShdw sx="100000" sy="100000" kx="0" ky="0" algn="bl" rotWithShape="0" blurRad="101600" dist="635" dir="5400000">
              <a:srgbClr val="9AA69E">
                <a:alpha val="12000"/>
              </a:srgbClr>
            </a:outerShdw>
          </a:effectLst>
        </p:spPr>
      </p:sp>
      <p:sp>
        <p:nvSpPr>
          <p:cNvPr id="6" name="Text 4"/>
          <p:cNvSpPr/>
          <p:nvPr/>
        </p:nvSpPr>
        <p:spPr>
          <a:xfrm>
            <a:off x="960120" y="2029968"/>
            <a:ext cx="484632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Desk research</a:t>
            </a:r>
            <a:endParaRPr lang="en-US" sz="1800" dirty="0"/>
          </a:p>
        </p:txBody>
      </p:sp>
      <p:sp>
        <p:nvSpPr>
          <p:cNvPr id="7" name="Text 5"/>
          <p:cNvSpPr/>
          <p:nvPr/>
        </p:nvSpPr>
        <p:spPr>
          <a:xfrm>
            <a:off x="960120" y="2487168"/>
            <a:ext cx="4846320" cy="329184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Pakistan Bureau of Statistics, 7th Agricultural Census: 64 percent of farms are under 5 acres, 26 percent under one acre, average farm size now 5.1 acres.</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Asian Development Bank, reported in Dawn: post harvest losses cost Pakistan over one billion dollars a year.</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Trade press on the storage gap: about 555 cold storage units holding roughly 900,000 tonnes against 13 to 15 million tonnes of fruit and vegetable production.</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IGC study on the fresh produce supply chain, and PIDE's counter argument that the commission agent also supplies credit. We took that seriously and built around him rather than against him.</a:t>
            </a:r>
            <a:endParaRPr lang="en-US" sz="1150" dirty="0"/>
          </a:p>
        </p:txBody>
      </p:sp>
      <p:sp>
        <p:nvSpPr>
          <p:cNvPr id="8" name="Shape 6"/>
          <p:cNvSpPr/>
          <p:nvPr/>
        </p:nvSpPr>
        <p:spPr>
          <a:xfrm>
            <a:off x="6446520" y="1828800"/>
            <a:ext cx="5074920" cy="4114800"/>
          </a:xfrm>
          <a:prstGeom prst="roundRect">
            <a:avLst>
              <a:gd name="adj" fmla="val 1778"/>
            </a:avLst>
          </a:prstGeom>
          <a:solidFill>
            <a:srgbClr val="FFFFFF"/>
          </a:solidFill>
          <a:ln/>
          <a:effectLst>
            <a:outerShdw sx="100000" sy="100000" kx="0" ky="0" algn="bl" rotWithShape="0" blurRad="101600" dist="635" dir="5400000">
              <a:srgbClr val="9AA69E">
                <a:alpha val="12000"/>
              </a:srgbClr>
            </a:outerShdw>
          </a:effectLst>
        </p:spPr>
      </p:sp>
      <p:sp>
        <p:nvSpPr>
          <p:cNvPr id="9" name="Shape 7"/>
          <p:cNvSpPr/>
          <p:nvPr/>
        </p:nvSpPr>
        <p:spPr>
          <a:xfrm>
            <a:off x="6446520" y="1828800"/>
            <a:ext cx="5074920" cy="4114800"/>
          </a:xfrm>
          <a:prstGeom prst="roundRect">
            <a:avLst>
              <a:gd name="adj" fmla="val 1778"/>
            </a:avLst>
          </a:prstGeom>
          <a:solidFill>
            <a:srgbClr val="FFFFFF"/>
          </a:solidFill>
          <a:ln w="19050">
            <a:solidFill>
              <a:srgbClr val="2E7D5B"/>
            </a:solidFill>
            <a:prstDash val="solid"/>
          </a:ln>
        </p:spPr>
      </p:sp>
      <p:sp>
        <p:nvSpPr>
          <p:cNvPr id="10" name="Text 8"/>
          <p:cNvSpPr/>
          <p:nvPr/>
        </p:nvSpPr>
        <p:spPr>
          <a:xfrm>
            <a:off x="6766560" y="2029968"/>
            <a:ext cx="4480560" cy="365760"/>
          </a:xfrm>
          <a:prstGeom prst="rect">
            <a:avLst/>
          </a:prstGeom>
          <a:noFill/>
          <a:ln/>
        </p:spPr>
        <p:txBody>
          <a:bodyPr wrap="square" lIns="0" tIns="0" rIns="0" bIns="0" rtlCol="0" anchor="ctr"/>
          <a:lstStyle/>
          <a:p>
            <a:pPr indent="0" marL="0">
              <a:buNone/>
            </a:pPr>
            <a:r>
              <a:rPr lang="en-US" sz="1800" b="1" dirty="0">
                <a:solidFill>
                  <a:srgbClr val="2E7D5B"/>
                </a:solidFill>
                <a:latin typeface="Cambria" pitchFamily="34" charset="0"/>
                <a:ea typeface="Cambria" pitchFamily="34" charset="-122"/>
                <a:cs typeface="Cambria" pitchFamily="34" charset="-120"/>
              </a:rPr>
              <a:t>The three questions that decide it</a:t>
            </a:r>
            <a:endParaRPr lang="en-US" sz="1800" dirty="0"/>
          </a:p>
        </p:txBody>
      </p:sp>
      <p:sp>
        <p:nvSpPr>
          <p:cNvPr id="11" name="Text 9"/>
          <p:cNvSpPr/>
          <p:nvPr/>
        </p:nvSpPr>
        <p:spPr>
          <a:xfrm>
            <a:off x="6766560" y="2432304"/>
            <a:ext cx="4480560" cy="274320"/>
          </a:xfrm>
          <a:prstGeom prst="rect">
            <a:avLst/>
          </a:prstGeom>
          <a:noFill/>
          <a:ln/>
        </p:spPr>
        <p:txBody>
          <a:bodyPr wrap="square" lIns="0" tIns="0" rIns="0" bIns="0" rtlCol="0" anchor="t"/>
          <a:lstStyle/>
          <a:p>
            <a:pPr indent="0" marL="0">
              <a:buNone/>
            </a:pPr>
            <a:r>
              <a:rPr lang="en-US" sz="1150" i="1" dirty="0">
                <a:solidFill>
                  <a:srgbClr val="5F6B63"/>
                </a:solidFill>
                <a:latin typeface="Calibri" pitchFamily="34" charset="0"/>
                <a:ea typeface="Calibri" pitchFamily="34" charset="-122"/>
                <a:cs typeface="Calibri" pitchFamily="34" charset="-120"/>
              </a:rPr>
              <a:t>From published evidence. Growers interviewed next.</a:t>
            </a:r>
            <a:endParaRPr lang="en-US" sz="1150" dirty="0"/>
          </a:p>
        </p:txBody>
      </p:sp>
      <p:sp>
        <p:nvSpPr>
          <p:cNvPr id="12" name="Shape 10"/>
          <p:cNvSpPr/>
          <p:nvPr/>
        </p:nvSpPr>
        <p:spPr>
          <a:xfrm>
            <a:off x="6766560" y="2880360"/>
            <a:ext cx="292608" cy="292608"/>
          </a:xfrm>
          <a:prstGeom prst="ellipse">
            <a:avLst/>
          </a:prstGeom>
          <a:solidFill>
            <a:srgbClr val="2E7D5B"/>
          </a:solidFill>
          <a:ln/>
        </p:spPr>
      </p:sp>
      <p:sp>
        <p:nvSpPr>
          <p:cNvPr id="13" name="Text 11"/>
          <p:cNvSpPr/>
          <p:nvPr/>
        </p:nvSpPr>
        <p:spPr>
          <a:xfrm>
            <a:off x="6766560" y="288036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14" name="Text 12"/>
          <p:cNvSpPr/>
          <p:nvPr/>
        </p:nvSpPr>
        <p:spPr>
          <a:xfrm>
            <a:off x="7150608" y="287121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How long can he hold the crop?</a:t>
            </a:r>
            <a:endParaRPr lang="en-US" sz="1150" dirty="0"/>
          </a:p>
        </p:txBody>
      </p:sp>
      <p:sp>
        <p:nvSpPr>
          <p:cNvPr id="15" name="Text 13"/>
          <p:cNvSpPr/>
          <p:nvPr/>
        </p:nvSpPr>
        <p:spPr>
          <a:xfrm>
            <a:off x="7150608" y="316382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Days at Pakistani field temperatures. Trials on a Punjab tomato variety hold it for weeks at 10 degrees and 90 percent humidity.</a:t>
            </a:r>
            <a:endParaRPr lang="en-US" sz="1100" dirty="0"/>
          </a:p>
        </p:txBody>
      </p:sp>
      <p:sp>
        <p:nvSpPr>
          <p:cNvPr id="16" name="Shape 14"/>
          <p:cNvSpPr/>
          <p:nvPr/>
        </p:nvSpPr>
        <p:spPr>
          <a:xfrm>
            <a:off x="6766560" y="3886200"/>
            <a:ext cx="292608" cy="292608"/>
          </a:xfrm>
          <a:prstGeom prst="ellipse">
            <a:avLst/>
          </a:prstGeom>
          <a:solidFill>
            <a:srgbClr val="2E7D5B"/>
          </a:solidFill>
          <a:ln/>
        </p:spPr>
      </p:sp>
      <p:sp>
        <p:nvSpPr>
          <p:cNvPr id="17" name="Text 15"/>
          <p:cNvSpPr/>
          <p:nvPr/>
        </p:nvSpPr>
        <p:spPr>
          <a:xfrm>
            <a:off x="6766560" y="388620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8" name="Text 16"/>
          <p:cNvSpPr/>
          <p:nvPr/>
        </p:nvSpPr>
        <p:spPr>
          <a:xfrm>
            <a:off x="7150608" y="387705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Is PKR 12 per crate per day payable?</a:t>
            </a:r>
            <a:endParaRPr lang="en-US" sz="1150" dirty="0"/>
          </a:p>
        </p:txBody>
      </p:sp>
      <p:sp>
        <p:nvSpPr>
          <p:cNvPr id="19" name="Text 17"/>
          <p:cNvSpPr/>
          <p:nvPr/>
        </p:nvSpPr>
        <p:spPr>
          <a:xfrm>
            <a:off x="7150608" y="416966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Big cold stores charge PKR 3 to 6 per kg a month. We cost more per day and are only paid for the days used.</a:t>
            </a:r>
            <a:endParaRPr lang="en-US" sz="1100" dirty="0"/>
          </a:p>
        </p:txBody>
      </p:sp>
      <p:sp>
        <p:nvSpPr>
          <p:cNvPr id="20" name="Shape 18"/>
          <p:cNvSpPr/>
          <p:nvPr/>
        </p:nvSpPr>
        <p:spPr>
          <a:xfrm>
            <a:off x="6766560" y="4892040"/>
            <a:ext cx="292608" cy="292608"/>
          </a:xfrm>
          <a:prstGeom prst="ellipse">
            <a:avLst/>
          </a:prstGeom>
          <a:solidFill>
            <a:srgbClr val="2E7D5B"/>
          </a:solidFill>
          <a:ln/>
        </p:spPr>
      </p:sp>
      <p:sp>
        <p:nvSpPr>
          <p:cNvPr id="21" name="Text 19"/>
          <p:cNvSpPr/>
          <p:nvPr/>
        </p:nvSpPr>
        <p:spPr>
          <a:xfrm>
            <a:off x="6766560" y="489204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2" name="Text 20"/>
          <p:cNvSpPr/>
          <p:nvPr/>
        </p:nvSpPr>
        <p:spPr>
          <a:xfrm>
            <a:off x="7150608" y="488289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How much does he actually lose?</a:t>
            </a:r>
            <a:endParaRPr lang="en-US" sz="1150" dirty="0"/>
          </a:p>
        </p:txBody>
      </p:sp>
      <p:sp>
        <p:nvSpPr>
          <p:cNvPr id="23" name="Text 21"/>
          <p:cNvSpPr/>
          <p:nvPr/>
        </p:nvSpPr>
        <p:spPr>
          <a:xfrm>
            <a:off x="7150608" y="517550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15 to 20 percent goes in handling the picked crop, before the 10 to 12 percent lost in transport.</a:t>
            </a:r>
            <a:endParaRPr lang="en-US" sz="1100" dirty="0"/>
          </a:p>
        </p:txBody>
      </p:sp>
      <p:sp>
        <p:nvSpPr>
          <p:cNvPr id="24" name="Text 22"/>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Sources for each of the three answers are listed on the final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200" b="1" spc="200" kern="0" dirty="0">
                <a:solidFill>
                  <a:srgbClr val="9BC4A8"/>
                </a:solidFill>
                <a:latin typeface="Calibri" pitchFamily="34" charset="0"/>
                <a:ea typeface="Calibri" pitchFamily="34" charset="-122"/>
                <a:cs typeface="Calibri" pitchFamily="34" charset="-120"/>
              </a:rPr>
              <a:t>05  THE SOLUTION</a:t>
            </a:r>
            <a:endParaRPr lang="en-US" sz="1200" dirty="0"/>
          </a:p>
        </p:txBody>
      </p:sp>
      <p:sp>
        <p:nvSpPr>
          <p:cNvPr id="3" name="Text 1"/>
          <p:cNvSpPr/>
          <p:nvPr/>
        </p:nvSpPr>
        <p:spPr>
          <a:xfrm>
            <a:off x="640080" y="731520"/>
            <a:ext cx="10881360" cy="658368"/>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Thanda Godam</a:t>
            </a:r>
            <a:endParaRPr lang="en-US" sz="3400" dirty="0"/>
          </a:p>
        </p:txBody>
      </p:sp>
      <p:sp>
        <p:nvSpPr>
          <p:cNvPr id="4" name="Text 2"/>
          <p:cNvSpPr/>
          <p:nvPr/>
        </p:nvSpPr>
        <p:spPr>
          <a:xfrm>
            <a:off x="640080" y="1371600"/>
            <a:ext cx="10881360" cy="320040"/>
          </a:xfrm>
          <a:prstGeom prst="rect">
            <a:avLst/>
          </a:prstGeom>
          <a:noFill/>
          <a:ln/>
        </p:spPr>
        <p:txBody>
          <a:bodyPr wrap="square" lIns="0" tIns="0" rIns="0" bIns="0" rtlCol="0" anchor="ctr"/>
          <a:lstStyle/>
          <a:p>
            <a:pPr indent="0" marL="0">
              <a:buNone/>
            </a:pPr>
            <a:r>
              <a:rPr lang="en-US" sz="1500" dirty="0">
                <a:solidFill>
                  <a:srgbClr val="BFD8C7"/>
                </a:solidFill>
                <a:latin typeface="Calibri" pitchFamily="34" charset="0"/>
                <a:ea typeface="Calibri" pitchFamily="34" charset="-122"/>
                <a:cs typeface="Calibri" pitchFamily="34" charset="-120"/>
              </a:rPr>
              <a:t>A 5 tonne solar powered cold room, placed inside the village, rented by the crate by the day.</a:t>
            </a:r>
            <a:endParaRPr lang="en-US" sz="1500" dirty="0"/>
          </a:p>
        </p:txBody>
      </p:sp>
      <p:sp>
        <p:nvSpPr>
          <p:cNvPr id="5" name="Shape 3"/>
          <p:cNvSpPr/>
          <p:nvPr/>
        </p:nvSpPr>
        <p:spPr>
          <a:xfrm>
            <a:off x="640080" y="2103120"/>
            <a:ext cx="3520440" cy="2286000"/>
          </a:xfrm>
          <a:prstGeom prst="roundRect">
            <a:avLst>
              <a:gd name="adj" fmla="val 3200"/>
            </a:avLst>
          </a:prstGeom>
          <a:solidFill>
            <a:srgbClr val="1D4C37"/>
          </a:solidFill>
          <a:ln/>
        </p:spPr>
      </p:sp>
      <p:sp>
        <p:nvSpPr>
          <p:cNvPr id="6" name="Shape 4"/>
          <p:cNvSpPr/>
          <p:nvPr/>
        </p:nvSpPr>
        <p:spPr>
          <a:xfrm>
            <a:off x="932688" y="2331720"/>
            <a:ext cx="457200" cy="457200"/>
          </a:xfrm>
          <a:prstGeom prst="ellipse">
            <a:avLst/>
          </a:prstGeom>
          <a:solidFill>
            <a:srgbClr val="E4572E"/>
          </a:solidFill>
          <a:ln/>
        </p:spPr>
      </p:sp>
      <p:sp>
        <p:nvSpPr>
          <p:cNvPr id="7" name="Text 5"/>
          <p:cNvSpPr/>
          <p:nvPr/>
        </p:nvSpPr>
        <p:spPr>
          <a:xfrm>
            <a:off x="932688"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8" name="Text 6"/>
          <p:cNvSpPr/>
          <p:nvPr/>
        </p:nvSpPr>
        <p:spPr>
          <a:xfrm>
            <a:off x="932688"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Close</a:t>
            </a:r>
            <a:endParaRPr lang="en-US" sz="2100" dirty="0"/>
          </a:p>
        </p:txBody>
      </p:sp>
      <p:sp>
        <p:nvSpPr>
          <p:cNvPr id="9" name="Text 7"/>
          <p:cNvSpPr/>
          <p:nvPr/>
        </p:nvSpPr>
        <p:spPr>
          <a:xfrm>
            <a:off x="932688"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Within 15 minutes of the field, so the crop goes in cold the same morning it is picked.</a:t>
            </a:r>
            <a:endParaRPr lang="en-US" sz="1250" dirty="0"/>
          </a:p>
        </p:txBody>
      </p:sp>
      <p:sp>
        <p:nvSpPr>
          <p:cNvPr id="10" name="Shape 8"/>
          <p:cNvSpPr/>
          <p:nvPr/>
        </p:nvSpPr>
        <p:spPr>
          <a:xfrm>
            <a:off x="4315968" y="2103120"/>
            <a:ext cx="3520440" cy="2286000"/>
          </a:xfrm>
          <a:prstGeom prst="roundRect">
            <a:avLst>
              <a:gd name="adj" fmla="val 3200"/>
            </a:avLst>
          </a:prstGeom>
          <a:solidFill>
            <a:srgbClr val="1D4C37"/>
          </a:solidFill>
          <a:ln/>
        </p:spPr>
      </p:sp>
      <p:sp>
        <p:nvSpPr>
          <p:cNvPr id="11" name="Shape 9"/>
          <p:cNvSpPr/>
          <p:nvPr/>
        </p:nvSpPr>
        <p:spPr>
          <a:xfrm>
            <a:off x="4608576" y="2331720"/>
            <a:ext cx="457200" cy="457200"/>
          </a:xfrm>
          <a:prstGeom prst="ellipse">
            <a:avLst/>
          </a:prstGeom>
          <a:solidFill>
            <a:srgbClr val="E4572E"/>
          </a:solidFill>
          <a:ln/>
        </p:spPr>
      </p:sp>
      <p:sp>
        <p:nvSpPr>
          <p:cNvPr id="12" name="Text 10"/>
          <p:cNvSpPr/>
          <p:nvPr/>
        </p:nvSpPr>
        <p:spPr>
          <a:xfrm>
            <a:off x="4608576"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3" name="Text 11"/>
          <p:cNvSpPr/>
          <p:nvPr/>
        </p:nvSpPr>
        <p:spPr>
          <a:xfrm>
            <a:off x="4608576"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Small</a:t>
            </a:r>
            <a:endParaRPr lang="en-US" sz="2100" dirty="0"/>
          </a:p>
        </p:txBody>
      </p:sp>
      <p:sp>
        <p:nvSpPr>
          <p:cNvPr id="14" name="Text 12"/>
          <p:cNvSpPr/>
          <p:nvPr/>
        </p:nvSpPr>
        <p:spPr>
          <a:xfrm>
            <a:off x="4608576"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Priced per 20 kg crate per day. No deposit, no season contract, no truckload minimum.</a:t>
            </a:r>
            <a:endParaRPr lang="en-US" sz="1250" dirty="0"/>
          </a:p>
        </p:txBody>
      </p:sp>
      <p:sp>
        <p:nvSpPr>
          <p:cNvPr id="15" name="Shape 13"/>
          <p:cNvSpPr/>
          <p:nvPr/>
        </p:nvSpPr>
        <p:spPr>
          <a:xfrm>
            <a:off x="7991856" y="2103120"/>
            <a:ext cx="3520440" cy="2286000"/>
          </a:xfrm>
          <a:prstGeom prst="roundRect">
            <a:avLst>
              <a:gd name="adj" fmla="val 3200"/>
            </a:avLst>
          </a:prstGeom>
          <a:solidFill>
            <a:srgbClr val="1D4C37"/>
          </a:solidFill>
          <a:ln/>
        </p:spPr>
      </p:sp>
      <p:sp>
        <p:nvSpPr>
          <p:cNvPr id="16" name="Shape 14"/>
          <p:cNvSpPr/>
          <p:nvPr/>
        </p:nvSpPr>
        <p:spPr>
          <a:xfrm>
            <a:off x="8284464" y="2331720"/>
            <a:ext cx="457200" cy="457200"/>
          </a:xfrm>
          <a:prstGeom prst="ellipse">
            <a:avLst/>
          </a:prstGeom>
          <a:solidFill>
            <a:srgbClr val="E4572E"/>
          </a:solidFill>
          <a:ln/>
        </p:spPr>
      </p:sp>
      <p:sp>
        <p:nvSpPr>
          <p:cNvPr id="17" name="Text 15"/>
          <p:cNvSpPr/>
          <p:nvPr/>
        </p:nvSpPr>
        <p:spPr>
          <a:xfrm>
            <a:off x="8284464"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8" name="Text 16"/>
          <p:cNvSpPr/>
          <p:nvPr/>
        </p:nvSpPr>
        <p:spPr>
          <a:xfrm>
            <a:off x="8284464"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Independent</a:t>
            </a:r>
            <a:endParaRPr lang="en-US" sz="2100" dirty="0"/>
          </a:p>
        </p:txBody>
      </p:sp>
      <p:sp>
        <p:nvSpPr>
          <p:cNvPr id="19" name="Text 17"/>
          <p:cNvSpPr/>
          <p:nvPr/>
        </p:nvSpPr>
        <p:spPr>
          <a:xfrm>
            <a:off x="8284464"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Runs on solar with battery backup, so load shedding does not spoil what is inside.</a:t>
            </a:r>
            <a:endParaRPr lang="en-US" sz="1250" dirty="0"/>
          </a:p>
        </p:txBody>
      </p:sp>
      <p:sp>
        <p:nvSpPr>
          <p:cNvPr id="20" name="Text 18"/>
          <p:cNvSpPr/>
          <p:nvPr/>
        </p:nvSpPr>
        <p:spPr>
          <a:xfrm>
            <a:off x="640080" y="4800600"/>
            <a:ext cx="10881360" cy="502920"/>
          </a:xfrm>
          <a:prstGeom prst="rect">
            <a:avLst/>
          </a:prstGeom>
          <a:noFill/>
          <a:ln/>
        </p:spPr>
        <p:txBody>
          <a:bodyPr wrap="square" lIns="0" tIns="0" rIns="0" bIns="0" rtlCol="0" anchor="t"/>
          <a:lstStyle/>
          <a:p>
            <a:pPr indent="0" marL="0">
              <a:buNone/>
            </a:pPr>
            <a:r>
              <a:rPr lang="en-US" sz="2700" dirty="0">
                <a:solidFill>
                  <a:srgbClr val="9BC4A8"/>
                </a:solidFill>
                <a:latin typeface="Cambria" pitchFamily="34" charset="0"/>
                <a:ea typeface="Cambria" pitchFamily="34" charset="-122"/>
                <a:cs typeface="Cambria" pitchFamily="34" charset="-120"/>
              </a:rPr>
              <a:t>We are not selling cold storage.</a:t>
            </a:r>
            <a:endParaRPr lang="en-US" sz="2700" dirty="0"/>
          </a:p>
        </p:txBody>
      </p:sp>
      <p:sp>
        <p:nvSpPr>
          <p:cNvPr id="21" name="Text 19"/>
          <p:cNvSpPr/>
          <p:nvPr/>
        </p:nvSpPr>
        <p:spPr>
          <a:xfrm>
            <a:off x="640080" y="5321808"/>
            <a:ext cx="10881360" cy="566928"/>
          </a:xfrm>
          <a:prstGeom prst="rect">
            <a:avLst/>
          </a:prstGeom>
          <a:noFill/>
          <a:ln/>
        </p:spPr>
        <p:txBody>
          <a:bodyPr wrap="square" lIns="0" tIns="0" rIns="0" bIns="0" rtlCol="0" anchor="t"/>
          <a:lstStyle/>
          <a:p>
            <a:pPr indent="0" marL="0">
              <a:buNone/>
            </a:pPr>
            <a:r>
              <a:rPr lang="en-US" sz="3200" b="1" dirty="0">
                <a:solidFill>
                  <a:srgbClr val="E4572E"/>
                </a:solidFill>
                <a:latin typeface="Cambria" pitchFamily="34" charset="0"/>
                <a:ea typeface="Cambria" pitchFamily="34" charset="-122"/>
                <a:cs typeface="Cambria" pitchFamily="34" charset="-120"/>
              </a:rPr>
              <a:t>We are selling the ability to wait.</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06  HOW IT WORKS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Five steps, all of them already familiar.</a:t>
            </a:r>
            <a:endParaRPr lang="en-US" sz="3100" dirty="0"/>
          </a:p>
        </p:txBody>
      </p:sp>
      <p:sp>
        <p:nvSpPr>
          <p:cNvPr id="4" name="Shape 2"/>
          <p:cNvSpPr/>
          <p:nvPr/>
        </p:nvSpPr>
        <p:spPr>
          <a:xfrm>
            <a:off x="640080" y="1965960"/>
            <a:ext cx="2121408" cy="3200400"/>
          </a:xfrm>
          <a:prstGeom prst="roundRect">
            <a:avLst>
              <a:gd name="adj" fmla="val 3448"/>
            </a:avLst>
          </a:prstGeom>
          <a:solidFill>
            <a:srgbClr val="FFFFFF"/>
          </a:solidFill>
          <a:ln w="12700">
            <a:solidFill>
              <a:srgbClr val="D8E0DA"/>
            </a:solidFill>
            <a:prstDash val="solid"/>
          </a:ln>
        </p:spPr>
      </p:sp>
      <p:sp>
        <p:nvSpPr>
          <p:cNvPr id="5" name="Shape 3"/>
          <p:cNvSpPr/>
          <p:nvPr/>
        </p:nvSpPr>
        <p:spPr>
          <a:xfrm>
            <a:off x="859536" y="2212848"/>
            <a:ext cx="420624" cy="420624"/>
          </a:xfrm>
          <a:prstGeom prst="ellipse">
            <a:avLst/>
          </a:prstGeom>
          <a:solidFill>
            <a:srgbClr val="2E7D5B"/>
          </a:solidFill>
          <a:ln/>
        </p:spPr>
      </p:sp>
      <p:sp>
        <p:nvSpPr>
          <p:cNvPr id="6" name="Text 4"/>
          <p:cNvSpPr/>
          <p:nvPr/>
        </p:nvSpPr>
        <p:spPr>
          <a:xfrm>
            <a:off x="859536"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859536"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Bring</a:t>
            </a:r>
            <a:endParaRPr lang="en-US" sz="1600" dirty="0"/>
          </a:p>
        </p:txBody>
      </p:sp>
      <p:sp>
        <p:nvSpPr>
          <p:cNvPr id="8" name="Text 6"/>
          <p:cNvSpPr/>
          <p:nvPr/>
        </p:nvSpPr>
        <p:spPr>
          <a:xfrm>
            <a:off x="859536"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 brings crates the same day he picks. Weighed, tagged and photographed at the gate. He keeps a printed receipt.</a:t>
            </a:r>
            <a:endParaRPr lang="en-US" sz="1100" dirty="0"/>
          </a:p>
        </p:txBody>
      </p:sp>
      <p:sp>
        <p:nvSpPr>
          <p:cNvPr id="9" name="Shape 7"/>
          <p:cNvSpPr/>
          <p:nvPr/>
        </p:nvSpPr>
        <p:spPr>
          <a:xfrm>
            <a:off x="2898648" y="1965960"/>
            <a:ext cx="2121408" cy="3200400"/>
          </a:xfrm>
          <a:prstGeom prst="roundRect">
            <a:avLst>
              <a:gd name="adj" fmla="val 3448"/>
            </a:avLst>
          </a:prstGeom>
          <a:solidFill>
            <a:srgbClr val="FFFFFF"/>
          </a:solidFill>
          <a:ln w="12700">
            <a:solidFill>
              <a:srgbClr val="D8E0DA"/>
            </a:solidFill>
            <a:prstDash val="solid"/>
          </a:ln>
        </p:spPr>
      </p:sp>
      <p:sp>
        <p:nvSpPr>
          <p:cNvPr id="10" name="Shape 8"/>
          <p:cNvSpPr/>
          <p:nvPr/>
        </p:nvSpPr>
        <p:spPr>
          <a:xfrm>
            <a:off x="3118104" y="2212848"/>
            <a:ext cx="420624" cy="420624"/>
          </a:xfrm>
          <a:prstGeom prst="ellipse">
            <a:avLst/>
          </a:prstGeom>
          <a:solidFill>
            <a:srgbClr val="2E7D5B"/>
          </a:solidFill>
          <a:ln/>
        </p:spPr>
      </p:sp>
      <p:sp>
        <p:nvSpPr>
          <p:cNvPr id="11" name="Text 9"/>
          <p:cNvSpPr/>
          <p:nvPr/>
        </p:nvSpPr>
        <p:spPr>
          <a:xfrm>
            <a:off x="3118104"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2" name="Text 10"/>
          <p:cNvSpPr/>
          <p:nvPr/>
        </p:nvSpPr>
        <p:spPr>
          <a:xfrm>
            <a:off x="3118104"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Pay</a:t>
            </a:r>
            <a:endParaRPr lang="en-US" sz="1600" dirty="0"/>
          </a:p>
        </p:txBody>
      </p:sp>
      <p:sp>
        <p:nvSpPr>
          <p:cNvPr id="13" name="Text 11"/>
          <p:cNvSpPr/>
          <p:nvPr/>
        </p:nvSpPr>
        <p:spPr>
          <a:xfrm>
            <a:off x="3118104"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PKR 12 per 20 kg crate per day, in cash or on easypaisa. He pays for the days he uses and nothing else.</a:t>
            </a:r>
            <a:endParaRPr lang="en-US" sz="1100" dirty="0"/>
          </a:p>
        </p:txBody>
      </p:sp>
      <p:sp>
        <p:nvSpPr>
          <p:cNvPr id="14" name="Shape 12"/>
          <p:cNvSpPr/>
          <p:nvPr/>
        </p:nvSpPr>
        <p:spPr>
          <a:xfrm>
            <a:off x="5157216" y="1965960"/>
            <a:ext cx="2121408" cy="3200400"/>
          </a:xfrm>
          <a:prstGeom prst="roundRect">
            <a:avLst>
              <a:gd name="adj" fmla="val 3448"/>
            </a:avLst>
          </a:prstGeom>
          <a:solidFill>
            <a:srgbClr val="FFFFFF"/>
          </a:solidFill>
          <a:ln w="12700">
            <a:solidFill>
              <a:srgbClr val="D8E0DA"/>
            </a:solidFill>
            <a:prstDash val="solid"/>
          </a:ln>
        </p:spPr>
      </p:sp>
      <p:sp>
        <p:nvSpPr>
          <p:cNvPr id="15" name="Shape 13"/>
          <p:cNvSpPr/>
          <p:nvPr/>
        </p:nvSpPr>
        <p:spPr>
          <a:xfrm>
            <a:off x="5376672" y="2212848"/>
            <a:ext cx="420624" cy="420624"/>
          </a:xfrm>
          <a:prstGeom prst="ellipse">
            <a:avLst/>
          </a:prstGeom>
          <a:solidFill>
            <a:srgbClr val="2E7D5B"/>
          </a:solidFill>
          <a:ln/>
        </p:spPr>
      </p:sp>
      <p:sp>
        <p:nvSpPr>
          <p:cNvPr id="16" name="Text 14"/>
          <p:cNvSpPr/>
          <p:nvPr/>
        </p:nvSpPr>
        <p:spPr>
          <a:xfrm>
            <a:off x="5376672"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7" name="Text 15"/>
          <p:cNvSpPr/>
          <p:nvPr/>
        </p:nvSpPr>
        <p:spPr>
          <a:xfrm>
            <a:off x="5376672"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Store</a:t>
            </a:r>
            <a:endParaRPr lang="en-US" sz="1600" dirty="0"/>
          </a:p>
        </p:txBody>
      </p:sp>
      <p:sp>
        <p:nvSpPr>
          <p:cNvPr id="18" name="Text 16"/>
          <p:cNvSpPr/>
          <p:nvPr/>
        </p:nvSpPr>
        <p:spPr>
          <a:xfrm>
            <a:off x="5376672"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Held at the right temperature and humidity for that crop. Tomato, onion, potato, chili and leafy greens each have their own setting.</a:t>
            </a:r>
            <a:endParaRPr lang="en-US" sz="1100" dirty="0"/>
          </a:p>
        </p:txBody>
      </p:sp>
      <p:sp>
        <p:nvSpPr>
          <p:cNvPr id="19" name="Shape 17"/>
          <p:cNvSpPr/>
          <p:nvPr/>
        </p:nvSpPr>
        <p:spPr>
          <a:xfrm>
            <a:off x="7415784" y="1965960"/>
            <a:ext cx="2121408" cy="3200400"/>
          </a:xfrm>
          <a:prstGeom prst="roundRect">
            <a:avLst>
              <a:gd name="adj" fmla="val 3448"/>
            </a:avLst>
          </a:prstGeom>
          <a:solidFill>
            <a:srgbClr val="FFFFFF"/>
          </a:solidFill>
          <a:ln w="12700">
            <a:solidFill>
              <a:srgbClr val="D8E0DA"/>
            </a:solidFill>
            <a:prstDash val="solid"/>
          </a:ln>
        </p:spPr>
      </p:sp>
      <p:sp>
        <p:nvSpPr>
          <p:cNvPr id="20" name="Shape 18"/>
          <p:cNvSpPr/>
          <p:nvPr/>
        </p:nvSpPr>
        <p:spPr>
          <a:xfrm>
            <a:off x="7635240" y="2212848"/>
            <a:ext cx="420624" cy="420624"/>
          </a:xfrm>
          <a:prstGeom prst="ellipse">
            <a:avLst/>
          </a:prstGeom>
          <a:solidFill>
            <a:srgbClr val="2E7D5B"/>
          </a:solidFill>
          <a:ln/>
        </p:spPr>
      </p:sp>
      <p:sp>
        <p:nvSpPr>
          <p:cNvPr id="21" name="Text 19"/>
          <p:cNvSpPr/>
          <p:nvPr/>
        </p:nvSpPr>
        <p:spPr>
          <a:xfrm>
            <a:off x="7635240"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2" name="Text 20"/>
          <p:cNvSpPr/>
          <p:nvPr/>
        </p:nvSpPr>
        <p:spPr>
          <a:xfrm>
            <a:off x="7635240"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Choose</a:t>
            </a:r>
            <a:endParaRPr lang="en-US" sz="1600" dirty="0"/>
          </a:p>
        </p:txBody>
      </p:sp>
      <p:sp>
        <p:nvSpPr>
          <p:cNvPr id="23" name="Text 21"/>
          <p:cNvSpPr/>
          <p:nvPr/>
        </p:nvSpPr>
        <p:spPr>
          <a:xfrm>
            <a:off x="7635240"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 takes his crates out whenever he wants and sells them himself at the mandi. Nothing is locked in.</a:t>
            </a:r>
            <a:endParaRPr lang="en-US" sz="1100" dirty="0"/>
          </a:p>
        </p:txBody>
      </p:sp>
      <p:sp>
        <p:nvSpPr>
          <p:cNvPr id="24" name="Shape 22"/>
          <p:cNvSpPr/>
          <p:nvPr/>
        </p:nvSpPr>
        <p:spPr>
          <a:xfrm>
            <a:off x="9674352" y="1965960"/>
            <a:ext cx="2121408" cy="3200400"/>
          </a:xfrm>
          <a:prstGeom prst="roundRect">
            <a:avLst>
              <a:gd name="adj" fmla="val 3448"/>
            </a:avLst>
          </a:prstGeom>
          <a:solidFill>
            <a:srgbClr val="F2F5F1"/>
          </a:solidFill>
          <a:ln w="19050">
            <a:solidFill>
              <a:srgbClr val="2E7D5B"/>
            </a:solidFill>
            <a:prstDash val="solid"/>
          </a:ln>
        </p:spPr>
      </p:sp>
      <p:sp>
        <p:nvSpPr>
          <p:cNvPr id="25" name="Shape 23"/>
          <p:cNvSpPr/>
          <p:nvPr/>
        </p:nvSpPr>
        <p:spPr>
          <a:xfrm>
            <a:off x="9893808" y="2212848"/>
            <a:ext cx="420624" cy="420624"/>
          </a:xfrm>
          <a:prstGeom prst="ellipse">
            <a:avLst/>
          </a:prstGeom>
          <a:solidFill>
            <a:srgbClr val="E4572E"/>
          </a:solidFill>
          <a:ln/>
        </p:spPr>
      </p:sp>
      <p:sp>
        <p:nvSpPr>
          <p:cNvPr id="26" name="Text 24"/>
          <p:cNvSpPr/>
          <p:nvPr/>
        </p:nvSpPr>
        <p:spPr>
          <a:xfrm>
            <a:off x="9893808"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7" name="Text 25"/>
          <p:cNvSpPr/>
          <p:nvPr/>
        </p:nvSpPr>
        <p:spPr>
          <a:xfrm>
            <a:off x="9893808"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Or sell through us</a:t>
            </a:r>
            <a:endParaRPr lang="en-US" sz="1600" dirty="0"/>
          </a:p>
        </p:txBody>
      </p:sp>
      <p:sp>
        <p:nvSpPr>
          <p:cNvPr id="28" name="Text 26"/>
          <p:cNvSpPr/>
          <p:nvPr/>
        </p:nvSpPr>
        <p:spPr>
          <a:xfrm>
            <a:off x="9893808"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If he prefers, we grade, pack and move his crop to city buyers in one aggregated load and keep a 7 percent service margin.</a:t>
            </a:r>
            <a:endParaRPr lang="en-US" sz="1100" dirty="0"/>
          </a:p>
        </p:txBody>
      </p:sp>
      <p:sp>
        <p:nvSpPr>
          <p:cNvPr id="29" name="Shape 27"/>
          <p:cNvSpPr/>
          <p:nvPr/>
        </p:nvSpPr>
        <p:spPr>
          <a:xfrm>
            <a:off x="640080" y="5394960"/>
            <a:ext cx="10881360" cy="868680"/>
          </a:xfrm>
          <a:prstGeom prst="roundRect">
            <a:avLst>
              <a:gd name="adj" fmla="val 8421"/>
            </a:avLst>
          </a:prstGeom>
          <a:solidFill>
            <a:srgbClr val="F2F5F1"/>
          </a:solidFill>
          <a:ln/>
          <a:effectLst>
            <a:outerShdw sx="100000" sy="100000" kx="0" ky="0" algn="bl" rotWithShape="0" blurRad="101600" dist="635" dir="5400000">
              <a:srgbClr val="9AA69E">
                <a:alpha val="12000"/>
              </a:srgbClr>
            </a:outerShdw>
          </a:effectLst>
        </p:spPr>
      </p:sp>
      <p:sp>
        <p:nvSpPr>
          <p:cNvPr id="30" name="Text 28"/>
          <p:cNvSpPr/>
          <p:nvPr/>
        </p:nvSpPr>
        <p:spPr>
          <a:xfrm>
            <a:off x="1024128" y="5577840"/>
            <a:ext cx="10424160" cy="50292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Steps 1 to 4 are the whole service. Step 5 is optional for the grower and is where most of our income comes from.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07  TARGET AUDIENCE</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Who uses it, who benefits, and who pays.</a:t>
            </a:r>
            <a:endParaRPr lang="en-US" sz="3100" dirty="0"/>
          </a:p>
        </p:txBody>
      </p:sp>
      <p:sp>
        <p:nvSpPr>
          <p:cNvPr id="4" name="Shape 2"/>
          <p:cNvSpPr/>
          <p:nvPr/>
        </p:nvSpPr>
        <p:spPr>
          <a:xfrm>
            <a:off x="640080"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5" name="Shape 3"/>
          <p:cNvSpPr/>
          <p:nvPr/>
        </p:nvSpPr>
        <p:spPr>
          <a:xfrm>
            <a:off x="640080" y="1874520"/>
            <a:ext cx="3520440" cy="2103120"/>
          </a:xfrm>
          <a:prstGeom prst="roundRect">
            <a:avLst>
              <a:gd name="adj" fmla="val 3478"/>
            </a:avLst>
          </a:prstGeom>
          <a:solidFill>
            <a:srgbClr val="FFFFFF"/>
          </a:solidFill>
          <a:ln w="12700">
            <a:solidFill>
              <a:srgbClr val="D8E0DA"/>
            </a:solidFill>
            <a:prstDash val="solid"/>
          </a:ln>
        </p:spPr>
      </p:sp>
      <p:sp>
        <p:nvSpPr>
          <p:cNvPr id="6" name="Text 4"/>
          <p:cNvSpPr/>
          <p:nvPr/>
        </p:nvSpPr>
        <p:spPr>
          <a:xfrm>
            <a:off x="914400" y="2084832"/>
            <a:ext cx="2971800" cy="365760"/>
          </a:xfrm>
          <a:prstGeom prst="rect">
            <a:avLst/>
          </a:prstGeom>
          <a:noFill/>
          <a:ln/>
        </p:spPr>
        <p:txBody>
          <a:bodyPr wrap="square" lIns="0" tIns="0" rIns="0" bIns="0" rtlCol="0" anchor="ctr"/>
          <a:lstStyle/>
          <a:p>
            <a:pPr indent="0" marL="0">
              <a:buNone/>
            </a:pPr>
            <a:r>
              <a:rPr lang="en-US" sz="1700" b="1" dirty="0">
                <a:solidFill>
                  <a:srgbClr val="2E7D5B"/>
                </a:solidFill>
                <a:latin typeface="Cambria" pitchFamily="34" charset="0"/>
                <a:ea typeface="Cambria" pitchFamily="34" charset="-122"/>
                <a:cs typeface="Cambria" pitchFamily="34" charset="-120"/>
              </a:rPr>
              <a:t>Who uses it</a:t>
            </a:r>
            <a:endParaRPr lang="en-US" sz="1700" dirty="0"/>
          </a:p>
        </p:txBody>
      </p:sp>
      <p:sp>
        <p:nvSpPr>
          <p:cNvPr id="7" name="Text 5"/>
          <p:cNvSpPr/>
          <p:nvPr/>
        </p:nvSpPr>
        <p:spPr>
          <a:xfrm>
            <a:off x="914400"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Growers under 5 acres, working tomato, chili and leafy vegetables first. These are the crops whose prices move week to week.</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They harvest in small lots, sell within two days, and have no storage of their own.</a:t>
            </a:r>
            <a:endParaRPr lang="en-US" sz="1150" dirty="0"/>
          </a:p>
        </p:txBody>
      </p:sp>
      <p:sp>
        <p:nvSpPr>
          <p:cNvPr id="8" name="Shape 6"/>
          <p:cNvSpPr/>
          <p:nvPr/>
        </p:nvSpPr>
        <p:spPr>
          <a:xfrm>
            <a:off x="4315968"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9" name="Shape 7"/>
          <p:cNvSpPr/>
          <p:nvPr/>
        </p:nvSpPr>
        <p:spPr>
          <a:xfrm>
            <a:off x="4315968" y="1874520"/>
            <a:ext cx="3520440" cy="2103120"/>
          </a:xfrm>
          <a:prstGeom prst="roundRect">
            <a:avLst>
              <a:gd name="adj" fmla="val 3478"/>
            </a:avLst>
          </a:prstGeom>
          <a:solidFill>
            <a:srgbClr val="FFFFFF"/>
          </a:solidFill>
          <a:ln w="12700">
            <a:solidFill>
              <a:srgbClr val="D8E0DA"/>
            </a:solidFill>
            <a:prstDash val="solid"/>
          </a:ln>
        </p:spPr>
      </p:sp>
      <p:sp>
        <p:nvSpPr>
          <p:cNvPr id="10" name="Text 8"/>
          <p:cNvSpPr/>
          <p:nvPr/>
        </p:nvSpPr>
        <p:spPr>
          <a:xfrm>
            <a:off x="4590288" y="2084832"/>
            <a:ext cx="2971800" cy="365760"/>
          </a:xfrm>
          <a:prstGeom prst="rect">
            <a:avLst/>
          </a:prstGeom>
          <a:noFill/>
          <a:ln/>
        </p:spPr>
        <p:txBody>
          <a:bodyPr wrap="square" lIns="0" tIns="0" rIns="0" bIns="0" rtlCol="0" anchor="ctr"/>
          <a:lstStyle/>
          <a:p>
            <a:pPr indent="0" marL="0">
              <a:buNone/>
            </a:pPr>
            <a:r>
              <a:rPr lang="en-US" sz="1700" b="1" dirty="0">
                <a:solidFill>
                  <a:srgbClr val="E4572E"/>
                </a:solidFill>
                <a:latin typeface="Cambria" pitchFamily="34" charset="0"/>
                <a:ea typeface="Cambria" pitchFamily="34" charset="-122"/>
                <a:cs typeface="Cambria" pitchFamily="34" charset="-120"/>
              </a:rPr>
              <a:t>Who pays</a:t>
            </a:r>
            <a:endParaRPr lang="en-US" sz="1700" dirty="0"/>
          </a:p>
        </p:txBody>
      </p:sp>
      <p:sp>
        <p:nvSpPr>
          <p:cNvPr id="11" name="Text 9"/>
          <p:cNvSpPr/>
          <p:nvPr/>
        </p:nvSpPr>
        <p:spPr>
          <a:xfrm>
            <a:off x="4590288"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The grower pays the crate fee, in small amounts he can see the return on.</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City buyers pay our 7 percent service margin on aggregated, graded loads.</a:t>
            </a:r>
            <a:endParaRPr lang="en-US" sz="1150" dirty="0"/>
          </a:p>
        </p:txBody>
      </p:sp>
      <p:sp>
        <p:nvSpPr>
          <p:cNvPr id="12" name="Shape 10"/>
          <p:cNvSpPr/>
          <p:nvPr/>
        </p:nvSpPr>
        <p:spPr>
          <a:xfrm>
            <a:off x="7991856"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13" name="Shape 11"/>
          <p:cNvSpPr/>
          <p:nvPr/>
        </p:nvSpPr>
        <p:spPr>
          <a:xfrm>
            <a:off x="7991856" y="1874520"/>
            <a:ext cx="3520440" cy="2103120"/>
          </a:xfrm>
          <a:prstGeom prst="roundRect">
            <a:avLst>
              <a:gd name="adj" fmla="val 3478"/>
            </a:avLst>
          </a:prstGeom>
          <a:solidFill>
            <a:srgbClr val="FFFFFF"/>
          </a:solidFill>
          <a:ln w="12700">
            <a:solidFill>
              <a:srgbClr val="D8E0DA"/>
            </a:solidFill>
            <a:prstDash val="solid"/>
          </a:ln>
        </p:spPr>
      </p:sp>
      <p:sp>
        <p:nvSpPr>
          <p:cNvPr id="14" name="Text 12"/>
          <p:cNvSpPr/>
          <p:nvPr/>
        </p:nvSpPr>
        <p:spPr>
          <a:xfrm>
            <a:off x="8266176" y="2084832"/>
            <a:ext cx="2971800" cy="365760"/>
          </a:xfrm>
          <a:prstGeom prst="rect">
            <a:avLst/>
          </a:prstGeom>
          <a:noFill/>
          <a:ln/>
        </p:spPr>
        <p:txBody>
          <a:bodyPr wrap="square" lIns="0" tIns="0" rIns="0" bIns="0" rtlCol="0" anchor="ctr"/>
          <a:lstStyle/>
          <a:p>
            <a:pPr indent="0" marL="0">
              <a:buNone/>
            </a:pPr>
            <a:r>
              <a:rPr lang="en-US" sz="1700" b="1" dirty="0">
                <a:solidFill>
                  <a:srgbClr val="14392A"/>
                </a:solidFill>
                <a:latin typeface="Cambria" pitchFamily="34" charset="0"/>
                <a:ea typeface="Cambria" pitchFamily="34" charset="-122"/>
                <a:cs typeface="Cambria" pitchFamily="34" charset="-120"/>
              </a:rPr>
              <a:t>Who else gains</a:t>
            </a:r>
            <a:endParaRPr lang="en-US" sz="1700" dirty="0"/>
          </a:p>
        </p:txBody>
      </p:sp>
      <p:sp>
        <p:nvSpPr>
          <p:cNvPr id="15" name="Text 13"/>
          <p:cNvSpPr/>
          <p:nvPr/>
        </p:nvSpPr>
        <p:spPr>
          <a:xfrm>
            <a:off x="8266176"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Households eat better because income steadies across the season.</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City consumers see a slightly steadier supply and less waste in the chain.</a:t>
            </a:r>
            <a:endParaRPr lang="en-US" sz="1150" dirty="0"/>
          </a:p>
        </p:txBody>
      </p:sp>
      <p:sp>
        <p:nvSpPr>
          <p:cNvPr id="16" name="Shape 14"/>
          <p:cNvSpPr/>
          <p:nvPr/>
        </p:nvSpPr>
        <p:spPr>
          <a:xfrm>
            <a:off x="640080" y="4206240"/>
            <a:ext cx="10881360" cy="1783080"/>
          </a:xfrm>
          <a:prstGeom prst="roundRect">
            <a:avLst>
              <a:gd name="adj" fmla="val 4103"/>
            </a:avLst>
          </a:prstGeom>
          <a:solidFill>
            <a:srgbClr val="14392A"/>
          </a:solidFill>
          <a:ln/>
          <a:effectLst>
            <a:outerShdw sx="100000" sy="100000" kx="0" ky="0" algn="bl" rotWithShape="0" blurRad="101600" dist="635" dir="5400000">
              <a:srgbClr val="9AA69E">
                <a:alpha val="12000"/>
              </a:srgbClr>
            </a:outerShdw>
          </a:effectLst>
        </p:spPr>
      </p:sp>
      <p:sp>
        <p:nvSpPr>
          <p:cNvPr id="17" name="Text 15"/>
          <p:cNvSpPr/>
          <p:nvPr/>
        </p:nvSpPr>
        <p:spPr>
          <a:xfrm>
            <a:off x="1024128" y="4389120"/>
            <a:ext cx="50292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How many people that is</a:t>
            </a:r>
            <a:endParaRPr lang="en-US" sz="1700" dirty="0"/>
          </a:p>
        </p:txBody>
      </p:sp>
      <p:sp>
        <p:nvSpPr>
          <p:cNvPr id="18" name="Text 16"/>
          <p:cNvSpPr/>
          <p:nvPr/>
        </p:nvSpPr>
        <p:spPr>
          <a:xfrm>
            <a:off x="102412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64%</a:t>
            </a:r>
            <a:endParaRPr lang="en-US" sz="2800" dirty="0"/>
          </a:p>
        </p:txBody>
      </p:sp>
      <p:sp>
        <p:nvSpPr>
          <p:cNvPr id="19" name="Text 17"/>
          <p:cNvSpPr/>
          <p:nvPr/>
        </p:nvSpPr>
        <p:spPr>
          <a:xfrm>
            <a:off x="102412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of all farms in Pakistan are under 5 acres</a:t>
            </a:r>
            <a:endParaRPr lang="en-US" sz="1200" dirty="0"/>
          </a:p>
        </p:txBody>
      </p:sp>
      <p:sp>
        <p:nvSpPr>
          <p:cNvPr id="20" name="Text 18"/>
          <p:cNvSpPr/>
          <p:nvPr/>
        </p:nvSpPr>
        <p:spPr>
          <a:xfrm>
            <a:off x="459028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26%</a:t>
            </a:r>
            <a:endParaRPr lang="en-US" sz="2800" dirty="0"/>
          </a:p>
        </p:txBody>
      </p:sp>
      <p:sp>
        <p:nvSpPr>
          <p:cNvPr id="21" name="Text 19"/>
          <p:cNvSpPr/>
          <p:nvPr/>
        </p:nvSpPr>
        <p:spPr>
          <a:xfrm>
            <a:off x="459028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are under a single acre</a:t>
            </a:r>
            <a:endParaRPr lang="en-US" sz="1200" dirty="0"/>
          </a:p>
        </p:txBody>
      </p:sp>
      <p:sp>
        <p:nvSpPr>
          <p:cNvPr id="22" name="Text 20"/>
          <p:cNvSpPr/>
          <p:nvPr/>
        </p:nvSpPr>
        <p:spPr>
          <a:xfrm>
            <a:off x="815644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300-400</a:t>
            </a:r>
            <a:endParaRPr lang="en-US" sz="2800" dirty="0"/>
          </a:p>
        </p:txBody>
      </p:sp>
      <p:sp>
        <p:nvSpPr>
          <p:cNvPr id="23" name="Text 21"/>
          <p:cNvSpPr/>
          <p:nvPr/>
        </p:nvSpPr>
        <p:spPr>
          <a:xfrm>
            <a:off x="815644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growing households within 6 km of the pilot site, our own estimate</a:t>
            </a:r>
            <a:endParaRPr lang="en-US" sz="1200" dirty="0"/>
          </a:p>
        </p:txBody>
      </p:sp>
      <p:sp>
        <p:nvSpPr>
          <p:cNvPr id="24" name="Text 22"/>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Pilot site: a union council in Depalpur tehsil, Okara district. Cold storage there was built for potato traders. The vegetable growers alongside them have none.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08  VALUE PROPOSITION</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The grower's arithmetic on one load of tomatoes.</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200 kg picked, ten crates, held for ten days.</a:t>
            </a:r>
            <a:endParaRPr lang="en-US" sz="1450" dirty="0"/>
          </a:p>
        </p:txBody>
      </p:sp>
      <p:sp>
        <p:nvSpPr>
          <p:cNvPr id="5" name="Shape 3"/>
          <p:cNvSpPr/>
          <p:nvPr/>
        </p:nvSpPr>
        <p:spPr>
          <a:xfrm>
            <a:off x="640080" y="2057400"/>
            <a:ext cx="10881360" cy="713232"/>
          </a:xfrm>
          <a:prstGeom prst="rect">
            <a:avLst/>
          </a:prstGeom>
          <a:solidFill>
            <a:srgbClr val="F2F5F1"/>
          </a:solidFill>
          <a:ln/>
        </p:spPr>
      </p:sp>
      <p:sp>
        <p:nvSpPr>
          <p:cNvPr id="6" name="Text 4"/>
          <p:cNvSpPr/>
          <p:nvPr/>
        </p:nvSpPr>
        <p:spPr>
          <a:xfrm>
            <a:off x="868680" y="214884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pays</a:t>
            </a:r>
            <a:endParaRPr lang="en-US" sz="1500" dirty="0"/>
          </a:p>
        </p:txBody>
      </p:sp>
      <p:sp>
        <p:nvSpPr>
          <p:cNvPr id="7" name="Text 5"/>
          <p:cNvSpPr/>
          <p:nvPr/>
        </p:nvSpPr>
        <p:spPr>
          <a:xfrm>
            <a:off x="3291840" y="214884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10 crates  x  PKR 12  x  10 days</a:t>
            </a:r>
            <a:endParaRPr lang="en-US" sz="1300" dirty="0"/>
          </a:p>
        </p:txBody>
      </p:sp>
      <p:sp>
        <p:nvSpPr>
          <p:cNvPr id="8" name="Text 6"/>
          <p:cNvSpPr/>
          <p:nvPr/>
        </p:nvSpPr>
        <p:spPr>
          <a:xfrm>
            <a:off x="8595360" y="2148840"/>
            <a:ext cx="2697480" cy="502920"/>
          </a:xfrm>
          <a:prstGeom prst="rect">
            <a:avLst/>
          </a:prstGeom>
          <a:noFill/>
          <a:ln/>
        </p:spPr>
        <p:txBody>
          <a:bodyPr wrap="square" lIns="0" tIns="0" rIns="0" bIns="0" rtlCol="0" anchor="ctr"/>
          <a:lstStyle/>
          <a:p>
            <a:pPr algn="r" indent="0" marL="0">
              <a:buNone/>
            </a:pPr>
            <a:r>
              <a:rPr lang="en-US" sz="1900" b="1" dirty="0">
                <a:solidFill>
                  <a:srgbClr val="E4572E"/>
                </a:solidFill>
                <a:latin typeface="Cambria" pitchFamily="34" charset="0"/>
                <a:ea typeface="Cambria" pitchFamily="34" charset="-122"/>
                <a:cs typeface="Cambria" pitchFamily="34" charset="-120"/>
              </a:rPr>
              <a:t>PKR 1,200</a:t>
            </a:r>
            <a:endParaRPr lang="en-US" sz="1900" dirty="0"/>
          </a:p>
        </p:txBody>
      </p:sp>
      <p:sp>
        <p:nvSpPr>
          <p:cNvPr id="9" name="Text 7"/>
          <p:cNvSpPr/>
          <p:nvPr/>
        </p:nvSpPr>
        <p:spPr>
          <a:xfrm>
            <a:off x="868680" y="292608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saves</a:t>
            </a:r>
            <a:endParaRPr lang="en-US" sz="1500" dirty="0"/>
          </a:p>
        </p:txBody>
      </p:sp>
      <p:sp>
        <p:nvSpPr>
          <p:cNvPr id="10" name="Text 8"/>
          <p:cNvSpPr/>
          <p:nvPr/>
        </p:nvSpPr>
        <p:spPr>
          <a:xfrm>
            <a:off x="3291840" y="292608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25 percent of 200 kg would have spoiled, so 50 kg kept</a:t>
            </a:r>
            <a:endParaRPr lang="en-US" sz="1300" dirty="0"/>
          </a:p>
        </p:txBody>
      </p:sp>
      <p:sp>
        <p:nvSpPr>
          <p:cNvPr id="11" name="Text 9"/>
          <p:cNvSpPr/>
          <p:nvPr/>
        </p:nvSpPr>
        <p:spPr>
          <a:xfrm>
            <a:off x="8595360" y="2926080"/>
            <a:ext cx="2697480" cy="502920"/>
          </a:xfrm>
          <a:prstGeom prst="rect">
            <a:avLst/>
          </a:prstGeom>
          <a:noFill/>
          <a:ln/>
        </p:spPr>
        <p:txBody>
          <a:bodyPr wrap="square" lIns="0" tIns="0" rIns="0" bIns="0" rtlCol="0" anchor="ctr"/>
          <a:lstStyle/>
          <a:p>
            <a:pPr algn="r" indent="0" marL="0">
              <a:buNone/>
            </a:pPr>
            <a:r>
              <a:rPr lang="en-US" sz="1900" b="1" dirty="0">
                <a:solidFill>
                  <a:srgbClr val="1A1A1A"/>
                </a:solidFill>
                <a:latin typeface="Cambria" pitchFamily="34" charset="0"/>
                <a:ea typeface="Cambria" pitchFamily="34" charset="-122"/>
                <a:cs typeface="Cambria" pitchFamily="34" charset="-120"/>
              </a:rPr>
              <a:t>50 kg</a:t>
            </a:r>
            <a:endParaRPr lang="en-US" sz="1900" dirty="0"/>
          </a:p>
        </p:txBody>
      </p:sp>
      <p:sp>
        <p:nvSpPr>
          <p:cNvPr id="12" name="Shape 10"/>
          <p:cNvSpPr/>
          <p:nvPr/>
        </p:nvSpPr>
        <p:spPr>
          <a:xfrm>
            <a:off x="640080" y="3611880"/>
            <a:ext cx="10881360" cy="713232"/>
          </a:xfrm>
          <a:prstGeom prst="rect">
            <a:avLst/>
          </a:prstGeom>
          <a:solidFill>
            <a:srgbClr val="F2F5F1"/>
          </a:solidFill>
          <a:ln/>
        </p:spPr>
      </p:sp>
      <p:sp>
        <p:nvSpPr>
          <p:cNvPr id="13" name="Text 11"/>
          <p:cNvSpPr/>
          <p:nvPr/>
        </p:nvSpPr>
        <p:spPr>
          <a:xfrm>
            <a:off x="868680" y="370332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that is worth</a:t>
            </a:r>
            <a:endParaRPr lang="en-US" sz="1500" dirty="0"/>
          </a:p>
        </p:txBody>
      </p:sp>
      <p:sp>
        <p:nvSpPr>
          <p:cNvPr id="14" name="Text 12"/>
          <p:cNvSpPr/>
          <p:nvPr/>
        </p:nvSpPr>
        <p:spPr>
          <a:xfrm>
            <a:off x="3291840" y="370332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50 kg at a PKR 60 per kg farm gate price</a:t>
            </a:r>
            <a:endParaRPr lang="en-US" sz="1300" dirty="0"/>
          </a:p>
        </p:txBody>
      </p:sp>
      <p:sp>
        <p:nvSpPr>
          <p:cNvPr id="15" name="Text 13"/>
          <p:cNvSpPr/>
          <p:nvPr/>
        </p:nvSpPr>
        <p:spPr>
          <a:xfrm>
            <a:off x="8595360" y="3703320"/>
            <a:ext cx="2697480" cy="502920"/>
          </a:xfrm>
          <a:prstGeom prst="rect">
            <a:avLst/>
          </a:prstGeom>
          <a:noFill/>
          <a:ln/>
        </p:spPr>
        <p:txBody>
          <a:bodyPr wrap="square" lIns="0" tIns="0" rIns="0" bIns="0" rtlCol="0" anchor="ctr"/>
          <a:lstStyle/>
          <a:p>
            <a:pPr algn="r" indent="0" marL="0">
              <a:buNone/>
            </a:pPr>
            <a:r>
              <a:rPr lang="en-US" sz="1900" b="1" dirty="0">
                <a:solidFill>
                  <a:srgbClr val="2E7D5B"/>
                </a:solidFill>
                <a:latin typeface="Cambria" pitchFamily="34" charset="0"/>
                <a:ea typeface="Cambria" pitchFamily="34" charset="-122"/>
                <a:cs typeface="Cambria" pitchFamily="34" charset="-120"/>
              </a:rPr>
              <a:t>PKR 3,000</a:t>
            </a:r>
            <a:endParaRPr lang="en-US" sz="1900" dirty="0"/>
          </a:p>
        </p:txBody>
      </p:sp>
      <p:sp>
        <p:nvSpPr>
          <p:cNvPr id="16" name="Text 14"/>
          <p:cNvSpPr/>
          <p:nvPr/>
        </p:nvSpPr>
        <p:spPr>
          <a:xfrm>
            <a:off x="868680" y="448056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still has left</a:t>
            </a:r>
            <a:endParaRPr lang="en-US" sz="1500" dirty="0"/>
          </a:p>
        </p:txBody>
      </p:sp>
      <p:sp>
        <p:nvSpPr>
          <p:cNvPr id="17" name="Text 15"/>
          <p:cNvSpPr/>
          <p:nvPr/>
        </p:nvSpPr>
        <p:spPr>
          <a:xfrm>
            <a:off x="3291840" y="448056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the choice to sell on a better day instead of a bad one</a:t>
            </a:r>
            <a:endParaRPr lang="en-US" sz="1300" dirty="0"/>
          </a:p>
        </p:txBody>
      </p:sp>
      <p:sp>
        <p:nvSpPr>
          <p:cNvPr id="18" name="Text 16"/>
          <p:cNvSpPr/>
          <p:nvPr/>
        </p:nvSpPr>
        <p:spPr>
          <a:xfrm>
            <a:off x="8595360" y="4480560"/>
            <a:ext cx="2697480" cy="502920"/>
          </a:xfrm>
          <a:prstGeom prst="rect">
            <a:avLst/>
          </a:prstGeom>
          <a:noFill/>
          <a:ln/>
        </p:spPr>
        <p:txBody>
          <a:bodyPr wrap="square" lIns="0" tIns="0" rIns="0" bIns="0" rtlCol="0" anchor="ctr"/>
          <a:lstStyle/>
          <a:p>
            <a:pPr algn="r" indent="0" marL="0">
              <a:buNone/>
            </a:pPr>
            <a:r>
              <a:rPr lang="en-US" sz="1900" b="1" dirty="0">
                <a:solidFill>
                  <a:srgbClr val="1A1A1A"/>
                </a:solidFill>
                <a:latin typeface="Cambria" pitchFamily="34" charset="0"/>
                <a:ea typeface="Cambria" pitchFamily="34" charset="-122"/>
                <a:cs typeface="Cambria" pitchFamily="34" charset="-120"/>
              </a:rPr>
              <a:t>upside on top</a:t>
            </a:r>
            <a:endParaRPr lang="en-US" sz="1900" dirty="0"/>
          </a:p>
        </p:txBody>
      </p:sp>
      <p:sp>
        <p:nvSpPr>
          <p:cNvPr id="19" name="Shape 17"/>
          <p:cNvSpPr/>
          <p:nvPr/>
        </p:nvSpPr>
        <p:spPr>
          <a:xfrm>
            <a:off x="640080" y="5349240"/>
            <a:ext cx="10881360" cy="914400"/>
          </a:xfrm>
          <a:prstGeom prst="roundRect">
            <a:avLst>
              <a:gd name="adj" fmla="val 8000"/>
            </a:avLst>
          </a:prstGeom>
          <a:solidFill>
            <a:srgbClr val="14392A"/>
          </a:solidFill>
          <a:ln/>
          <a:effectLst>
            <a:outerShdw sx="100000" sy="100000" kx="0" ky="0" algn="bl" rotWithShape="0" blurRad="101600" dist="635" dir="5400000">
              <a:srgbClr val="9AA69E">
                <a:alpha val="12000"/>
              </a:srgbClr>
            </a:outerShdw>
          </a:effectLst>
        </p:spPr>
      </p:sp>
      <p:sp>
        <p:nvSpPr>
          <p:cNvPr id="20" name="Text 18"/>
          <p:cNvSpPr/>
          <p:nvPr/>
        </p:nvSpPr>
        <p:spPr>
          <a:xfrm>
            <a:off x="1024128" y="5532120"/>
            <a:ext cx="1042416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About PKR 2.5 comes back for every PKR 1 he spends on storage, before he has sold anything at a better price.</a:t>
            </a:r>
            <a:endParaRPr lang="en-US" sz="1700" dirty="0"/>
          </a:p>
        </p:txBody>
      </p:sp>
      <p:sp>
        <p:nvSpPr>
          <p:cNvPr id="21" name="Text 19"/>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The PKR 60 per kg farm gate price is a conservative in season figure. Both it and the spoilage rate move with the crop and the week.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09  BUSINESS AND SUSTAINABILITY MODEL</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One unit, two income lines, per month.</a:t>
            </a:r>
            <a:endParaRPr lang="en-US" sz="3100" dirty="0"/>
          </a:p>
        </p:txBody>
      </p:sp>
      <p:graphicFrame>
        <p:nvGraphicFramePr>
          <p:cNvPr id="4" name="Chart 0" descr=""/>
          <p:cNvGraphicFramePr/>
          <p:nvPr/>
        </p:nvGraphicFramePr>
        <p:xfrm>
          <a:off x="640080" y="1874520"/>
          <a:ext cx="56692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4800600"/>
            <a:ext cx="5669280" cy="502920"/>
          </a:xfrm>
          <a:prstGeom prst="rect">
            <a:avLst/>
          </a:prstGeom>
          <a:noFill/>
          <a:ln/>
        </p:spPr>
        <p:txBody>
          <a:bodyPr wrap="square" lIns="0" tIns="0" rIns="0" bIns="0" rtlCol="0" anchor="ctr"/>
          <a:lstStyle/>
          <a:p>
            <a:pPr indent="0" marL="0">
              <a:buNone/>
            </a:pPr>
            <a:r>
              <a:rPr lang="en-US" sz="3000" b="1" dirty="0">
                <a:solidFill>
                  <a:srgbClr val="2E7D5B"/>
                </a:solidFill>
                <a:latin typeface="Cambria" pitchFamily="34" charset="0"/>
                <a:ea typeface="Cambria" pitchFamily="34" charset="-122"/>
                <a:cs typeface="Cambria" pitchFamily="34" charset="-120"/>
              </a:rPr>
              <a:t>PKR 32,000</a:t>
            </a:r>
            <a:endParaRPr lang="en-US" sz="3000" dirty="0"/>
          </a:p>
        </p:txBody>
      </p:sp>
      <p:sp>
        <p:nvSpPr>
          <p:cNvPr id="6" name="Text 3"/>
          <p:cNvSpPr/>
          <p:nvPr/>
        </p:nvSpPr>
        <p:spPr>
          <a:xfrm>
            <a:off x="640080" y="5303520"/>
            <a:ext cx="5669280" cy="32004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surplus a month, once the room is running</a:t>
            </a:r>
            <a:endParaRPr lang="en-US" sz="1300" dirty="0"/>
          </a:p>
        </p:txBody>
      </p:sp>
      <p:sp>
        <p:nvSpPr>
          <p:cNvPr id="7" name="Text 4"/>
          <p:cNvSpPr/>
          <p:nvPr/>
        </p:nvSpPr>
        <p:spPr>
          <a:xfrm>
            <a:off x="6492240" y="1965960"/>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Crate rental</a:t>
            </a:r>
            <a:endParaRPr lang="en-US" sz="1450" dirty="0"/>
          </a:p>
        </p:txBody>
      </p:sp>
      <p:sp>
        <p:nvSpPr>
          <p:cNvPr id="8" name="Text 5"/>
          <p:cNvSpPr/>
          <p:nvPr/>
        </p:nvSpPr>
        <p:spPr>
          <a:xfrm>
            <a:off x="10058400" y="1965960"/>
            <a:ext cx="1463040" cy="274320"/>
          </a:xfrm>
          <a:prstGeom prst="rect">
            <a:avLst/>
          </a:prstGeom>
          <a:noFill/>
          <a:ln/>
        </p:spPr>
        <p:txBody>
          <a:bodyPr wrap="square" lIns="0" tIns="0" rIns="0" bIns="0" rtlCol="0" anchor="ctr"/>
          <a:lstStyle/>
          <a:p>
            <a:pPr algn="r" indent="0" marL="0">
              <a:buNone/>
            </a:pPr>
            <a:r>
              <a:rPr lang="en-US" sz="1450" b="1" dirty="0">
                <a:solidFill>
                  <a:srgbClr val="2E7D5B"/>
                </a:solidFill>
                <a:latin typeface="Cambria" pitchFamily="34" charset="0"/>
                <a:ea typeface="Cambria" pitchFamily="34" charset="-122"/>
                <a:cs typeface="Cambria" pitchFamily="34" charset="-120"/>
              </a:rPr>
              <a:t>PKR 54,000</a:t>
            </a:r>
            <a:endParaRPr lang="en-US" sz="1450" dirty="0"/>
          </a:p>
        </p:txBody>
      </p:sp>
      <p:sp>
        <p:nvSpPr>
          <p:cNvPr id="9" name="Text 6"/>
          <p:cNvSpPr/>
          <p:nvPr/>
        </p:nvSpPr>
        <p:spPr>
          <a:xfrm>
            <a:off x="6492240" y="2258568"/>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250 crate capacity at 60 percent average occupancy, PKR 12 a day</a:t>
            </a:r>
            <a:endParaRPr lang="en-US" sz="1100" dirty="0"/>
          </a:p>
        </p:txBody>
      </p:sp>
      <p:sp>
        <p:nvSpPr>
          <p:cNvPr id="10" name="Text 7"/>
          <p:cNvSpPr/>
          <p:nvPr/>
        </p:nvSpPr>
        <p:spPr>
          <a:xfrm>
            <a:off x="6492240" y="2935224"/>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Aggregation margin</a:t>
            </a:r>
            <a:endParaRPr lang="en-US" sz="1450" dirty="0"/>
          </a:p>
        </p:txBody>
      </p:sp>
      <p:sp>
        <p:nvSpPr>
          <p:cNvPr id="11" name="Text 8"/>
          <p:cNvSpPr/>
          <p:nvPr/>
        </p:nvSpPr>
        <p:spPr>
          <a:xfrm>
            <a:off x="10058400" y="2935224"/>
            <a:ext cx="1463040" cy="274320"/>
          </a:xfrm>
          <a:prstGeom prst="rect">
            <a:avLst/>
          </a:prstGeom>
          <a:noFill/>
          <a:ln/>
        </p:spPr>
        <p:txBody>
          <a:bodyPr wrap="square" lIns="0" tIns="0" rIns="0" bIns="0" rtlCol="0" anchor="ctr"/>
          <a:lstStyle/>
          <a:p>
            <a:pPr algn="r" indent="0" marL="0">
              <a:buNone/>
            </a:pPr>
            <a:r>
              <a:rPr lang="en-US" sz="1450" b="1" dirty="0">
                <a:solidFill>
                  <a:srgbClr val="2E7D5B"/>
                </a:solidFill>
                <a:latin typeface="Cambria" pitchFamily="34" charset="0"/>
                <a:ea typeface="Cambria" pitchFamily="34" charset="-122"/>
                <a:cs typeface="Cambria" pitchFamily="34" charset="-120"/>
              </a:rPr>
              <a:t>PKR 63,000</a:t>
            </a:r>
            <a:endParaRPr lang="en-US" sz="1450" dirty="0"/>
          </a:p>
        </p:txBody>
      </p:sp>
      <p:sp>
        <p:nvSpPr>
          <p:cNvPr id="12" name="Text 9"/>
          <p:cNvSpPr/>
          <p:nvPr/>
        </p:nvSpPr>
        <p:spPr>
          <a:xfrm>
            <a:off x="6492240" y="3227832"/>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15 tonnes handled a month, 7 percent on a PKR 60 per kg value</a:t>
            </a:r>
            <a:endParaRPr lang="en-US" sz="1100" dirty="0"/>
          </a:p>
        </p:txBody>
      </p:sp>
      <p:sp>
        <p:nvSpPr>
          <p:cNvPr id="13" name="Text 10"/>
          <p:cNvSpPr/>
          <p:nvPr/>
        </p:nvSpPr>
        <p:spPr>
          <a:xfrm>
            <a:off x="6492240" y="3904488"/>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Running costs</a:t>
            </a:r>
            <a:endParaRPr lang="en-US" sz="1450" dirty="0"/>
          </a:p>
        </p:txBody>
      </p:sp>
      <p:sp>
        <p:nvSpPr>
          <p:cNvPr id="14" name="Text 11"/>
          <p:cNvSpPr/>
          <p:nvPr/>
        </p:nvSpPr>
        <p:spPr>
          <a:xfrm>
            <a:off x="10058400" y="3904488"/>
            <a:ext cx="1463040" cy="274320"/>
          </a:xfrm>
          <a:prstGeom prst="rect">
            <a:avLst/>
          </a:prstGeom>
          <a:noFill/>
          <a:ln/>
        </p:spPr>
        <p:txBody>
          <a:bodyPr wrap="square" lIns="0" tIns="0" rIns="0" bIns="0" rtlCol="0" anchor="ctr"/>
          <a:lstStyle/>
          <a:p>
            <a:pPr algn="r" indent="0" marL="0">
              <a:buNone/>
            </a:pPr>
            <a:r>
              <a:rPr lang="en-US" sz="1450" b="1" dirty="0">
                <a:solidFill>
                  <a:srgbClr val="C9552E"/>
                </a:solidFill>
                <a:latin typeface="Cambria" pitchFamily="34" charset="0"/>
                <a:ea typeface="Cambria" pitchFamily="34" charset="-122"/>
                <a:cs typeface="Cambria" pitchFamily="34" charset="-120"/>
              </a:rPr>
              <a:t>PKR 85,000</a:t>
            </a:r>
            <a:endParaRPr lang="en-US" sz="1450" dirty="0"/>
          </a:p>
        </p:txBody>
      </p:sp>
      <p:sp>
        <p:nvSpPr>
          <p:cNvPr id="15" name="Text 12"/>
          <p:cNvSpPr/>
          <p:nvPr/>
        </p:nvSpPr>
        <p:spPr>
          <a:xfrm>
            <a:off x="6492240" y="4197096"/>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operator 30,000, loader 20,000, transport 15,000, maintenance 8,000, packaging 7,000, phone and misc 5,000</a:t>
            </a:r>
            <a:endParaRPr lang="en-US" sz="1100" dirty="0"/>
          </a:p>
        </p:txBody>
      </p:sp>
      <p:sp>
        <p:nvSpPr>
          <p:cNvPr id="16" name="Shape 13"/>
          <p:cNvSpPr/>
          <p:nvPr/>
        </p:nvSpPr>
        <p:spPr>
          <a:xfrm>
            <a:off x="6446520" y="4892040"/>
            <a:ext cx="5074920" cy="1325880"/>
          </a:xfrm>
          <a:prstGeom prst="roundRect">
            <a:avLst>
              <a:gd name="adj" fmla="val 5517"/>
            </a:avLst>
          </a:prstGeom>
          <a:solidFill>
            <a:srgbClr val="F2F5F1"/>
          </a:solidFill>
          <a:ln/>
          <a:effectLst>
            <a:outerShdw sx="100000" sy="100000" kx="0" ky="0" algn="bl" rotWithShape="0" blurRad="101600" dist="635" dir="5400000">
              <a:srgbClr val="9AA69E">
                <a:alpha val="12000"/>
              </a:srgbClr>
            </a:outerShdw>
          </a:effectLst>
        </p:spPr>
      </p:sp>
      <p:sp>
        <p:nvSpPr>
          <p:cNvPr id="17" name="Text 14"/>
          <p:cNvSpPr/>
          <p:nvPr/>
        </p:nvSpPr>
        <p:spPr>
          <a:xfrm>
            <a:off x="6766560" y="5029200"/>
            <a:ext cx="4480560" cy="27432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How it is funded, honestly</a:t>
            </a:r>
            <a:endParaRPr lang="en-US" sz="1400" dirty="0"/>
          </a:p>
        </p:txBody>
      </p:sp>
      <p:sp>
        <p:nvSpPr>
          <p:cNvPr id="18" name="Text 15"/>
          <p:cNvSpPr/>
          <p:nvPr/>
        </p:nvSpPr>
        <p:spPr>
          <a:xfrm>
            <a:off x="6766560" y="5321808"/>
            <a:ext cx="4480560" cy="822960"/>
          </a:xfrm>
          <a:prstGeom prst="rect">
            <a:avLst/>
          </a:prstGeom>
          <a:noFill/>
          <a:ln/>
        </p:spPr>
        <p:txBody>
          <a:bodyPr wrap="square" lIns="0" tIns="0" rIns="0" bIns="0" rtlCol="0" anchor="ctr"/>
          <a:lstStyle/>
          <a:p>
            <a:pPr indent="0" marL="0">
              <a:lnSpc>
                <a:spcPts val="1300"/>
              </a:lnSpc>
              <a:buNone/>
            </a:pPr>
            <a:r>
              <a:rPr lang="en-US" sz="1000" dirty="0">
                <a:solidFill>
                  <a:srgbClr val="5F6B63"/>
                </a:solidFill>
                <a:latin typeface="Calibri" pitchFamily="34" charset="0"/>
                <a:ea typeface="Calibri" pitchFamily="34" charset="-122"/>
                <a:cs typeface="Calibri" pitchFamily="34" charset="-120"/>
              </a:rPr>
              <a:t>At an estimated PKR 2.5 million to build, one unit repays itself in about six and a half years. That is too slow for an equity investor and normal for zakat, CSR or green financing capital. So we raise the building cost once as a grant, and the unit covers its own running costs from the first season and helps fund the next 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10  WHAT ELSE IS OUT THERE</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Four things already serve this farmer.</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None of them do what we are proposing to do.</a:t>
            </a:r>
            <a:endParaRPr lang="en-US" sz="1450" dirty="0"/>
          </a:p>
        </p:txBody>
      </p:sp>
      <p:sp>
        <p:nvSpPr>
          <p:cNvPr id="5" name="Shape 3"/>
          <p:cNvSpPr/>
          <p:nvPr/>
        </p:nvSpPr>
        <p:spPr>
          <a:xfrm>
            <a:off x="640080" y="1965960"/>
            <a:ext cx="5257800" cy="1828800"/>
          </a:xfrm>
          <a:prstGeom prst="roundRect">
            <a:avLst>
              <a:gd name="adj" fmla="val 4000"/>
            </a:avLst>
          </a:prstGeom>
          <a:solidFill>
            <a:srgbClr val="FFFFFF"/>
          </a:solidFill>
          <a:ln w="12700">
            <a:solidFill>
              <a:srgbClr val="D8E0DA"/>
            </a:solidFill>
            <a:prstDash val="solid"/>
          </a:ln>
        </p:spPr>
      </p:sp>
      <p:sp>
        <p:nvSpPr>
          <p:cNvPr id="6" name="Text 4"/>
          <p:cNvSpPr/>
          <p:nvPr/>
        </p:nvSpPr>
        <p:spPr>
          <a:xfrm>
            <a:off x="914400" y="213055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Commercial cold storages</a:t>
            </a:r>
            <a:endParaRPr lang="en-US" sz="1600" dirty="0"/>
          </a:p>
        </p:txBody>
      </p:sp>
      <p:sp>
        <p:nvSpPr>
          <p:cNvPr id="7" name="Text 5"/>
          <p:cNvSpPr/>
          <p:nvPr/>
        </p:nvSpPr>
        <p:spPr>
          <a:xfrm>
            <a:off x="914400" y="247802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Around 555 units nationally. Built for traders on season contracts and truckload minimums, and sited near cities.</a:t>
            </a:r>
            <a:endParaRPr lang="en-US" sz="1150" dirty="0"/>
          </a:p>
        </p:txBody>
      </p:sp>
      <p:sp>
        <p:nvSpPr>
          <p:cNvPr id="8" name="Text 6"/>
          <p:cNvSpPr/>
          <p:nvPr/>
        </p:nvSpPr>
        <p:spPr>
          <a:xfrm>
            <a:off x="914400" y="324612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Cannot take ten crates for ten days.</a:t>
            </a:r>
            <a:endParaRPr lang="en-US" sz="1150" dirty="0"/>
          </a:p>
        </p:txBody>
      </p:sp>
      <p:sp>
        <p:nvSpPr>
          <p:cNvPr id="9" name="Shape 7"/>
          <p:cNvSpPr/>
          <p:nvPr/>
        </p:nvSpPr>
        <p:spPr>
          <a:xfrm>
            <a:off x="6263640" y="1965960"/>
            <a:ext cx="5257800" cy="1828800"/>
          </a:xfrm>
          <a:prstGeom prst="roundRect">
            <a:avLst>
              <a:gd name="adj" fmla="val 4000"/>
            </a:avLst>
          </a:prstGeom>
          <a:solidFill>
            <a:srgbClr val="FFFFFF"/>
          </a:solidFill>
          <a:ln w="12700">
            <a:solidFill>
              <a:srgbClr val="D8E0DA"/>
            </a:solidFill>
            <a:prstDash val="solid"/>
          </a:ln>
        </p:spPr>
      </p:sp>
      <p:sp>
        <p:nvSpPr>
          <p:cNvPr id="10" name="Text 8"/>
          <p:cNvSpPr/>
          <p:nvPr/>
        </p:nvSpPr>
        <p:spPr>
          <a:xfrm>
            <a:off x="6537960" y="213055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Agritech marketplaces</a:t>
            </a:r>
            <a:endParaRPr lang="en-US" sz="1600" dirty="0"/>
          </a:p>
        </p:txBody>
      </p:sp>
      <p:sp>
        <p:nvSpPr>
          <p:cNvPr id="11" name="Text 9"/>
          <p:cNvSpPr/>
          <p:nvPr/>
        </p:nvSpPr>
        <p:spPr>
          <a:xfrm>
            <a:off x="6537960" y="247802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Tazah, Bazaar and others matched buyers and sellers digitally. Tazah has since pivoted away from local agri trade twice.</a:t>
            </a:r>
            <a:endParaRPr lang="en-US" sz="1150" dirty="0"/>
          </a:p>
        </p:txBody>
      </p:sp>
      <p:sp>
        <p:nvSpPr>
          <p:cNvPr id="12" name="Text 10"/>
          <p:cNvSpPr/>
          <p:nvPr/>
        </p:nvSpPr>
        <p:spPr>
          <a:xfrm>
            <a:off x="6537960" y="324612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They move produce. They do not fix where it waits.</a:t>
            </a:r>
            <a:endParaRPr lang="en-US" sz="1150" dirty="0"/>
          </a:p>
        </p:txBody>
      </p:sp>
      <p:sp>
        <p:nvSpPr>
          <p:cNvPr id="13" name="Shape 11"/>
          <p:cNvSpPr/>
          <p:nvPr/>
        </p:nvSpPr>
        <p:spPr>
          <a:xfrm>
            <a:off x="640080" y="3977640"/>
            <a:ext cx="5257800" cy="1828800"/>
          </a:xfrm>
          <a:prstGeom prst="roundRect">
            <a:avLst>
              <a:gd name="adj" fmla="val 4000"/>
            </a:avLst>
          </a:prstGeom>
          <a:solidFill>
            <a:srgbClr val="FFFFFF"/>
          </a:solidFill>
          <a:ln w="12700">
            <a:solidFill>
              <a:srgbClr val="D8E0DA"/>
            </a:solidFill>
            <a:prstDash val="solid"/>
          </a:ln>
        </p:spPr>
      </p:sp>
      <p:sp>
        <p:nvSpPr>
          <p:cNvPr id="14" name="Text 12"/>
          <p:cNvSpPr/>
          <p:nvPr/>
        </p:nvSpPr>
        <p:spPr>
          <a:xfrm>
            <a:off x="914400" y="414223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Government and donor schemes</a:t>
            </a:r>
            <a:endParaRPr lang="en-US" sz="1600" dirty="0"/>
          </a:p>
        </p:txBody>
      </p:sp>
      <p:sp>
        <p:nvSpPr>
          <p:cNvPr id="15" name="Text 13"/>
          <p:cNvSpPr/>
          <p:nvPr/>
        </p:nvSpPr>
        <p:spPr>
          <a:xfrm>
            <a:off x="914400" y="448970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Cold chain grants and subsidised storage funds exist and are useful.</a:t>
            </a:r>
            <a:endParaRPr lang="en-US" sz="1150" dirty="0"/>
          </a:p>
        </p:txBody>
      </p:sp>
      <p:sp>
        <p:nvSpPr>
          <p:cNvPr id="16" name="Text 14"/>
          <p:cNvSpPr/>
          <p:nvPr/>
        </p:nvSpPr>
        <p:spPr>
          <a:xfrm>
            <a:off x="914400" y="525780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The capacity added is small next to a 40 percent loss.</a:t>
            </a:r>
            <a:endParaRPr lang="en-US" sz="1150" dirty="0"/>
          </a:p>
        </p:txBody>
      </p:sp>
      <p:sp>
        <p:nvSpPr>
          <p:cNvPr id="17" name="Shape 15"/>
          <p:cNvSpPr/>
          <p:nvPr/>
        </p:nvSpPr>
        <p:spPr>
          <a:xfrm>
            <a:off x="6263640" y="3977640"/>
            <a:ext cx="5257800" cy="1828800"/>
          </a:xfrm>
          <a:prstGeom prst="roundRect">
            <a:avLst>
              <a:gd name="adj" fmla="val 4000"/>
            </a:avLst>
          </a:prstGeom>
          <a:solidFill>
            <a:srgbClr val="F2F5F1"/>
          </a:solidFill>
          <a:ln w="12700">
            <a:solidFill>
              <a:srgbClr val="D8E0DA"/>
            </a:solidFill>
            <a:prstDash val="solid"/>
          </a:ln>
        </p:spPr>
      </p:sp>
      <p:sp>
        <p:nvSpPr>
          <p:cNvPr id="18" name="Text 16"/>
          <p:cNvSpPr/>
          <p:nvPr/>
        </p:nvSpPr>
        <p:spPr>
          <a:xfrm>
            <a:off x="6537960" y="414223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The commission agent</a:t>
            </a:r>
            <a:endParaRPr lang="en-US" sz="1600" dirty="0"/>
          </a:p>
        </p:txBody>
      </p:sp>
      <p:sp>
        <p:nvSpPr>
          <p:cNvPr id="19" name="Text 17"/>
          <p:cNvSpPr/>
          <p:nvPr/>
        </p:nvSpPr>
        <p:spPr>
          <a:xfrm>
            <a:off x="6537960" y="448970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He advances credit before sowing and guarantees offtake at harvest. That is real value, and PIDE is right that he is not simply a villain.</a:t>
            </a:r>
            <a:endParaRPr lang="en-US" sz="1150" dirty="0"/>
          </a:p>
        </p:txBody>
      </p:sp>
      <p:sp>
        <p:nvSpPr>
          <p:cNvPr id="20" name="Text 18"/>
          <p:cNvSpPr/>
          <p:nvPr/>
        </p:nvSpPr>
        <p:spPr>
          <a:xfrm>
            <a:off x="6537960" y="525780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We do not replace him. We rent him crate space at the same rate.</a:t>
            </a:r>
            <a:endParaRPr lang="en-US" sz="1150" dirty="0"/>
          </a:p>
        </p:txBody>
      </p:sp>
      <p:sp>
        <p:nvSpPr>
          <p:cNvPr id="21" name="Text 19"/>
          <p:cNvSpPr/>
          <p:nvPr/>
        </p:nvSpPr>
        <p:spPr>
          <a:xfrm>
            <a:off x="640080" y="6172200"/>
            <a:ext cx="10881360" cy="365760"/>
          </a:xfrm>
          <a:prstGeom prst="rect">
            <a:avLst/>
          </a:prstGeom>
          <a:noFill/>
          <a:ln/>
        </p:spPr>
        <p:txBody>
          <a:bodyPr wrap="square" lIns="0" tIns="0" rIns="0" bIns="0" rtlCol="0" anchor="t"/>
          <a:lstStyle/>
          <a:p>
            <a:pPr indent="0" marL="0">
              <a:buNone/>
            </a:pPr>
            <a:r>
              <a:rPr lang="en-US" sz="1500" b="1" dirty="0">
                <a:solidFill>
                  <a:srgbClr val="14392A"/>
                </a:solidFill>
                <a:latin typeface="Cambria" pitchFamily="34" charset="0"/>
                <a:ea typeface="Cambria" pitchFamily="34" charset="-122"/>
                <a:cs typeface="Cambria" pitchFamily="34" charset="-120"/>
              </a:rPr>
              <a:t>The only storage in the chain priced by the crate, by the day, and sited where the crop is picked.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11  LAUNCH AND MARKETING</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Village marketing is not digital ads.</a:t>
            </a:r>
            <a:endParaRPr lang="en-US" sz="3100" dirty="0"/>
          </a:p>
        </p:txBody>
      </p:sp>
      <p:sp>
        <p:nvSpPr>
          <p:cNvPr id="4" name="Shape 2"/>
          <p:cNvSpPr/>
          <p:nvPr/>
        </p:nvSpPr>
        <p:spPr>
          <a:xfrm>
            <a:off x="640080" y="1920240"/>
            <a:ext cx="3520440" cy="1783080"/>
          </a:xfrm>
          <a:prstGeom prst="roundRect">
            <a:avLst>
              <a:gd name="adj" fmla="val 4103"/>
            </a:avLst>
          </a:prstGeom>
          <a:solidFill>
            <a:srgbClr val="FFFFFF"/>
          </a:solidFill>
          <a:ln w="12700">
            <a:solidFill>
              <a:srgbClr val="D8E0DA"/>
            </a:solidFill>
            <a:prstDash val="solid"/>
          </a:ln>
        </p:spPr>
      </p:sp>
      <p:sp>
        <p:nvSpPr>
          <p:cNvPr id="5" name="Shape 3"/>
          <p:cNvSpPr/>
          <p:nvPr/>
        </p:nvSpPr>
        <p:spPr>
          <a:xfrm>
            <a:off x="896112" y="2139696"/>
            <a:ext cx="365760" cy="365760"/>
          </a:xfrm>
          <a:prstGeom prst="ellipse">
            <a:avLst/>
          </a:prstGeom>
          <a:solidFill>
            <a:srgbClr val="2E7D5B"/>
          </a:solidFill>
          <a:ln/>
        </p:spPr>
      </p:sp>
      <p:sp>
        <p:nvSpPr>
          <p:cNvPr id="6" name="Text 4"/>
          <p:cNvSpPr/>
          <p:nvPr/>
        </p:nvSpPr>
        <p:spPr>
          <a:xfrm>
            <a:off x="896112"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1353312"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Friday announcement</a:t>
            </a:r>
            <a:endParaRPr lang="en-US" sz="1400" dirty="0"/>
          </a:p>
        </p:txBody>
      </p:sp>
      <p:sp>
        <p:nvSpPr>
          <p:cNvPr id="8" name="Text 6"/>
          <p:cNvSpPr/>
          <p:nvPr/>
        </p:nvSpPr>
        <p:spPr>
          <a:xfrm>
            <a:off x="896112"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A two minute announcement after Friday prayers in three village mosques, made by someone the village already knows.</a:t>
            </a:r>
            <a:endParaRPr lang="en-US" sz="1100" dirty="0"/>
          </a:p>
        </p:txBody>
      </p:sp>
      <p:sp>
        <p:nvSpPr>
          <p:cNvPr id="9" name="Shape 7"/>
          <p:cNvSpPr/>
          <p:nvPr/>
        </p:nvSpPr>
        <p:spPr>
          <a:xfrm>
            <a:off x="4315968" y="1920240"/>
            <a:ext cx="3520440" cy="1783080"/>
          </a:xfrm>
          <a:prstGeom prst="roundRect">
            <a:avLst>
              <a:gd name="adj" fmla="val 4103"/>
            </a:avLst>
          </a:prstGeom>
          <a:solidFill>
            <a:srgbClr val="FFFFFF"/>
          </a:solidFill>
          <a:ln w="12700">
            <a:solidFill>
              <a:srgbClr val="D8E0DA"/>
            </a:solidFill>
            <a:prstDash val="solid"/>
          </a:ln>
        </p:spPr>
      </p:sp>
      <p:sp>
        <p:nvSpPr>
          <p:cNvPr id="10" name="Shape 8"/>
          <p:cNvSpPr/>
          <p:nvPr/>
        </p:nvSpPr>
        <p:spPr>
          <a:xfrm>
            <a:off x="4572000" y="2139696"/>
            <a:ext cx="365760" cy="365760"/>
          </a:xfrm>
          <a:prstGeom prst="ellipse">
            <a:avLst/>
          </a:prstGeom>
          <a:solidFill>
            <a:srgbClr val="2E7D5B"/>
          </a:solidFill>
          <a:ln/>
        </p:spPr>
      </p:sp>
      <p:sp>
        <p:nvSpPr>
          <p:cNvPr id="11" name="Text 9"/>
          <p:cNvSpPr/>
          <p:nvPr/>
        </p:nvSpPr>
        <p:spPr>
          <a:xfrm>
            <a:off x="4572000"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2" name="Text 10"/>
          <p:cNvSpPr/>
          <p:nvPr/>
        </p:nvSpPr>
        <p:spPr>
          <a:xfrm>
            <a:off x="5029200"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The input dealer's shop</a:t>
            </a:r>
            <a:endParaRPr lang="en-US" sz="1400" dirty="0"/>
          </a:p>
        </p:txBody>
      </p:sp>
      <p:sp>
        <p:nvSpPr>
          <p:cNvPr id="13" name="Text 11"/>
          <p:cNvSpPr/>
          <p:nvPr/>
        </p:nvSpPr>
        <p:spPr>
          <a:xfrm>
            <a:off x="4572000"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Every grower visits the seed and fertiliser shop. A small stall and a signboard there reaches more people than any advertisement.</a:t>
            </a:r>
            <a:endParaRPr lang="en-US" sz="1100" dirty="0"/>
          </a:p>
        </p:txBody>
      </p:sp>
      <p:sp>
        <p:nvSpPr>
          <p:cNvPr id="14" name="Shape 12"/>
          <p:cNvSpPr/>
          <p:nvPr/>
        </p:nvSpPr>
        <p:spPr>
          <a:xfrm>
            <a:off x="7991856" y="1920240"/>
            <a:ext cx="3520440" cy="1783080"/>
          </a:xfrm>
          <a:prstGeom prst="roundRect">
            <a:avLst>
              <a:gd name="adj" fmla="val 4103"/>
            </a:avLst>
          </a:prstGeom>
          <a:solidFill>
            <a:srgbClr val="FFFFFF"/>
          </a:solidFill>
          <a:ln w="12700">
            <a:solidFill>
              <a:srgbClr val="D8E0DA"/>
            </a:solidFill>
            <a:prstDash val="solid"/>
          </a:ln>
        </p:spPr>
      </p:sp>
      <p:sp>
        <p:nvSpPr>
          <p:cNvPr id="15" name="Shape 13"/>
          <p:cNvSpPr/>
          <p:nvPr/>
        </p:nvSpPr>
        <p:spPr>
          <a:xfrm>
            <a:off x="8247888" y="2139696"/>
            <a:ext cx="365760" cy="365760"/>
          </a:xfrm>
          <a:prstGeom prst="ellipse">
            <a:avLst/>
          </a:prstGeom>
          <a:solidFill>
            <a:srgbClr val="2E7D5B"/>
          </a:solidFill>
          <a:ln/>
        </p:spPr>
      </p:sp>
      <p:sp>
        <p:nvSpPr>
          <p:cNvPr id="16" name="Text 14"/>
          <p:cNvSpPr/>
          <p:nvPr/>
        </p:nvSpPr>
        <p:spPr>
          <a:xfrm>
            <a:off x="8247888"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7" name="Text 15"/>
          <p:cNvSpPr/>
          <p:nvPr/>
        </p:nvSpPr>
        <p:spPr>
          <a:xfrm>
            <a:off x="8705088"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Free first season</a:t>
            </a:r>
            <a:endParaRPr lang="en-US" sz="1400" dirty="0"/>
          </a:p>
        </p:txBody>
      </p:sp>
      <p:sp>
        <p:nvSpPr>
          <p:cNvPr id="18" name="Text 16"/>
          <p:cNvSpPr/>
          <p:nvPr/>
        </p:nvSpPr>
        <p:spPr>
          <a:xfrm>
            <a:off x="8247888"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The first 20 growers store free for one season in exchange for letting us record their weights, prices and dates.</a:t>
            </a:r>
            <a:endParaRPr lang="en-US" sz="1100" dirty="0"/>
          </a:p>
        </p:txBody>
      </p:sp>
      <p:sp>
        <p:nvSpPr>
          <p:cNvPr id="19" name="Shape 17"/>
          <p:cNvSpPr/>
          <p:nvPr/>
        </p:nvSpPr>
        <p:spPr>
          <a:xfrm>
            <a:off x="640080" y="3931920"/>
            <a:ext cx="3520440" cy="1783080"/>
          </a:xfrm>
          <a:prstGeom prst="roundRect">
            <a:avLst>
              <a:gd name="adj" fmla="val 4103"/>
            </a:avLst>
          </a:prstGeom>
          <a:solidFill>
            <a:srgbClr val="FFFFFF"/>
          </a:solidFill>
          <a:ln w="12700">
            <a:solidFill>
              <a:srgbClr val="D8E0DA"/>
            </a:solidFill>
            <a:prstDash val="solid"/>
          </a:ln>
        </p:spPr>
      </p:sp>
      <p:sp>
        <p:nvSpPr>
          <p:cNvPr id="20" name="Shape 18"/>
          <p:cNvSpPr/>
          <p:nvPr/>
        </p:nvSpPr>
        <p:spPr>
          <a:xfrm>
            <a:off x="896112" y="4151376"/>
            <a:ext cx="365760" cy="365760"/>
          </a:xfrm>
          <a:prstGeom prst="ellipse">
            <a:avLst/>
          </a:prstGeom>
          <a:solidFill>
            <a:srgbClr val="2E7D5B"/>
          </a:solidFill>
          <a:ln/>
        </p:spPr>
      </p:sp>
      <p:sp>
        <p:nvSpPr>
          <p:cNvPr id="21" name="Text 19"/>
          <p:cNvSpPr/>
          <p:nvPr/>
        </p:nvSpPr>
        <p:spPr>
          <a:xfrm>
            <a:off x="896112"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2" name="Text 20"/>
          <p:cNvSpPr/>
          <p:nvPr/>
        </p:nvSpPr>
        <p:spPr>
          <a:xfrm>
            <a:off x="1353312"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 WhatsApp rate group</a:t>
            </a:r>
            <a:endParaRPr lang="en-US" sz="1400" dirty="0"/>
          </a:p>
        </p:txBody>
      </p:sp>
      <p:sp>
        <p:nvSpPr>
          <p:cNvPr id="23" name="Text 21"/>
          <p:cNvSpPr/>
          <p:nvPr/>
        </p:nvSpPr>
        <p:spPr>
          <a:xfrm>
            <a:off x="896112"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Daily mandi rates sent to every grower who signs up. It costs nothing and gives them a reason to stay in contact.</a:t>
            </a:r>
            <a:endParaRPr lang="en-US" sz="1100" dirty="0"/>
          </a:p>
        </p:txBody>
      </p:sp>
      <p:sp>
        <p:nvSpPr>
          <p:cNvPr id="24" name="Shape 22"/>
          <p:cNvSpPr/>
          <p:nvPr/>
        </p:nvSpPr>
        <p:spPr>
          <a:xfrm>
            <a:off x="4315968" y="3931920"/>
            <a:ext cx="3520440" cy="1783080"/>
          </a:xfrm>
          <a:prstGeom prst="roundRect">
            <a:avLst>
              <a:gd name="adj" fmla="val 4103"/>
            </a:avLst>
          </a:prstGeom>
          <a:solidFill>
            <a:srgbClr val="FFFFFF"/>
          </a:solidFill>
          <a:ln w="12700">
            <a:solidFill>
              <a:srgbClr val="D8E0DA"/>
            </a:solidFill>
            <a:prstDash val="solid"/>
          </a:ln>
        </p:spPr>
      </p:sp>
      <p:sp>
        <p:nvSpPr>
          <p:cNvPr id="25" name="Shape 23"/>
          <p:cNvSpPr/>
          <p:nvPr/>
        </p:nvSpPr>
        <p:spPr>
          <a:xfrm>
            <a:off x="4572000" y="4151376"/>
            <a:ext cx="365760" cy="365760"/>
          </a:xfrm>
          <a:prstGeom prst="ellipse">
            <a:avLst/>
          </a:prstGeom>
          <a:solidFill>
            <a:srgbClr val="2E7D5B"/>
          </a:solidFill>
          <a:ln/>
        </p:spPr>
      </p:sp>
      <p:sp>
        <p:nvSpPr>
          <p:cNvPr id="26" name="Text 24"/>
          <p:cNvSpPr/>
          <p:nvPr/>
        </p:nvSpPr>
        <p:spPr>
          <a:xfrm>
            <a:off x="4572000"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7" name="Text 25"/>
          <p:cNvSpPr/>
          <p:nvPr/>
        </p:nvSpPr>
        <p:spPr>
          <a:xfrm>
            <a:off x="5029200"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Alkhidmat's district network</a:t>
            </a:r>
            <a:endParaRPr lang="en-US" sz="1400" dirty="0"/>
          </a:p>
        </p:txBody>
      </p:sp>
      <p:sp>
        <p:nvSpPr>
          <p:cNvPr id="28" name="Text 26"/>
          <p:cNvSpPr/>
          <p:nvPr/>
        </p:nvSpPr>
        <p:spPr>
          <a:xfrm>
            <a:off x="4572000"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Existing offices and volunteers make the introductions and carry the trust we have not earned yet.</a:t>
            </a:r>
            <a:endParaRPr lang="en-US" sz="1100" dirty="0"/>
          </a:p>
        </p:txBody>
      </p:sp>
      <p:sp>
        <p:nvSpPr>
          <p:cNvPr id="29" name="Shape 27"/>
          <p:cNvSpPr/>
          <p:nvPr/>
        </p:nvSpPr>
        <p:spPr>
          <a:xfrm>
            <a:off x="7991856" y="3931920"/>
            <a:ext cx="3520440" cy="1783080"/>
          </a:xfrm>
          <a:prstGeom prst="roundRect">
            <a:avLst>
              <a:gd name="adj" fmla="val 4103"/>
            </a:avLst>
          </a:prstGeom>
          <a:solidFill>
            <a:srgbClr val="FFFFFF"/>
          </a:solidFill>
          <a:ln w="12700">
            <a:solidFill>
              <a:srgbClr val="D8E0DA"/>
            </a:solidFill>
            <a:prstDash val="solid"/>
          </a:ln>
        </p:spPr>
      </p:sp>
      <p:sp>
        <p:nvSpPr>
          <p:cNvPr id="30" name="Shape 28"/>
          <p:cNvSpPr/>
          <p:nvPr/>
        </p:nvSpPr>
        <p:spPr>
          <a:xfrm>
            <a:off x="8247888" y="4151376"/>
            <a:ext cx="365760" cy="365760"/>
          </a:xfrm>
          <a:prstGeom prst="ellipse">
            <a:avLst/>
          </a:prstGeom>
          <a:solidFill>
            <a:srgbClr val="2E7D5B"/>
          </a:solidFill>
          <a:ln/>
        </p:spPr>
      </p:sp>
      <p:sp>
        <p:nvSpPr>
          <p:cNvPr id="31" name="Text 29"/>
          <p:cNvSpPr/>
          <p:nvPr/>
        </p:nvSpPr>
        <p:spPr>
          <a:xfrm>
            <a:off x="8247888"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6</a:t>
            </a:r>
            <a:endParaRPr lang="en-US" sz="1350" dirty="0"/>
          </a:p>
        </p:txBody>
      </p:sp>
      <p:sp>
        <p:nvSpPr>
          <p:cNvPr id="32" name="Text 30"/>
          <p:cNvSpPr/>
          <p:nvPr/>
        </p:nvSpPr>
        <p:spPr>
          <a:xfrm>
            <a:off x="8705088"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 board at the gate</a:t>
            </a:r>
            <a:endParaRPr lang="en-US" sz="1400" dirty="0"/>
          </a:p>
        </p:txBody>
      </p:sp>
      <p:sp>
        <p:nvSpPr>
          <p:cNvPr id="33" name="Text 31"/>
          <p:cNvSpPr/>
          <p:nvPr/>
        </p:nvSpPr>
        <p:spPr>
          <a:xfrm>
            <a:off x="8247888"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What growers who waited actually earned, written up where everyone can see it. Proof travels faster than promises.</a:t>
            </a:r>
            <a:endParaRPr lang="en-US" sz="1100" dirty="0"/>
          </a:p>
        </p:txBody>
      </p:sp>
      <p:sp>
        <p:nvSpPr>
          <p:cNvPr id="34" name="Text 32"/>
          <p:cNvSpPr/>
          <p:nvPr/>
        </p:nvSpPr>
        <p:spPr>
          <a:xfrm>
            <a:off x="640080" y="6035040"/>
            <a:ext cx="10881360" cy="365760"/>
          </a:xfrm>
          <a:prstGeom prst="rect">
            <a:avLst/>
          </a:prstGeom>
          <a:noFill/>
          <a:ln/>
        </p:spPr>
        <p:txBody>
          <a:bodyPr wrap="square" lIns="0" tIns="0" rIns="0" bIns="0" rtlCol="0" anchor="ctr"/>
          <a:lstStyle/>
          <a:p>
            <a:pPr indent="0" marL="0">
              <a:buNone/>
            </a:pPr>
            <a:r>
              <a:rPr lang="en-US" sz="1350" i="1" dirty="0">
                <a:solidFill>
                  <a:srgbClr val="14392A"/>
                </a:solidFill>
                <a:latin typeface="Calibri" pitchFamily="34" charset="0"/>
                <a:ea typeface="Calibri" pitchFamily="34" charset="-122"/>
                <a:cs typeface="Calibri" pitchFamily="34" charset="-120"/>
              </a:rPr>
              <a:t>The first season is not about volume. It is about twenty growers who can tell the next hundred what happened to their money.</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12  RISKS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What could go wrong, and what we would do.</a:t>
            </a:r>
            <a:endParaRPr lang="en-US" sz="3100" dirty="0"/>
          </a:p>
        </p:txBody>
      </p:sp>
      <p:sp>
        <p:nvSpPr>
          <p:cNvPr id="4" name="Shape 2"/>
          <p:cNvSpPr/>
          <p:nvPr/>
        </p:nvSpPr>
        <p:spPr>
          <a:xfrm>
            <a:off x="640080" y="1773936"/>
            <a:ext cx="10881360" cy="630936"/>
          </a:xfrm>
          <a:prstGeom prst="rect">
            <a:avLst/>
          </a:prstGeom>
          <a:solidFill>
            <a:srgbClr val="F2F5F1"/>
          </a:solidFill>
          <a:ln/>
        </p:spPr>
      </p:sp>
      <p:sp>
        <p:nvSpPr>
          <p:cNvPr id="5" name="Shape 3"/>
          <p:cNvSpPr/>
          <p:nvPr/>
        </p:nvSpPr>
        <p:spPr>
          <a:xfrm>
            <a:off x="822960" y="1929384"/>
            <a:ext cx="329184" cy="329184"/>
          </a:xfrm>
          <a:prstGeom prst="ellipse">
            <a:avLst/>
          </a:prstGeom>
          <a:solidFill>
            <a:srgbClr val="E4572E"/>
          </a:solidFill>
          <a:ln/>
        </p:spPr>
      </p:sp>
      <p:sp>
        <p:nvSpPr>
          <p:cNvPr id="6" name="Text 4"/>
          <p:cNvSpPr/>
          <p:nvPr/>
        </p:nvSpPr>
        <p:spPr>
          <a:xfrm>
            <a:off x="822960" y="1929384"/>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1280160" y="1828800"/>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Growers do not trust us with their crop</a:t>
            </a:r>
            <a:endParaRPr lang="en-US" sz="1250" dirty="0"/>
          </a:p>
        </p:txBody>
      </p:sp>
      <p:sp>
        <p:nvSpPr>
          <p:cNvPr id="8" name="Text 6"/>
          <p:cNvSpPr/>
          <p:nvPr/>
        </p:nvSpPr>
        <p:spPr>
          <a:xfrm>
            <a:off x="5029200" y="1828800"/>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Weigh, tag and photograph at the gate. Printed receipt every time. A village committee with two growers on it holds the second key.</a:t>
            </a:r>
            <a:endParaRPr lang="en-US" sz="1100" dirty="0"/>
          </a:p>
        </p:txBody>
      </p:sp>
      <p:sp>
        <p:nvSpPr>
          <p:cNvPr id="9" name="Shape 7"/>
          <p:cNvSpPr/>
          <p:nvPr/>
        </p:nvSpPr>
        <p:spPr>
          <a:xfrm>
            <a:off x="822960" y="2596896"/>
            <a:ext cx="329184" cy="329184"/>
          </a:xfrm>
          <a:prstGeom prst="ellipse">
            <a:avLst/>
          </a:prstGeom>
          <a:solidFill>
            <a:srgbClr val="2E7D5B"/>
          </a:solidFill>
          <a:ln/>
        </p:spPr>
      </p:sp>
      <p:sp>
        <p:nvSpPr>
          <p:cNvPr id="10" name="Text 8"/>
          <p:cNvSpPr/>
          <p:nvPr/>
        </p:nvSpPr>
        <p:spPr>
          <a:xfrm>
            <a:off x="822960" y="259689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1" name="Text 9"/>
          <p:cNvSpPr/>
          <p:nvPr/>
        </p:nvSpPr>
        <p:spPr>
          <a:xfrm>
            <a:off x="1280160" y="2496312"/>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Arguments over quality on collection</a:t>
            </a:r>
            <a:endParaRPr lang="en-US" sz="1250" dirty="0"/>
          </a:p>
        </p:txBody>
      </p:sp>
      <p:sp>
        <p:nvSpPr>
          <p:cNvPr id="12" name="Text 10"/>
          <p:cNvSpPr/>
          <p:nvPr/>
        </p:nvSpPr>
        <p:spPr>
          <a:xfrm>
            <a:off x="5029200" y="2496312"/>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The grade is agreed and written on the receipt when the crop goes in, with the entry photograph attached to it.</a:t>
            </a:r>
            <a:endParaRPr lang="en-US" sz="1100" dirty="0"/>
          </a:p>
        </p:txBody>
      </p:sp>
      <p:sp>
        <p:nvSpPr>
          <p:cNvPr id="13" name="Shape 11"/>
          <p:cNvSpPr/>
          <p:nvPr/>
        </p:nvSpPr>
        <p:spPr>
          <a:xfrm>
            <a:off x="640080" y="3108960"/>
            <a:ext cx="10881360" cy="630936"/>
          </a:xfrm>
          <a:prstGeom prst="rect">
            <a:avLst/>
          </a:prstGeom>
          <a:solidFill>
            <a:srgbClr val="F2F5F1"/>
          </a:solidFill>
          <a:ln/>
        </p:spPr>
      </p:sp>
      <p:sp>
        <p:nvSpPr>
          <p:cNvPr id="14" name="Shape 12"/>
          <p:cNvSpPr/>
          <p:nvPr/>
        </p:nvSpPr>
        <p:spPr>
          <a:xfrm>
            <a:off x="822960" y="3264408"/>
            <a:ext cx="329184" cy="329184"/>
          </a:xfrm>
          <a:prstGeom prst="ellipse">
            <a:avLst/>
          </a:prstGeom>
          <a:solidFill>
            <a:srgbClr val="E4572E"/>
          </a:solidFill>
          <a:ln/>
        </p:spPr>
      </p:sp>
      <p:sp>
        <p:nvSpPr>
          <p:cNvPr id="15" name="Text 13"/>
          <p:cNvSpPr/>
          <p:nvPr/>
        </p:nvSpPr>
        <p:spPr>
          <a:xfrm>
            <a:off x="822960" y="3264408"/>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6" name="Text 14"/>
          <p:cNvSpPr/>
          <p:nvPr/>
        </p:nvSpPr>
        <p:spPr>
          <a:xfrm>
            <a:off x="1280160" y="3163824"/>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whole market crashes, not just one day's price</a:t>
            </a:r>
            <a:endParaRPr lang="en-US" sz="1250" dirty="0"/>
          </a:p>
        </p:txBody>
      </p:sp>
      <p:sp>
        <p:nvSpPr>
          <p:cNvPr id="17" name="Text 15"/>
          <p:cNvSpPr/>
          <p:nvPr/>
        </p:nvSpPr>
        <p:spPr>
          <a:xfrm>
            <a:off x="5029200" y="3163824"/>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Storage buys days, it does not buy a different market. We lead with tomato, chili and leafy greens, where prices move week to week.</a:t>
            </a:r>
            <a:endParaRPr lang="en-US" sz="1100" dirty="0"/>
          </a:p>
        </p:txBody>
      </p:sp>
      <p:sp>
        <p:nvSpPr>
          <p:cNvPr id="18" name="Shape 16"/>
          <p:cNvSpPr/>
          <p:nvPr/>
        </p:nvSpPr>
        <p:spPr>
          <a:xfrm>
            <a:off x="822960" y="3931920"/>
            <a:ext cx="329184" cy="329184"/>
          </a:xfrm>
          <a:prstGeom prst="ellipse">
            <a:avLst/>
          </a:prstGeom>
          <a:solidFill>
            <a:srgbClr val="2E7D5B"/>
          </a:solidFill>
          <a:ln/>
        </p:spPr>
      </p:sp>
      <p:sp>
        <p:nvSpPr>
          <p:cNvPr id="19" name="Text 17"/>
          <p:cNvSpPr/>
          <p:nvPr/>
        </p:nvSpPr>
        <p:spPr>
          <a:xfrm>
            <a:off x="822960" y="3931920"/>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0" name="Text 18"/>
          <p:cNvSpPr/>
          <p:nvPr/>
        </p:nvSpPr>
        <p:spPr>
          <a:xfrm>
            <a:off x="1280160" y="3831336"/>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room sits empty out of season</a:t>
            </a:r>
            <a:endParaRPr lang="en-US" sz="1250" dirty="0"/>
          </a:p>
        </p:txBody>
      </p:sp>
      <p:sp>
        <p:nvSpPr>
          <p:cNvPr id="21" name="Text 19"/>
          <p:cNvSpPr/>
          <p:nvPr/>
        </p:nvSpPr>
        <p:spPr>
          <a:xfrm>
            <a:off x="5029200" y="3831336"/>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Rotate to crops with different calendars, and offer the same room for seed, dairy and mango season overflow.</a:t>
            </a:r>
            <a:endParaRPr lang="en-US" sz="1100" dirty="0"/>
          </a:p>
        </p:txBody>
      </p:sp>
      <p:sp>
        <p:nvSpPr>
          <p:cNvPr id="22" name="Shape 20"/>
          <p:cNvSpPr/>
          <p:nvPr/>
        </p:nvSpPr>
        <p:spPr>
          <a:xfrm>
            <a:off x="640080" y="4443984"/>
            <a:ext cx="10881360" cy="630936"/>
          </a:xfrm>
          <a:prstGeom prst="rect">
            <a:avLst/>
          </a:prstGeom>
          <a:solidFill>
            <a:srgbClr val="F2F5F1"/>
          </a:solidFill>
          <a:ln/>
        </p:spPr>
      </p:sp>
      <p:sp>
        <p:nvSpPr>
          <p:cNvPr id="23" name="Shape 21"/>
          <p:cNvSpPr/>
          <p:nvPr/>
        </p:nvSpPr>
        <p:spPr>
          <a:xfrm>
            <a:off x="822960" y="4599432"/>
            <a:ext cx="329184" cy="329184"/>
          </a:xfrm>
          <a:prstGeom prst="ellipse">
            <a:avLst/>
          </a:prstGeom>
          <a:solidFill>
            <a:srgbClr val="2E7D5B"/>
          </a:solidFill>
          <a:ln/>
        </p:spPr>
      </p:sp>
      <p:sp>
        <p:nvSpPr>
          <p:cNvPr id="24" name="Text 22"/>
          <p:cNvSpPr/>
          <p:nvPr/>
        </p:nvSpPr>
        <p:spPr>
          <a:xfrm>
            <a:off x="822960" y="4599432"/>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5" name="Text 23"/>
          <p:cNvSpPr/>
          <p:nvPr/>
        </p:nvSpPr>
        <p:spPr>
          <a:xfrm>
            <a:off x="1280160" y="4498848"/>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Solar or compressor breakdown</a:t>
            </a:r>
            <a:endParaRPr lang="en-US" sz="1250" dirty="0"/>
          </a:p>
        </p:txBody>
      </p:sp>
      <p:sp>
        <p:nvSpPr>
          <p:cNvPr id="26" name="Text 24"/>
          <p:cNvSpPr/>
          <p:nvPr/>
        </p:nvSpPr>
        <p:spPr>
          <a:xfrm>
            <a:off x="5029200" y="4498848"/>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A service contract with the supplier from day one, spare parts held locally, and a small generator that can run the compressor alone.</a:t>
            </a:r>
            <a:endParaRPr lang="en-US" sz="1100" dirty="0"/>
          </a:p>
        </p:txBody>
      </p:sp>
      <p:sp>
        <p:nvSpPr>
          <p:cNvPr id="27" name="Shape 25"/>
          <p:cNvSpPr/>
          <p:nvPr/>
        </p:nvSpPr>
        <p:spPr>
          <a:xfrm>
            <a:off x="822960" y="5266944"/>
            <a:ext cx="329184" cy="329184"/>
          </a:xfrm>
          <a:prstGeom prst="ellipse">
            <a:avLst/>
          </a:prstGeom>
          <a:solidFill>
            <a:srgbClr val="2E7D5B"/>
          </a:solidFill>
          <a:ln/>
        </p:spPr>
      </p:sp>
      <p:sp>
        <p:nvSpPr>
          <p:cNvPr id="28" name="Text 26"/>
          <p:cNvSpPr/>
          <p:nvPr/>
        </p:nvSpPr>
        <p:spPr>
          <a:xfrm>
            <a:off x="822960" y="5266944"/>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6</a:t>
            </a:r>
            <a:endParaRPr lang="en-US" sz="1350" dirty="0"/>
          </a:p>
        </p:txBody>
      </p:sp>
      <p:sp>
        <p:nvSpPr>
          <p:cNvPr id="29" name="Text 27"/>
          <p:cNvSpPr/>
          <p:nvPr/>
        </p:nvSpPr>
        <p:spPr>
          <a:xfrm>
            <a:off x="1280160" y="5166360"/>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commission agent works against us</a:t>
            </a:r>
            <a:endParaRPr lang="en-US" sz="1250" dirty="0"/>
          </a:p>
        </p:txBody>
      </p:sp>
      <p:sp>
        <p:nvSpPr>
          <p:cNvPr id="30" name="Text 28"/>
          <p:cNvSpPr/>
          <p:nvPr/>
        </p:nvSpPr>
        <p:spPr>
          <a:xfrm>
            <a:off x="5029200" y="5166360"/>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He is offered crate space at the same rate as everyone else. We compete with his storage, not with his credit.</a:t>
            </a:r>
            <a:endParaRPr lang="en-US" sz="1100" dirty="0"/>
          </a:p>
        </p:txBody>
      </p:sp>
      <p:sp>
        <p:nvSpPr>
          <p:cNvPr id="31" name="Shape 29"/>
          <p:cNvSpPr/>
          <p:nvPr/>
        </p:nvSpPr>
        <p:spPr>
          <a:xfrm>
            <a:off x="640080" y="5779008"/>
            <a:ext cx="10881360" cy="630936"/>
          </a:xfrm>
          <a:prstGeom prst="rect">
            <a:avLst/>
          </a:prstGeom>
          <a:solidFill>
            <a:srgbClr val="F2F5F1"/>
          </a:solidFill>
          <a:ln/>
        </p:spPr>
      </p:sp>
      <p:sp>
        <p:nvSpPr>
          <p:cNvPr id="32" name="Shape 30"/>
          <p:cNvSpPr/>
          <p:nvPr/>
        </p:nvSpPr>
        <p:spPr>
          <a:xfrm>
            <a:off x="822960" y="5934456"/>
            <a:ext cx="329184" cy="329184"/>
          </a:xfrm>
          <a:prstGeom prst="ellipse">
            <a:avLst/>
          </a:prstGeom>
          <a:solidFill>
            <a:srgbClr val="2E7D5B"/>
          </a:solidFill>
          <a:ln/>
        </p:spPr>
      </p:sp>
      <p:sp>
        <p:nvSpPr>
          <p:cNvPr id="33" name="Text 31"/>
          <p:cNvSpPr/>
          <p:nvPr/>
        </p:nvSpPr>
        <p:spPr>
          <a:xfrm>
            <a:off x="822960" y="593445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7</a:t>
            </a:r>
            <a:endParaRPr lang="en-US" sz="1350" dirty="0"/>
          </a:p>
        </p:txBody>
      </p:sp>
      <p:sp>
        <p:nvSpPr>
          <p:cNvPr id="34" name="Text 32"/>
          <p:cNvSpPr/>
          <p:nvPr/>
        </p:nvSpPr>
        <p:spPr>
          <a:xfrm>
            <a:off x="1280160" y="5833872"/>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Capital does not arrive</a:t>
            </a:r>
            <a:endParaRPr lang="en-US" sz="1250" dirty="0"/>
          </a:p>
        </p:txBody>
      </p:sp>
      <p:sp>
        <p:nvSpPr>
          <p:cNvPr id="35" name="Text 33"/>
          <p:cNvSpPr/>
          <p:nvPr/>
        </p:nvSpPr>
        <p:spPr>
          <a:xfrm>
            <a:off x="5029200" y="5833872"/>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We can start with a 2 tonne room at a much lower cost and grow from the surplus, which delays the plan but does not end it.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200" b="1" spc="200" kern="0" dirty="0">
                <a:solidFill>
                  <a:srgbClr val="9BC4A8"/>
                </a:solidFill>
                <a:latin typeface="Calibri" pitchFamily="34" charset="0"/>
                <a:ea typeface="Calibri" pitchFamily="34" charset="-122"/>
                <a:cs typeface="Calibri" pitchFamily="34" charset="-120"/>
              </a:rPr>
              <a:t>13  NEXT STEPS</a:t>
            </a:r>
            <a:endParaRPr lang="en-US" sz="1200" dirty="0"/>
          </a:p>
        </p:txBody>
      </p:sp>
      <p:sp>
        <p:nvSpPr>
          <p:cNvPr id="3" name="Text 1"/>
          <p:cNvSpPr/>
          <p:nvPr/>
        </p:nvSpPr>
        <p:spPr>
          <a:xfrm>
            <a:off x="640080" y="731520"/>
            <a:ext cx="10881360" cy="658368"/>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next 90 days</a:t>
            </a:r>
            <a:endParaRPr lang="en-US" sz="3400" dirty="0"/>
          </a:p>
        </p:txBody>
      </p:sp>
      <p:sp>
        <p:nvSpPr>
          <p:cNvPr id="4" name="Text 2"/>
          <p:cNvSpPr/>
          <p:nvPr/>
        </p:nvSpPr>
        <p:spPr>
          <a:xfrm>
            <a:off x="640080" y="1371600"/>
            <a:ext cx="10881360" cy="320040"/>
          </a:xfrm>
          <a:prstGeom prst="rect">
            <a:avLst/>
          </a:prstGeom>
          <a:noFill/>
          <a:ln/>
        </p:spPr>
        <p:txBody>
          <a:bodyPr wrap="square" lIns="0" tIns="0" rIns="0" bIns="0" rtlCol="0" anchor="ctr"/>
          <a:lstStyle/>
          <a:p>
            <a:pPr indent="0" marL="0">
              <a:buNone/>
            </a:pPr>
            <a:r>
              <a:rPr lang="en-US" sz="1500" dirty="0">
                <a:solidFill>
                  <a:srgbClr val="BFD8C7"/>
                </a:solidFill>
                <a:latin typeface="Calibri" pitchFamily="34" charset="0"/>
                <a:ea typeface="Calibri" pitchFamily="34" charset="-122"/>
                <a:cs typeface="Calibri" pitchFamily="34" charset="-120"/>
              </a:rPr>
              <a:t>Nothing here needs the full capital. All of it can start this month.</a:t>
            </a:r>
            <a:endParaRPr lang="en-US" sz="1500" dirty="0"/>
          </a:p>
        </p:txBody>
      </p:sp>
      <p:sp>
        <p:nvSpPr>
          <p:cNvPr id="5" name="Shape 3"/>
          <p:cNvSpPr/>
          <p:nvPr/>
        </p:nvSpPr>
        <p:spPr>
          <a:xfrm>
            <a:off x="640080" y="2148840"/>
            <a:ext cx="2606040" cy="2606040"/>
          </a:xfrm>
          <a:prstGeom prst="roundRect">
            <a:avLst>
              <a:gd name="adj" fmla="val 2807"/>
            </a:avLst>
          </a:prstGeom>
          <a:solidFill>
            <a:srgbClr val="1D4C37"/>
          </a:solidFill>
          <a:ln/>
        </p:spPr>
      </p:sp>
      <p:sp>
        <p:nvSpPr>
          <p:cNvPr id="6" name="Shape 4"/>
          <p:cNvSpPr/>
          <p:nvPr/>
        </p:nvSpPr>
        <p:spPr>
          <a:xfrm>
            <a:off x="877824" y="2377440"/>
            <a:ext cx="384048" cy="384048"/>
          </a:xfrm>
          <a:prstGeom prst="ellipse">
            <a:avLst/>
          </a:prstGeom>
          <a:solidFill>
            <a:srgbClr val="E4572E"/>
          </a:solidFill>
          <a:ln/>
        </p:spPr>
      </p:sp>
      <p:sp>
        <p:nvSpPr>
          <p:cNvPr id="7" name="Text 5"/>
          <p:cNvSpPr/>
          <p:nvPr/>
        </p:nvSpPr>
        <p:spPr>
          <a:xfrm>
            <a:off x="87782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8" name="Text 6"/>
          <p:cNvSpPr/>
          <p:nvPr/>
        </p:nvSpPr>
        <p:spPr>
          <a:xfrm>
            <a:off x="87782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1 to 3</a:t>
            </a:r>
            <a:endParaRPr lang="en-US" sz="1100" dirty="0"/>
          </a:p>
        </p:txBody>
      </p:sp>
      <p:sp>
        <p:nvSpPr>
          <p:cNvPr id="9" name="Text 7"/>
          <p:cNvSpPr/>
          <p:nvPr/>
        </p:nvSpPr>
        <p:spPr>
          <a:xfrm>
            <a:off x="87782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Field validation</a:t>
            </a:r>
            <a:endParaRPr lang="en-US" sz="1600" dirty="0"/>
          </a:p>
        </p:txBody>
      </p:sp>
      <p:sp>
        <p:nvSpPr>
          <p:cNvPr id="10" name="Text 8"/>
          <p:cNvSpPr/>
          <p:nvPr/>
        </p:nvSpPr>
        <p:spPr>
          <a:xfrm>
            <a:off x="87782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12 grower interviews, 3 commission agents, 2 storage operators. Settle the one question that matters: will he pay PKR 12 a crate.</a:t>
            </a:r>
            <a:endParaRPr lang="en-US" sz="1050" dirty="0"/>
          </a:p>
        </p:txBody>
      </p:sp>
      <p:sp>
        <p:nvSpPr>
          <p:cNvPr id="11" name="Shape 9"/>
          <p:cNvSpPr/>
          <p:nvPr/>
        </p:nvSpPr>
        <p:spPr>
          <a:xfrm>
            <a:off x="3429000" y="2148840"/>
            <a:ext cx="2606040" cy="2606040"/>
          </a:xfrm>
          <a:prstGeom prst="roundRect">
            <a:avLst>
              <a:gd name="adj" fmla="val 2807"/>
            </a:avLst>
          </a:prstGeom>
          <a:solidFill>
            <a:srgbClr val="1D4C37"/>
          </a:solidFill>
          <a:ln/>
        </p:spPr>
      </p:sp>
      <p:sp>
        <p:nvSpPr>
          <p:cNvPr id="12" name="Shape 10"/>
          <p:cNvSpPr/>
          <p:nvPr/>
        </p:nvSpPr>
        <p:spPr>
          <a:xfrm>
            <a:off x="3666744" y="2377440"/>
            <a:ext cx="384048" cy="384048"/>
          </a:xfrm>
          <a:prstGeom prst="ellipse">
            <a:avLst/>
          </a:prstGeom>
          <a:solidFill>
            <a:srgbClr val="E4572E"/>
          </a:solidFill>
          <a:ln/>
        </p:spPr>
      </p:sp>
      <p:sp>
        <p:nvSpPr>
          <p:cNvPr id="13" name="Text 11"/>
          <p:cNvSpPr/>
          <p:nvPr/>
        </p:nvSpPr>
        <p:spPr>
          <a:xfrm>
            <a:off x="366674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4" name="Text 12"/>
          <p:cNvSpPr/>
          <p:nvPr/>
        </p:nvSpPr>
        <p:spPr>
          <a:xfrm>
            <a:off x="366674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4 to 6</a:t>
            </a:r>
            <a:endParaRPr lang="en-US" sz="1100" dirty="0"/>
          </a:p>
        </p:txBody>
      </p:sp>
      <p:sp>
        <p:nvSpPr>
          <p:cNvPr id="15" name="Text 13"/>
          <p:cNvSpPr/>
          <p:nvPr/>
        </p:nvSpPr>
        <p:spPr>
          <a:xfrm>
            <a:off x="366674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Real costs</a:t>
            </a:r>
            <a:endParaRPr lang="en-US" sz="1600" dirty="0"/>
          </a:p>
        </p:txBody>
      </p:sp>
      <p:sp>
        <p:nvSpPr>
          <p:cNvPr id="16" name="Text 14"/>
          <p:cNvSpPr/>
          <p:nvPr/>
        </p:nvSpPr>
        <p:spPr>
          <a:xfrm>
            <a:off x="366674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Three written quotes for a 5 tonne solar cold room. Replace our PKR 2.5 million estimate with a number from a supplier.</a:t>
            </a:r>
            <a:endParaRPr lang="en-US" sz="1050" dirty="0"/>
          </a:p>
        </p:txBody>
      </p:sp>
      <p:sp>
        <p:nvSpPr>
          <p:cNvPr id="17" name="Shape 15"/>
          <p:cNvSpPr/>
          <p:nvPr/>
        </p:nvSpPr>
        <p:spPr>
          <a:xfrm>
            <a:off x="6217920" y="2148840"/>
            <a:ext cx="2606040" cy="2606040"/>
          </a:xfrm>
          <a:prstGeom prst="roundRect">
            <a:avLst>
              <a:gd name="adj" fmla="val 2807"/>
            </a:avLst>
          </a:prstGeom>
          <a:solidFill>
            <a:srgbClr val="1D4C37"/>
          </a:solidFill>
          <a:ln/>
        </p:spPr>
      </p:sp>
      <p:sp>
        <p:nvSpPr>
          <p:cNvPr id="18" name="Shape 16"/>
          <p:cNvSpPr/>
          <p:nvPr/>
        </p:nvSpPr>
        <p:spPr>
          <a:xfrm>
            <a:off x="6455664" y="2377440"/>
            <a:ext cx="384048" cy="384048"/>
          </a:xfrm>
          <a:prstGeom prst="ellipse">
            <a:avLst/>
          </a:prstGeom>
          <a:solidFill>
            <a:srgbClr val="E4572E"/>
          </a:solidFill>
          <a:ln/>
        </p:spPr>
      </p:sp>
      <p:sp>
        <p:nvSpPr>
          <p:cNvPr id="19" name="Text 17"/>
          <p:cNvSpPr/>
          <p:nvPr/>
        </p:nvSpPr>
        <p:spPr>
          <a:xfrm>
            <a:off x="645566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0" name="Text 18"/>
          <p:cNvSpPr/>
          <p:nvPr/>
        </p:nvSpPr>
        <p:spPr>
          <a:xfrm>
            <a:off x="645566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7 to 9</a:t>
            </a:r>
            <a:endParaRPr lang="en-US" sz="1100" dirty="0"/>
          </a:p>
        </p:txBody>
      </p:sp>
      <p:sp>
        <p:nvSpPr>
          <p:cNvPr id="21" name="Text 19"/>
          <p:cNvSpPr/>
          <p:nvPr/>
        </p:nvSpPr>
        <p:spPr>
          <a:xfrm>
            <a:off x="645566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Site and buyers</a:t>
            </a:r>
            <a:endParaRPr lang="en-US" sz="1600" dirty="0"/>
          </a:p>
        </p:txBody>
      </p:sp>
      <p:sp>
        <p:nvSpPr>
          <p:cNvPr id="22" name="Text 20"/>
          <p:cNvSpPr/>
          <p:nvPr/>
        </p:nvSpPr>
        <p:spPr>
          <a:xfrm>
            <a:off x="645566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A written site agreement with one village, support from the union council, and a letter of intent from two city buyers.</a:t>
            </a:r>
            <a:endParaRPr lang="en-US" sz="1050" dirty="0"/>
          </a:p>
        </p:txBody>
      </p:sp>
      <p:sp>
        <p:nvSpPr>
          <p:cNvPr id="23" name="Shape 21"/>
          <p:cNvSpPr/>
          <p:nvPr/>
        </p:nvSpPr>
        <p:spPr>
          <a:xfrm>
            <a:off x="9006840" y="2148840"/>
            <a:ext cx="2606040" cy="2606040"/>
          </a:xfrm>
          <a:prstGeom prst="roundRect">
            <a:avLst>
              <a:gd name="adj" fmla="val 2807"/>
            </a:avLst>
          </a:prstGeom>
          <a:solidFill>
            <a:srgbClr val="1D4C37"/>
          </a:solidFill>
          <a:ln/>
        </p:spPr>
      </p:sp>
      <p:sp>
        <p:nvSpPr>
          <p:cNvPr id="24" name="Shape 22"/>
          <p:cNvSpPr/>
          <p:nvPr/>
        </p:nvSpPr>
        <p:spPr>
          <a:xfrm>
            <a:off x="9244584" y="2377440"/>
            <a:ext cx="384048" cy="384048"/>
          </a:xfrm>
          <a:prstGeom prst="ellipse">
            <a:avLst/>
          </a:prstGeom>
          <a:solidFill>
            <a:srgbClr val="E4572E"/>
          </a:solidFill>
          <a:ln/>
        </p:spPr>
      </p:sp>
      <p:sp>
        <p:nvSpPr>
          <p:cNvPr id="25" name="Text 23"/>
          <p:cNvSpPr/>
          <p:nvPr/>
        </p:nvSpPr>
        <p:spPr>
          <a:xfrm>
            <a:off x="924458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6" name="Text 24"/>
          <p:cNvSpPr/>
          <p:nvPr/>
        </p:nvSpPr>
        <p:spPr>
          <a:xfrm>
            <a:off x="924458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10 to 12</a:t>
            </a:r>
            <a:endParaRPr lang="en-US" sz="1100" dirty="0"/>
          </a:p>
        </p:txBody>
      </p:sp>
      <p:sp>
        <p:nvSpPr>
          <p:cNvPr id="27" name="Text 25"/>
          <p:cNvSpPr/>
          <p:nvPr/>
        </p:nvSpPr>
        <p:spPr>
          <a:xfrm>
            <a:off x="924458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Capital and build</a:t>
            </a:r>
            <a:endParaRPr lang="en-US" sz="1600" dirty="0"/>
          </a:p>
        </p:txBody>
      </p:sp>
      <p:sp>
        <p:nvSpPr>
          <p:cNvPr id="28" name="Text 26"/>
          <p:cNvSpPr/>
          <p:nvPr/>
        </p:nvSpPr>
        <p:spPr>
          <a:xfrm>
            <a:off x="924458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Put the case to Alkhidmat, a CSR partner and one green financing window. Begin the build on the pilot unit.</a:t>
            </a:r>
            <a:endParaRPr lang="en-US" sz="1050" dirty="0"/>
          </a:p>
        </p:txBody>
      </p:sp>
      <p:sp>
        <p:nvSpPr>
          <p:cNvPr id="29" name="Text 27"/>
          <p:cNvSpPr/>
          <p:nvPr/>
        </p:nvSpPr>
        <p:spPr>
          <a:xfrm>
            <a:off x="640080" y="5010912"/>
            <a:ext cx="5029200" cy="274320"/>
          </a:xfrm>
          <a:prstGeom prst="rect">
            <a:avLst/>
          </a:prstGeom>
          <a:noFill/>
          <a:ln/>
        </p:spPr>
        <p:txBody>
          <a:bodyPr wrap="square" lIns="0" tIns="0" rIns="0" bIns="0" rtlCol="0" anchor="t"/>
          <a:lstStyle/>
          <a:p>
            <a:pPr indent="0" marL="0">
              <a:buNone/>
            </a:pPr>
            <a:r>
              <a:rPr lang="en-US" sz="1150" b="1" spc="180" kern="0" dirty="0">
                <a:solidFill>
                  <a:srgbClr val="9BC4A8"/>
                </a:solidFill>
                <a:latin typeface="Calibri" pitchFamily="34" charset="0"/>
                <a:ea typeface="Calibri" pitchFamily="34" charset="-122"/>
                <a:cs typeface="Calibri" pitchFamily="34" charset="-120"/>
              </a:rPr>
              <a:t>WHAT WE ARE ASKING FOR</a:t>
            </a:r>
            <a:endParaRPr lang="en-US" sz="1150" dirty="0"/>
          </a:p>
        </p:txBody>
      </p:sp>
      <p:sp>
        <p:nvSpPr>
          <p:cNvPr id="30" name="Text 28"/>
          <p:cNvSpPr/>
          <p:nvPr/>
        </p:nvSpPr>
        <p:spPr>
          <a:xfrm>
            <a:off x="640080" y="5376672"/>
            <a:ext cx="10881360" cy="868680"/>
          </a:xfrm>
          <a:prstGeom prst="rect">
            <a:avLst/>
          </a:prstGeom>
          <a:noFill/>
          <a:ln/>
        </p:spPr>
        <p:txBody>
          <a:bodyPr wrap="square" lIns="0" tIns="0" rIns="0" bIns="0" rtlCol="0" anchor="t"/>
          <a:lstStyle/>
          <a:p>
            <a:pPr indent="0" marL="0">
              <a:lnSpc>
                <a:spcPts val="2700"/>
              </a:lnSpc>
              <a:buNone/>
            </a:pPr>
            <a:r>
              <a:rPr lang="en-US" sz="1900" b="1" dirty="0">
                <a:solidFill>
                  <a:srgbClr val="FFFFFF"/>
                </a:solidFill>
                <a:latin typeface="Cambria" pitchFamily="34" charset="0"/>
                <a:ea typeface="Cambria" pitchFamily="34" charset="-122"/>
                <a:cs typeface="Cambria" pitchFamily="34" charset="-120"/>
              </a:rPr>
              <a:t>Capital for one pilot unit, a village willing to host it, and an introduction to two city buyers. One room, one season, and a real number at the end of it.</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APPENDIX</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Sources</a:t>
            </a:r>
            <a:endParaRPr lang="en-US" sz="3100" dirty="0"/>
          </a:p>
        </p:txBody>
      </p:sp>
      <p:sp>
        <p:nvSpPr>
          <p:cNvPr id="4" name="Text 2"/>
          <p:cNvSpPr/>
          <p:nvPr/>
        </p:nvSpPr>
        <p:spPr>
          <a:xfrm>
            <a:off x="640080" y="1645920"/>
            <a:ext cx="5303520" cy="320040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Bureau of Statistics, 7th Agricultural Census, reported by Profit and The Express Tribune, August 2025. Farm size distribution.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Asian Development Bank estimate on post harvest losses, reported in Dawn.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Today and FreshPlaza, 2026. Forty percent post harvest losses and the cold storage gap.</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AgriHunt. Stage by stage breakdown of losses in fruits and vegetables.</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The Express Tribune, 2026. Storage fund set against farm losses.</a:t>
            </a:r>
            <a:endParaRPr lang="en-US" sz="1100" dirty="0"/>
          </a:p>
        </p:txBody>
      </p:sp>
      <p:sp>
        <p:nvSpPr>
          <p:cNvPr id="5" name="Text 3"/>
          <p:cNvSpPr/>
          <p:nvPr/>
        </p:nvSpPr>
        <p:spPr>
          <a:xfrm>
            <a:off x="6309360" y="1645920"/>
            <a:ext cx="5212080" cy="320040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Dawn, 2026. Punjab potato growers face collapse as oversupply deepens. Prices of PKR 20 to 25 a kg and per acre losses.</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Today, August 2026. Tomato moving from roughly PKR 90 to PKR 400 and above a kg.</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Horticulture Development and Export Company, potato challenges and prospects in Okara.</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International Growth Centre, PAK-22066, March 2023. Understanding the fresh produce supply chain.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PIDE. The role of the middleman and neglected aspects. Arab News and Dawn on the arhti system.</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Post harvest trials on Punjab tomato varieties comparing ambient storage with 10 degrees at 90 to 95 percent humidity.</a:t>
            </a:r>
            <a:endParaRPr lang="en-US" sz="1100" dirty="0"/>
          </a:p>
        </p:txBody>
      </p:sp>
      <p:sp>
        <p:nvSpPr>
          <p:cNvPr id="6" name="Shape 4"/>
          <p:cNvSpPr/>
          <p:nvPr/>
        </p:nvSpPr>
        <p:spPr>
          <a:xfrm>
            <a:off x="640080" y="5029200"/>
            <a:ext cx="10881360" cy="1051560"/>
          </a:xfrm>
          <a:prstGeom prst="roundRect">
            <a:avLst>
              <a:gd name="adj" fmla="val 6957"/>
            </a:avLst>
          </a:prstGeom>
          <a:solidFill>
            <a:srgbClr val="F2F5F1"/>
          </a:solidFill>
          <a:ln/>
          <a:effectLst>
            <a:outerShdw sx="100000" sy="100000" kx="0" ky="0" algn="bl" rotWithShape="0" blurRad="101600" dist="635" dir="5400000">
              <a:srgbClr val="9AA69E">
                <a:alpha val="12000"/>
              </a:srgbClr>
            </a:outerShdw>
          </a:effectLst>
        </p:spPr>
      </p:sp>
      <p:sp>
        <p:nvSpPr>
          <p:cNvPr id="7" name="Text 5"/>
          <p:cNvSpPr/>
          <p:nvPr/>
        </p:nvSpPr>
        <p:spPr>
          <a:xfrm>
            <a:off x="1024128" y="521208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Figures that are ours rather than published, and are marked as such on the slides: the PKR 2.5 million build cost, the 60 percent occupancy assumption, the 7 percent aggregation margin, the PKR 12 crate price, and the 300 to 400 household catchment.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Thanda Godam</dc:title>
  <dc:subject>PptxGenJS Presentation</dc:subject>
  <dc:creator>Alkhidmat Summer Internship 2026</dc:creator>
  <cp:lastModifiedBy>Alkhidmat Summer Internship 2026</cp:lastModifiedBy>
  <cp:revision>1</cp:revision>
  <dcterms:created xsi:type="dcterms:W3CDTF">2026-08-17T16:06:06Z</dcterms:created>
  <dcterms:modified xsi:type="dcterms:W3CDTF">2026-08-17T16:06:06Z</dcterms:modified>
</cp:coreProperties>
</file>