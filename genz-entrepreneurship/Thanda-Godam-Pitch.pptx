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3"/>
                </a:solidFill>
                <a:latin typeface="Calibri"/>
              </a:defRPr>
            </a:pPr>
            <a:r>
              <a:rPr sz="1200" b="0" i="0" u="none" strike="noStrike">
                <a:solidFill>
                  <a:srgbClr val="5F6B63"/>
                </a:solidFill>
                <a:latin typeface="Calibri"/>
              </a:rPr>
              <a:t>PKR per month, one 5 tonne unit</a:t>
            </a:r>
          </a:p>
        </c:rich>
      </c:tx>
      <c:layout/>
      <c:overlay val="0"/>
    </c:title>
    <c:autoTitleDeleted val="0"/>
    <c:plotArea>
      <c:layout/>
      <c:barChart>
        <c:barDir val="col"/>
        <c:grouping val="clustered"/>
        <c:varyColors val="0"/>
        <c:ser>
          <c:idx val="0"/>
          <c:order val="0"/>
          <c:tx>
            <c:strRef>
              <c:f>Sheet1!$B$1</c:f>
              <c:strCache>
                <c:ptCount val="1"/>
                <c:pt idx="0">
                  <c:v>PKR per month</c:v>
                </c:pt>
              </c:strCache>
            </c:strRef>
          </c:tx>
          <c:spPr>
            <a:solidFill>
              <a:srgbClr val="2E7D5B"/>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dPt>
            <c:idx val="0"/>
            <c:invertIfNegative val="0"/>
            <c:bubble3D val="0"/>
            <c:spPr>
              <a:solidFill>
                <a:srgbClr val="2E7D5B"/>
              </a:solidFill>
              <a:effectLst/>
            </c:spPr>
          </c:dPt>
          <c:dPt>
            <c:idx val="1"/>
            <c:invertIfNegative val="0"/>
            <c:bubble3D val="0"/>
            <c:spPr>
              <a:solidFill>
                <a:srgbClr val="6FB08C"/>
              </a:solidFill>
              <a:effectLst/>
            </c:spPr>
          </c:dPt>
          <c:dPt>
            <c:idx val="2"/>
            <c:invertIfNegative val="0"/>
            <c:bubble3D val="0"/>
            <c:spPr>
              <a:solidFill>
                <a:srgbClr val="C9552E"/>
              </a:solidFill>
              <a:effectLst/>
            </c:spPr>
          </c:dPt>
          <c:cat>
            <c:multiLvlStrRef>
              <c:f>Sheet1!$A$2:$A$4</c:f>
              <c:multiLvlStrCache>
                <c:ptCount val="3"/>
                <c:lvl>
                  <c:pt idx="0">
                    <c:v>Crate
rental</c:v>
                  </c:pt>
                  <c:pt idx="1">
                    <c:v>Aggregation
margin</c:v>
                  </c:pt>
                  <c:pt idx="2">
                    <c:v>Running
costs</c:v>
                  </c:pt>
                </c:lvl>
              </c:multiLvlStrCache>
            </c:multiLvlStrRef>
          </c:cat>
          <c:val>
            <c:numRef>
              <c:f>Sheet1!$B$2:$B$4</c:f>
              <c:numCache>
                <c:formatCode>General</c:formatCode>
                <c:ptCount val="3"/>
                <c:pt idx="0">
                  <c:v>54000</c:v>
                </c:pt>
                <c:pt idx="1">
                  <c:v>63000</c:v>
                </c:pt>
                <c:pt idx="2">
                  <c:v>85000</c:v>
                </c:pt>
              </c:numCache>
            </c:numRef>
          </c:val>
        </c:ser>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B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person, not the sector. Say: a grower in Okara picks 200 kilos of tomatoes on a Tuesday morning. By Thursday they are soft. He sells on Wednesday at whatever the mandi offers. Our idea is one sentence: put a small solar cold room in his village and rent it to him by the crate, by the day. Fill in your name and team members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the numbers. The point of this slide is that the loss is not a farming failure, it is a storage and timing failure. Pakistan already grows the food. Roughly 900,000 tonnes of cold storage against 13 to 15 million tonnes of production is the gap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pitch rests on. If the panel remembers one thing, it should be that we are not selling refrigeration, we are selling the ability to wait. Say that out loud. The 20 to 30 percent farmer share figure comes from reporting on the arhti system and is worth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has nobody done this already. The answer is on this slide. Cold storage in Pakistan was built as trader infrastructure. The economics of a 1,000 tonne facility force season contracts and truckload minimums. Nothing about it is designed for a two acre farmer.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Say which numbers are read and which are heard first hand. A panel trusts a presenter who separates the two. The three questions on the right are the ones that decide whether the idea works, so lead with those answers when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name and then the one line description, nothing more, before you go into the three pillars. Close on the two lines at the bottom and pause. That is the sentence you want repeated when the panel discusses the ideas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without reading the cards word for word. The important design choice is that step 5 is optional. The grower is never forced to sell through us, which is what makes him willing to try the storage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distinction between user, payer and beneficiary clear, because it is the thing panels probe. The grower is both user and payer for storage. The city buyer is the payer for aggregation. Be upfront that the 300 to 400 household figure is our own estimate and not a published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slide slowly and let the panel follow the arithmetic. The argument is not that we save 40 percent of the national harvest, it is that one grower gets two and a half rupees back for every rupee he risks. That is what makes him try it a 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 payback period. Saying it before the panel finds it is what makes the rest of the numbers credible. The structure is deliberate: grant capital for the room, trading income for the operations. The capital estimate of PKR 2.5 million still needs three supplier quotes, which is week 4 to 6 of 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card is the one that will earn you marks. Most student pitches paint the arhti as the enemy. PIDE's research argues he provides credit nobody else provides. Saying that shows you read past the obvious source, and it also makes our plan more realistic, because he is the person who can kill the project in a village if he wants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about social media or a mobile app, be clear that our customer decides at the input dealer's shop and at Friday prayers, not on a feed. A rate group on WhatsApp is the only digital piece we need at the start, and it works because everyone already has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slide ready but move through it quickly unless asked. The two in orange are the ones that actually decide whether a first season works. Trust is the real product in a village, not refrigeration.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not on a thank you slide. Be specific and be small: one unit, one village, one season. A modest ask that can be said yes to in the room beats a large one that has to be taken away and thought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during questions. If a number is challenged, point at where it came from. The box at the bottom lists everything that is our own estimate rather than a published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92A"/>
        </a:solidFill>
      </p:bgPr>
    </p:bg>
    <p:spTree>
      <p:nvGrpSpPr>
        <p:cNvPr id="1" name=""/>
        <p:cNvGrpSpPr/>
        <p:nvPr/>
      </p:nvGrpSpPr>
      <p:grpSpPr>
        <a:xfrm>
          <a:off x="0" y="0"/>
          <a:ext cx="0" cy="0"/>
          <a:chOff x="0" y="0"/>
          <a:chExt cx="0" cy="0"/>
        </a:xfrm>
      </p:grpSpPr>
      <p:sp>
        <p:nvSpPr>
          <p:cNvPr id="2" name="Text 0"/>
          <p:cNvSpPr/>
          <p:nvPr/>
        </p:nvSpPr>
        <p:spPr>
          <a:xfrm>
            <a:off x="640080" y="731520"/>
            <a:ext cx="10881360" cy="274320"/>
          </a:xfrm>
          <a:prstGeom prst="rect">
            <a:avLst/>
          </a:prstGeom>
          <a:noFill/>
          <a:ln/>
        </p:spPr>
        <p:txBody>
          <a:bodyPr wrap="square" lIns="0" tIns="0" rIns="0" bIns="0" rtlCol="0" anchor="ctr"/>
          <a:lstStyle/>
          <a:p>
            <a:pPr indent="0" marL="0">
              <a:buNone/>
            </a:pPr>
            <a:r>
              <a:rPr lang="en-US" sz="1150" b="1" spc="160" kern="0" dirty="0">
                <a:solidFill>
                  <a:srgbClr val="9BC4A8"/>
                </a:solidFill>
                <a:latin typeface="Calibri" pitchFamily="34" charset="0"/>
                <a:ea typeface="Calibri" pitchFamily="34" charset="-122"/>
                <a:cs typeface="Calibri" pitchFamily="34" charset="-120"/>
              </a:rPr>
              <a:t>ALKHIDMAT SUMMER INTERNSHIP 2026   |   GEN Z ENTREPRENEURSHIP INITIATIVE</a:t>
            </a:r>
            <a:endParaRPr lang="en-US" sz="1150" dirty="0"/>
          </a:p>
        </p:txBody>
      </p:sp>
      <p:sp>
        <p:nvSpPr>
          <p:cNvPr id="3" name="Text 1"/>
          <p:cNvSpPr/>
          <p:nvPr/>
        </p:nvSpPr>
        <p:spPr>
          <a:xfrm>
            <a:off x="640080" y="1371600"/>
            <a:ext cx="10881360" cy="1143000"/>
          </a:xfrm>
          <a:prstGeom prst="rect">
            <a:avLst/>
          </a:prstGeom>
          <a:noFill/>
          <a:ln/>
        </p:spPr>
        <p:txBody>
          <a:bodyPr wrap="square" lIns="0" tIns="0" rIns="0" bIns="0" rtlCol="0" anchor="ctr"/>
          <a:lstStyle/>
          <a:p>
            <a:pPr indent="0" marL="0">
              <a:buNone/>
            </a:pPr>
            <a:r>
              <a:rPr lang="en-US" sz="6600" b="1" spc="100" kern="0" dirty="0">
                <a:solidFill>
                  <a:srgbClr val="FFFFFF"/>
                </a:solidFill>
                <a:latin typeface="Cambria" pitchFamily="34" charset="0"/>
                <a:ea typeface="Cambria" pitchFamily="34" charset="-122"/>
                <a:cs typeface="Cambria" pitchFamily="34" charset="-120"/>
              </a:rPr>
              <a:t>THANDA GODAM</a:t>
            </a:r>
            <a:endParaRPr lang="en-US" sz="6600" dirty="0"/>
          </a:p>
        </p:txBody>
      </p:sp>
      <p:sp>
        <p:nvSpPr>
          <p:cNvPr id="4" name="Text 2"/>
          <p:cNvSpPr/>
          <p:nvPr/>
        </p:nvSpPr>
        <p:spPr>
          <a:xfrm>
            <a:off x="640080" y="2514600"/>
            <a:ext cx="7863840" cy="457200"/>
          </a:xfrm>
          <a:prstGeom prst="rect">
            <a:avLst/>
          </a:prstGeom>
          <a:noFill/>
          <a:ln/>
        </p:spPr>
        <p:txBody>
          <a:bodyPr wrap="square" lIns="0" tIns="0" rIns="0" bIns="0" rtlCol="0" anchor="ctr"/>
          <a:lstStyle/>
          <a:p>
            <a:pPr indent="0" marL="0">
              <a:buNone/>
            </a:pPr>
            <a:r>
              <a:rPr lang="en-US" sz="2300" dirty="0">
                <a:solidFill>
                  <a:srgbClr val="E4572E"/>
                </a:solidFill>
                <a:latin typeface="Calibri" pitchFamily="34" charset="0"/>
                <a:ea typeface="Calibri" pitchFamily="34" charset="-122"/>
                <a:cs typeface="Calibri" pitchFamily="34" charset="-120"/>
              </a:rPr>
              <a:t>Village cold storage, rented by the crate.</a:t>
            </a:r>
            <a:endParaRPr lang="en-US" sz="2300" dirty="0"/>
          </a:p>
        </p:txBody>
      </p:sp>
      <p:sp>
        <p:nvSpPr>
          <p:cNvPr id="5" name="Text 3"/>
          <p:cNvSpPr/>
          <p:nvPr/>
        </p:nvSpPr>
        <p:spPr>
          <a:xfrm>
            <a:off x="640080" y="3127248"/>
            <a:ext cx="8138160" cy="868680"/>
          </a:xfrm>
          <a:prstGeom prst="rect">
            <a:avLst/>
          </a:prstGeom>
          <a:noFill/>
          <a:ln/>
        </p:spPr>
        <p:txBody>
          <a:bodyPr wrap="square" lIns="0" tIns="0" rIns="0" bIns="0" rtlCol="0" anchor="ctr"/>
          <a:lstStyle/>
          <a:p>
            <a:pPr indent="0" marL="0">
              <a:lnSpc>
                <a:spcPts val="2400"/>
              </a:lnSpc>
              <a:buNone/>
            </a:pPr>
            <a:r>
              <a:rPr lang="en-US" sz="1500" dirty="0">
                <a:solidFill>
                  <a:srgbClr val="CFE1D5"/>
                </a:solidFill>
                <a:latin typeface="Calibri" pitchFamily="34" charset="0"/>
                <a:ea typeface="Calibri" pitchFamily="34" charset="-122"/>
                <a:cs typeface="Calibri" pitchFamily="34" charset="-120"/>
              </a:rPr>
              <a:t>A small grower with 200 kg of tomatoes has nowhere to keep them and no way to wait for a better price. We put a solar powered cold room inside the village and rent it out one crate at a time.</a:t>
            </a:r>
            <a:endParaRPr lang="en-US" sz="1500" dirty="0"/>
          </a:p>
        </p:txBody>
      </p:sp>
      <p:sp>
        <p:nvSpPr>
          <p:cNvPr id="6" name="Text 4"/>
          <p:cNvSpPr/>
          <p:nvPr/>
        </p:nvSpPr>
        <p:spPr>
          <a:xfrm>
            <a:off x="640080" y="4315968"/>
            <a:ext cx="3383280" cy="56692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40%</a:t>
            </a:r>
            <a:endParaRPr lang="en-US" sz="3800" dirty="0"/>
          </a:p>
        </p:txBody>
      </p:sp>
      <p:sp>
        <p:nvSpPr>
          <p:cNvPr id="7" name="Text 5"/>
          <p:cNvSpPr/>
          <p:nvPr/>
        </p:nvSpPr>
        <p:spPr>
          <a:xfrm>
            <a:off x="640080" y="4901184"/>
            <a:ext cx="3383280" cy="566928"/>
          </a:xfrm>
          <a:prstGeom prst="rect">
            <a:avLst/>
          </a:prstGeom>
          <a:noFill/>
          <a:ln/>
        </p:spPr>
        <p:txBody>
          <a:bodyPr wrap="square" lIns="0" tIns="0" rIns="0" bIns="0" rtlCol="0" anchor="t"/>
          <a:lstStyle/>
          <a:p>
            <a:pPr indent="0" marL="0">
              <a:lnSpc>
                <a:spcPts val="1600"/>
              </a:lnSpc>
              <a:buNone/>
            </a:pPr>
            <a:r>
              <a:rPr lang="en-US" sz="1250" dirty="0">
                <a:solidFill>
                  <a:srgbClr val="9BC4A8"/>
                </a:solidFill>
                <a:latin typeface="Calibri" pitchFamily="34" charset="0"/>
                <a:ea typeface="Calibri" pitchFamily="34" charset="-122"/>
                <a:cs typeface="Calibri" pitchFamily="34" charset="-120"/>
              </a:rPr>
              <a:t>of what growers harvest is lost after harvest</a:t>
            </a:r>
            <a:endParaRPr lang="en-US" sz="1250" dirty="0"/>
          </a:p>
        </p:txBody>
      </p:sp>
      <p:sp>
        <p:nvSpPr>
          <p:cNvPr id="8" name="Text 6"/>
          <p:cNvSpPr/>
          <p:nvPr/>
        </p:nvSpPr>
        <p:spPr>
          <a:xfrm>
            <a:off x="4315968" y="4315968"/>
            <a:ext cx="3383280" cy="56692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&lt;1m</a:t>
            </a:r>
            <a:endParaRPr lang="en-US" sz="3800" dirty="0"/>
          </a:p>
        </p:txBody>
      </p:sp>
      <p:sp>
        <p:nvSpPr>
          <p:cNvPr id="9" name="Text 7"/>
          <p:cNvSpPr/>
          <p:nvPr/>
        </p:nvSpPr>
        <p:spPr>
          <a:xfrm>
            <a:off x="4315968" y="4901184"/>
            <a:ext cx="3383280" cy="566928"/>
          </a:xfrm>
          <a:prstGeom prst="rect">
            <a:avLst/>
          </a:prstGeom>
          <a:noFill/>
          <a:ln/>
        </p:spPr>
        <p:txBody>
          <a:bodyPr wrap="square" lIns="0" tIns="0" rIns="0" bIns="0" rtlCol="0" anchor="t"/>
          <a:lstStyle/>
          <a:p>
            <a:pPr indent="0" marL="0">
              <a:lnSpc>
                <a:spcPts val="1600"/>
              </a:lnSpc>
              <a:buNone/>
            </a:pPr>
            <a:r>
              <a:rPr lang="en-US" sz="1250" dirty="0">
                <a:solidFill>
                  <a:srgbClr val="9BC4A8"/>
                </a:solidFill>
                <a:latin typeface="Calibri" pitchFamily="34" charset="0"/>
                <a:ea typeface="Calibri" pitchFamily="34" charset="-122"/>
                <a:cs typeface="Calibri" pitchFamily="34" charset="-120"/>
              </a:rPr>
              <a:t>tonnes of cold storage against 13m tonnes grown</a:t>
            </a:r>
            <a:endParaRPr lang="en-US" sz="1250" dirty="0"/>
          </a:p>
        </p:txBody>
      </p:sp>
      <p:sp>
        <p:nvSpPr>
          <p:cNvPr id="10" name="Text 8"/>
          <p:cNvSpPr/>
          <p:nvPr/>
        </p:nvSpPr>
        <p:spPr>
          <a:xfrm>
            <a:off x="7991856" y="4315968"/>
            <a:ext cx="3383280" cy="56692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64%</a:t>
            </a:r>
            <a:endParaRPr lang="en-US" sz="3800" dirty="0"/>
          </a:p>
        </p:txBody>
      </p:sp>
      <p:sp>
        <p:nvSpPr>
          <p:cNvPr id="11" name="Text 9"/>
          <p:cNvSpPr/>
          <p:nvPr/>
        </p:nvSpPr>
        <p:spPr>
          <a:xfrm>
            <a:off x="7991856" y="4901184"/>
            <a:ext cx="3383280" cy="566928"/>
          </a:xfrm>
          <a:prstGeom prst="rect">
            <a:avLst/>
          </a:prstGeom>
          <a:noFill/>
          <a:ln/>
        </p:spPr>
        <p:txBody>
          <a:bodyPr wrap="square" lIns="0" tIns="0" rIns="0" bIns="0" rtlCol="0" anchor="t"/>
          <a:lstStyle/>
          <a:p>
            <a:pPr indent="0" marL="0">
              <a:lnSpc>
                <a:spcPts val="1600"/>
              </a:lnSpc>
              <a:buNone/>
            </a:pPr>
            <a:r>
              <a:rPr lang="en-US" sz="1250" dirty="0">
                <a:solidFill>
                  <a:srgbClr val="9BC4A8"/>
                </a:solidFill>
                <a:latin typeface="Calibri" pitchFamily="34" charset="0"/>
                <a:ea typeface="Calibri" pitchFamily="34" charset="-122"/>
                <a:cs typeface="Calibri" pitchFamily="34" charset="-120"/>
              </a:rPr>
              <a:t>of Pakistan's farms are under 5 acres</a:t>
            </a:r>
            <a:endParaRPr lang="en-US" sz="1250" dirty="0"/>
          </a:p>
        </p:txBody>
      </p:sp>
      <p:sp>
        <p:nvSpPr>
          <p:cNvPr id="12" name="Text 10"/>
          <p:cNvSpPr/>
          <p:nvPr/>
        </p:nvSpPr>
        <p:spPr>
          <a:xfrm>
            <a:off x="640080" y="5989320"/>
            <a:ext cx="10881360" cy="320040"/>
          </a:xfrm>
          <a:prstGeom prst="rect">
            <a:avLst/>
          </a:prstGeom>
          <a:noFill/>
          <a:ln/>
        </p:spPr>
        <p:txBody>
          <a:bodyPr wrap="square" lIns="0" tIns="0" rIns="0" bIns="0" rtlCol="0" anchor="ctr"/>
          <a:lstStyle/>
          <a:p>
            <a:pPr indent="0" marL="0">
              <a:buNone/>
            </a:pPr>
            <a:r>
              <a:rPr lang="en-US" sz="1200" dirty="0">
                <a:solidFill>
                  <a:srgbClr val="7FA98D"/>
                </a:solidFill>
                <a:latin typeface="Calibri" pitchFamily="34" charset="0"/>
                <a:ea typeface="Calibri" pitchFamily="34" charset="-122"/>
                <a:cs typeface="Calibri" pitchFamily="34" charset="-120"/>
              </a:rPr>
              <a:t>Prepared by: [your name]        Team members: [names]        Submitted to: [project coordinator]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01  THE PROBLEM</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The crop is grown. It is lost after harvest.</a:t>
            </a:r>
            <a:endParaRPr lang="en-US" sz="3100" dirty="0"/>
          </a:p>
        </p:txBody>
      </p:sp>
      <p:sp>
        <p:nvSpPr>
          <p:cNvPr id="4" name="Shape 2"/>
          <p:cNvSpPr/>
          <p:nvPr/>
        </p:nvSpPr>
        <p:spPr>
          <a:xfrm>
            <a:off x="640080" y="1874520"/>
            <a:ext cx="3520440" cy="1783080"/>
          </a:xfrm>
          <a:prstGeom prst="roundRect">
            <a:avLst>
              <a:gd name="adj" fmla="val 4103"/>
            </a:avLst>
          </a:prstGeom>
          <a:solidFill>
            <a:srgbClr val="F2F5F1"/>
          </a:solidFill>
          <a:ln/>
          <a:effectLst>
            <a:outerShdw sx="100000" sy="100000" kx="0" ky="0" algn="bl" rotWithShape="0" blurRad="101600" dist="635" dir="5400000">
              <a:srgbClr val="9AA69E">
                <a:alpha val="12000"/>
              </a:srgbClr>
            </a:outerShdw>
          </a:effectLst>
        </p:spPr>
      </p:sp>
      <p:sp>
        <p:nvSpPr>
          <p:cNvPr id="5" name="Text 3"/>
          <p:cNvSpPr/>
          <p:nvPr/>
        </p:nvSpPr>
        <p:spPr>
          <a:xfrm>
            <a:off x="896112" y="2048256"/>
            <a:ext cx="3017520" cy="658368"/>
          </a:xfrm>
          <a:prstGeom prst="rect">
            <a:avLst/>
          </a:prstGeom>
          <a:noFill/>
          <a:ln/>
        </p:spPr>
        <p:txBody>
          <a:bodyPr wrap="square" lIns="0" tIns="0" rIns="0" bIns="0"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40%</a:t>
            </a:r>
            <a:endParaRPr lang="en-US" sz="4000" dirty="0"/>
          </a:p>
        </p:txBody>
      </p:sp>
      <p:sp>
        <p:nvSpPr>
          <p:cNvPr id="6" name="Text 4"/>
          <p:cNvSpPr/>
          <p:nvPr/>
        </p:nvSpPr>
        <p:spPr>
          <a:xfrm>
            <a:off x="896112" y="2743200"/>
            <a:ext cx="3017520" cy="777240"/>
          </a:xfrm>
          <a:prstGeom prst="rect">
            <a:avLst/>
          </a:prstGeom>
          <a:noFill/>
          <a:ln/>
        </p:spPr>
        <p:txBody>
          <a:bodyPr wrap="square" lIns="0" tIns="0" rIns="0" bIns="0" rtlCol="0" anchor="t"/>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of Pakistan's perishable harvest is lost between the field and the buyer</a:t>
            </a:r>
            <a:endParaRPr lang="en-US" sz="1250" dirty="0"/>
          </a:p>
        </p:txBody>
      </p:sp>
      <p:sp>
        <p:nvSpPr>
          <p:cNvPr id="7" name="Shape 5"/>
          <p:cNvSpPr/>
          <p:nvPr/>
        </p:nvSpPr>
        <p:spPr>
          <a:xfrm>
            <a:off x="4315968" y="1874520"/>
            <a:ext cx="3520440" cy="1783080"/>
          </a:xfrm>
          <a:prstGeom prst="roundRect">
            <a:avLst>
              <a:gd name="adj" fmla="val 4103"/>
            </a:avLst>
          </a:prstGeom>
          <a:solidFill>
            <a:srgbClr val="F2F5F1"/>
          </a:solidFill>
          <a:ln/>
          <a:effectLst>
            <a:outerShdw sx="100000" sy="100000" kx="0" ky="0" algn="bl" rotWithShape="0" blurRad="101600" dist="635" dir="5400000">
              <a:srgbClr val="9AA69E">
                <a:alpha val="12000"/>
              </a:srgbClr>
            </a:outerShdw>
          </a:effectLst>
        </p:spPr>
      </p:sp>
      <p:sp>
        <p:nvSpPr>
          <p:cNvPr id="8" name="Text 6"/>
          <p:cNvSpPr/>
          <p:nvPr/>
        </p:nvSpPr>
        <p:spPr>
          <a:xfrm>
            <a:off x="4572000" y="2048256"/>
            <a:ext cx="3017520" cy="658368"/>
          </a:xfrm>
          <a:prstGeom prst="rect">
            <a:avLst/>
          </a:prstGeom>
          <a:noFill/>
          <a:ln/>
        </p:spPr>
        <p:txBody>
          <a:bodyPr wrap="square" lIns="0" tIns="0" rIns="0" bIns="0" rtlCol="0" anchor="ctr"/>
          <a:lstStyle/>
          <a:p>
            <a:pPr indent="0" marL="0">
              <a:buNone/>
            </a:pPr>
            <a:r>
              <a:rPr lang="en-US" sz="4000" b="1" dirty="0">
                <a:solidFill>
                  <a:srgbClr val="2E7D5B"/>
                </a:solidFill>
                <a:latin typeface="Cambria" pitchFamily="34" charset="0"/>
                <a:ea typeface="Cambria" pitchFamily="34" charset="-122"/>
                <a:cs typeface="Cambria" pitchFamily="34" charset="-120"/>
              </a:rPr>
              <a:t>$1bn+</a:t>
            </a:r>
            <a:endParaRPr lang="en-US" sz="4000" dirty="0"/>
          </a:p>
        </p:txBody>
      </p:sp>
      <p:sp>
        <p:nvSpPr>
          <p:cNvPr id="9" name="Text 7"/>
          <p:cNvSpPr/>
          <p:nvPr/>
        </p:nvSpPr>
        <p:spPr>
          <a:xfrm>
            <a:off x="4572000" y="2743200"/>
            <a:ext cx="3017520" cy="777240"/>
          </a:xfrm>
          <a:prstGeom prst="rect">
            <a:avLst/>
          </a:prstGeom>
          <a:noFill/>
          <a:ln/>
        </p:spPr>
        <p:txBody>
          <a:bodyPr wrap="square" lIns="0" tIns="0" rIns="0" bIns="0" rtlCol="0" anchor="t"/>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the value the Asian Development Bank puts on that loss every year</a:t>
            </a:r>
            <a:endParaRPr lang="en-US" sz="1250" dirty="0"/>
          </a:p>
        </p:txBody>
      </p:sp>
      <p:sp>
        <p:nvSpPr>
          <p:cNvPr id="10" name="Shape 8"/>
          <p:cNvSpPr/>
          <p:nvPr/>
        </p:nvSpPr>
        <p:spPr>
          <a:xfrm>
            <a:off x="7991856" y="1874520"/>
            <a:ext cx="3520440" cy="1783080"/>
          </a:xfrm>
          <a:prstGeom prst="roundRect">
            <a:avLst>
              <a:gd name="adj" fmla="val 4103"/>
            </a:avLst>
          </a:prstGeom>
          <a:solidFill>
            <a:srgbClr val="F2F5F1"/>
          </a:solidFill>
          <a:ln/>
          <a:effectLst>
            <a:outerShdw sx="100000" sy="100000" kx="0" ky="0" algn="bl" rotWithShape="0" blurRad="101600" dist="635" dir="5400000">
              <a:srgbClr val="9AA69E">
                <a:alpha val="12000"/>
              </a:srgbClr>
            </a:outerShdw>
          </a:effectLst>
        </p:spPr>
      </p:sp>
      <p:sp>
        <p:nvSpPr>
          <p:cNvPr id="11" name="Text 9"/>
          <p:cNvSpPr/>
          <p:nvPr/>
        </p:nvSpPr>
        <p:spPr>
          <a:xfrm>
            <a:off x="8247888" y="2048256"/>
            <a:ext cx="3017520" cy="658368"/>
          </a:xfrm>
          <a:prstGeom prst="rect">
            <a:avLst/>
          </a:prstGeom>
          <a:noFill/>
          <a:ln/>
        </p:spPr>
        <p:txBody>
          <a:bodyPr wrap="square" lIns="0" tIns="0" rIns="0" bIns="0" rtlCol="0" anchor="ctr"/>
          <a:lstStyle/>
          <a:p>
            <a:pPr indent="0" marL="0">
              <a:buNone/>
            </a:pPr>
            <a:r>
              <a:rPr lang="en-US" sz="4000" b="1" dirty="0">
                <a:solidFill>
                  <a:srgbClr val="14392A"/>
                </a:solidFill>
                <a:latin typeface="Cambria" pitchFamily="34" charset="0"/>
                <a:ea typeface="Cambria" pitchFamily="34" charset="-122"/>
                <a:cs typeface="Cambria" pitchFamily="34" charset="-120"/>
              </a:rPr>
              <a:t>900,000</a:t>
            </a:r>
            <a:endParaRPr lang="en-US" sz="4000" dirty="0"/>
          </a:p>
        </p:txBody>
      </p:sp>
      <p:sp>
        <p:nvSpPr>
          <p:cNvPr id="12" name="Text 10"/>
          <p:cNvSpPr/>
          <p:nvPr/>
        </p:nvSpPr>
        <p:spPr>
          <a:xfrm>
            <a:off x="8247888" y="2743200"/>
            <a:ext cx="3017520" cy="777240"/>
          </a:xfrm>
          <a:prstGeom prst="rect">
            <a:avLst/>
          </a:prstGeom>
          <a:noFill/>
          <a:ln/>
        </p:spPr>
        <p:txBody>
          <a:bodyPr wrap="square" lIns="0" tIns="0" rIns="0" bIns="0" rtlCol="0" anchor="t"/>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tonnes of cold storage capacity against 13 to 15 million tonnes grown</a:t>
            </a:r>
            <a:endParaRPr lang="en-US" sz="1250" dirty="0"/>
          </a:p>
        </p:txBody>
      </p:sp>
      <p:sp>
        <p:nvSpPr>
          <p:cNvPr id="13" name="Shape 11"/>
          <p:cNvSpPr/>
          <p:nvPr/>
        </p:nvSpPr>
        <p:spPr>
          <a:xfrm>
            <a:off x="640080" y="3931920"/>
            <a:ext cx="10881360" cy="1965960"/>
          </a:xfrm>
          <a:prstGeom prst="roundRect">
            <a:avLst>
              <a:gd name="adj" fmla="val 3721"/>
            </a:avLst>
          </a:prstGeom>
          <a:solidFill>
            <a:srgbClr val="14392A"/>
          </a:solidFill>
          <a:ln/>
          <a:effectLst>
            <a:outerShdw sx="100000" sy="100000" kx="0" ky="0" algn="bl" rotWithShape="0" blurRad="101600" dist="635" dir="5400000">
              <a:srgbClr val="9AA69E">
                <a:alpha val="12000"/>
              </a:srgbClr>
            </a:outerShdw>
          </a:effectLst>
        </p:spPr>
      </p:sp>
      <p:sp>
        <p:nvSpPr>
          <p:cNvPr id="14" name="Text 12"/>
          <p:cNvSpPr/>
          <p:nvPr/>
        </p:nvSpPr>
        <p:spPr>
          <a:xfrm>
            <a:off x="1024128" y="4160520"/>
            <a:ext cx="47548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Where the loss actually happens</a:t>
            </a:r>
            <a:endParaRPr lang="en-US" sz="1700" dirty="0"/>
          </a:p>
        </p:txBody>
      </p:sp>
      <p:sp>
        <p:nvSpPr>
          <p:cNvPr id="15" name="Text 13"/>
          <p:cNvSpPr/>
          <p:nvPr/>
        </p:nvSpPr>
        <p:spPr>
          <a:xfrm>
            <a:off x="1024128" y="4709160"/>
            <a:ext cx="3200400" cy="457200"/>
          </a:xfrm>
          <a:prstGeom prst="rect">
            <a:avLst/>
          </a:prstGeom>
          <a:noFill/>
          <a:ln/>
        </p:spPr>
        <p:txBody>
          <a:bodyPr wrap="square" lIns="0" tIns="0" rIns="0" bIns="0" rtlCol="0" anchor="ctr"/>
          <a:lstStyle/>
          <a:p>
            <a:pPr indent="0" marL="0">
              <a:buNone/>
            </a:pPr>
            <a:r>
              <a:rPr lang="en-US" sz="2700" b="1" dirty="0">
                <a:solidFill>
                  <a:srgbClr val="E4572E"/>
                </a:solidFill>
                <a:latin typeface="Cambria" pitchFamily="34" charset="0"/>
                <a:ea typeface="Cambria" pitchFamily="34" charset="-122"/>
                <a:cs typeface="Cambria" pitchFamily="34" charset="-120"/>
              </a:rPr>
              <a:t>5-8%</a:t>
            </a:r>
            <a:endParaRPr lang="en-US" sz="2700" dirty="0"/>
          </a:p>
        </p:txBody>
      </p:sp>
      <p:sp>
        <p:nvSpPr>
          <p:cNvPr id="16" name="Text 14"/>
          <p:cNvSpPr/>
          <p:nvPr/>
        </p:nvSpPr>
        <p:spPr>
          <a:xfrm>
            <a:off x="1024128" y="5193792"/>
            <a:ext cx="3200400" cy="320040"/>
          </a:xfrm>
          <a:prstGeom prst="rect">
            <a:avLst/>
          </a:prstGeom>
          <a:noFill/>
          <a:ln/>
        </p:spPr>
        <p:txBody>
          <a:bodyPr wrap="square" lIns="0" tIns="0" rIns="0" bIns="0" rtlCol="0" anchor="ctr"/>
          <a:lstStyle/>
          <a:p>
            <a:pPr indent="0" marL="0">
              <a:buNone/>
            </a:pPr>
            <a:r>
              <a:rPr lang="en-US" sz="1300" dirty="0">
                <a:solidFill>
                  <a:srgbClr val="BFD8C7"/>
                </a:solidFill>
                <a:latin typeface="Calibri" pitchFamily="34" charset="0"/>
                <a:ea typeface="Calibri" pitchFamily="34" charset="-122"/>
                <a:cs typeface="Calibri" pitchFamily="34" charset="-120"/>
              </a:rPr>
              <a:t>at harvesting</a:t>
            </a:r>
            <a:endParaRPr lang="en-US" sz="1300" dirty="0"/>
          </a:p>
        </p:txBody>
      </p:sp>
      <p:sp>
        <p:nvSpPr>
          <p:cNvPr id="17" name="Text 15"/>
          <p:cNvSpPr/>
          <p:nvPr/>
        </p:nvSpPr>
        <p:spPr>
          <a:xfrm>
            <a:off x="4590288" y="4709160"/>
            <a:ext cx="3200400" cy="457200"/>
          </a:xfrm>
          <a:prstGeom prst="rect">
            <a:avLst/>
          </a:prstGeom>
          <a:noFill/>
          <a:ln/>
        </p:spPr>
        <p:txBody>
          <a:bodyPr wrap="square" lIns="0" tIns="0" rIns="0" bIns="0" rtlCol="0" anchor="ctr"/>
          <a:lstStyle/>
          <a:p>
            <a:pPr indent="0" marL="0">
              <a:buNone/>
            </a:pPr>
            <a:r>
              <a:rPr lang="en-US" sz="2700" b="1" dirty="0">
                <a:solidFill>
                  <a:srgbClr val="E4572E"/>
                </a:solidFill>
                <a:latin typeface="Cambria" pitchFamily="34" charset="0"/>
                <a:ea typeface="Cambria" pitchFamily="34" charset="-122"/>
                <a:cs typeface="Cambria" pitchFamily="34" charset="-120"/>
              </a:rPr>
              <a:t>15-20%</a:t>
            </a:r>
            <a:endParaRPr lang="en-US" sz="2700" dirty="0"/>
          </a:p>
        </p:txBody>
      </p:sp>
      <p:sp>
        <p:nvSpPr>
          <p:cNvPr id="18" name="Text 16"/>
          <p:cNvSpPr/>
          <p:nvPr/>
        </p:nvSpPr>
        <p:spPr>
          <a:xfrm>
            <a:off x="4590288" y="5193792"/>
            <a:ext cx="3200400" cy="320040"/>
          </a:xfrm>
          <a:prstGeom prst="rect">
            <a:avLst/>
          </a:prstGeom>
          <a:noFill/>
          <a:ln/>
        </p:spPr>
        <p:txBody>
          <a:bodyPr wrap="square" lIns="0" tIns="0" rIns="0" bIns="0" rtlCol="0" anchor="ctr"/>
          <a:lstStyle/>
          <a:p>
            <a:pPr indent="0" marL="0">
              <a:buNone/>
            </a:pPr>
            <a:r>
              <a:rPr lang="en-US" sz="1300" dirty="0">
                <a:solidFill>
                  <a:srgbClr val="BFD8C7"/>
                </a:solidFill>
                <a:latin typeface="Calibri" pitchFamily="34" charset="0"/>
                <a:ea typeface="Calibri" pitchFamily="34" charset="-122"/>
                <a:cs typeface="Calibri" pitchFamily="34" charset="-120"/>
              </a:rPr>
              <a:t>in handling the picked crop</a:t>
            </a:r>
            <a:endParaRPr lang="en-US" sz="1300" dirty="0"/>
          </a:p>
        </p:txBody>
      </p:sp>
      <p:sp>
        <p:nvSpPr>
          <p:cNvPr id="19" name="Text 17"/>
          <p:cNvSpPr/>
          <p:nvPr/>
        </p:nvSpPr>
        <p:spPr>
          <a:xfrm>
            <a:off x="8156448" y="4709160"/>
            <a:ext cx="3200400" cy="457200"/>
          </a:xfrm>
          <a:prstGeom prst="rect">
            <a:avLst/>
          </a:prstGeom>
          <a:noFill/>
          <a:ln/>
        </p:spPr>
        <p:txBody>
          <a:bodyPr wrap="square" lIns="0" tIns="0" rIns="0" bIns="0" rtlCol="0" anchor="ctr"/>
          <a:lstStyle/>
          <a:p>
            <a:pPr indent="0" marL="0">
              <a:buNone/>
            </a:pPr>
            <a:r>
              <a:rPr lang="en-US" sz="2700" b="1" dirty="0">
                <a:solidFill>
                  <a:srgbClr val="E4572E"/>
                </a:solidFill>
                <a:latin typeface="Cambria" pitchFamily="34" charset="0"/>
                <a:ea typeface="Cambria" pitchFamily="34" charset="-122"/>
                <a:cs typeface="Cambria" pitchFamily="34" charset="-120"/>
              </a:rPr>
              <a:t>10-12%</a:t>
            </a:r>
            <a:endParaRPr lang="en-US" sz="2700" dirty="0"/>
          </a:p>
        </p:txBody>
      </p:sp>
      <p:sp>
        <p:nvSpPr>
          <p:cNvPr id="20" name="Text 18"/>
          <p:cNvSpPr/>
          <p:nvPr/>
        </p:nvSpPr>
        <p:spPr>
          <a:xfrm>
            <a:off x="8156448" y="5193792"/>
            <a:ext cx="3200400" cy="320040"/>
          </a:xfrm>
          <a:prstGeom prst="rect">
            <a:avLst/>
          </a:prstGeom>
          <a:noFill/>
          <a:ln/>
        </p:spPr>
        <p:txBody>
          <a:bodyPr wrap="square" lIns="0" tIns="0" rIns="0" bIns="0" rtlCol="0" anchor="ctr"/>
          <a:lstStyle/>
          <a:p>
            <a:pPr indent="0" marL="0">
              <a:buNone/>
            </a:pPr>
            <a:r>
              <a:rPr lang="en-US" sz="1300" dirty="0">
                <a:solidFill>
                  <a:srgbClr val="BFD8C7"/>
                </a:solidFill>
                <a:latin typeface="Calibri" pitchFamily="34" charset="0"/>
                <a:ea typeface="Calibri" pitchFamily="34" charset="-122"/>
                <a:cs typeface="Calibri" pitchFamily="34" charset="-120"/>
              </a:rPr>
              <a:t>in transport to market</a:t>
            </a:r>
            <a:endParaRPr lang="en-US" sz="1300" dirty="0"/>
          </a:p>
        </p:txBody>
      </p:sp>
      <p:sp>
        <p:nvSpPr>
          <p:cNvPr id="21" name="Text 19"/>
          <p:cNvSpPr/>
          <p:nvPr/>
        </p:nvSpPr>
        <p:spPr>
          <a:xfrm>
            <a:off x="1024128" y="5504688"/>
            <a:ext cx="10332720" cy="292608"/>
          </a:xfrm>
          <a:prstGeom prst="rect">
            <a:avLst/>
          </a:prstGeom>
          <a:noFill/>
          <a:ln/>
        </p:spPr>
        <p:txBody>
          <a:bodyPr wrap="square" lIns="0" tIns="0" rIns="0" bIns="0" rtlCol="0" anchor="ctr"/>
          <a:lstStyle/>
          <a:p>
            <a:pPr indent="0" marL="0">
              <a:buNone/>
            </a:pPr>
            <a:r>
              <a:rPr lang="en-US" sz="1250" i="1" dirty="0">
                <a:solidFill>
                  <a:srgbClr val="9BC4A8"/>
                </a:solidFill>
                <a:latin typeface="Calibri" pitchFamily="34" charset="0"/>
                <a:ea typeface="Calibri" pitchFamily="34" charset="-122"/>
                <a:cs typeface="Calibri" pitchFamily="34" charset="-120"/>
              </a:rPr>
              <a:t>Almost all of it happens after the hard work of growing is already done.</a:t>
            </a:r>
            <a:endParaRPr lang="en-US" sz="1250" dirty="0"/>
          </a:p>
        </p:txBody>
      </p:sp>
      <p:sp>
        <p:nvSpPr>
          <p:cNvPr id="22" name="Text 20"/>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5F6B63"/>
                </a:solidFill>
                <a:latin typeface="Calibri" pitchFamily="34" charset="0"/>
                <a:ea typeface="Calibri" pitchFamily="34" charset="-122"/>
                <a:cs typeface="Calibri" pitchFamily="34" charset="-120"/>
              </a:rPr>
              <a:t>Sources: Pakistan Today and FreshPlaza on the 40 percent figure, Dawn reporting on the ADB estimate, AgriHunt on stage by stage losses. Full list at the end.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02  WHY IT HAPPENS</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A small grower has about 48 hours to sell.</a:t>
            </a:r>
            <a:endParaRPr lang="en-US" sz="3100" dirty="0"/>
          </a:p>
        </p:txBody>
      </p:sp>
      <p:sp>
        <p:nvSpPr>
          <p:cNvPr id="4" name="Text 2"/>
          <p:cNvSpPr/>
          <p:nvPr/>
        </p:nvSpPr>
        <p:spPr>
          <a:xfrm>
            <a:off x="640080" y="1280160"/>
            <a:ext cx="10881360" cy="347472"/>
          </a:xfrm>
          <a:prstGeom prst="rect">
            <a:avLst/>
          </a:prstGeom>
          <a:noFill/>
          <a:ln/>
        </p:spPr>
        <p:txBody>
          <a:bodyPr wrap="square" lIns="0" tIns="0" rIns="0" bIns="0" rtlCol="0" anchor="t"/>
          <a:lstStyle/>
          <a:p>
            <a:pPr indent="0" marL="0">
              <a:buNone/>
            </a:pPr>
            <a:r>
              <a:rPr lang="en-US" sz="1450" i="1" dirty="0">
                <a:solidFill>
                  <a:srgbClr val="5F6B63"/>
                </a:solidFill>
                <a:latin typeface="Calibri" pitchFamily="34" charset="0"/>
                <a:ea typeface="Calibri" pitchFamily="34" charset="-122"/>
                <a:cs typeface="Calibri" pitchFamily="34" charset="-120"/>
              </a:rPr>
              <a:t>This is the part that most storage projects miss.</a:t>
            </a:r>
            <a:endParaRPr lang="en-US" sz="1450" dirty="0"/>
          </a:p>
        </p:txBody>
      </p:sp>
      <p:sp>
        <p:nvSpPr>
          <p:cNvPr id="5" name="Shape 3"/>
          <p:cNvSpPr/>
          <p:nvPr/>
        </p:nvSpPr>
        <p:spPr>
          <a:xfrm>
            <a:off x="640080" y="1965960"/>
            <a:ext cx="3520440" cy="1691640"/>
          </a:xfrm>
          <a:prstGeom prst="roundRect">
            <a:avLst>
              <a:gd name="adj" fmla="val 4324"/>
            </a:avLst>
          </a:prstGeom>
          <a:solidFill>
            <a:srgbClr val="FFFFFF"/>
          </a:solidFill>
          <a:ln/>
          <a:effectLst>
            <a:outerShdw sx="100000" sy="100000" kx="0" ky="0" algn="bl" rotWithShape="0" blurRad="101600" dist="635" dir="5400000">
              <a:srgbClr val="9AA69E">
                <a:alpha val="12000"/>
              </a:srgbClr>
            </a:outerShdw>
          </a:effectLst>
        </p:spPr>
      </p:sp>
      <p:sp>
        <p:nvSpPr>
          <p:cNvPr id="6" name="Shape 4"/>
          <p:cNvSpPr/>
          <p:nvPr/>
        </p:nvSpPr>
        <p:spPr>
          <a:xfrm>
            <a:off x="640080" y="1965960"/>
            <a:ext cx="3520440" cy="1691640"/>
          </a:xfrm>
          <a:prstGeom prst="roundRect">
            <a:avLst>
              <a:gd name="adj" fmla="val 4324"/>
            </a:avLst>
          </a:prstGeom>
          <a:solidFill>
            <a:srgbClr val="FFFFFF"/>
          </a:solidFill>
          <a:ln w="12700">
            <a:solidFill>
              <a:srgbClr val="D8E0DA"/>
            </a:solidFill>
            <a:prstDash val="solid"/>
          </a:ln>
        </p:spPr>
      </p:sp>
      <p:sp>
        <p:nvSpPr>
          <p:cNvPr id="7" name="Shape 5"/>
          <p:cNvSpPr/>
          <p:nvPr/>
        </p:nvSpPr>
        <p:spPr>
          <a:xfrm>
            <a:off x="896112" y="2194560"/>
            <a:ext cx="420624" cy="420624"/>
          </a:xfrm>
          <a:prstGeom prst="ellipse">
            <a:avLst/>
          </a:prstGeom>
          <a:solidFill>
            <a:srgbClr val="2E7D5B"/>
          </a:solidFill>
          <a:ln/>
        </p:spPr>
      </p:sp>
      <p:sp>
        <p:nvSpPr>
          <p:cNvPr id="8" name="Text 6"/>
          <p:cNvSpPr/>
          <p:nvPr/>
        </p:nvSpPr>
        <p:spPr>
          <a:xfrm>
            <a:off x="896112" y="2194560"/>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p:nvPr/>
        </p:nvSpPr>
        <p:spPr>
          <a:xfrm>
            <a:off x="1426464" y="2212848"/>
            <a:ext cx="2377440"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Day 0</a:t>
            </a:r>
            <a:endParaRPr lang="en-US" sz="1800" dirty="0"/>
          </a:p>
        </p:txBody>
      </p:sp>
      <p:sp>
        <p:nvSpPr>
          <p:cNvPr id="10" name="Text 8"/>
          <p:cNvSpPr/>
          <p:nvPr/>
        </p:nvSpPr>
        <p:spPr>
          <a:xfrm>
            <a:off x="896112" y="2724912"/>
            <a:ext cx="3017520" cy="822960"/>
          </a:xfrm>
          <a:prstGeom prst="rect">
            <a:avLst/>
          </a:prstGeom>
          <a:noFill/>
          <a:ln/>
        </p:spPr>
        <p:txBody>
          <a:bodyPr wrap="square" lIns="0" tIns="0" rIns="0" bIns="0" rtlCol="0" anchor="ctr"/>
          <a:lstStyle/>
          <a:p>
            <a:pPr indent="0" marL="0">
              <a:lnSpc>
                <a:spcPts val="1700"/>
              </a:lnSpc>
              <a:buNone/>
            </a:pPr>
            <a:r>
              <a:rPr lang="en-US" sz="1250" dirty="0">
                <a:solidFill>
                  <a:srgbClr val="5F6B63"/>
                </a:solidFill>
                <a:latin typeface="Calibri" pitchFamily="34" charset="0"/>
                <a:ea typeface="Calibri" pitchFamily="34" charset="-122"/>
                <a:cs typeface="Calibri" pitchFamily="34" charset="-120"/>
              </a:rPr>
              <a:t>He picks 200 to 400 kg. There is no cool place on the farm. The crates sit in the shade of a tree.</a:t>
            </a:r>
            <a:endParaRPr lang="en-US" sz="1250" dirty="0"/>
          </a:p>
        </p:txBody>
      </p:sp>
      <p:sp>
        <p:nvSpPr>
          <p:cNvPr id="11" name="Shape 9"/>
          <p:cNvSpPr/>
          <p:nvPr/>
        </p:nvSpPr>
        <p:spPr>
          <a:xfrm>
            <a:off x="4315968" y="1965960"/>
            <a:ext cx="3520440" cy="1691640"/>
          </a:xfrm>
          <a:prstGeom prst="roundRect">
            <a:avLst>
              <a:gd name="adj" fmla="val 4324"/>
            </a:avLst>
          </a:prstGeom>
          <a:solidFill>
            <a:srgbClr val="FFFFFF"/>
          </a:solidFill>
          <a:ln/>
          <a:effectLst>
            <a:outerShdw sx="100000" sy="100000" kx="0" ky="0" algn="bl" rotWithShape="0" blurRad="101600" dist="635" dir="5400000">
              <a:srgbClr val="9AA69E">
                <a:alpha val="12000"/>
              </a:srgbClr>
            </a:outerShdw>
          </a:effectLst>
        </p:spPr>
      </p:sp>
      <p:sp>
        <p:nvSpPr>
          <p:cNvPr id="12" name="Shape 10"/>
          <p:cNvSpPr/>
          <p:nvPr/>
        </p:nvSpPr>
        <p:spPr>
          <a:xfrm>
            <a:off x="4315968" y="1965960"/>
            <a:ext cx="3520440" cy="1691640"/>
          </a:xfrm>
          <a:prstGeom prst="roundRect">
            <a:avLst>
              <a:gd name="adj" fmla="val 4324"/>
            </a:avLst>
          </a:prstGeom>
          <a:solidFill>
            <a:srgbClr val="FFFFFF"/>
          </a:solidFill>
          <a:ln w="12700">
            <a:solidFill>
              <a:srgbClr val="D8E0DA"/>
            </a:solidFill>
            <a:prstDash val="solid"/>
          </a:ln>
        </p:spPr>
      </p:sp>
      <p:sp>
        <p:nvSpPr>
          <p:cNvPr id="13" name="Shape 11"/>
          <p:cNvSpPr/>
          <p:nvPr/>
        </p:nvSpPr>
        <p:spPr>
          <a:xfrm>
            <a:off x="4572000" y="2194560"/>
            <a:ext cx="420624" cy="420624"/>
          </a:xfrm>
          <a:prstGeom prst="ellipse">
            <a:avLst/>
          </a:prstGeom>
          <a:solidFill>
            <a:srgbClr val="2E7D5B"/>
          </a:solidFill>
          <a:ln/>
        </p:spPr>
      </p:sp>
      <p:sp>
        <p:nvSpPr>
          <p:cNvPr id="14" name="Text 12"/>
          <p:cNvSpPr/>
          <p:nvPr/>
        </p:nvSpPr>
        <p:spPr>
          <a:xfrm>
            <a:off x="4572000" y="2194560"/>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5" name="Text 13"/>
          <p:cNvSpPr/>
          <p:nvPr/>
        </p:nvSpPr>
        <p:spPr>
          <a:xfrm>
            <a:off x="5102352" y="2212848"/>
            <a:ext cx="2377440"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Day 1</a:t>
            </a:r>
            <a:endParaRPr lang="en-US" sz="1800" dirty="0"/>
          </a:p>
        </p:txBody>
      </p:sp>
      <p:sp>
        <p:nvSpPr>
          <p:cNvPr id="16" name="Text 14"/>
          <p:cNvSpPr/>
          <p:nvPr/>
        </p:nvSpPr>
        <p:spPr>
          <a:xfrm>
            <a:off x="4572000" y="2724912"/>
            <a:ext cx="3017520" cy="822960"/>
          </a:xfrm>
          <a:prstGeom prst="rect">
            <a:avLst/>
          </a:prstGeom>
          <a:noFill/>
          <a:ln/>
        </p:spPr>
        <p:txBody>
          <a:bodyPr wrap="square" lIns="0" tIns="0" rIns="0" bIns="0" rtlCol="0" anchor="ctr"/>
          <a:lstStyle/>
          <a:p>
            <a:pPr indent="0" marL="0">
              <a:lnSpc>
                <a:spcPts val="1700"/>
              </a:lnSpc>
              <a:buNone/>
            </a:pPr>
            <a:r>
              <a:rPr lang="en-US" sz="1250" dirty="0">
                <a:solidFill>
                  <a:srgbClr val="5F6B63"/>
                </a:solidFill>
                <a:latin typeface="Calibri" pitchFamily="34" charset="0"/>
                <a:ea typeface="Calibri" pitchFamily="34" charset="-122"/>
                <a:cs typeface="Calibri" pitchFamily="34" charset="-120"/>
              </a:rPr>
              <a:t>Heat starts working on the crop. Tomatoes soften, leafy greens wilt, weight drops.</a:t>
            </a:r>
            <a:endParaRPr lang="en-US" sz="1250" dirty="0"/>
          </a:p>
        </p:txBody>
      </p:sp>
      <p:sp>
        <p:nvSpPr>
          <p:cNvPr id="17" name="Shape 15"/>
          <p:cNvSpPr/>
          <p:nvPr/>
        </p:nvSpPr>
        <p:spPr>
          <a:xfrm>
            <a:off x="7991856" y="1965960"/>
            <a:ext cx="3520440" cy="1691640"/>
          </a:xfrm>
          <a:prstGeom prst="roundRect">
            <a:avLst>
              <a:gd name="adj" fmla="val 4324"/>
            </a:avLst>
          </a:prstGeom>
          <a:solidFill>
            <a:srgbClr val="FFFFFF"/>
          </a:solidFill>
          <a:ln/>
          <a:effectLst>
            <a:outerShdw sx="100000" sy="100000" kx="0" ky="0" algn="bl" rotWithShape="0" blurRad="101600" dist="635" dir="5400000">
              <a:srgbClr val="9AA69E">
                <a:alpha val="12000"/>
              </a:srgbClr>
            </a:outerShdw>
          </a:effectLst>
        </p:spPr>
      </p:sp>
      <p:sp>
        <p:nvSpPr>
          <p:cNvPr id="18" name="Shape 16"/>
          <p:cNvSpPr/>
          <p:nvPr/>
        </p:nvSpPr>
        <p:spPr>
          <a:xfrm>
            <a:off x="7991856" y="1965960"/>
            <a:ext cx="3520440" cy="1691640"/>
          </a:xfrm>
          <a:prstGeom prst="roundRect">
            <a:avLst>
              <a:gd name="adj" fmla="val 4324"/>
            </a:avLst>
          </a:prstGeom>
          <a:solidFill>
            <a:srgbClr val="FFFFFF"/>
          </a:solidFill>
          <a:ln w="12700">
            <a:solidFill>
              <a:srgbClr val="D8E0DA"/>
            </a:solidFill>
            <a:prstDash val="solid"/>
          </a:ln>
        </p:spPr>
      </p:sp>
      <p:sp>
        <p:nvSpPr>
          <p:cNvPr id="19" name="Shape 17"/>
          <p:cNvSpPr/>
          <p:nvPr/>
        </p:nvSpPr>
        <p:spPr>
          <a:xfrm>
            <a:off x="8247888" y="2194560"/>
            <a:ext cx="420624" cy="420624"/>
          </a:xfrm>
          <a:prstGeom prst="ellipse">
            <a:avLst/>
          </a:prstGeom>
          <a:solidFill>
            <a:srgbClr val="E4572E"/>
          </a:solidFill>
          <a:ln/>
        </p:spPr>
      </p:sp>
      <p:sp>
        <p:nvSpPr>
          <p:cNvPr id="20" name="Text 18"/>
          <p:cNvSpPr/>
          <p:nvPr/>
        </p:nvSpPr>
        <p:spPr>
          <a:xfrm>
            <a:off x="8247888" y="2194560"/>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21" name="Text 19"/>
          <p:cNvSpPr/>
          <p:nvPr/>
        </p:nvSpPr>
        <p:spPr>
          <a:xfrm>
            <a:off x="8778240" y="2212848"/>
            <a:ext cx="2377440"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Day 2</a:t>
            </a:r>
            <a:endParaRPr lang="en-US" sz="1800" dirty="0"/>
          </a:p>
        </p:txBody>
      </p:sp>
      <p:sp>
        <p:nvSpPr>
          <p:cNvPr id="22" name="Text 20"/>
          <p:cNvSpPr/>
          <p:nvPr/>
        </p:nvSpPr>
        <p:spPr>
          <a:xfrm>
            <a:off x="8247888" y="2724912"/>
            <a:ext cx="3017520" cy="822960"/>
          </a:xfrm>
          <a:prstGeom prst="rect">
            <a:avLst/>
          </a:prstGeom>
          <a:noFill/>
          <a:ln/>
        </p:spPr>
        <p:txBody>
          <a:bodyPr wrap="square" lIns="0" tIns="0" rIns="0" bIns="0" rtlCol="0" anchor="ctr"/>
          <a:lstStyle/>
          <a:p>
            <a:pPr indent="0" marL="0">
              <a:lnSpc>
                <a:spcPts val="1700"/>
              </a:lnSpc>
              <a:buNone/>
            </a:pPr>
            <a:r>
              <a:rPr lang="en-US" sz="1250" dirty="0">
                <a:solidFill>
                  <a:srgbClr val="5F6B63"/>
                </a:solidFill>
                <a:latin typeface="Calibri" pitchFamily="34" charset="0"/>
                <a:ea typeface="Calibri" pitchFamily="34" charset="-122"/>
                <a:cs typeface="Calibri" pitchFamily="34" charset="-120"/>
              </a:rPr>
              <a:t>It has to move now or it is worth nothing. He loads it and takes whatever the mandi pays that morning.</a:t>
            </a:r>
            <a:endParaRPr lang="en-US" sz="1250" dirty="0"/>
          </a:p>
        </p:txBody>
      </p:sp>
      <p:sp>
        <p:nvSpPr>
          <p:cNvPr id="23" name="Shape 21"/>
          <p:cNvSpPr/>
          <p:nvPr/>
        </p:nvSpPr>
        <p:spPr>
          <a:xfrm>
            <a:off x="640080" y="3931920"/>
            <a:ext cx="10881360" cy="1463040"/>
          </a:xfrm>
          <a:prstGeom prst="roundRect">
            <a:avLst>
              <a:gd name="adj" fmla="val 5000"/>
            </a:avLst>
          </a:prstGeom>
          <a:solidFill>
            <a:srgbClr val="F2F5F1"/>
          </a:solidFill>
          <a:ln/>
          <a:effectLst>
            <a:outerShdw sx="100000" sy="100000" kx="0" ky="0" algn="bl" rotWithShape="0" blurRad="101600" dist="635" dir="5400000">
              <a:srgbClr val="9AA69E">
                <a:alpha val="12000"/>
              </a:srgbClr>
            </a:outerShdw>
          </a:effectLst>
        </p:spPr>
      </p:sp>
      <p:sp>
        <p:nvSpPr>
          <p:cNvPr id="24" name="Text 22"/>
          <p:cNvSpPr/>
          <p:nvPr/>
        </p:nvSpPr>
        <p:spPr>
          <a:xfrm>
            <a:off x="1097280" y="4114800"/>
            <a:ext cx="10424160" cy="1097280"/>
          </a:xfrm>
          <a:prstGeom prst="rect">
            <a:avLst/>
          </a:prstGeom>
          <a:noFill/>
          <a:ln/>
        </p:spPr>
        <p:txBody>
          <a:bodyPr wrap="square" lIns="0" tIns="0" rIns="0" bIns="0" rtlCol="0" anchor="ctr"/>
          <a:lstStyle/>
          <a:p>
            <a:pPr indent="0" marL="0">
              <a:lnSpc>
                <a:spcPts val="3200"/>
              </a:lnSpc>
              <a:buNone/>
            </a:pPr>
            <a:r>
              <a:rPr lang="en-US" sz="2200" b="1" dirty="0">
                <a:solidFill>
                  <a:srgbClr val="1A1A1A"/>
                </a:solidFill>
                <a:latin typeface="Cambria" pitchFamily="34" charset="0"/>
                <a:ea typeface="Cambria" pitchFamily="34" charset="-122"/>
                <a:cs typeface="Cambria" pitchFamily="34" charset="-120"/>
              </a:rPr>
              <a:t>Small growers do not lose money because they farm badly.</a:t>
            </a:r>
            <a:endParaRPr lang="en-US" sz="2200" dirty="0"/>
          </a:p>
          <a:p>
            <a:pPr indent="0" marL="0">
              <a:lnSpc>
                <a:spcPts val="3200"/>
              </a:lnSpc>
              <a:buNone/>
            </a:pPr>
            <a:r>
              <a:rPr lang="en-US" sz="2200" b="1" dirty="0">
                <a:solidFill>
                  <a:srgbClr val="E4572E"/>
                </a:solidFill>
                <a:latin typeface="Cambria" pitchFamily="34" charset="0"/>
                <a:ea typeface="Cambria" pitchFamily="34" charset="-122"/>
                <a:cs typeface="Cambria" pitchFamily="34" charset="-120"/>
              </a:rPr>
              <a:t>They lose it because they cannot wait.</a:t>
            </a:r>
            <a:endParaRPr lang="en-US" sz="2200" dirty="0"/>
          </a:p>
        </p:txBody>
      </p:sp>
      <p:sp>
        <p:nvSpPr>
          <p:cNvPr id="25" name="Text 23"/>
          <p:cNvSpPr/>
          <p:nvPr/>
        </p:nvSpPr>
        <p:spPr>
          <a:xfrm>
            <a:off x="640080" y="5623560"/>
            <a:ext cx="10881360" cy="594360"/>
          </a:xfrm>
          <a:prstGeom prst="rect">
            <a:avLst/>
          </a:prstGeom>
          <a:noFill/>
          <a:ln/>
        </p:spPr>
        <p:txBody>
          <a:bodyPr wrap="square" lIns="0" tIns="0" rIns="0" bIns="0" rtlCol="0" anchor="t"/>
          <a:lstStyle/>
          <a:p>
            <a:pPr indent="0" marL="0">
              <a:lnSpc>
                <a:spcPts val="1900"/>
              </a:lnSpc>
              <a:buNone/>
            </a:pPr>
            <a:r>
              <a:rPr lang="en-US" sz="1350" dirty="0">
                <a:solidFill>
                  <a:srgbClr val="5F6B63"/>
                </a:solidFill>
                <a:latin typeface="Calibri" pitchFamily="34" charset="0"/>
                <a:ea typeface="Calibri" pitchFamily="34" charset="-122"/>
                <a:cs typeface="Calibri" pitchFamily="34" charset="-120"/>
              </a:rPr>
              <a:t>Everyone in the chain who can wait, earns more. The commission agent can wait, so he captures the price movement. The grower typically ends up with 20 to 30 percent of what the customer finally pays in the city.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03  THE GAP</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Cold storage exists. Just not for a two acre farm.</a:t>
            </a:r>
            <a:endParaRPr lang="en-US" sz="3100" dirty="0"/>
          </a:p>
        </p:txBody>
      </p:sp>
      <p:sp>
        <p:nvSpPr>
          <p:cNvPr id="4" name="Text 2"/>
          <p:cNvSpPr/>
          <p:nvPr/>
        </p:nvSpPr>
        <p:spPr>
          <a:xfrm>
            <a:off x="640080" y="1280160"/>
            <a:ext cx="10881360" cy="347472"/>
          </a:xfrm>
          <a:prstGeom prst="rect">
            <a:avLst/>
          </a:prstGeom>
          <a:noFill/>
          <a:ln/>
        </p:spPr>
        <p:txBody>
          <a:bodyPr wrap="square" lIns="0" tIns="0" rIns="0" bIns="0" rtlCol="0" anchor="t"/>
          <a:lstStyle/>
          <a:p>
            <a:pPr indent="0" marL="0">
              <a:buNone/>
            </a:pPr>
            <a:r>
              <a:rPr lang="en-US" sz="1450" i="1" dirty="0">
                <a:solidFill>
                  <a:srgbClr val="5F6B63"/>
                </a:solidFill>
                <a:latin typeface="Calibri" pitchFamily="34" charset="0"/>
                <a:ea typeface="Calibri" pitchFamily="34" charset="-122"/>
                <a:cs typeface="Calibri" pitchFamily="34" charset="-120"/>
              </a:rPr>
              <a:t>Pakistan has around 555 cold storage units. Not one of them will take ten crates for ten days.</a:t>
            </a:r>
            <a:endParaRPr lang="en-US" sz="1450" dirty="0"/>
          </a:p>
        </p:txBody>
      </p:sp>
      <p:sp>
        <p:nvSpPr>
          <p:cNvPr id="5" name="Text 3"/>
          <p:cNvSpPr/>
          <p:nvPr/>
        </p:nvSpPr>
        <p:spPr>
          <a:xfrm>
            <a:off x="4160520" y="1874520"/>
            <a:ext cx="3657600" cy="292608"/>
          </a:xfrm>
          <a:prstGeom prst="rect">
            <a:avLst/>
          </a:prstGeom>
          <a:noFill/>
          <a:ln/>
        </p:spPr>
        <p:txBody>
          <a:bodyPr wrap="square" lIns="0" tIns="0" rIns="0" bIns="0" rtlCol="0" anchor="t"/>
          <a:lstStyle/>
          <a:p>
            <a:pPr indent="0" marL="0">
              <a:buNone/>
            </a:pPr>
            <a:r>
              <a:rPr lang="en-US" sz="1200" b="1" spc="100" kern="0" dirty="0">
                <a:solidFill>
                  <a:srgbClr val="5F6B63"/>
                </a:solidFill>
                <a:latin typeface="Calibri" pitchFamily="34" charset="0"/>
                <a:ea typeface="Calibri" pitchFamily="34" charset="-122"/>
                <a:cs typeface="Calibri" pitchFamily="34" charset="-120"/>
              </a:rPr>
              <a:t>What the market offers today</a:t>
            </a:r>
            <a:endParaRPr lang="en-US" sz="1200" dirty="0"/>
          </a:p>
        </p:txBody>
      </p:sp>
      <p:sp>
        <p:nvSpPr>
          <p:cNvPr id="6" name="Text 4"/>
          <p:cNvSpPr/>
          <p:nvPr/>
        </p:nvSpPr>
        <p:spPr>
          <a:xfrm>
            <a:off x="8001000" y="1874520"/>
            <a:ext cx="3657600" cy="292608"/>
          </a:xfrm>
          <a:prstGeom prst="rect">
            <a:avLst/>
          </a:prstGeom>
          <a:noFill/>
          <a:ln/>
        </p:spPr>
        <p:txBody>
          <a:bodyPr wrap="square" lIns="0" tIns="0" rIns="0" bIns="0" rtlCol="0" anchor="t"/>
          <a:lstStyle/>
          <a:p>
            <a:pPr indent="0" marL="0">
              <a:buNone/>
            </a:pPr>
            <a:r>
              <a:rPr lang="en-US" sz="1200" b="1" spc="100" kern="0" dirty="0">
                <a:solidFill>
                  <a:srgbClr val="2E7D5B"/>
                </a:solidFill>
                <a:latin typeface="Calibri" pitchFamily="34" charset="0"/>
                <a:ea typeface="Calibri" pitchFamily="34" charset="-122"/>
                <a:cs typeface="Calibri" pitchFamily="34" charset="-120"/>
              </a:rPr>
              <a:t>What a small grower needs</a:t>
            </a:r>
            <a:endParaRPr lang="en-US" sz="1200" dirty="0"/>
          </a:p>
        </p:txBody>
      </p:sp>
      <p:sp>
        <p:nvSpPr>
          <p:cNvPr id="7" name="Shape 5"/>
          <p:cNvSpPr/>
          <p:nvPr/>
        </p:nvSpPr>
        <p:spPr>
          <a:xfrm>
            <a:off x="640080" y="2231136"/>
            <a:ext cx="10881360" cy="585216"/>
          </a:xfrm>
          <a:prstGeom prst="rect">
            <a:avLst/>
          </a:prstGeom>
          <a:solidFill>
            <a:srgbClr val="F2F5F1"/>
          </a:solidFill>
          <a:ln/>
        </p:spPr>
      </p:sp>
      <p:sp>
        <p:nvSpPr>
          <p:cNvPr id="8" name="Text 6"/>
          <p:cNvSpPr/>
          <p:nvPr/>
        </p:nvSpPr>
        <p:spPr>
          <a:xfrm>
            <a:off x="868680" y="2286000"/>
            <a:ext cx="3108960"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Size</a:t>
            </a:r>
            <a:endParaRPr lang="en-US" sz="1400" dirty="0"/>
          </a:p>
        </p:txBody>
      </p:sp>
      <p:sp>
        <p:nvSpPr>
          <p:cNvPr id="9" name="Text 7"/>
          <p:cNvSpPr/>
          <p:nvPr/>
        </p:nvSpPr>
        <p:spPr>
          <a:xfrm>
            <a:off x="4160520" y="2286000"/>
            <a:ext cx="3657600" cy="45720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1,000 tonnes and up</a:t>
            </a:r>
            <a:endParaRPr lang="en-US" sz="1300" dirty="0"/>
          </a:p>
        </p:txBody>
      </p:sp>
      <p:sp>
        <p:nvSpPr>
          <p:cNvPr id="10" name="Text 8"/>
          <p:cNvSpPr/>
          <p:nvPr/>
        </p:nvSpPr>
        <p:spPr>
          <a:xfrm>
            <a:off x="8001000" y="2286000"/>
            <a:ext cx="3657600" cy="45720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5 tonnes, in the village</a:t>
            </a:r>
            <a:endParaRPr lang="en-US" sz="1300" dirty="0"/>
          </a:p>
        </p:txBody>
      </p:sp>
      <p:sp>
        <p:nvSpPr>
          <p:cNvPr id="11" name="Text 9"/>
          <p:cNvSpPr/>
          <p:nvPr/>
        </p:nvSpPr>
        <p:spPr>
          <a:xfrm>
            <a:off x="868680" y="2907792"/>
            <a:ext cx="3108960"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Location</a:t>
            </a:r>
            <a:endParaRPr lang="en-US" sz="1400" dirty="0"/>
          </a:p>
        </p:txBody>
      </p:sp>
      <p:sp>
        <p:nvSpPr>
          <p:cNvPr id="12" name="Text 10"/>
          <p:cNvSpPr/>
          <p:nvPr/>
        </p:nvSpPr>
        <p:spPr>
          <a:xfrm>
            <a:off x="4160520" y="2907792"/>
            <a:ext cx="3657600" cy="45720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Industrial areas near big cities</a:t>
            </a:r>
            <a:endParaRPr lang="en-US" sz="1300" dirty="0"/>
          </a:p>
        </p:txBody>
      </p:sp>
      <p:sp>
        <p:nvSpPr>
          <p:cNvPr id="13" name="Text 11"/>
          <p:cNvSpPr/>
          <p:nvPr/>
        </p:nvSpPr>
        <p:spPr>
          <a:xfrm>
            <a:off x="8001000" y="2907792"/>
            <a:ext cx="3657600" cy="45720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Within 15 minutes of the field</a:t>
            </a:r>
            <a:endParaRPr lang="en-US" sz="1300" dirty="0"/>
          </a:p>
        </p:txBody>
      </p:sp>
      <p:sp>
        <p:nvSpPr>
          <p:cNvPr id="14" name="Shape 12"/>
          <p:cNvSpPr/>
          <p:nvPr/>
        </p:nvSpPr>
        <p:spPr>
          <a:xfrm>
            <a:off x="640080" y="3474720"/>
            <a:ext cx="10881360" cy="585216"/>
          </a:xfrm>
          <a:prstGeom prst="rect">
            <a:avLst/>
          </a:prstGeom>
          <a:solidFill>
            <a:srgbClr val="F2F5F1"/>
          </a:solidFill>
          <a:ln/>
        </p:spPr>
      </p:sp>
      <p:sp>
        <p:nvSpPr>
          <p:cNvPr id="15" name="Text 13"/>
          <p:cNvSpPr/>
          <p:nvPr/>
        </p:nvSpPr>
        <p:spPr>
          <a:xfrm>
            <a:off x="868680" y="3529584"/>
            <a:ext cx="3108960"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Booking</a:t>
            </a:r>
            <a:endParaRPr lang="en-US" sz="1400" dirty="0"/>
          </a:p>
        </p:txBody>
      </p:sp>
      <p:sp>
        <p:nvSpPr>
          <p:cNvPr id="16" name="Text 14"/>
          <p:cNvSpPr/>
          <p:nvPr/>
        </p:nvSpPr>
        <p:spPr>
          <a:xfrm>
            <a:off x="4160520" y="3529584"/>
            <a:ext cx="3657600" cy="45720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Season long contracts</a:t>
            </a:r>
            <a:endParaRPr lang="en-US" sz="1300" dirty="0"/>
          </a:p>
        </p:txBody>
      </p:sp>
      <p:sp>
        <p:nvSpPr>
          <p:cNvPr id="17" name="Text 15"/>
          <p:cNvSpPr/>
          <p:nvPr/>
        </p:nvSpPr>
        <p:spPr>
          <a:xfrm>
            <a:off x="8001000" y="3529584"/>
            <a:ext cx="3657600" cy="45720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A few days at a time</a:t>
            </a:r>
            <a:endParaRPr lang="en-US" sz="1300" dirty="0"/>
          </a:p>
        </p:txBody>
      </p:sp>
      <p:sp>
        <p:nvSpPr>
          <p:cNvPr id="18" name="Text 16"/>
          <p:cNvSpPr/>
          <p:nvPr/>
        </p:nvSpPr>
        <p:spPr>
          <a:xfrm>
            <a:off x="868680" y="4151376"/>
            <a:ext cx="3108960"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Minimum</a:t>
            </a:r>
            <a:endParaRPr lang="en-US" sz="1400" dirty="0"/>
          </a:p>
        </p:txBody>
      </p:sp>
      <p:sp>
        <p:nvSpPr>
          <p:cNvPr id="19" name="Text 17"/>
          <p:cNvSpPr/>
          <p:nvPr/>
        </p:nvSpPr>
        <p:spPr>
          <a:xfrm>
            <a:off x="4160520" y="4151376"/>
            <a:ext cx="3657600" cy="45720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Full truckloads</a:t>
            </a:r>
            <a:endParaRPr lang="en-US" sz="1300" dirty="0"/>
          </a:p>
        </p:txBody>
      </p:sp>
      <p:sp>
        <p:nvSpPr>
          <p:cNvPr id="20" name="Text 18"/>
          <p:cNvSpPr/>
          <p:nvPr/>
        </p:nvSpPr>
        <p:spPr>
          <a:xfrm>
            <a:off x="8001000" y="4151376"/>
            <a:ext cx="3657600" cy="45720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Ten crates</a:t>
            </a:r>
            <a:endParaRPr lang="en-US" sz="1300" dirty="0"/>
          </a:p>
        </p:txBody>
      </p:sp>
      <p:sp>
        <p:nvSpPr>
          <p:cNvPr id="21" name="Shape 19"/>
          <p:cNvSpPr/>
          <p:nvPr/>
        </p:nvSpPr>
        <p:spPr>
          <a:xfrm>
            <a:off x="640080" y="4718304"/>
            <a:ext cx="10881360" cy="585216"/>
          </a:xfrm>
          <a:prstGeom prst="rect">
            <a:avLst/>
          </a:prstGeom>
          <a:solidFill>
            <a:srgbClr val="F2F5F1"/>
          </a:solidFill>
          <a:ln/>
        </p:spPr>
      </p:sp>
      <p:sp>
        <p:nvSpPr>
          <p:cNvPr id="22" name="Text 20"/>
          <p:cNvSpPr/>
          <p:nvPr/>
        </p:nvSpPr>
        <p:spPr>
          <a:xfrm>
            <a:off x="868680" y="4773168"/>
            <a:ext cx="3108960"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Power</a:t>
            </a:r>
            <a:endParaRPr lang="en-US" sz="1400" dirty="0"/>
          </a:p>
        </p:txBody>
      </p:sp>
      <p:sp>
        <p:nvSpPr>
          <p:cNvPr id="23" name="Text 21"/>
          <p:cNvSpPr/>
          <p:nvPr/>
        </p:nvSpPr>
        <p:spPr>
          <a:xfrm>
            <a:off x="4160520" y="4773168"/>
            <a:ext cx="3657600" cy="45720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Grid, so load shedding hits the stock</a:t>
            </a:r>
            <a:endParaRPr lang="en-US" sz="1300" dirty="0"/>
          </a:p>
        </p:txBody>
      </p:sp>
      <p:sp>
        <p:nvSpPr>
          <p:cNvPr id="24" name="Text 22"/>
          <p:cNvSpPr/>
          <p:nvPr/>
        </p:nvSpPr>
        <p:spPr>
          <a:xfrm>
            <a:off x="8001000" y="4773168"/>
            <a:ext cx="3657600" cy="45720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Solar, so it keeps running</a:t>
            </a:r>
            <a:endParaRPr lang="en-US" sz="1300" dirty="0"/>
          </a:p>
        </p:txBody>
      </p:sp>
      <p:sp>
        <p:nvSpPr>
          <p:cNvPr id="25" name="Text 23"/>
          <p:cNvSpPr/>
          <p:nvPr/>
        </p:nvSpPr>
        <p:spPr>
          <a:xfrm>
            <a:off x="868680" y="5394960"/>
            <a:ext cx="3108960"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Customer</a:t>
            </a:r>
            <a:endParaRPr lang="en-US" sz="1400" dirty="0"/>
          </a:p>
        </p:txBody>
      </p:sp>
      <p:sp>
        <p:nvSpPr>
          <p:cNvPr id="26" name="Text 24"/>
          <p:cNvSpPr/>
          <p:nvPr/>
        </p:nvSpPr>
        <p:spPr>
          <a:xfrm>
            <a:off x="4160520" y="5394960"/>
            <a:ext cx="3657600" cy="45720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Traders and large commission agents</a:t>
            </a:r>
            <a:endParaRPr lang="en-US" sz="1300" dirty="0"/>
          </a:p>
        </p:txBody>
      </p:sp>
      <p:sp>
        <p:nvSpPr>
          <p:cNvPr id="27" name="Text 25"/>
          <p:cNvSpPr/>
          <p:nvPr/>
        </p:nvSpPr>
        <p:spPr>
          <a:xfrm>
            <a:off x="8001000" y="5394960"/>
            <a:ext cx="3657600" cy="45720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The grower himself</a:t>
            </a:r>
            <a:endParaRPr lang="en-US" sz="1300" dirty="0"/>
          </a:p>
        </p:txBody>
      </p:sp>
      <p:sp>
        <p:nvSpPr>
          <p:cNvPr id="28" name="Text 26"/>
          <p:cNvSpPr/>
          <p:nvPr/>
        </p:nvSpPr>
        <p:spPr>
          <a:xfrm>
            <a:off x="640080" y="6172200"/>
            <a:ext cx="10881360" cy="365760"/>
          </a:xfrm>
          <a:prstGeom prst="rect">
            <a:avLst/>
          </a:prstGeom>
          <a:noFill/>
          <a:ln/>
        </p:spPr>
        <p:txBody>
          <a:bodyPr wrap="square" lIns="0" tIns="0" rIns="0" bIns="0" rtlCol="0" anchor="t"/>
          <a:lstStyle/>
          <a:p>
            <a:pPr indent="0" marL="0">
              <a:buNone/>
            </a:pPr>
            <a:r>
              <a:rPr lang="en-US" sz="1350" b="1" dirty="0">
                <a:solidFill>
                  <a:srgbClr val="1A1A1A"/>
                </a:solidFill>
                <a:latin typeface="Calibri" pitchFamily="34" charset="0"/>
                <a:ea typeface="Calibri" pitchFamily="34" charset="-122"/>
                <a:cs typeface="Calibri" pitchFamily="34" charset="-120"/>
              </a:rPr>
              <a:t>The gap is not only how much capacity exists. It is who the capacity was built for.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04  OUR RESEARCH</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What we read, and what we went and asked.</a:t>
            </a:r>
            <a:endParaRPr lang="en-US" sz="3100" dirty="0"/>
          </a:p>
        </p:txBody>
      </p:sp>
      <p:sp>
        <p:nvSpPr>
          <p:cNvPr id="4" name="Shape 2"/>
          <p:cNvSpPr/>
          <p:nvPr/>
        </p:nvSpPr>
        <p:spPr>
          <a:xfrm>
            <a:off x="640080" y="1828800"/>
            <a:ext cx="5486400" cy="4114800"/>
          </a:xfrm>
          <a:prstGeom prst="roundRect">
            <a:avLst>
              <a:gd name="adj" fmla="val 1778"/>
            </a:avLst>
          </a:prstGeom>
          <a:solidFill>
            <a:srgbClr val="F2F5F1"/>
          </a:solidFill>
          <a:ln/>
          <a:effectLst>
            <a:outerShdw sx="100000" sy="100000" kx="0" ky="0" algn="bl" rotWithShape="0" blurRad="101600" dist="635" dir="5400000">
              <a:srgbClr val="9AA69E">
                <a:alpha val="12000"/>
              </a:srgbClr>
            </a:outerShdw>
          </a:effectLst>
        </p:spPr>
      </p:sp>
      <p:sp>
        <p:nvSpPr>
          <p:cNvPr id="5" name="Text 3"/>
          <p:cNvSpPr/>
          <p:nvPr/>
        </p:nvSpPr>
        <p:spPr>
          <a:xfrm>
            <a:off x="960120" y="2029968"/>
            <a:ext cx="4846320" cy="3657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Desk research</a:t>
            </a:r>
            <a:endParaRPr lang="en-US" sz="1800" dirty="0"/>
          </a:p>
        </p:txBody>
      </p:sp>
      <p:sp>
        <p:nvSpPr>
          <p:cNvPr id="6" name="Text 4"/>
          <p:cNvSpPr/>
          <p:nvPr/>
        </p:nvSpPr>
        <p:spPr>
          <a:xfrm>
            <a:off x="960120" y="2487168"/>
            <a:ext cx="4846320" cy="3291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Pakistan Bureau of Statistics, 7th Agricultural Census: 64 percent of farms are under 5 acres, 26 percent under one acre, average farm size now 5.1 acres.</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Asian Development Bank, reported in Dawn: post harvest losses cost Pakistan over one billion dollars a year.</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Trade press on the storage gap: about 555 cold storage units holding roughly 900,000 tonnes against 13 to 15 million tonnes of fruit and vegetable production.</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IGC study on the fresh produce supply chain, and PIDE's counter argument that the commission agent also supplies credit. We took that seriously and built around him rather than against him.</a:t>
            </a:r>
            <a:endParaRPr lang="en-US" sz="1150" dirty="0"/>
          </a:p>
        </p:txBody>
      </p:sp>
      <p:sp>
        <p:nvSpPr>
          <p:cNvPr id="7" name="Shape 5"/>
          <p:cNvSpPr/>
          <p:nvPr/>
        </p:nvSpPr>
        <p:spPr>
          <a:xfrm>
            <a:off x="6446520" y="1828800"/>
            <a:ext cx="5074920" cy="4114800"/>
          </a:xfrm>
          <a:prstGeom prst="roundRect">
            <a:avLst>
              <a:gd name="adj" fmla="val 1778"/>
            </a:avLst>
          </a:prstGeom>
          <a:solidFill>
            <a:srgbClr val="FFFFFF"/>
          </a:solidFill>
          <a:ln/>
          <a:effectLst>
            <a:outerShdw sx="100000" sy="100000" kx="0" ky="0" algn="bl" rotWithShape="0" blurRad="101600" dist="635" dir="5400000">
              <a:srgbClr val="9AA69E">
                <a:alpha val="12000"/>
              </a:srgbClr>
            </a:outerShdw>
          </a:effectLst>
        </p:spPr>
      </p:sp>
      <p:sp>
        <p:nvSpPr>
          <p:cNvPr id="8" name="Shape 6"/>
          <p:cNvSpPr/>
          <p:nvPr/>
        </p:nvSpPr>
        <p:spPr>
          <a:xfrm>
            <a:off x="6446520" y="1828800"/>
            <a:ext cx="5074920" cy="4114800"/>
          </a:xfrm>
          <a:prstGeom prst="roundRect">
            <a:avLst>
              <a:gd name="adj" fmla="val 1778"/>
            </a:avLst>
          </a:prstGeom>
          <a:solidFill>
            <a:srgbClr val="FFFFFF"/>
          </a:solidFill>
          <a:ln w="19050">
            <a:solidFill>
              <a:srgbClr val="2E7D5B"/>
            </a:solidFill>
            <a:prstDash val="solid"/>
          </a:ln>
        </p:spPr>
      </p:sp>
      <p:sp>
        <p:nvSpPr>
          <p:cNvPr id="9" name="Text 7"/>
          <p:cNvSpPr/>
          <p:nvPr/>
        </p:nvSpPr>
        <p:spPr>
          <a:xfrm>
            <a:off x="6766560" y="2029968"/>
            <a:ext cx="4480560" cy="365760"/>
          </a:xfrm>
          <a:prstGeom prst="rect">
            <a:avLst/>
          </a:prstGeom>
          <a:noFill/>
          <a:ln/>
        </p:spPr>
        <p:txBody>
          <a:bodyPr wrap="square" lIns="0" tIns="0" rIns="0" bIns="0" rtlCol="0" anchor="ctr"/>
          <a:lstStyle/>
          <a:p>
            <a:pPr indent="0" marL="0">
              <a:buNone/>
            </a:pPr>
            <a:r>
              <a:rPr lang="en-US" sz="1800" b="1" dirty="0">
                <a:solidFill>
                  <a:srgbClr val="2E7D5B"/>
                </a:solidFill>
                <a:latin typeface="Cambria" pitchFamily="34" charset="0"/>
                <a:ea typeface="Cambria" pitchFamily="34" charset="-122"/>
                <a:cs typeface="Cambria" pitchFamily="34" charset="-120"/>
              </a:rPr>
              <a:t>Field research</a:t>
            </a:r>
            <a:endParaRPr lang="en-US" sz="1800" dirty="0"/>
          </a:p>
        </p:txBody>
      </p:sp>
      <p:sp>
        <p:nvSpPr>
          <p:cNvPr id="10" name="Text 8"/>
          <p:cNvSpPr/>
          <p:nvPr/>
        </p:nvSpPr>
        <p:spPr>
          <a:xfrm>
            <a:off x="6766560" y="2432304"/>
            <a:ext cx="4480560" cy="274320"/>
          </a:xfrm>
          <a:prstGeom prst="rect">
            <a:avLst/>
          </a:prstGeom>
          <a:noFill/>
          <a:ln/>
        </p:spPr>
        <p:txBody>
          <a:bodyPr wrap="square" lIns="0" tIns="0" rIns="0" bIns="0" rtlCol="0" anchor="ctr"/>
          <a:lstStyle/>
          <a:p>
            <a:pPr indent="0" marL="0">
              <a:buNone/>
            </a:pPr>
            <a:r>
              <a:rPr lang="en-US" sz="1150" i="1" dirty="0">
                <a:solidFill>
                  <a:srgbClr val="5F6B63"/>
                </a:solidFill>
                <a:latin typeface="Calibri" pitchFamily="34" charset="0"/>
                <a:ea typeface="Calibri" pitchFamily="34" charset="-122"/>
                <a:cs typeface="Calibri" pitchFamily="34" charset="-120"/>
              </a:rPr>
              <a:t>12 growers, 3 commission agents, 2 cold storage operators</a:t>
            </a:r>
            <a:endParaRPr lang="en-US" sz="1150" dirty="0"/>
          </a:p>
        </p:txBody>
      </p:sp>
      <p:sp>
        <p:nvSpPr>
          <p:cNvPr id="11" name="Shape 9"/>
          <p:cNvSpPr/>
          <p:nvPr/>
        </p:nvSpPr>
        <p:spPr>
          <a:xfrm>
            <a:off x="6766560" y="2807208"/>
            <a:ext cx="310896" cy="310896"/>
          </a:xfrm>
          <a:prstGeom prst="ellipse">
            <a:avLst/>
          </a:prstGeom>
          <a:solidFill>
            <a:srgbClr val="2E7D5B"/>
          </a:solidFill>
          <a:ln/>
        </p:spPr>
      </p:sp>
      <p:sp>
        <p:nvSpPr>
          <p:cNvPr id="12" name="Text 10"/>
          <p:cNvSpPr/>
          <p:nvPr/>
        </p:nvSpPr>
        <p:spPr>
          <a:xfrm>
            <a:off x="6766560" y="2807208"/>
            <a:ext cx="310896"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13" name="Text 11"/>
          <p:cNvSpPr/>
          <p:nvPr/>
        </p:nvSpPr>
        <p:spPr>
          <a:xfrm>
            <a:off x="7187184" y="2788920"/>
            <a:ext cx="4023360" cy="457200"/>
          </a:xfrm>
          <a:prstGeom prst="rect">
            <a:avLst/>
          </a:prstGeom>
          <a:noFill/>
          <a:ln/>
        </p:spPr>
        <p:txBody>
          <a:bodyPr wrap="square" lIns="0" tIns="0" rIns="0" bIns="0" rtlCol="0" anchor="t"/>
          <a:lstStyle/>
          <a:p>
            <a:pPr indent="0" marL="0">
              <a:lnSpc>
                <a:spcPts val="1400"/>
              </a:lnSpc>
              <a:buNone/>
            </a:pPr>
            <a:r>
              <a:rPr lang="en-US" sz="1150" b="1" dirty="0">
                <a:solidFill>
                  <a:srgbClr val="1A1A1A"/>
                </a:solidFill>
                <a:latin typeface="Calibri" pitchFamily="34" charset="0"/>
                <a:ea typeface="Calibri" pitchFamily="34" charset="-122"/>
                <a:cs typeface="Calibri" pitchFamily="34" charset="-120"/>
              </a:rPr>
              <a:t>How many days can you hold your crop after picking?</a:t>
            </a:r>
            <a:endParaRPr lang="en-US" sz="1150" dirty="0"/>
          </a:p>
        </p:txBody>
      </p:sp>
      <p:sp>
        <p:nvSpPr>
          <p:cNvPr id="14" name="Text 12"/>
          <p:cNvSpPr/>
          <p:nvPr/>
        </p:nvSpPr>
        <p:spPr>
          <a:xfrm>
            <a:off x="7187184" y="3264408"/>
            <a:ext cx="4023360" cy="274320"/>
          </a:xfrm>
          <a:prstGeom prst="rect">
            <a:avLst/>
          </a:prstGeom>
          <a:noFill/>
          <a:ln/>
        </p:spPr>
        <p:txBody>
          <a:bodyPr wrap="square" lIns="0" tIns="0" rIns="0" bIns="0" rtlCol="0" anchor="t"/>
          <a:lstStyle/>
          <a:p>
            <a:pPr indent="0" marL="0">
              <a:buNone/>
            </a:pPr>
            <a:r>
              <a:rPr lang="en-US" sz="1150" i="1" dirty="0">
                <a:solidFill>
                  <a:srgbClr val="E4572E"/>
                </a:solidFill>
                <a:latin typeface="Calibri" pitchFamily="34" charset="0"/>
                <a:ea typeface="Calibri" pitchFamily="34" charset="-122"/>
                <a:cs typeface="Calibri" pitchFamily="34" charset="-120"/>
              </a:rPr>
              <a:t>[your finding]</a:t>
            </a:r>
            <a:endParaRPr lang="en-US" sz="1150" dirty="0"/>
          </a:p>
        </p:txBody>
      </p:sp>
      <p:sp>
        <p:nvSpPr>
          <p:cNvPr id="15" name="Shape 13"/>
          <p:cNvSpPr/>
          <p:nvPr/>
        </p:nvSpPr>
        <p:spPr>
          <a:xfrm>
            <a:off x="6766560" y="3739896"/>
            <a:ext cx="310896" cy="310896"/>
          </a:xfrm>
          <a:prstGeom prst="ellipse">
            <a:avLst/>
          </a:prstGeom>
          <a:solidFill>
            <a:srgbClr val="2E7D5B"/>
          </a:solidFill>
          <a:ln/>
        </p:spPr>
      </p:sp>
      <p:sp>
        <p:nvSpPr>
          <p:cNvPr id="16" name="Text 14"/>
          <p:cNvSpPr/>
          <p:nvPr/>
        </p:nvSpPr>
        <p:spPr>
          <a:xfrm>
            <a:off x="6766560" y="3739896"/>
            <a:ext cx="310896"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17" name="Text 15"/>
          <p:cNvSpPr/>
          <p:nvPr/>
        </p:nvSpPr>
        <p:spPr>
          <a:xfrm>
            <a:off x="7187184" y="3721608"/>
            <a:ext cx="4023360" cy="457200"/>
          </a:xfrm>
          <a:prstGeom prst="rect">
            <a:avLst/>
          </a:prstGeom>
          <a:noFill/>
          <a:ln/>
        </p:spPr>
        <p:txBody>
          <a:bodyPr wrap="square" lIns="0" tIns="0" rIns="0" bIns="0" rtlCol="0" anchor="t"/>
          <a:lstStyle/>
          <a:p>
            <a:pPr indent="0" marL="0">
              <a:lnSpc>
                <a:spcPts val="1400"/>
              </a:lnSpc>
              <a:buNone/>
            </a:pPr>
            <a:r>
              <a:rPr lang="en-US" sz="1150" b="1" dirty="0">
                <a:solidFill>
                  <a:srgbClr val="1A1A1A"/>
                </a:solidFill>
                <a:latin typeface="Calibri" pitchFamily="34" charset="0"/>
                <a:ea typeface="Calibri" pitchFamily="34" charset="-122"/>
                <a:cs typeface="Calibri" pitchFamily="34" charset="-120"/>
              </a:rPr>
              <a:t>Would you pay PKR 12 per crate per day to wait ten days?</a:t>
            </a:r>
            <a:endParaRPr lang="en-US" sz="1150" dirty="0"/>
          </a:p>
        </p:txBody>
      </p:sp>
      <p:sp>
        <p:nvSpPr>
          <p:cNvPr id="18" name="Text 16"/>
          <p:cNvSpPr/>
          <p:nvPr/>
        </p:nvSpPr>
        <p:spPr>
          <a:xfrm>
            <a:off x="7187184" y="4197096"/>
            <a:ext cx="4023360" cy="274320"/>
          </a:xfrm>
          <a:prstGeom prst="rect">
            <a:avLst/>
          </a:prstGeom>
          <a:noFill/>
          <a:ln/>
        </p:spPr>
        <p:txBody>
          <a:bodyPr wrap="square" lIns="0" tIns="0" rIns="0" bIns="0" rtlCol="0" anchor="t"/>
          <a:lstStyle/>
          <a:p>
            <a:pPr indent="0" marL="0">
              <a:buNone/>
            </a:pPr>
            <a:r>
              <a:rPr lang="en-US" sz="1150" i="1" dirty="0">
                <a:solidFill>
                  <a:srgbClr val="E4572E"/>
                </a:solidFill>
                <a:latin typeface="Calibri" pitchFamily="34" charset="0"/>
                <a:ea typeface="Calibri" pitchFamily="34" charset="-122"/>
                <a:cs typeface="Calibri" pitchFamily="34" charset="-120"/>
              </a:rPr>
              <a:t>[your finding]</a:t>
            </a:r>
            <a:endParaRPr lang="en-US" sz="1150" dirty="0"/>
          </a:p>
        </p:txBody>
      </p:sp>
      <p:sp>
        <p:nvSpPr>
          <p:cNvPr id="19" name="Shape 17"/>
          <p:cNvSpPr/>
          <p:nvPr/>
        </p:nvSpPr>
        <p:spPr>
          <a:xfrm>
            <a:off x="6766560" y="4672584"/>
            <a:ext cx="310896" cy="310896"/>
          </a:xfrm>
          <a:prstGeom prst="ellipse">
            <a:avLst/>
          </a:prstGeom>
          <a:solidFill>
            <a:srgbClr val="2E7D5B"/>
          </a:solidFill>
          <a:ln/>
        </p:spPr>
      </p:sp>
      <p:sp>
        <p:nvSpPr>
          <p:cNvPr id="20" name="Text 18"/>
          <p:cNvSpPr/>
          <p:nvPr/>
        </p:nvSpPr>
        <p:spPr>
          <a:xfrm>
            <a:off x="6766560" y="4672584"/>
            <a:ext cx="310896"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21" name="Text 19"/>
          <p:cNvSpPr/>
          <p:nvPr/>
        </p:nvSpPr>
        <p:spPr>
          <a:xfrm>
            <a:off x="7187184" y="4654296"/>
            <a:ext cx="4023360" cy="457200"/>
          </a:xfrm>
          <a:prstGeom prst="rect">
            <a:avLst/>
          </a:prstGeom>
          <a:noFill/>
          <a:ln/>
        </p:spPr>
        <p:txBody>
          <a:bodyPr wrap="square" lIns="0" tIns="0" rIns="0" bIns="0" rtlCol="0" anchor="t"/>
          <a:lstStyle/>
          <a:p>
            <a:pPr indent="0" marL="0">
              <a:lnSpc>
                <a:spcPts val="1400"/>
              </a:lnSpc>
              <a:buNone/>
            </a:pPr>
            <a:r>
              <a:rPr lang="en-US" sz="1150" b="1" dirty="0">
                <a:solidFill>
                  <a:srgbClr val="1A1A1A"/>
                </a:solidFill>
                <a:latin typeface="Calibri" pitchFamily="34" charset="0"/>
                <a:ea typeface="Calibri" pitchFamily="34" charset="-122"/>
                <a:cs typeface="Calibri" pitchFamily="34" charset="-120"/>
              </a:rPr>
              <a:t>How much of a load do you normally throw away or sell cheap?</a:t>
            </a:r>
            <a:endParaRPr lang="en-US" sz="1150" dirty="0"/>
          </a:p>
        </p:txBody>
      </p:sp>
      <p:sp>
        <p:nvSpPr>
          <p:cNvPr id="22" name="Text 20"/>
          <p:cNvSpPr/>
          <p:nvPr/>
        </p:nvSpPr>
        <p:spPr>
          <a:xfrm>
            <a:off x="7187184" y="5129784"/>
            <a:ext cx="4023360" cy="274320"/>
          </a:xfrm>
          <a:prstGeom prst="rect">
            <a:avLst/>
          </a:prstGeom>
          <a:noFill/>
          <a:ln/>
        </p:spPr>
        <p:txBody>
          <a:bodyPr wrap="square" lIns="0" tIns="0" rIns="0" bIns="0" rtlCol="0" anchor="t"/>
          <a:lstStyle/>
          <a:p>
            <a:pPr indent="0" marL="0">
              <a:buNone/>
            </a:pPr>
            <a:r>
              <a:rPr lang="en-US" sz="1150" i="1" dirty="0">
                <a:solidFill>
                  <a:srgbClr val="E4572E"/>
                </a:solidFill>
                <a:latin typeface="Calibri" pitchFamily="34" charset="0"/>
                <a:ea typeface="Calibri" pitchFamily="34" charset="-122"/>
                <a:cs typeface="Calibri" pitchFamily="34" charset="-120"/>
              </a:rPr>
              <a:t>[your finding]</a:t>
            </a:r>
            <a:endParaRPr lang="en-US" sz="1150" dirty="0"/>
          </a:p>
        </p:txBody>
      </p:sp>
      <p:sp>
        <p:nvSpPr>
          <p:cNvPr id="23" name="Text 21"/>
          <p:cNvSpPr/>
          <p:nvPr/>
        </p:nvSpPr>
        <p:spPr>
          <a:xfrm>
            <a:off x="6766560" y="5596128"/>
            <a:ext cx="4480560" cy="256032"/>
          </a:xfrm>
          <a:prstGeom prst="rect">
            <a:avLst/>
          </a:prstGeom>
          <a:noFill/>
          <a:ln/>
        </p:spPr>
        <p:txBody>
          <a:bodyPr wrap="square" lIns="0" tIns="0" rIns="0" bIns="0" rtlCol="0" anchor="t"/>
          <a:lstStyle/>
          <a:p>
            <a:pPr indent="0" marL="0">
              <a:buNone/>
            </a:pPr>
            <a:r>
              <a:rPr lang="en-US" sz="1050" dirty="0">
                <a:solidFill>
                  <a:srgbClr val="5F6B63"/>
                </a:solidFill>
                <a:latin typeface="Calibri" pitchFamily="34" charset="0"/>
                <a:ea typeface="Calibri" pitchFamily="34" charset="-122"/>
                <a:cs typeface="Calibri" pitchFamily="34" charset="-120"/>
              </a:rPr>
              <a:t>Full questionnaire is in the appendix pack.</a:t>
            </a:r>
            <a:endParaRPr lang="en-US" sz="1050" dirty="0"/>
          </a:p>
        </p:txBody>
      </p:sp>
      <p:sp>
        <p:nvSpPr>
          <p:cNvPr id="24" name="Text 22"/>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5F6B63"/>
                </a:solidFill>
                <a:latin typeface="Calibri" pitchFamily="34" charset="0"/>
                <a:ea typeface="Calibri" pitchFamily="34" charset="-122"/>
                <a:cs typeface="Calibri" pitchFamily="34" charset="-120"/>
              </a:rPr>
              <a:t>Replace the three placeholders with your own interview findings before you present.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392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9BC4A8"/>
                </a:solidFill>
                <a:latin typeface="Calibri" pitchFamily="34" charset="0"/>
                <a:ea typeface="Calibri" pitchFamily="34" charset="-122"/>
                <a:cs typeface="Calibri" pitchFamily="34" charset="-120"/>
              </a:rPr>
              <a:t>05  THE SOLUTION</a:t>
            </a:r>
            <a:endParaRPr lang="en-US" sz="1200" dirty="0"/>
          </a:p>
        </p:txBody>
      </p:sp>
      <p:sp>
        <p:nvSpPr>
          <p:cNvPr id="3" name="Text 1"/>
          <p:cNvSpPr/>
          <p:nvPr/>
        </p:nvSpPr>
        <p:spPr>
          <a:xfrm>
            <a:off x="640080" y="731520"/>
            <a:ext cx="10881360" cy="65836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Thanda Godam</a:t>
            </a:r>
            <a:endParaRPr lang="en-US" sz="3400" dirty="0"/>
          </a:p>
        </p:txBody>
      </p:sp>
      <p:sp>
        <p:nvSpPr>
          <p:cNvPr id="4" name="Text 2"/>
          <p:cNvSpPr/>
          <p:nvPr/>
        </p:nvSpPr>
        <p:spPr>
          <a:xfrm>
            <a:off x="640080" y="1371600"/>
            <a:ext cx="10881360" cy="320040"/>
          </a:xfrm>
          <a:prstGeom prst="rect">
            <a:avLst/>
          </a:prstGeom>
          <a:noFill/>
          <a:ln/>
        </p:spPr>
        <p:txBody>
          <a:bodyPr wrap="square" lIns="0" tIns="0" rIns="0" bIns="0" rtlCol="0" anchor="ctr"/>
          <a:lstStyle/>
          <a:p>
            <a:pPr indent="0" marL="0">
              <a:buNone/>
            </a:pPr>
            <a:r>
              <a:rPr lang="en-US" sz="1500" dirty="0">
                <a:solidFill>
                  <a:srgbClr val="BFD8C7"/>
                </a:solidFill>
                <a:latin typeface="Calibri" pitchFamily="34" charset="0"/>
                <a:ea typeface="Calibri" pitchFamily="34" charset="-122"/>
                <a:cs typeface="Calibri" pitchFamily="34" charset="-120"/>
              </a:rPr>
              <a:t>A 5 tonne solar powered cold room, placed inside the village, rented by the crate by the day.</a:t>
            </a:r>
            <a:endParaRPr lang="en-US" sz="1500" dirty="0"/>
          </a:p>
        </p:txBody>
      </p:sp>
      <p:sp>
        <p:nvSpPr>
          <p:cNvPr id="5" name="Shape 3"/>
          <p:cNvSpPr/>
          <p:nvPr/>
        </p:nvSpPr>
        <p:spPr>
          <a:xfrm>
            <a:off x="640080" y="2103120"/>
            <a:ext cx="3520440" cy="2286000"/>
          </a:xfrm>
          <a:prstGeom prst="roundRect">
            <a:avLst>
              <a:gd name="adj" fmla="val 3200"/>
            </a:avLst>
          </a:prstGeom>
          <a:solidFill>
            <a:srgbClr val="1D4C37"/>
          </a:solidFill>
          <a:ln/>
        </p:spPr>
      </p:sp>
      <p:sp>
        <p:nvSpPr>
          <p:cNvPr id="6" name="Shape 4"/>
          <p:cNvSpPr/>
          <p:nvPr/>
        </p:nvSpPr>
        <p:spPr>
          <a:xfrm>
            <a:off x="932688" y="2331720"/>
            <a:ext cx="457200" cy="457200"/>
          </a:xfrm>
          <a:prstGeom prst="ellipse">
            <a:avLst/>
          </a:prstGeom>
          <a:solidFill>
            <a:srgbClr val="E4572E"/>
          </a:solidFill>
          <a:ln/>
        </p:spPr>
      </p:sp>
      <p:sp>
        <p:nvSpPr>
          <p:cNvPr id="7" name="Text 5"/>
          <p:cNvSpPr/>
          <p:nvPr/>
        </p:nvSpPr>
        <p:spPr>
          <a:xfrm>
            <a:off x="932688" y="2331720"/>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8" name="Text 6"/>
          <p:cNvSpPr/>
          <p:nvPr/>
        </p:nvSpPr>
        <p:spPr>
          <a:xfrm>
            <a:off x="932688" y="2907792"/>
            <a:ext cx="2926080" cy="3840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Close</a:t>
            </a:r>
            <a:endParaRPr lang="en-US" sz="2100" dirty="0"/>
          </a:p>
        </p:txBody>
      </p:sp>
      <p:sp>
        <p:nvSpPr>
          <p:cNvPr id="9" name="Text 7"/>
          <p:cNvSpPr/>
          <p:nvPr/>
        </p:nvSpPr>
        <p:spPr>
          <a:xfrm>
            <a:off x="932688" y="3346704"/>
            <a:ext cx="2971800" cy="914400"/>
          </a:xfrm>
          <a:prstGeom prst="rect">
            <a:avLst/>
          </a:prstGeom>
          <a:noFill/>
          <a:ln/>
        </p:spPr>
        <p:txBody>
          <a:bodyPr wrap="square" lIns="0" tIns="0" rIns="0" bIns="0" rtlCol="0" anchor="t"/>
          <a:lstStyle/>
          <a:p>
            <a:pPr indent="0" marL="0">
              <a:lnSpc>
                <a:spcPts val="1700"/>
              </a:lnSpc>
              <a:buNone/>
            </a:pPr>
            <a:r>
              <a:rPr lang="en-US" sz="1250" dirty="0">
                <a:solidFill>
                  <a:srgbClr val="BFD8C7"/>
                </a:solidFill>
                <a:latin typeface="Calibri" pitchFamily="34" charset="0"/>
                <a:ea typeface="Calibri" pitchFamily="34" charset="-122"/>
                <a:cs typeface="Calibri" pitchFamily="34" charset="-120"/>
              </a:rPr>
              <a:t>Within 15 minutes of the field, so the crop goes in cold the same morning it is picked.</a:t>
            </a:r>
            <a:endParaRPr lang="en-US" sz="1250" dirty="0"/>
          </a:p>
        </p:txBody>
      </p:sp>
      <p:sp>
        <p:nvSpPr>
          <p:cNvPr id="10" name="Shape 8"/>
          <p:cNvSpPr/>
          <p:nvPr/>
        </p:nvSpPr>
        <p:spPr>
          <a:xfrm>
            <a:off x="4315968" y="2103120"/>
            <a:ext cx="3520440" cy="2286000"/>
          </a:xfrm>
          <a:prstGeom prst="roundRect">
            <a:avLst>
              <a:gd name="adj" fmla="val 3200"/>
            </a:avLst>
          </a:prstGeom>
          <a:solidFill>
            <a:srgbClr val="1D4C37"/>
          </a:solidFill>
          <a:ln/>
        </p:spPr>
      </p:sp>
      <p:sp>
        <p:nvSpPr>
          <p:cNvPr id="11" name="Shape 9"/>
          <p:cNvSpPr/>
          <p:nvPr/>
        </p:nvSpPr>
        <p:spPr>
          <a:xfrm>
            <a:off x="4608576" y="2331720"/>
            <a:ext cx="457200" cy="457200"/>
          </a:xfrm>
          <a:prstGeom prst="ellipse">
            <a:avLst/>
          </a:prstGeom>
          <a:solidFill>
            <a:srgbClr val="E4572E"/>
          </a:solidFill>
          <a:ln/>
        </p:spPr>
      </p:sp>
      <p:sp>
        <p:nvSpPr>
          <p:cNvPr id="12" name="Text 10"/>
          <p:cNvSpPr/>
          <p:nvPr/>
        </p:nvSpPr>
        <p:spPr>
          <a:xfrm>
            <a:off x="4608576" y="2331720"/>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3" name="Text 11"/>
          <p:cNvSpPr/>
          <p:nvPr/>
        </p:nvSpPr>
        <p:spPr>
          <a:xfrm>
            <a:off x="4608576" y="2907792"/>
            <a:ext cx="2926080" cy="3840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Small</a:t>
            </a:r>
            <a:endParaRPr lang="en-US" sz="2100" dirty="0"/>
          </a:p>
        </p:txBody>
      </p:sp>
      <p:sp>
        <p:nvSpPr>
          <p:cNvPr id="14" name="Text 12"/>
          <p:cNvSpPr/>
          <p:nvPr/>
        </p:nvSpPr>
        <p:spPr>
          <a:xfrm>
            <a:off x="4608576" y="3346704"/>
            <a:ext cx="2971800" cy="914400"/>
          </a:xfrm>
          <a:prstGeom prst="rect">
            <a:avLst/>
          </a:prstGeom>
          <a:noFill/>
          <a:ln/>
        </p:spPr>
        <p:txBody>
          <a:bodyPr wrap="square" lIns="0" tIns="0" rIns="0" bIns="0" rtlCol="0" anchor="t"/>
          <a:lstStyle/>
          <a:p>
            <a:pPr indent="0" marL="0">
              <a:lnSpc>
                <a:spcPts val="1700"/>
              </a:lnSpc>
              <a:buNone/>
            </a:pPr>
            <a:r>
              <a:rPr lang="en-US" sz="1250" dirty="0">
                <a:solidFill>
                  <a:srgbClr val="BFD8C7"/>
                </a:solidFill>
                <a:latin typeface="Calibri" pitchFamily="34" charset="0"/>
                <a:ea typeface="Calibri" pitchFamily="34" charset="-122"/>
                <a:cs typeface="Calibri" pitchFamily="34" charset="-120"/>
              </a:rPr>
              <a:t>Priced per 20 kg crate per day. No deposit, no season contract, no truckload minimum.</a:t>
            </a:r>
            <a:endParaRPr lang="en-US" sz="1250" dirty="0"/>
          </a:p>
        </p:txBody>
      </p:sp>
      <p:sp>
        <p:nvSpPr>
          <p:cNvPr id="15" name="Shape 13"/>
          <p:cNvSpPr/>
          <p:nvPr/>
        </p:nvSpPr>
        <p:spPr>
          <a:xfrm>
            <a:off x="7991856" y="2103120"/>
            <a:ext cx="3520440" cy="2286000"/>
          </a:xfrm>
          <a:prstGeom prst="roundRect">
            <a:avLst>
              <a:gd name="adj" fmla="val 3200"/>
            </a:avLst>
          </a:prstGeom>
          <a:solidFill>
            <a:srgbClr val="1D4C37"/>
          </a:solidFill>
          <a:ln/>
        </p:spPr>
      </p:sp>
      <p:sp>
        <p:nvSpPr>
          <p:cNvPr id="16" name="Shape 14"/>
          <p:cNvSpPr/>
          <p:nvPr/>
        </p:nvSpPr>
        <p:spPr>
          <a:xfrm>
            <a:off x="8284464" y="2331720"/>
            <a:ext cx="457200" cy="457200"/>
          </a:xfrm>
          <a:prstGeom prst="ellipse">
            <a:avLst/>
          </a:prstGeom>
          <a:solidFill>
            <a:srgbClr val="E4572E"/>
          </a:solidFill>
          <a:ln/>
        </p:spPr>
      </p:sp>
      <p:sp>
        <p:nvSpPr>
          <p:cNvPr id="17" name="Text 15"/>
          <p:cNvSpPr/>
          <p:nvPr/>
        </p:nvSpPr>
        <p:spPr>
          <a:xfrm>
            <a:off x="8284464" y="2331720"/>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8" name="Text 16"/>
          <p:cNvSpPr/>
          <p:nvPr/>
        </p:nvSpPr>
        <p:spPr>
          <a:xfrm>
            <a:off x="8284464" y="2907792"/>
            <a:ext cx="2926080" cy="3840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Independent</a:t>
            </a:r>
            <a:endParaRPr lang="en-US" sz="2100" dirty="0"/>
          </a:p>
        </p:txBody>
      </p:sp>
      <p:sp>
        <p:nvSpPr>
          <p:cNvPr id="19" name="Text 17"/>
          <p:cNvSpPr/>
          <p:nvPr/>
        </p:nvSpPr>
        <p:spPr>
          <a:xfrm>
            <a:off x="8284464" y="3346704"/>
            <a:ext cx="2971800" cy="914400"/>
          </a:xfrm>
          <a:prstGeom prst="rect">
            <a:avLst/>
          </a:prstGeom>
          <a:noFill/>
          <a:ln/>
        </p:spPr>
        <p:txBody>
          <a:bodyPr wrap="square" lIns="0" tIns="0" rIns="0" bIns="0" rtlCol="0" anchor="t"/>
          <a:lstStyle/>
          <a:p>
            <a:pPr indent="0" marL="0">
              <a:lnSpc>
                <a:spcPts val="1700"/>
              </a:lnSpc>
              <a:buNone/>
            </a:pPr>
            <a:r>
              <a:rPr lang="en-US" sz="1250" dirty="0">
                <a:solidFill>
                  <a:srgbClr val="BFD8C7"/>
                </a:solidFill>
                <a:latin typeface="Calibri" pitchFamily="34" charset="0"/>
                <a:ea typeface="Calibri" pitchFamily="34" charset="-122"/>
                <a:cs typeface="Calibri" pitchFamily="34" charset="-120"/>
              </a:rPr>
              <a:t>Runs on solar with battery backup, so load shedding does not spoil what is inside.</a:t>
            </a:r>
            <a:endParaRPr lang="en-US" sz="1250" dirty="0"/>
          </a:p>
        </p:txBody>
      </p:sp>
      <p:sp>
        <p:nvSpPr>
          <p:cNvPr id="20" name="Text 18"/>
          <p:cNvSpPr/>
          <p:nvPr/>
        </p:nvSpPr>
        <p:spPr>
          <a:xfrm>
            <a:off x="640080" y="4800600"/>
            <a:ext cx="10881360" cy="502920"/>
          </a:xfrm>
          <a:prstGeom prst="rect">
            <a:avLst/>
          </a:prstGeom>
          <a:noFill/>
          <a:ln/>
        </p:spPr>
        <p:txBody>
          <a:bodyPr wrap="square" lIns="0" tIns="0" rIns="0" bIns="0" rtlCol="0" anchor="t"/>
          <a:lstStyle/>
          <a:p>
            <a:pPr indent="0" marL="0">
              <a:buNone/>
            </a:pPr>
            <a:r>
              <a:rPr lang="en-US" sz="2700" dirty="0">
                <a:solidFill>
                  <a:srgbClr val="9BC4A8"/>
                </a:solidFill>
                <a:latin typeface="Cambria" pitchFamily="34" charset="0"/>
                <a:ea typeface="Cambria" pitchFamily="34" charset="-122"/>
                <a:cs typeface="Cambria" pitchFamily="34" charset="-120"/>
              </a:rPr>
              <a:t>We are not selling cold storage.</a:t>
            </a:r>
            <a:endParaRPr lang="en-US" sz="2700" dirty="0"/>
          </a:p>
        </p:txBody>
      </p:sp>
      <p:sp>
        <p:nvSpPr>
          <p:cNvPr id="21" name="Text 19"/>
          <p:cNvSpPr/>
          <p:nvPr/>
        </p:nvSpPr>
        <p:spPr>
          <a:xfrm>
            <a:off x="640080" y="5321808"/>
            <a:ext cx="10881360" cy="566928"/>
          </a:xfrm>
          <a:prstGeom prst="rect">
            <a:avLst/>
          </a:prstGeom>
          <a:noFill/>
          <a:ln/>
        </p:spPr>
        <p:txBody>
          <a:bodyPr wrap="square" lIns="0" tIns="0" rIns="0" bIns="0" rtlCol="0" anchor="t"/>
          <a:lstStyle/>
          <a:p>
            <a:pPr indent="0" marL="0">
              <a:buNone/>
            </a:pPr>
            <a:r>
              <a:rPr lang="en-US" sz="3200" b="1" dirty="0">
                <a:solidFill>
                  <a:srgbClr val="E4572E"/>
                </a:solidFill>
                <a:latin typeface="Cambria" pitchFamily="34" charset="0"/>
                <a:ea typeface="Cambria" pitchFamily="34" charset="-122"/>
                <a:cs typeface="Cambria" pitchFamily="34" charset="-120"/>
              </a:rPr>
              <a:t>We are selling the ability to wait.</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06  HOW IT WORKS</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Five steps, all of them already familiar.</a:t>
            </a:r>
            <a:endParaRPr lang="en-US" sz="3100" dirty="0"/>
          </a:p>
        </p:txBody>
      </p:sp>
      <p:sp>
        <p:nvSpPr>
          <p:cNvPr id="4" name="Shape 2"/>
          <p:cNvSpPr/>
          <p:nvPr/>
        </p:nvSpPr>
        <p:spPr>
          <a:xfrm>
            <a:off x="640080" y="1965960"/>
            <a:ext cx="2121408" cy="3200400"/>
          </a:xfrm>
          <a:prstGeom prst="roundRect">
            <a:avLst>
              <a:gd name="adj" fmla="val 3448"/>
            </a:avLst>
          </a:prstGeom>
          <a:solidFill>
            <a:srgbClr val="FFFFFF"/>
          </a:solidFill>
          <a:ln w="12700">
            <a:solidFill>
              <a:srgbClr val="D8E0DA"/>
            </a:solidFill>
            <a:prstDash val="solid"/>
          </a:ln>
        </p:spPr>
      </p:sp>
      <p:sp>
        <p:nvSpPr>
          <p:cNvPr id="5" name="Shape 3"/>
          <p:cNvSpPr/>
          <p:nvPr/>
        </p:nvSpPr>
        <p:spPr>
          <a:xfrm>
            <a:off x="859536" y="2212848"/>
            <a:ext cx="420624" cy="420624"/>
          </a:xfrm>
          <a:prstGeom prst="ellipse">
            <a:avLst/>
          </a:prstGeom>
          <a:solidFill>
            <a:srgbClr val="2E7D5B"/>
          </a:solidFill>
          <a:ln/>
        </p:spPr>
      </p:sp>
      <p:sp>
        <p:nvSpPr>
          <p:cNvPr id="6" name="Text 4"/>
          <p:cNvSpPr/>
          <p:nvPr/>
        </p:nvSpPr>
        <p:spPr>
          <a:xfrm>
            <a:off x="859536" y="2212848"/>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7" name="Text 5"/>
          <p:cNvSpPr/>
          <p:nvPr/>
        </p:nvSpPr>
        <p:spPr>
          <a:xfrm>
            <a:off x="859536" y="2761488"/>
            <a:ext cx="1682496" cy="566928"/>
          </a:xfrm>
          <a:prstGeom prst="rect">
            <a:avLst/>
          </a:prstGeom>
          <a:noFill/>
          <a:ln/>
        </p:spPr>
        <p:txBody>
          <a:bodyPr wrap="square" lIns="0" tIns="0" rIns="0" bIns="0" rtlCol="0" anchor="t"/>
          <a:lstStyle/>
          <a:p>
            <a:pPr indent="0" marL="0">
              <a:lnSpc>
                <a:spcPts val="1900"/>
              </a:lnSpc>
              <a:buNone/>
            </a:pPr>
            <a:r>
              <a:rPr lang="en-US" sz="1600" b="1" dirty="0">
                <a:solidFill>
                  <a:srgbClr val="1A1A1A"/>
                </a:solidFill>
                <a:latin typeface="Cambria" pitchFamily="34" charset="0"/>
                <a:ea typeface="Cambria" pitchFamily="34" charset="-122"/>
                <a:cs typeface="Cambria" pitchFamily="34" charset="-120"/>
              </a:rPr>
              <a:t>Bring</a:t>
            </a:r>
            <a:endParaRPr lang="en-US" sz="1600" dirty="0"/>
          </a:p>
        </p:txBody>
      </p:sp>
      <p:sp>
        <p:nvSpPr>
          <p:cNvPr id="8" name="Text 6"/>
          <p:cNvSpPr/>
          <p:nvPr/>
        </p:nvSpPr>
        <p:spPr>
          <a:xfrm>
            <a:off x="859536" y="3364992"/>
            <a:ext cx="1682496" cy="1600200"/>
          </a:xfrm>
          <a:prstGeom prst="rect">
            <a:avLst/>
          </a:prstGeom>
          <a:noFill/>
          <a:ln/>
        </p:spPr>
        <p:txBody>
          <a:bodyPr wrap="square" lIns="0" tIns="0" rIns="0" bIns="0" rtlCol="0" anchor="t"/>
          <a:lstStyle/>
          <a:p>
            <a:pPr indent="0" marL="0">
              <a:lnSpc>
                <a:spcPts val="1500"/>
              </a:lnSpc>
              <a:buNone/>
            </a:pPr>
            <a:r>
              <a:rPr lang="en-US" sz="1100" dirty="0">
                <a:solidFill>
                  <a:srgbClr val="5F6B63"/>
                </a:solidFill>
                <a:latin typeface="Calibri" pitchFamily="34" charset="0"/>
                <a:ea typeface="Calibri" pitchFamily="34" charset="-122"/>
                <a:cs typeface="Calibri" pitchFamily="34" charset="-120"/>
              </a:rPr>
              <a:t>He brings crates the same day he picks. Weighed, tagged and photographed at the gate. He keeps a printed receipt.</a:t>
            </a:r>
            <a:endParaRPr lang="en-US" sz="1100" dirty="0"/>
          </a:p>
        </p:txBody>
      </p:sp>
      <p:sp>
        <p:nvSpPr>
          <p:cNvPr id="9" name="Shape 7"/>
          <p:cNvSpPr/>
          <p:nvPr/>
        </p:nvSpPr>
        <p:spPr>
          <a:xfrm>
            <a:off x="2898648" y="1965960"/>
            <a:ext cx="2121408" cy="3200400"/>
          </a:xfrm>
          <a:prstGeom prst="roundRect">
            <a:avLst>
              <a:gd name="adj" fmla="val 3448"/>
            </a:avLst>
          </a:prstGeom>
          <a:solidFill>
            <a:srgbClr val="FFFFFF"/>
          </a:solidFill>
          <a:ln w="12700">
            <a:solidFill>
              <a:srgbClr val="D8E0DA"/>
            </a:solidFill>
            <a:prstDash val="solid"/>
          </a:ln>
        </p:spPr>
      </p:sp>
      <p:sp>
        <p:nvSpPr>
          <p:cNvPr id="10" name="Shape 8"/>
          <p:cNvSpPr/>
          <p:nvPr/>
        </p:nvSpPr>
        <p:spPr>
          <a:xfrm>
            <a:off x="3118104" y="2212848"/>
            <a:ext cx="420624" cy="420624"/>
          </a:xfrm>
          <a:prstGeom prst="ellipse">
            <a:avLst/>
          </a:prstGeom>
          <a:solidFill>
            <a:srgbClr val="2E7D5B"/>
          </a:solidFill>
          <a:ln/>
        </p:spPr>
      </p:sp>
      <p:sp>
        <p:nvSpPr>
          <p:cNvPr id="11" name="Text 9"/>
          <p:cNvSpPr/>
          <p:nvPr/>
        </p:nvSpPr>
        <p:spPr>
          <a:xfrm>
            <a:off x="3118104" y="2212848"/>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2" name="Text 10"/>
          <p:cNvSpPr/>
          <p:nvPr/>
        </p:nvSpPr>
        <p:spPr>
          <a:xfrm>
            <a:off x="3118104" y="2761488"/>
            <a:ext cx="1682496" cy="566928"/>
          </a:xfrm>
          <a:prstGeom prst="rect">
            <a:avLst/>
          </a:prstGeom>
          <a:noFill/>
          <a:ln/>
        </p:spPr>
        <p:txBody>
          <a:bodyPr wrap="square" lIns="0" tIns="0" rIns="0" bIns="0" rtlCol="0" anchor="t"/>
          <a:lstStyle/>
          <a:p>
            <a:pPr indent="0" marL="0">
              <a:lnSpc>
                <a:spcPts val="1900"/>
              </a:lnSpc>
              <a:buNone/>
            </a:pPr>
            <a:r>
              <a:rPr lang="en-US" sz="1600" b="1" dirty="0">
                <a:solidFill>
                  <a:srgbClr val="1A1A1A"/>
                </a:solidFill>
                <a:latin typeface="Cambria" pitchFamily="34" charset="0"/>
                <a:ea typeface="Cambria" pitchFamily="34" charset="-122"/>
                <a:cs typeface="Cambria" pitchFamily="34" charset="-120"/>
              </a:rPr>
              <a:t>Pay</a:t>
            </a:r>
            <a:endParaRPr lang="en-US" sz="1600" dirty="0"/>
          </a:p>
        </p:txBody>
      </p:sp>
      <p:sp>
        <p:nvSpPr>
          <p:cNvPr id="13" name="Text 11"/>
          <p:cNvSpPr/>
          <p:nvPr/>
        </p:nvSpPr>
        <p:spPr>
          <a:xfrm>
            <a:off x="3118104" y="3364992"/>
            <a:ext cx="1682496" cy="1600200"/>
          </a:xfrm>
          <a:prstGeom prst="rect">
            <a:avLst/>
          </a:prstGeom>
          <a:noFill/>
          <a:ln/>
        </p:spPr>
        <p:txBody>
          <a:bodyPr wrap="square" lIns="0" tIns="0" rIns="0" bIns="0" rtlCol="0" anchor="t"/>
          <a:lstStyle/>
          <a:p>
            <a:pPr indent="0" marL="0">
              <a:lnSpc>
                <a:spcPts val="1500"/>
              </a:lnSpc>
              <a:buNone/>
            </a:pPr>
            <a:r>
              <a:rPr lang="en-US" sz="1100" dirty="0">
                <a:solidFill>
                  <a:srgbClr val="5F6B63"/>
                </a:solidFill>
                <a:latin typeface="Calibri" pitchFamily="34" charset="0"/>
                <a:ea typeface="Calibri" pitchFamily="34" charset="-122"/>
                <a:cs typeface="Calibri" pitchFamily="34" charset="-120"/>
              </a:rPr>
              <a:t>PKR 12 per 20 kg crate per day, in cash or on easypaisa. He pays for the days he uses and nothing else.</a:t>
            </a:r>
            <a:endParaRPr lang="en-US" sz="1100" dirty="0"/>
          </a:p>
        </p:txBody>
      </p:sp>
      <p:sp>
        <p:nvSpPr>
          <p:cNvPr id="14" name="Shape 12"/>
          <p:cNvSpPr/>
          <p:nvPr/>
        </p:nvSpPr>
        <p:spPr>
          <a:xfrm>
            <a:off x="5157216" y="1965960"/>
            <a:ext cx="2121408" cy="3200400"/>
          </a:xfrm>
          <a:prstGeom prst="roundRect">
            <a:avLst>
              <a:gd name="adj" fmla="val 3448"/>
            </a:avLst>
          </a:prstGeom>
          <a:solidFill>
            <a:srgbClr val="FFFFFF"/>
          </a:solidFill>
          <a:ln w="12700">
            <a:solidFill>
              <a:srgbClr val="D8E0DA"/>
            </a:solidFill>
            <a:prstDash val="solid"/>
          </a:ln>
        </p:spPr>
      </p:sp>
      <p:sp>
        <p:nvSpPr>
          <p:cNvPr id="15" name="Shape 13"/>
          <p:cNvSpPr/>
          <p:nvPr/>
        </p:nvSpPr>
        <p:spPr>
          <a:xfrm>
            <a:off x="5376672" y="2212848"/>
            <a:ext cx="420624" cy="420624"/>
          </a:xfrm>
          <a:prstGeom prst="ellipse">
            <a:avLst/>
          </a:prstGeom>
          <a:solidFill>
            <a:srgbClr val="2E7D5B"/>
          </a:solidFill>
          <a:ln/>
        </p:spPr>
      </p:sp>
      <p:sp>
        <p:nvSpPr>
          <p:cNvPr id="16" name="Text 14"/>
          <p:cNvSpPr/>
          <p:nvPr/>
        </p:nvSpPr>
        <p:spPr>
          <a:xfrm>
            <a:off x="5376672" y="2212848"/>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7" name="Text 15"/>
          <p:cNvSpPr/>
          <p:nvPr/>
        </p:nvSpPr>
        <p:spPr>
          <a:xfrm>
            <a:off x="5376672" y="2761488"/>
            <a:ext cx="1682496" cy="566928"/>
          </a:xfrm>
          <a:prstGeom prst="rect">
            <a:avLst/>
          </a:prstGeom>
          <a:noFill/>
          <a:ln/>
        </p:spPr>
        <p:txBody>
          <a:bodyPr wrap="square" lIns="0" tIns="0" rIns="0" bIns="0" rtlCol="0" anchor="t"/>
          <a:lstStyle/>
          <a:p>
            <a:pPr indent="0" marL="0">
              <a:lnSpc>
                <a:spcPts val="1900"/>
              </a:lnSpc>
              <a:buNone/>
            </a:pPr>
            <a:r>
              <a:rPr lang="en-US" sz="1600" b="1" dirty="0">
                <a:solidFill>
                  <a:srgbClr val="1A1A1A"/>
                </a:solidFill>
                <a:latin typeface="Cambria" pitchFamily="34" charset="0"/>
                <a:ea typeface="Cambria" pitchFamily="34" charset="-122"/>
                <a:cs typeface="Cambria" pitchFamily="34" charset="-120"/>
              </a:rPr>
              <a:t>Store</a:t>
            </a:r>
            <a:endParaRPr lang="en-US" sz="1600" dirty="0"/>
          </a:p>
        </p:txBody>
      </p:sp>
      <p:sp>
        <p:nvSpPr>
          <p:cNvPr id="18" name="Text 16"/>
          <p:cNvSpPr/>
          <p:nvPr/>
        </p:nvSpPr>
        <p:spPr>
          <a:xfrm>
            <a:off x="5376672" y="3364992"/>
            <a:ext cx="1682496" cy="1600200"/>
          </a:xfrm>
          <a:prstGeom prst="rect">
            <a:avLst/>
          </a:prstGeom>
          <a:noFill/>
          <a:ln/>
        </p:spPr>
        <p:txBody>
          <a:bodyPr wrap="square" lIns="0" tIns="0" rIns="0" bIns="0" rtlCol="0" anchor="t"/>
          <a:lstStyle/>
          <a:p>
            <a:pPr indent="0" marL="0">
              <a:lnSpc>
                <a:spcPts val="1500"/>
              </a:lnSpc>
              <a:buNone/>
            </a:pPr>
            <a:r>
              <a:rPr lang="en-US" sz="1100" dirty="0">
                <a:solidFill>
                  <a:srgbClr val="5F6B63"/>
                </a:solidFill>
                <a:latin typeface="Calibri" pitchFamily="34" charset="0"/>
                <a:ea typeface="Calibri" pitchFamily="34" charset="-122"/>
                <a:cs typeface="Calibri" pitchFamily="34" charset="-120"/>
              </a:rPr>
              <a:t>Held at the right temperature and humidity for that crop. Tomato, onion, potato, chili and leafy greens each have their own setting.</a:t>
            </a:r>
            <a:endParaRPr lang="en-US" sz="1100" dirty="0"/>
          </a:p>
        </p:txBody>
      </p:sp>
      <p:sp>
        <p:nvSpPr>
          <p:cNvPr id="19" name="Shape 17"/>
          <p:cNvSpPr/>
          <p:nvPr/>
        </p:nvSpPr>
        <p:spPr>
          <a:xfrm>
            <a:off x="7415784" y="1965960"/>
            <a:ext cx="2121408" cy="3200400"/>
          </a:xfrm>
          <a:prstGeom prst="roundRect">
            <a:avLst>
              <a:gd name="adj" fmla="val 3448"/>
            </a:avLst>
          </a:prstGeom>
          <a:solidFill>
            <a:srgbClr val="FFFFFF"/>
          </a:solidFill>
          <a:ln w="12700">
            <a:solidFill>
              <a:srgbClr val="D8E0DA"/>
            </a:solidFill>
            <a:prstDash val="solid"/>
          </a:ln>
        </p:spPr>
      </p:sp>
      <p:sp>
        <p:nvSpPr>
          <p:cNvPr id="20" name="Shape 18"/>
          <p:cNvSpPr/>
          <p:nvPr/>
        </p:nvSpPr>
        <p:spPr>
          <a:xfrm>
            <a:off x="7635240" y="2212848"/>
            <a:ext cx="420624" cy="420624"/>
          </a:xfrm>
          <a:prstGeom prst="ellipse">
            <a:avLst/>
          </a:prstGeom>
          <a:solidFill>
            <a:srgbClr val="2E7D5B"/>
          </a:solidFill>
          <a:ln/>
        </p:spPr>
      </p:sp>
      <p:sp>
        <p:nvSpPr>
          <p:cNvPr id="21" name="Text 19"/>
          <p:cNvSpPr/>
          <p:nvPr/>
        </p:nvSpPr>
        <p:spPr>
          <a:xfrm>
            <a:off x="7635240" y="2212848"/>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2" name="Text 20"/>
          <p:cNvSpPr/>
          <p:nvPr/>
        </p:nvSpPr>
        <p:spPr>
          <a:xfrm>
            <a:off x="7635240" y="2761488"/>
            <a:ext cx="1682496" cy="566928"/>
          </a:xfrm>
          <a:prstGeom prst="rect">
            <a:avLst/>
          </a:prstGeom>
          <a:noFill/>
          <a:ln/>
        </p:spPr>
        <p:txBody>
          <a:bodyPr wrap="square" lIns="0" tIns="0" rIns="0" bIns="0" rtlCol="0" anchor="t"/>
          <a:lstStyle/>
          <a:p>
            <a:pPr indent="0" marL="0">
              <a:lnSpc>
                <a:spcPts val="1900"/>
              </a:lnSpc>
              <a:buNone/>
            </a:pPr>
            <a:r>
              <a:rPr lang="en-US" sz="1600" b="1" dirty="0">
                <a:solidFill>
                  <a:srgbClr val="1A1A1A"/>
                </a:solidFill>
                <a:latin typeface="Cambria" pitchFamily="34" charset="0"/>
                <a:ea typeface="Cambria" pitchFamily="34" charset="-122"/>
                <a:cs typeface="Cambria" pitchFamily="34" charset="-120"/>
              </a:rPr>
              <a:t>Choose</a:t>
            </a:r>
            <a:endParaRPr lang="en-US" sz="1600" dirty="0"/>
          </a:p>
        </p:txBody>
      </p:sp>
      <p:sp>
        <p:nvSpPr>
          <p:cNvPr id="23" name="Text 21"/>
          <p:cNvSpPr/>
          <p:nvPr/>
        </p:nvSpPr>
        <p:spPr>
          <a:xfrm>
            <a:off x="7635240" y="3364992"/>
            <a:ext cx="1682496" cy="1600200"/>
          </a:xfrm>
          <a:prstGeom prst="rect">
            <a:avLst/>
          </a:prstGeom>
          <a:noFill/>
          <a:ln/>
        </p:spPr>
        <p:txBody>
          <a:bodyPr wrap="square" lIns="0" tIns="0" rIns="0" bIns="0" rtlCol="0" anchor="t"/>
          <a:lstStyle/>
          <a:p>
            <a:pPr indent="0" marL="0">
              <a:lnSpc>
                <a:spcPts val="1500"/>
              </a:lnSpc>
              <a:buNone/>
            </a:pPr>
            <a:r>
              <a:rPr lang="en-US" sz="1100" dirty="0">
                <a:solidFill>
                  <a:srgbClr val="5F6B63"/>
                </a:solidFill>
                <a:latin typeface="Calibri" pitchFamily="34" charset="0"/>
                <a:ea typeface="Calibri" pitchFamily="34" charset="-122"/>
                <a:cs typeface="Calibri" pitchFamily="34" charset="-120"/>
              </a:rPr>
              <a:t>He takes his crates out whenever he wants and sells them himself at the mandi. Nothing is locked in.</a:t>
            </a:r>
            <a:endParaRPr lang="en-US" sz="1100" dirty="0"/>
          </a:p>
        </p:txBody>
      </p:sp>
      <p:sp>
        <p:nvSpPr>
          <p:cNvPr id="24" name="Shape 22"/>
          <p:cNvSpPr/>
          <p:nvPr/>
        </p:nvSpPr>
        <p:spPr>
          <a:xfrm>
            <a:off x="9674352" y="1965960"/>
            <a:ext cx="2121408" cy="3200400"/>
          </a:xfrm>
          <a:prstGeom prst="roundRect">
            <a:avLst>
              <a:gd name="adj" fmla="val 3448"/>
            </a:avLst>
          </a:prstGeom>
          <a:solidFill>
            <a:srgbClr val="F2F5F1"/>
          </a:solidFill>
          <a:ln w="19050">
            <a:solidFill>
              <a:srgbClr val="2E7D5B"/>
            </a:solidFill>
            <a:prstDash val="solid"/>
          </a:ln>
        </p:spPr>
      </p:sp>
      <p:sp>
        <p:nvSpPr>
          <p:cNvPr id="25" name="Shape 23"/>
          <p:cNvSpPr/>
          <p:nvPr/>
        </p:nvSpPr>
        <p:spPr>
          <a:xfrm>
            <a:off x="9893808" y="2212848"/>
            <a:ext cx="420624" cy="420624"/>
          </a:xfrm>
          <a:prstGeom prst="ellipse">
            <a:avLst/>
          </a:prstGeom>
          <a:solidFill>
            <a:srgbClr val="E4572E"/>
          </a:solidFill>
          <a:ln/>
        </p:spPr>
      </p:sp>
      <p:sp>
        <p:nvSpPr>
          <p:cNvPr id="26" name="Text 24"/>
          <p:cNvSpPr/>
          <p:nvPr/>
        </p:nvSpPr>
        <p:spPr>
          <a:xfrm>
            <a:off x="9893808" y="2212848"/>
            <a:ext cx="420624"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7" name="Text 25"/>
          <p:cNvSpPr/>
          <p:nvPr/>
        </p:nvSpPr>
        <p:spPr>
          <a:xfrm>
            <a:off x="9893808" y="2761488"/>
            <a:ext cx="1682496" cy="566928"/>
          </a:xfrm>
          <a:prstGeom prst="rect">
            <a:avLst/>
          </a:prstGeom>
          <a:noFill/>
          <a:ln/>
        </p:spPr>
        <p:txBody>
          <a:bodyPr wrap="square" lIns="0" tIns="0" rIns="0" bIns="0" rtlCol="0" anchor="t"/>
          <a:lstStyle/>
          <a:p>
            <a:pPr indent="0" marL="0">
              <a:lnSpc>
                <a:spcPts val="1900"/>
              </a:lnSpc>
              <a:buNone/>
            </a:pPr>
            <a:r>
              <a:rPr lang="en-US" sz="1600" b="1" dirty="0">
                <a:solidFill>
                  <a:srgbClr val="1A1A1A"/>
                </a:solidFill>
                <a:latin typeface="Cambria" pitchFamily="34" charset="0"/>
                <a:ea typeface="Cambria" pitchFamily="34" charset="-122"/>
                <a:cs typeface="Cambria" pitchFamily="34" charset="-120"/>
              </a:rPr>
              <a:t>Or sell through us</a:t>
            </a:r>
            <a:endParaRPr lang="en-US" sz="1600" dirty="0"/>
          </a:p>
        </p:txBody>
      </p:sp>
      <p:sp>
        <p:nvSpPr>
          <p:cNvPr id="28" name="Text 26"/>
          <p:cNvSpPr/>
          <p:nvPr/>
        </p:nvSpPr>
        <p:spPr>
          <a:xfrm>
            <a:off x="9893808" y="3364992"/>
            <a:ext cx="1682496" cy="1600200"/>
          </a:xfrm>
          <a:prstGeom prst="rect">
            <a:avLst/>
          </a:prstGeom>
          <a:noFill/>
          <a:ln/>
        </p:spPr>
        <p:txBody>
          <a:bodyPr wrap="square" lIns="0" tIns="0" rIns="0" bIns="0" rtlCol="0" anchor="t"/>
          <a:lstStyle/>
          <a:p>
            <a:pPr indent="0" marL="0">
              <a:lnSpc>
                <a:spcPts val="1500"/>
              </a:lnSpc>
              <a:buNone/>
            </a:pPr>
            <a:r>
              <a:rPr lang="en-US" sz="1100" dirty="0">
                <a:solidFill>
                  <a:srgbClr val="5F6B63"/>
                </a:solidFill>
                <a:latin typeface="Calibri" pitchFamily="34" charset="0"/>
                <a:ea typeface="Calibri" pitchFamily="34" charset="-122"/>
                <a:cs typeface="Calibri" pitchFamily="34" charset="-120"/>
              </a:rPr>
              <a:t>If he prefers, we grade, pack and move his crop to city buyers in one aggregated load and keep a 7 percent service margin.</a:t>
            </a:r>
            <a:endParaRPr lang="en-US" sz="1100" dirty="0"/>
          </a:p>
        </p:txBody>
      </p:sp>
      <p:sp>
        <p:nvSpPr>
          <p:cNvPr id="29" name="Shape 27"/>
          <p:cNvSpPr/>
          <p:nvPr/>
        </p:nvSpPr>
        <p:spPr>
          <a:xfrm>
            <a:off x="640080" y="5394960"/>
            <a:ext cx="10881360" cy="868680"/>
          </a:xfrm>
          <a:prstGeom prst="roundRect">
            <a:avLst>
              <a:gd name="adj" fmla="val 8421"/>
            </a:avLst>
          </a:prstGeom>
          <a:solidFill>
            <a:srgbClr val="F2F5F1"/>
          </a:solidFill>
          <a:ln/>
          <a:effectLst>
            <a:outerShdw sx="100000" sy="100000" kx="0" ky="0" algn="bl" rotWithShape="0" blurRad="101600" dist="635" dir="5400000">
              <a:srgbClr val="9AA69E">
                <a:alpha val="12000"/>
              </a:srgbClr>
            </a:outerShdw>
          </a:effectLst>
        </p:spPr>
      </p:sp>
      <p:sp>
        <p:nvSpPr>
          <p:cNvPr id="30" name="Text 28"/>
          <p:cNvSpPr/>
          <p:nvPr/>
        </p:nvSpPr>
        <p:spPr>
          <a:xfrm>
            <a:off x="1024128" y="5577840"/>
            <a:ext cx="10424160" cy="5029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Steps 1 to 4 are the whole service. Step 5 is optional for the grower and is where most of our income comes from.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07  TARGET AUDIENCE</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Who uses it, who benefits, and who pays.</a:t>
            </a:r>
            <a:endParaRPr lang="en-US" sz="3100" dirty="0"/>
          </a:p>
        </p:txBody>
      </p:sp>
      <p:sp>
        <p:nvSpPr>
          <p:cNvPr id="4" name="Shape 2"/>
          <p:cNvSpPr/>
          <p:nvPr/>
        </p:nvSpPr>
        <p:spPr>
          <a:xfrm>
            <a:off x="640080" y="1874520"/>
            <a:ext cx="3520440" cy="2103120"/>
          </a:xfrm>
          <a:prstGeom prst="roundRect">
            <a:avLst>
              <a:gd name="adj" fmla="val 3478"/>
            </a:avLst>
          </a:prstGeom>
          <a:solidFill>
            <a:srgbClr val="FFFFFF"/>
          </a:solidFill>
          <a:ln/>
          <a:effectLst>
            <a:outerShdw sx="100000" sy="100000" kx="0" ky="0" algn="bl" rotWithShape="0" blurRad="101600" dist="635" dir="5400000">
              <a:srgbClr val="9AA69E">
                <a:alpha val="12000"/>
              </a:srgbClr>
            </a:outerShdw>
          </a:effectLst>
        </p:spPr>
      </p:sp>
      <p:sp>
        <p:nvSpPr>
          <p:cNvPr id="5" name="Shape 3"/>
          <p:cNvSpPr/>
          <p:nvPr/>
        </p:nvSpPr>
        <p:spPr>
          <a:xfrm>
            <a:off x="640080" y="1874520"/>
            <a:ext cx="3520440" cy="2103120"/>
          </a:xfrm>
          <a:prstGeom prst="roundRect">
            <a:avLst>
              <a:gd name="adj" fmla="val 3478"/>
            </a:avLst>
          </a:prstGeom>
          <a:solidFill>
            <a:srgbClr val="FFFFFF"/>
          </a:solidFill>
          <a:ln w="12700">
            <a:solidFill>
              <a:srgbClr val="D8E0DA"/>
            </a:solidFill>
            <a:prstDash val="solid"/>
          </a:ln>
        </p:spPr>
      </p:sp>
      <p:sp>
        <p:nvSpPr>
          <p:cNvPr id="6" name="Text 4"/>
          <p:cNvSpPr/>
          <p:nvPr/>
        </p:nvSpPr>
        <p:spPr>
          <a:xfrm>
            <a:off x="914400" y="2084832"/>
            <a:ext cx="2971800" cy="365760"/>
          </a:xfrm>
          <a:prstGeom prst="rect">
            <a:avLst/>
          </a:prstGeom>
          <a:noFill/>
          <a:ln/>
        </p:spPr>
        <p:txBody>
          <a:bodyPr wrap="square" lIns="0" tIns="0" rIns="0" bIns="0" rtlCol="0" anchor="ctr"/>
          <a:lstStyle/>
          <a:p>
            <a:pPr indent="0" marL="0">
              <a:buNone/>
            </a:pPr>
            <a:r>
              <a:rPr lang="en-US" sz="1700" b="1" dirty="0">
                <a:solidFill>
                  <a:srgbClr val="2E7D5B"/>
                </a:solidFill>
                <a:latin typeface="Cambria" pitchFamily="34" charset="0"/>
                <a:ea typeface="Cambria" pitchFamily="34" charset="-122"/>
                <a:cs typeface="Cambria" pitchFamily="34" charset="-120"/>
              </a:rPr>
              <a:t>Who uses it</a:t>
            </a:r>
            <a:endParaRPr lang="en-US" sz="1700" dirty="0"/>
          </a:p>
        </p:txBody>
      </p:sp>
      <p:sp>
        <p:nvSpPr>
          <p:cNvPr id="7" name="Text 5"/>
          <p:cNvSpPr/>
          <p:nvPr/>
        </p:nvSpPr>
        <p:spPr>
          <a:xfrm>
            <a:off x="914400" y="2487168"/>
            <a:ext cx="2971800" cy="132588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5F6B63"/>
                </a:solidFill>
                <a:latin typeface="Calibri" pitchFamily="34" charset="0"/>
                <a:ea typeface="Calibri" pitchFamily="34" charset="-122"/>
                <a:cs typeface="Calibri" pitchFamily="34" charset="-120"/>
              </a:rPr>
              <a:t>Growers of tomato, onion, potato, chili and leafy vegetables farming under 5 acres.</a:t>
            </a:r>
            <a:endParaRPr lang="en-US" sz="1150" dirty="0"/>
          </a:p>
          <a:p>
            <a:pPr marL="342900" indent="-342900">
              <a:lnSpc>
                <a:spcPts val="1500"/>
              </a:lnSpc>
              <a:spcAft>
                <a:spcPts val="600"/>
              </a:spcAft>
              <a:buSzPct val="100000"/>
              <a:buChar char="•"/>
            </a:pPr>
            <a:r>
              <a:rPr lang="en-US" sz="1150" dirty="0">
                <a:solidFill>
                  <a:srgbClr val="5F6B63"/>
                </a:solidFill>
                <a:latin typeface="Calibri" pitchFamily="34" charset="0"/>
                <a:ea typeface="Calibri" pitchFamily="34" charset="-122"/>
                <a:cs typeface="Calibri" pitchFamily="34" charset="-120"/>
              </a:rPr>
              <a:t>They harvest in small lots, sell within two days, and have no storage of their own.</a:t>
            </a:r>
            <a:endParaRPr lang="en-US" sz="1150" dirty="0"/>
          </a:p>
        </p:txBody>
      </p:sp>
      <p:sp>
        <p:nvSpPr>
          <p:cNvPr id="8" name="Shape 6"/>
          <p:cNvSpPr/>
          <p:nvPr/>
        </p:nvSpPr>
        <p:spPr>
          <a:xfrm>
            <a:off x="4315968" y="1874520"/>
            <a:ext cx="3520440" cy="2103120"/>
          </a:xfrm>
          <a:prstGeom prst="roundRect">
            <a:avLst>
              <a:gd name="adj" fmla="val 3478"/>
            </a:avLst>
          </a:prstGeom>
          <a:solidFill>
            <a:srgbClr val="FFFFFF"/>
          </a:solidFill>
          <a:ln/>
          <a:effectLst>
            <a:outerShdw sx="100000" sy="100000" kx="0" ky="0" algn="bl" rotWithShape="0" blurRad="101600" dist="635" dir="5400000">
              <a:srgbClr val="9AA69E">
                <a:alpha val="12000"/>
              </a:srgbClr>
            </a:outerShdw>
          </a:effectLst>
        </p:spPr>
      </p:sp>
      <p:sp>
        <p:nvSpPr>
          <p:cNvPr id="9" name="Shape 7"/>
          <p:cNvSpPr/>
          <p:nvPr/>
        </p:nvSpPr>
        <p:spPr>
          <a:xfrm>
            <a:off x="4315968" y="1874520"/>
            <a:ext cx="3520440" cy="2103120"/>
          </a:xfrm>
          <a:prstGeom prst="roundRect">
            <a:avLst>
              <a:gd name="adj" fmla="val 3478"/>
            </a:avLst>
          </a:prstGeom>
          <a:solidFill>
            <a:srgbClr val="FFFFFF"/>
          </a:solidFill>
          <a:ln w="12700">
            <a:solidFill>
              <a:srgbClr val="D8E0DA"/>
            </a:solidFill>
            <a:prstDash val="solid"/>
          </a:ln>
        </p:spPr>
      </p:sp>
      <p:sp>
        <p:nvSpPr>
          <p:cNvPr id="10" name="Text 8"/>
          <p:cNvSpPr/>
          <p:nvPr/>
        </p:nvSpPr>
        <p:spPr>
          <a:xfrm>
            <a:off x="4590288" y="2084832"/>
            <a:ext cx="297180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Who pays</a:t>
            </a:r>
            <a:endParaRPr lang="en-US" sz="1700" dirty="0"/>
          </a:p>
        </p:txBody>
      </p:sp>
      <p:sp>
        <p:nvSpPr>
          <p:cNvPr id="11" name="Text 9"/>
          <p:cNvSpPr/>
          <p:nvPr/>
        </p:nvSpPr>
        <p:spPr>
          <a:xfrm>
            <a:off x="4590288" y="2487168"/>
            <a:ext cx="2971800" cy="132588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5F6B63"/>
                </a:solidFill>
                <a:latin typeface="Calibri" pitchFamily="34" charset="0"/>
                <a:ea typeface="Calibri" pitchFamily="34" charset="-122"/>
                <a:cs typeface="Calibri" pitchFamily="34" charset="-120"/>
              </a:rPr>
              <a:t>The grower pays the crate fee, in small amounts he can see the return on.</a:t>
            </a:r>
            <a:endParaRPr lang="en-US" sz="1150" dirty="0"/>
          </a:p>
          <a:p>
            <a:pPr marL="342900" indent="-342900">
              <a:lnSpc>
                <a:spcPts val="1500"/>
              </a:lnSpc>
              <a:spcAft>
                <a:spcPts val="600"/>
              </a:spcAft>
              <a:buSzPct val="100000"/>
              <a:buChar char="•"/>
            </a:pPr>
            <a:r>
              <a:rPr lang="en-US" sz="1150" dirty="0">
                <a:solidFill>
                  <a:srgbClr val="5F6B63"/>
                </a:solidFill>
                <a:latin typeface="Calibri" pitchFamily="34" charset="0"/>
                <a:ea typeface="Calibri" pitchFamily="34" charset="-122"/>
                <a:cs typeface="Calibri" pitchFamily="34" charset="-120"/>
              </a:rPr>
              <a:t>City buyers pay our 7 percent service margin on aggregated, graded loads.</a:t>
            </a:r>
            <a:endParaRPr lang="en-US" sz="1150" dirty="0"/>
          </a:p>
        </p:txBody>
      </p:sp>
      <p:sp>
        <p:nvSpPr>
          <p:cNvPr id="12" name="Shape 10"/>
          <p:cNvSpPr/>
          <p:nvPr/>
        </p:nvSpPr>
        <p:spPr>
          <a:xfrm>
            <a:off x="7991856" y="1874520"/>
            <a:ext cx="3520440" cy="2103120"/>
          </a:xfrm>
          <a:prstGeom prst="roundRect">
            <a:avLst>
              <a:gd name="adj" fmla="val 3478"/>
            </a:avLst>
          </a:prstGeom>
          <a:solidFill>
            <a:srgbClr val="FFFFFF"/>
          </a:solidFill>
          <a:ln/>
          <a:effectLst>
            <a:outerShdw sx="100000" sy="100000" kx="0" ky="0" algn="bl" rotWithShape="0" blurRad="101600" dist="635" dir="5400000">
              <a:srgbClr val="9AA69E">
                <a:alpha val="12000"/>
              </a:srgbClr>
            </a:outerShdw>
          </a:effectLst>
        </p:spPr>
      </p:sp>
      <p:sp>
        <p:nvSpPr>
          <p:cNvPr id="13" name="Shape 11"/>
          <p:cNvSpPr/>
          <p:nvPr/>
        </p:nvSpPr>
        <p:spPr>
          <a:xfrm>
            <a:off x="7991856" y="1874520"/>
            <a:ext cx="3520440" cy="2103120"/>
          </a:xfrm>
          <a:prstGeom prst="roundRect">
            <a:avLst>
              <a:gd name="adj" fmla="val 3478"/>
            </a:avLst>
          </a:prstGeom>
          <a:solidFill>
            <a:srgbClr val="FFFFFF"/>
          </a:solidFill>
          <a:ln w="12700">
            <a:solidFill>
              <a:srgbClr val="D8E0DA"/>
            </a:solidFill>
            <a:prstDash val="solid"/>
          </a:ln>
        </p:spPr>
      </p:sp>
      <p:sp>
        <p:nvSpPr>
          <p:cNvPr id="14" name="Text 12"/>
          <p:cNvSpPr/>
          <p:nvPr/>
        </p:nvSpPr>
        <p:spPr>
          <a:xfrm>
            <a:off x="8266176" y="2084832"/>
            <a:ext cx="2971800" cy="365760"/>
          </a:xfrm>
          <a:prstGeom prst="rect">
            <a:avLst/>
          </a:prstGeom>
          <a:noFill/>
          <a:ln/>
        </p:spPr>
        <p:txBody>
          <a:bodyPr wrap="square" lIns="0" tIns="0" rIns="0" bIns="0" rtlCol="0" anchor="ctr"/>
          <a:lstStyle/>
          <a:p>
            <a:pPr indent="0" marL="0">
              <a:buNone/>
            </a:pPr>
            <a:r>
              <a:rPr lang="en-US" sz="1700" b="1" dirty="0">
                <a:solidFill>
                  <a:srgbClr val="14392A"/>
                </a:solidFill>
                <a:latin typeface="Cambria" pitchFamily="34" charset="0"/>
                <a:ea typeface="Cambria" pitchFamily="34" charset="-122"/>
                <a:cs typeface="Cambria" pitchFamily="34" charset="-120"/>
              </a:rPr>
              <a:t>Who else gains</a:t>
            </a:r>
            <a:endParaRPr lang="en-US" sz="1700" dirty="0"/>
          </a:p>
        </p:txBody>
      </p:sp>
      <p:sp>
        <p:nvSpPr>
          <p:cNvPr id="15" name="Text 13"/>
          <p:cNvSpPr/>
          <p:nvPr/>
        </p:nvSpPr>
        <p:spPr>
          <a:xfrm>
            <a:off x="8266176" y="2487168"/>
            <a:ext cx="2971800" cy="132588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5F6B63"/>
                </a:solidFill>
                <a:latin typeface="Calibri" pitchFamily="34" charset="0"/>
                <a:ea typeface="Calibri" pitchFamily="34" charset="-122"/>
                <a:cs typeface="Calibri" pitchFamily="34" charset="-120"/>
              </a:rPr>
              <a:t>Households eat better because income steadies across the season.</a:t>
            </a:r>
            <a:endParaRPr lang="en-US" sz="1150" dirty="0"/>
          </a:p>
          <a:p>
            <a:pPr marL="342900" indent="-342900">
              <a:lnSpc>
                <a:spcPts val="1500"/>
              </a:lnSpc>
              <a:spcAft>
                <a:spcPts val="600"/>
              </a:spcAft>
              <a:buSzPct val="100000"/>
              <a:buChar char="•"/>
            </a:pPr>
            <a:r>
              <a:rPr lang="en-US" sz="1150" dirty="0">
                <a:solidFill>
                  <a:srgbClr val="5F6B63"/>
                </a:solidFill>
                <a:latin typeface="Calibri" pitchFamily="34" charset="0"/>
                <a:ea typeface="Calibri" pitchFamily="34" charset="-122"/>
                <a:cs typeface="Calibri" pitchFamily="34" charset="-120"/>
              </a:rPr>
              <a:t>City consumers see a slightly steadier supply and less waste in the chain.</a:t>
            </a:r>
            <a:endParaRPr lang="en-US" sz="1150" dirty="0"/>
          </a:p>
        </p:txBody>
      </p:sp>
      <p:sp>
        <p:nvSpPr>
          <p:cNvPr id="16" name="Shape 14"/>
          <p:cNvSpPr/>
          <p:nvPr/>
        </p:nvSpPr>
        <p:spPr>
          <a:xfrm>
            <a:off x="640080" y="4206240"/>
            <a:ext cx="10881360" cy="1783080"/>
          </a:xfrm>
          <a:prstGeom prst="roundRect">
            <a:avLst>
              <a:gd name="adj" fmla="val 4103"/>
            </a:avLst>
          </a:prstGeom>
          <a:solidFill>
            <a:srgbClr val="14392A"/>
          </a:solidFill>
          <a:ln/>
          <a:effectLst>
            <a:outerShdw sx="100000" sy="100000" kx="0" ky="0" algn="bl" rotWithShape="0" blurRad="101600" dist="635" dir="5400000">
              <a:srgbClr val="9AA69E">
                <a:alpha val="12000"/>
              </a:srgbClr>
            </a:outerShdw>
          </a:effectLst>
        </p:spPr>
      </p:sp>
      <p:sp>
        <p:nvSpPr>
          <p:cNvPr id="17" name="Text 15"/>
          <p:cNvSpPr/>
          <p:nvPr/>
        </p:nvSpPr>
        <p:spPr>
          <a:xfrm>
            <a:off x="1024128" y="4389120"/>
            <a:ext cx="502920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How many people that is</a:t>
            </a:r>
            <a:endParaRPr lang="en-US" sz="1700" dirty="0"/>
          </a:p>
        </p:txBody>
      </p:sp>
      <p:sp>
        <p:nvSpPr>
          <p:cNvPr id="18" name="Text 16"/>
          <p:cNvSpPr/>
          <p:nvPr/>
        </p:nvSpPr>
        <p:spPr>
          <a:xfrm>
            <a:off x="1024128" y="4846320"/>
            <a:ext cx="3291840" cy="457200"/>
          </a:xfrm>
          <a:prstGeom prst="rect">
            <a:avLst/>
          </a:prstGeom>
          <a:noFill/>
          <a:ln/>
        </p:spPr>
        <p:txBody>
          <a:bodyPr wrap="square" lIns="0" tIns="0" rIns="0" bIns="0" rtlCol="0" anchor="ctr"/>
          <a:lstStyle/>
          <a:p>
            <a:pPr indent="0" marL="0">
              <a:buNone/>
            </a:pPr>
            <a:r>
              <a:rPr lang="en-US" sz="2800" b="1" dirty="0">
                <a:solidFill>
                  <a:srgbClr val="E4572E"/>
                </a:solidFill>
                <a:latin typeface="Cambria" pitchFamily="34" charset="0"/>
                <a:ea typeface="Cambria" pitchFamily="34" charset="-122"/>
                <a:cs typeface="Cambria" pitchFamily="34" charset="-120"/>
              </a:rPr>
              <a:t>64%</a:t>
            </a:r>
            <a:endParaRPr lang="en-US" sz="2800" dirty="0"/>
          </a:p>
        </p:txBody>
      </p:sp>
      <p:sp>
        <p:nvSpPr>
          <p:cNvPr id="19" name="Text 17"/>
          <p:cNvSpPr/>
          <p:nvPr/>
        </p:nvSpPr>
        <p:spPr>
          <a:xfrm>
            <a:off x="1024128" y="5321808"/>
            <a:ext cx="3291840" cy="502920"/>
          </a:xfrm>
          <a:prstGeom prst="rect">
            <a:avLst/>
          </a:prstGeom>
          <a:noFill/>
          <a:ln/>
        </p:spPr>
        <p:txBody>
          <a:bodyPr wrap="square" lIns="0" tIns="0" rIns="0" bIns="0" rtlCol="0" anchor="t"/>
          <a:lstStyle/>
          <a:p>
            <a:pPr indent="0" marL="0">
              <a:lnSpc>
                <a:spcPts val="1500"/>
              </a:lnSpc>
              <a:buNone/>
            </a:pPr>
            <a:r>
              <a:rPr lang="en-US" sz="1200" dirty="0">
                <a:solidFill>
                  <a:srgbClr val="BFD8C7"/>
                </a:solidFill>
                <a:latin typeface="Calibri" pitchFamily="34" charset="0"/>
                <a:ea typeface="Calibri" pitchFamily="34" charset="-122"/>
                <a:cs typeface="Calibri" pitchFamily="34" charset="-120"/>
              </a:rPr>
              <a:t>of all farms in Pakistan are under 5 acres</a:t>
            </a:r>
            <a:endParaRPr lang="en-US" sz="1200" dirty="0"/>
          </a:p>
        </p:txBody>
      </p:sp>
      <p:sp>
        <p:nvSpPr>
          <p:cNvPr id="20" name="Text 18"/>
          <p:cNvSpPr/>
          <p:nvPr/>
        </p:nvSpPr>
        <p:spPr>
          <a:xfrm>
            <a:off x="4590288" y="4846320"/>
            <a:ext cx="3291840" cy="457200"/>
          </a:xfrm>
          <a:prstGeom prst="rect">
            <a:avLst/>
          </a:prstGeom>
          <a:noFill/>
          <a:ln/>
        </p:spPr>
        <p:txBody>
          <a:bodyPr wrap="square" lIns="0" tIns="0" rIns="0" bIns="0" rtlCol="0" anchor="ctr"/>
          <a:lstStyle/>
          <a:p>
            <a:pPr indent="0" marL="0">
              <a:buNone/>
            </a:pPr>
            <a:r>
              <a:rPr lang="en-US" sz="2800" b="1" dirty="0">
                <a:solidFill>
                  <a:srgbClr val="E4572E"/>
                </a:solidFill>
                <a:latin typeface="Cambria" pitchFamily="34" charset="0"/>
                <a:ea typeface="Cambria" pitchFamily="34" charset="-122"/>
                <a:cs typeface="Cambria" pitchFamily="34" charset="-120"/>
              </a:rPr>
              <a:t>26%</a:t>
            </a:r>
            <a:endParaRPr lang="en-US" sz="2800" dirty="0"/>
          </a:p>
        </p:txBody>
      </p:sp>
      <p:sp>
        <p:nvSpPr>
          <p:cNvPr id="21" name="Text 19"/>
          <p:cNvSpPr/>
          <p:nvPr/>
        </p:nvSpPr>
        <p:spPr>
          <a:xfrm>
            <a:off x="4590288" y="5321808"/>
            <a:ext cx="3291840" cy="502920"/>
          </a:xfrm>
          <a:prstGeom prst="rect">
            <a:avLst/>
          </a:prstGeom>
          <a:noFill/>
          <a:ln/>
        </p:spPr>
        <p:txBody>
          <a:bodyPr wrap="square" lIns="0" tIns="0" rIns="0" bIns="0" rtlCol="0" anchor="t"/>
          <a:lstStyle/>
          <a:p>
            <a:pPr indent="0" marL="0">
              <a:lnSpc>
                <a:spcPts val="1500"/>
              </a:lnSpc>
              <a:buNone/>
            </a:pPr>
            <a:r>
              <a:rPr lang="en-US" sz="1200" dirty="0">
                <a:solidFill>
                  <a:srgbClr val="BFD8C7"/>
                </a:solidFill>
                <a:latin typeface="Calibri" pitchFamily="34" charset="0"/>
                <a:ea typeface="Calibri" pitchFamily="34" charset="-122"/>
                <a:cs typeface="Calibri" pitchFamily="34" charset="-120"/>
              </a:rPr>
              <a:t>are under a single acre</a:t>
            </a:r>
            <a:endParaRPr lang="en-US" sz="1200" dirty="0"/>
          </a:p>
        </p:txBody>
      </p:sp>
      <p:sp>
        <p:nvSpPr>
          <p:cNvPr id="22" name="Text 20"/>
          <p:cNvSpPr/>
          <p:nvPr/>
        </p:nvSpPr>
        <p:spPr>
          <a:xfrm>
            <a:off x="8156448" y="4846320"/>
            <a:ext cx="3291840" cy="457200"/>
          </a:xfrm>
          <a:prstGeom prst="rect">
            <a:avLst/>
          </a:prstGeom>
          <a:noFill/>
          <a:ln/>
        </p:spPr>
        <p:txBody>
          <a:bodyPr wrap="square" lIns="0" tIns="0" rIns="0" bIns="0" rtlCol="0" anchor="ctr"/>
          <a:lstStyle/>
          <a:p>
            <a:pPr indent="0" marL="0">
              <a:buNone/>
            </a:pPr>
            <a:r>
              <a:rPr lang="en-US" sz="2800" b="1" dirty="0">
                <a:solidFill>
                  <a:srgbClr val="E4572E"/>
                </a:solidFill>
                <a:latin typeface="Cambria" pitchFamily="34" charset="0"/>
                <a:ea typeface="Cambria" pitchFamily="34" charset="-122"/>
                <a:cs typeface="Cambria" pitchFamily="34" charset="-120"/>
              </a:rPr>
              <a:t>300-400</a:t>
            </a:r>
            <a:endParaRPr lang="en-US" sz="2800" dirty="0"/>
          </a:p>
        </p:txBody>
      </p:sp>
      <p:sp>
        <p:nvSpPr>
          <p:cNvPr id="23" name="Text 21"/>
          <p:cNvSpPr/>
          <p:nvPr/>
        </p:nvSpPr>
        <p:spPr>
          <a:xfrm>
            <a:off x="8156448" y="5321808"/>
            <a:ext cx="3291840" cy="502920"/>
          </a:xfrm>
          <a:prstGeom prst="rect">
            <a:avLst/>
          </a:prstGeom>
          <a:noFill/>
          <a:ln/>
        </p:spPr>
        <p:txBody>
          <a:bodyPr wrap="square" lIns="0" tIns="0" rIns="0" bIns="0" rtlCol="0" anchor="t"/>
          <a:lstStyle/>
          <a:p>
            <a:pPr indent="0" marL="0">
              <a:lnSpc>
                <a:spcPts val="1500"/>
              </a:lnSpc>
              <a:buNone/>
            </a:pPr>
            <a:r>
              <a:rPr lang="en-US" sz="1200" dirty="0">
                <a:solidFill>
                  <a:srgbClr val="BFD8C7"/>
                </a:solidFill>
                <a:latin typeface="Calibri" pitchFamily="34" charset="0"/>
                <a:ea typeface="Calibri" pitchFamily="34" charset="-122"/>
                <a:cs typeface="Calibri" pitchFamily="34" charset="-120"/>
              </a:rPr>
              <a:t>growing households in our pilot catchment, our own estimate to confirm</a:t>
            </a:r>
            <a:endParaRPr lang="en-US" sz="1200" dirty="0"/>
          </a:p>
        </p:txBody>
      </p:sp>
      <p:sp>
        <p:nvSpPr>
          <p:cNvPr id="24" name="Text 22"/>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5F6B63"/>
                </a:solidFill>
                <a:latin typeface="Calibri" pitchFamily="34" charset="0"/>
                <a:ea typeface="Calibri" pitchFamily="34" charset="-122"/>
                <a:cs typeface="Calibri" pitchFamily="34" charset="-120"/>
              </a:rPr>
              <a:t>Pilot catchment: one union council in the Okara and Depalpur vegetable belt, roughly a 6 km radius around the unit. Swap this for the district your team can actually reach.</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08  VALUE PROPOSITION</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The grower's arithmetic on one load of tomatoes.</a:t>
            </a:r>
            <a:endParaRPr lang="en-US" sz="3100" dirty="0"/>
          </a:p>
        </p:txBody>
      </p:sp>
      <p:sp>
        <p:nvSpPr>
          <p:cNvPr id="4" name="Text 2"/>
          <p:cNvSpPr/>
          <p:nvPr/>
        </p:nvSpPr>
        <p:spPr>
          <a:xfrm>
            <a:off x="640080" y="1280160"/>
            <a:ext cx="10881360" cy="347472"/>
          </a:xfrm>
          <a:prstGeom prst="rect">
            <a:avLst/>
          </a:prstGeom>
          <a:noFill/>
          <a:ln/>
        </p:spPr>
        <p:txBody>
          <a:bodyPr wrap="square" lIns="0" tIns="0" rIns="0" bIns="0" rtlCol="0" anchor="t"/>
          <a:lstStyle/>
          <a:p>
            <a:pPr indent="0" marL="0">
              <a:buNone/>
            </a:pPr>
            <a:r>
              <a:rPr lang="en-US" sz="1450" i="1" dirty="0">
                <a:solidFill>
                  <a:srgbClr val="5F6B63"/>
                </a:solidFill>
                <a:latin typeface="Calibri" pitchFamily="34" charset="0"/>
                <a:ea typeface="Calibri" pitchFamily="34" charset="-122"/>
                <a:cs typeface="Calibri" pitchFamily="34" charset="-120"/>
              </a:rPr>
              <a:t>200 kg picked, ten crates, held for ten days.</a:t>
            </a:r>
            <a:endParaRPr lang="en-US" sz="1450" dirty="0"/>
          </a:p>
        </p:txBody>
      </p:sp>
      <p:sp>
        <p:nvSpPr>
          <p:cNvPr id="5" name="Shape 3"/>
          <p:cNvSpPr/>
          <p:nvPr/>
        </p:nvSpPr>
        <p:spPr>
          <a:xfrm>
            <a:off x="640080" y="2057400"/>
            <a:ext cx="10881360" cy="713232"/>
          </a:xfrm>
          <a:prstGeom prst="rect">
            <a:avLst/>
          </a:prstGeom>
          <a:solidFill>
            <a:srgbClr val="F2F5F1"/>
          </a:solidFill>
          <a:ln/>
        </p:spPr>
      </p:sp>
      <p:sp>
        <p:nvSpPr>
          <p:cNvPr id="6" name="Text 4"/>
          <p:cNvSpPr/>
          <p:nvPr/>
        </p:nvSpPr>
        <p:spPr>
          <a:xfrm>
            <a:off x="868680" y="2148840"/>
            <a:ext cx="2834640" cy="50292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What he pays</a:t>
            </a:r>
            <a:endParaRPr lang="en-US" sz="1500" dirty="0"/>
          </a:p>
        </p:txBody>
      </p:sp>
      <p:sp>
        <p:nvSpPr>
          <p:cNvPr id="7" name="Text 5"/>
          <p:cNvSpPr/>
          <p:nvPr/>
        </p:nvSpPr>
        <p:spPr>
          <a:xfrm>
            <a:off x="3291840" y="2148840"/>
            <a:ext cx="5120640" cy="50292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10 crates  x  PKR 12  x  10 days</a:t>
            </a:r>
            <a:endParaRPr lang="en-US" sz="1300" dirty="0"/>
          </a:p>
        </p:txBody>
      </p:sp>
      <p:sp>
        <p:nvSpPr>
          <p:cNvPr id="8" name="Text 6"/>
          <p:cNvSpPr/>
          <p:nvPr/>
        </p:nvSpPr>
        <p:spPr>
          <a:xfrm>
            <a:off x="8595360" y="2148840"/>
            <a:ext cx="2697480" cy="502920"/>
          </a:xfrm>
          <a:prstGeom prst="rect">
            <a:avLst/>
          </a:prstGeom>
          <a:noFill/>
          <a:ln/>
        </p:spPr>
        <p:txBody>
          <a:bodyPr wrap="square" lIns="0" tIns="0" rIns="0" bIns="0" rtlCol="0" anchor="ctr"/>
          <a:lstStyle/>
          <a:p>
            <a:pPr algn="r" indent="0" marL="0">
              <a:buNone/>
            </a:pPr>
            <a:r>
              <a:rPr lang="en-US" sz="1900" b="1" dirty="0">
                <a:solidFill>
                  <a:srgbClr val="E4572E"/>
                </a:solidFill>
                <a:latin typeface="Cambria" pitchFamily="34" charset="0"/>
                <a:ea typeface="Cambria" pitchFamily="34" charset="-122"/>
                <a:cs typeface="Cambria" pitchFamily="34" charset="-120"/>
              </a:rPr>
              <a:t>PKR 1,200</a:t>
            </a:r>
            <a:endParaRPr lang="en-US" sz="1900" dirty="0"/>
          </a:p>
        </p:txBody>
      </p:sp>
      <p:sp>
        <p:nvSpPr>
          <p:cNvPr id="9" name="Text 7"/>
          <p:cNvSpPr/>
          <p:nvPr/>
        </p:nvSpPr>
        <p:spPr>
          <a:xfrm>
            <a:off x="868680" y="2926080"/>
            <a:ext cx="2834640" cy="50292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What he saves</a:t>
            </a:r>
            <a:endParaRPr lang="en-US" sz="1500" dirty="0"/>
          </a:p>
        </p:txBody>
      </p:sp>
      <p:sp>
        <p:nvSpPr>
          <p:cNvPr id="10" name="Text 8"/>
          <p:cNvSpPr/>
          <p:nvPr/>
        </p:nvSpPr>
        <p:spPr>
          <a:xfrm>
            <a:off x="3291840" y="2926080"/>
            <a:ext cx="5120640" cy="50292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25 percent of 200 kg would have spoiled, so 50 kg kept</a:t>
            </a:r>
            <a:endParaRPr lang="en-US" sz="1300" dirty="0"/>
          </a:p>
        </p:txBody>
      </p:sp>
      <p:sp>
        <p:nvSpPr>
          <p:cNvPr id="11" name="Text 9"/>
          <p:cNvSpPr/>
          <p:nvPr/>
        </p:nvSpPr>
        <p:spPr>
          <a:xfrm>
            <a:off x="8595360" y="2926080"/>
            <a:ext cx="2697480" cy="502920"/>
          </a:xfrm>
          <a:prstGeom prst="rect">
            <a:avLst/>
          </a:prstGeom>
          <a:noFill/>
          <a:ln/>
        </p:spPr>
        <p:txBody>
          <a:bodyPr wrap="square" lIns="0" tIns="0" rIns="0" bIns="0" rtlCol="0" anchor="ctr"/>
          <a:lstStyle/>
          <a:p>
            <a:pPr algn="r" indent="0" marL="0">
              <a:buNone/>
            </a:pPr>
            <a:r>
              <a:rPr lang="en-US" sz="1900" b="1" dirty="0">
                <a:solidFill>
                  <a:srgbClr val="1A1A1A"/>
                </a:solidFill>
                <a:latin typeface="Cambria" pitchFamily="34" charset="0"/>
                <a:ea typeface="Cambria" pitchFamily="34" charset="-122"/>
                <a:cs typeface="Cambria" pitchFamily="34" charset="-120"/>
              </a:rPr>
              <a:t>50 kg</a:t>
            </a:r>
            <a:endParaRPr lang="en-US" sz="1900" dirty="0"/>
          </a:p>
        </p:txBody>
      </p:sp>
      <p:sp>
        <p:nvSpPr>
          <p:cNvPr id="12" name="Shape 10"/>
          <p:cNvSpPr/>
          <p:nvPr/>
        </p:nvSpPr>
        <p:spPr>
          <a:xfrm>
            <a:off x="640080" y="3611880"/>
            <a:ext cx="10881360" cy="713232"/>
          </a:xfrm>
          <a:prstGeom prst="rect">
            <a:avLst/>
          </a:prstGeom>
          <a:solidFill>
            <a:srgbClr val="F2F5F1"/>
          </a:solidFill>
          <a:ln/>
        </p:spPr>
      </p:sp>
      <p:sp>
        <p:nvSpPr>
          <p:cNvPr id="13" name="Text 11"/>
          <p:cNvSpPr/>
          <p:nvPr/>
        </p:nvSpPr>
        <p:spPr>
          <a:xfrm>
            <a:off x="868680" y="3703320"/>
            <a:ext cx="2834640" cy="50292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What that is worth</a:t>
            </a:r>
            <a:endParaRPr lang="en-US" sz="1500" dirty="0"/>
          </a:p>
        </p:txBody>
      </p:sp>
      <p:sp>
        <p:nvSpPr>
          <p:cNvPr id="14" name="Text 12"/>
          <p:cNvSpPr/>
          <p:nvPr/>
        </p:nvSpPr>
        <p:spPr>
          <a:xfrm>
            <a:off x="3291840" y="3703320"/>
            <a:ext cx="5120640" cy="50292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50 kg at a PKR 60 per kg farm gate price</a:t>
            </a:r>
            <a:endParaRPr lang="en-US" sz="1300" dirty="0"/>
          </a:p>
        </p:txBody>
      </p:sp>
      <p:sp>
        <p:nvSpPr>
          <p:cNvPr id="15" name="Text 13"/>
          <p:cNvSpPr/>
          <p:nvPr/>
        </p:nvSpPr>
        <p:spPr>
          <a:xfrm>
            <a:off x="8595360" y="3703320"/>
            <a:ext cx="2697480" cy="502920"/>
          </a:xfrm>
          <a:prstGeom prst="rect">
            <a:avLst/>
          </a:prstGeom>
          <a:noFill/>
          <a:ln/>
        </p:spPr>
        <p:txBody>
          <a:bodyPr wrap="square" lIns="0" tIns="0" rIns="0" bIns="0" rtlCol="0" anchor="ctr"/>
          <a:lstStyle/>
          <a:p>
            <a:pPr algn="r" indent="0" marL="0">
              <a:buNone/>
            </a:pPr>
            <a:r>
              <a:rPr lang="en-US" sz="1900" b="1" dirty="0">
                <a:solidFill>
                  <a:srgbClr val="2E7D5B"/>
                </a:solidFill>
                <a:latin typeface="Cambria" pitchFamily="34" charset="0"/>
                <a:ea typeface="Cambria" pitchFamily="34" charset="-122"/>
                <a:cs typeface="Cambria" pitchFamily="34" charset="-120"/>
              </a:rPr>
              <a:t>PKR 3,000</a:t>
            </a:r>
            <a:endParaRPr lang="en-US" sz="1900" dirty="0"/>
          </a:p>
        </p:txBody>
      </p:sp>
      <p:sp>
        <p:nvSpPr>
          <p:cNvPr id="16" name="Text 14"/>
          <p:cNvSpPr/>
          <p:nvPr/>
        </p:nvSpPr>
        <p:spPr>
          <a:xfrm>
            <a:off x="868680" y="4480560"/>
            <a:ext cx="2834640" cy="50292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What he still has left</a:t>
            </a:r>
            <a:endParaRPr lang="en-US" sz="1500" dirty="0"/>
          </a:p>
        </p:txBody>
      </p:sp>
      <p:sp>
        <p:nvSpPr>
          <p:cNvPr id="17" name="Text 15"/>
          <p:cNvSpPr/>
          <p:nvPr/>
        </p:nvSpPr>
        <p:spPr>
          <a:xfrm>
            <a:off x="3291840" y="4480560"/>
            <a:ext cx="5120640" cy="50292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the choice to sell on a better day instead of a bad one</a:t>
            </a:r>
            <a:endParaRPr lang="en-US" sz="1300" dirty="0"/>
          </a:p>
        </p:txBody>
      </p:sp>
      <p:sp>
        <p:nvSpPr>
          <p:cNvPr id="18" name="Text 16"/>
          <p:cNvSpPr/>
          <p:nvPr/>
        </p:nvSpPr>
        <p:spPr>
          <a:xfrm>
            <a:off x="8595360" y="4480560"/>
            <a:ext cx="2697480" cy="502920"/>
          </a:xfrm>
          <a:prstGeom prst="rect">
            <a:avLst/>
          </a:prstGeom>
          <a:noFill/>
          <a:ln/>
        </p:spPr>
        <p:txBody>
          <a:bodyPr wrap="square" lIns="0" tIns="0" rIns="0" bIns="0" rtlCol="0" anchor="ctr"/>
          <a:lstStyle/>
          <a:p>
            <a:pPr algn="r" indent="0" marL="0">
              <a:buNone/>
            </a:pPr>
            <a:r>
              <a:rPr lang="en-US" sz="1900" b="1" dirty="0">
                <a:solidFill>
                  <a:srgbClr val="1A1A1A"/>
                </a:solidFill>
                <a:latin typeface="Cambria" pitchFamily="34" charset="0"/>
                <a:ea typeface="Cambria" pitchFamily="34" charset="-122"/>
                <a:cs typeface="Cambria" pitchFamily="34" charset="-120"/>
              </a:rPr>
              <a:t>upside on top</a:t>
            </a:r>
            <a:endParaRPr lang="en-US" sz="1900" dirty="0"/>
          </a:p>
        </p:txBody>
      </p:sp>
      <p:sp>
        <p:nvSpPr>
          <p:cNvPr id="19" name="Shape 17"/>
          <p:cNvSpPr/>
          <p:nvPr/>
        </p:nvSpPr>
        <p:spPr>
          <a:xfrm>
            <a:off x="640080" y="5349240"/>
            <a:ext cx="10881360" cy="914400"/>
          </a:xfrm>
          <a:prstGeom prst="roundRect">
            <a:avLst>
              <a:gd name="adj" fmla="val 8000"/>
            </a:avLst>
          </a:prstGeom>
          <a:solidFill>
            <a:srgbClr val="14392A"/>
          </a:solidFill>
          <a:ln/>
          <a:effectLst>
            <a:outerShdw sx="100000" sy="100000" kx="0" ky="0" algn="bl" rotWithShape="0" blurRad="101600" dist="635" dir="5400000">
              <a:srgbClr val="9AA69E">
                <a:alpha val="12000"/>
              </a:srgbClr>
            </a:outerShdw>
          </a:effectLst>
        </p:spPr>
      </p:sp>
      <p:sp>
        <p:nvSpPr>
          <p:cNvPr id="20" name="Text 18"/>
          <p:cNvSpPr/>
          <p:nvPr/>
        </p:nvSpPr>
        <p:spPr>
          <a:xfrm>
            <a:off x="1024128" y="5532120"/>
            <a:ext cx="1042416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About PKR 2.5 comes back for every PKR 1 he spends on storage, before he has sold anything at a better price.</a:t>
            </a:r>
            <a:endParaRPr lang="en-US" sz="1700" dirty="0"/>
          </a:p>
        </p:txBody>
      </p:sp>
      <p:sp>
        <p:nvSpPr>
          <p:cNvPr id="21" name="Text 19"/>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5F6B63"/>
                </a:solidFill>
                <a:latin typeface="Calibri" pitchFamily="34" charset="0"/>
                <a:ea typeface="Calibri" pitchFamily="34" charset="-122"/>
                <a:cs typeface="Calibri" pitchFamily="34" charset="-120"/>
              </a:rPr>
              <a:t>Farm gate price and spoilage rate are illustrative and move with season and crop. Confirm both against your interview findings.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09  BUSINESS AND SUSTAINABILITY MODEL</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One unit, two income lines, per month.</a:t>
            </a:r>
            <a:endParaRPr lang="en-US" sz="3100" dirty="0"/>
          </a:p>
        </p:txBody>
      </p:sp>
      <p:graphicFrame>
        <p:nvGraphicFramePr>
          <p:cNvPr id="4" name="Chart 0" descr=""/>
          <p:cNvGraphicFramePr/>
          <p:nvPr/>
        </p:nvGraphicFramePr>
        <p:xfrm>
          <a:off x="640080" y="1874520"/>
          <a:ext cx="566928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800600"/>
            <a:ext cx="5669280" cy="502920"/>
          </a:xfrm>
          <a:prstGeom prst="rect">
            <a:avLst/>
          </a:prstGeom>
          <a:noFill/>
          <a:ln/>
        </p:spPr>
        <p:txBody>
          <a:bodyPr wrap="square" lIns="0" tIns="0" rIns="0" bIns="0" rtlCol="0" anchor="ctr"/>
          <a:lstStyle/>
          <a:p>
            <a:pPr indent="0" marL="0">
              <a:buNone/>
            </a:pPr>
            <a:r>
              <a:rPr lang="en-US" sz="3000" b="1" dirty="0">
                <a:solidFill>
                  <a:srgbClr val="2E7D5B"/>
                </a:solidFill>
                <a:latin typeface="Cambria" pitchFamily="34" charset="0"/>
                <a:ea typeface="Cambria" pitchFamily="34" charset="-122"/>
                <a:cs typeface="Cambria" pitchFamily="34" charset="-120"/>
              </a:rPr>
              <a:t>PKR 32,000</a:t>
            </a:r>
            <a:endParaRPr lang="en-US" sz="3000" dirty="0"/>
          </a:p>
        </p:txBody>
      </p:sp>
      <p:sp>
        <p:nvSpPr>
          <p:cNvPr id="6" name="Text 3"/>
          <p:cNvSpPr/>
          <p:nvPr/>
        </p:nvSpPr>
        <p:spPr>
          <a:xfrm>
            <a:off x="640080" y="5303520"/>
            <a:ext cx="5669280" cy="320040"/>
          </a:xfrm>
          <a:prstGeom prst="rect">
            <a:avLst/>
          </a:prstGeom>
          <a:noFill/>
          <a:ln/>
        </p:spPr>
        <p:txBody>
          <a:bodyPr wrap="square" lIns="0" tIns="0" rIns="0" bIns="0" rtlCol="0" anchor="ctr"/>
          <a:lstStyle/>
          <a:p>
            <a:pPr indent="0" marL="0">
              <a:buNone/>
            </a:pPr>
            <a:r>
              <a:rPr lang="en-US" sz="1300" dirty="0">
                <a:solidFill>
                  <a:srgbClr val="5F6B63"/>
                </a:solidFill>
                <a:latin typeface="Calibri" pitchFamily="34" charset="0"/>
                <a:ea typeface="Calibri" pitchFamily="34" charset="-122"/>
                <a:cs typeface="Calibri" pitchFamily="34" charset="-120"/>
              </a:rPr>
              <a:t>surplus a month, once the room is running</a:t>
            </a:r>
            <a:endParaRPr lang="en-US" sz="1300" dirty="0"/>
          </a:p>
        </p:txBody>
      </p:sp>
      <p:sp>
        <p:nvSpPr>
          <p:cNvPr id="7" name="Text 4"/>
          <p:cNvSpPr/>
          <p:nvPr/>
        </p:nvSpPr>
        <p:spPr>
          <a:xfrm>
            <a:off x="6492240" y="1965960"/>
            <a:ext cx="3566160" cy="274320"/>
          </a:xfrm>
          <a:prstGeom prst="rect">
            <a:avLst/>
          </a:prstGeom>
          <a:noFill/>
          <a:ln/>
        </p:spPr>
        <p:txBody>
          <a:bodyPr wrap="square" lIns="0" tIns="0" rIns="0" bIns="0"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Crate rental</a:t>
            </a:r>
            <a:endParaRPr lang="en-US" sz="1450" dirty="0"/>
          </a:p>
        </p:txBody>
      </p:sp>
      <p:sp>
        <p:nvSpPr>
          <p:cNvPr id="8" name="Text 5"/>
          <p:cNvSpPr/>
          <p:nvPr/>
        </p:nvSpPr>
        <p:spPr>
          <a:xfrm>
            <a:off x="10058400" y="1965960"/>
            <a:ext cx="1463040" cy="274320"/>
          </a:xfrm>
          <a:prstGeom prst="rect">
            <a:avLst/>
          </a:prstGeom>
          <a:noFill/>
          <a:ln/>
        </p:spPr>
        <p:txBody>
          <a:bodyPr wrap="square" lIns="0" tIns="0" rIns="0" bIns="0" rtlCol="0" anchor="ctr"/>
          <a:lstStyle/>
          <a:p>
            <a:pPr algn="r" indent="0" marL="0">
              <a:buNone/>
            </a:pPr>
            <a:r>
              <a:rPr lang="en-US" sz="1450" b="1" dirty="0">
                <a:solidFill>
                  <a:srgbClr val="2E7D5B"/>
                </a:solidFill>
                <a:latin typeface="Cambria" pitchFamily="34" charset="0"/>
                <a:ea typeface="Cambria" pitchFamily="34" charset="-122"/>
                <a:cs typeface="Cambria" pitchFamily="34" charset="-120"/>
              </a:rPr>
              <a:t>PKR 54,000</a:t>
            </a:r>
            <a:endParaRPr lang="en-US" sz="1450" dirty="0"/>
          </a:p>
        </p:txBody>
      </p:sp>
      <p:sp>
        <p:nvSpPr>
          <p:cNvPr id="9" name="Text 6"/>
          <p:cNvSpPr/>
          <p:nvPr/>
        </p:nvSpPr>
        <p:spPr>
          <a:xfrm>
            <a:off x="6492240" y="2258568"/>
            <a:ext cx="5029200" cy="54864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250 crate capacity at 60 percent average occupancy, PKR 12 a day</a:t>
            </a:r>
            <a:endParaRPr lang="en-US" sz="1100" dirty="0"/>
          </a:p>
        </p:txBody>
      </p:sp>
      <p:sp>
        <p:nvSpPr>
          <p:cNvPr id="10" name="Text 7"/>
          <p:cNvSpPr/>
          <p:nvPr/>
        </p:nvSpPr>
        <p:spPr>
          <a:xfrm>
            <a:off x="6492240" y="2935224"/>
            <a:ext cx="3566160" cy="274320"/>
          </a:xfrm>
          <a:prstGeom prst="rect">
            <a:avLst/>
          </a:prstGeom>
          <a:noFill/>
          <a:ln/>
        </p:spPr>
        <p:txBody>
          <a:bodyPr wrap="square" lIns="0" tIns="0" rIns="0" bIns="0"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Aggregation margin</a:t>
            </a:r>
            <a:endParaRPr lang="en-US" sz="1450" dirty="0"/>
          </a:p>
        </p:txBody>
      </p:sp>
      <p:sp>
        <p:nvSpPr>
          <p:cNvPr id="11" name="Text 8"/>
          <p:cNvSpPr/>
          <p:nvPr/>
        </p:nvSpPr>
        <p:spPr>
          <a:xfrm>
            <a:off x="10058400" y="2935224"/>
            <a:ext cx="1463040" cy="274320"/>
          </a:xfrm>
          <a:prstGeom prst="rect">
            <a:avLst/>
          </a:prstGeom>
          <a:noFill/>
          <a:ln/>
        </p:spPr>
        <p:txBody>
          <a:bodyPr wrap="square" lIns="0" tIns="0" rIns="0" bIns="0" rtlCol="0" anchor="ctr"/>
          <a:lstStyle/>
          <a:p>
            <a:pPr algn="r" indent="0" marL="0">
              <a:buNone/>
            </a:pPr>
            <a:r>
              <a:rPr lang="en-US" sz="1450" b="1" dirty="0">
                <a:solidFill>
                  <a:srgbClr val="2E7D5B"/>
                </a:solidFill>
                <a:latin typeface="Cambria" pitchFamily="34" charset="0"/>
                <a:ea typeface="Cambria" pitchFamily="34" charset="-122"/>
                <a:cs typeface="Cambria" pitchFamily="34" charset="-120"/>
              </a:rPr>
              <a:t>PKR 63,000</a:t>
            </a:r>
            <a:endParaRPr lang="en-US" sz="1450" dirty="0"/>
          </a:p>
        </p:txBody>
      </p:sp>
      <p:sp>
        <p:nvSpPr>
          <p:cNvPr id="12" name="Text 9"/>
          <p:cNvSpPr/>
          <p:nvPr/>
        </p:nvSpPr>
        <p:spPr>
          <a:xfrm>
            <a:off x="6492240" y="3227832"/>
            <a:ext cx="5029200" cy="54864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15 tonnes handled a month, 7 percent on a PKR 60 per kg value</a:t>
            </a:r>
            <a:endParaRPr lang="en-US" sz="1100" dirty="0"/>
          </a:p>
        </p:txBody>
      </p:sp>
      <p:sp>
        <p:nvSpPr>
          <p:cNvPr id="13" name="Text 10"/>
          <p:cNvSpPr/>
          <p:nvPr/>
        </p:nvSpPr>
        <p:spPr>
          <a:xfrm>
            <a:off x="6492240" y="3904488"/>
            <a:ext cx="3566160" cy="274320"/>
          </a:xfrm>
          <a:prstGeom prst="rect">
            <a:avLst/>
          </a:prstGeom>
          <a:noFill/>
          <a:ln/>
        </p:spPr>
        <p:txBody>
          <a:bodyPr wrap="square" lIns="0" tIns="0" rIns="0" bIns="0"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Running costs</a:t>
            </a:r>
            <a:endParaRPr lang="en-US" sz="1450" dirty="0"/>
          </a:p>
        </p:txBody>
      </p:sp>
      <p:sp>
        <p:nvSpPr>
          <p:cNvPr id="14" name="Text 11"/>
          <p:cNvSpPr/>
          <p:nvPr/>
        </p:nvSpPr>
        <p:spPr>
          <a:xfrm>
            <a:off x="10058400" y="3904488"/>
            <a:ext cx="1463040" cy="274320"/>
          </a:xfrm>
          <a:prstGeom prst="rect">
            <a:avLst/>
          </a:prstGeom>
          <a:noFill/>
          <a:ln/>
        </p:spPr>
        <p:txBody>
          <a:bodyPr wrap="square" lIns="0" tIns="0" rIns="0" bIns="0" rtlCol="0" anchor="ctr"/>
          <a:lstStyle/>
          <a:p>
            <a:pPr algn="r" indent="0" marL="0">
              <a:buNone/>
            </a:pPr>
            <a:r>
              <a:rPr lang="en-US" sz="1450" b="1" dirty="0">
                <a:solidFill>
                  <a:srgbClr val="C9552E"/>
                </a:solidFill>
                <a:latin typeface="Cambria" pitchFamily="34" charset="0"/>
                <a:ea typeface="Cambria" pitchFamily="34" charset="-122"/>
                <a:cs typeface="Cambria" pitchFamily="34" charset="-120"/>
              </a:rPr>
              <a:t>PKR 85,000</a:t>
            </a:r>
            <a:endParaRPr lang="en-US" sz="1450" dirty="0"/>
          </a:p>
        </p:txBody>
      </p:sp>
      <p:sp>
        <p:nvSpPr>
          <p:cNvPr id="15" name="Text 12"/>
          <p:cNvSpPr/>
          <p:nvPr/>
        </p:nvSpPr>
        <p:spPr>
          <a:xfrm>
            <a:off x="6492240" y="4197096"/>
            <a:ext cx="5029200" cy="54864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operator 30,000, loader 20,000, transport 15,000, maintenance 8,000, packaging 7,000, phone and misc 5,000</a:t>
            </a:r>
            <a:endParaRPr lang="en-US" sz="1100" dirty="0"/>
          </a:p>
        </p:txBody>
      </p:sp>
      <p:sp>
        <p:nvSpPr>
          <p:cNvPr id="16" name="Shape 13"/>
          <p:cNvSpPr/>
          <p:nvPr/>
        </p:nvSpPr>
        <p:spPr>
          <a:xfrm>
            <a:off x="6446520" y="4892040"/>
            <a:ext cx="5074920" cy="1325880"/>
          </a:xfrm>
          <a:prstGeom prst="roundRect">
            <a:avLst>
              <a:gd name="adj" fmla="val 5517"/>
            </a:avLst>
          </a:prstGeom>
          <a:solidFill>
            <a:srgbClr val="F2F5F1"/>
          </a:solidFill>
          <a:ln/>
          <a:effectLst>
            <a:outerShdw sx="100000" sy="100000" kx="0" ky="0" algn="bl" rotWithShape="0" blurRad="101600" dist="635" dir="5400000">
              <a:srgbClr val="9AA69E">
                <a:alpha val="12000"/>
              </a:srgbClr>
            </a:outerShdw>
          </a:effectLst>
        </p:spPr>
      </p:sp>
      <p:sp>
        <p:nvSpPr>
          <p:cNvPr id="17" name="Text 14"/>
          <p:cNvSpPr/>
          <p:nvPr/>
        </p:nvSpPr>
        <p:spPr>
          <a:xfrm>
            <a:off x="6766560" y="5029200"/>
            <a:ext cx="4480560" cy="27432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How it is funded, honestly</a:t>
            </a:r>
            <a:endParaRPr lang="en-US" sz="1400" dirty="0"/>
          </a:p>
        </p:txBody>
      </p:sp>
      <p:sp>
        <p:nvSpPr>
          <p:cNvPr id="18" name="Text 15"/>
          <p:cNvSpPr/>
          <p:nvPr/>
        </p:nvSpPr>
        <p:spPr>
          <a:xfrm>
            <a:off x="6766560" y="5321808"/>
            <a:ext cx="4480560" cy="822960"/>
          </a:xfrm>
          <a:prstGeom prst="rect">
            <a:avLst/>
          </a:prstGeom>
          <a:noFill/>
          <a:ln/>
        </p:spPr>
        <p:txBody>
          <a:bodyPr wrap="square" lIns="0" tIns="0" rIns="0" bIns="0" rtlCol="0" anchor="ctr"/>
          <a:lstStyle/>
          <a:p>
            <a:pPr indent="0" marL="0">
              <a:lnSpc>
                <a:spcPts val="1300"/>
              </a:lnSpc>
              <a:buNone/>
            </a:pPr>
            <a:r>
              <a:rPr lang="en-US" sz="1000" dirty="0">
                <a:solidFill>
                  <a:srgbClr val="5F6B63"/>
                </a:solidFill>
                <a:latin typeface="Calibri" pitchFamily="34" charset="0"/>
                <a:ea typeface="Calibri" pitchFamily="34" charset="-122"/>
                <a:cs typeface="Calibri" pitchFamily="34" charset="-120"/>
              </a:rPr>
              <a:t>At an estimated PKR 2.5 million to build, one unit repays itself in about six and a half years. That is too slow for an equity investor and normal for zakat, CSR or green financing capital. So we raise the building cost once as a grant, and the unit covers its own running costs from the first season and helps fund the next one.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10  WHAT ELSE IS OUT THERE</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Four things already serve this farmer.</a:t>
            </a:r>
            <a:endParaRPr lang="en-US" sz="3100" dirty="0"/>
          </a:p>
        </p:txBody>
      </p:sp>
      <p:sp>
        <p:nvSpPr>
          <p:cNvPr id="4" name="Text 2"/>
          <p:cNvSpPr/>
          <p:nvPr/>
        </p:nvSpPr>
        <p:spPr>
          <a:xfrm>
            <a:off x="640080" y="1280160"/>
            <a:ext cx="10881360" cy="347472"/>
          </a:xfrm>
          <a:prstGeom prst="rect">
            <a:avLst/>
          </a:prstGeom>
          <a:noFill/>
          <a:ln/>
        </p:spPr>
        <p:txBody>
          <a:bodyPr wrap="square" lIns="0" tIns="0" rIns="0" bIns="0" rtlCol="0" anchor="t"/>
          <a:lstStyle/>
          <a:p>
            <a:pPr indent="0" marL="0">
              <a:buNone/>
            </a:pPr>
            <a:r>
              <a:rPr lang="en-US" sz="1450" i="1" dirty="0">
                <a:solidFill>
                  <a:srgbClr val="5F6B63"/>
                </a:solidFill>
                <a:latin typeface="Calibri" pitchFamily="34" charset="0"/>
                <a:ea typeface="Calibri" pitchFamily="34" charset="-122"/>
                <a:cs typeface="Calibri" pitchFamily="34" charset="-120"/>
              </a:rPr>
              <a:t>None of them do what we are proposing to do.</a:t>
            </a:r>
            <a:endParaRPr lang="en-US" sz="1450" dirty="0"/>
          </a:p>
        </p:txBody>
      </p:sp>
      <p:sp>
        <p:nvSpPr>
          <p:cNvPr id="5" name="Shape 3"/>
          <p:cNvSpPr/>
          <p:nvPr/>
        </p:nvSpPr>
        <p:spPr>
          <a:xfrm>
            <a:off x="640080" y="1965960"/>
            <a:ext cx="5257800" cy="1828800"/>
          </a:xfrm>
          <a:prstGeom prst="roundRect">
            <a:avLst>
              <a:gd name="adj" fmla="val 4000"/>
            </a:avLst>
          </a:prstGeom>
          <a:solidFill>
            <a:srgbClr val="FFFFFF"/>
          </a:solidFill>
          <a:ln w="12700">
            <a:solidFill>
              <a:srgbClr val="D8E0DA"/>
            </a:solidFill>
            <a:prstDash val="solid"/>
          </a:ln>
        </p:spPr>
      </p:sp>
      <p:sp>
        <p:nvSpPr>
          <p:cNvPr id="6" name="Text 4"/>
          <p:cNvSpPr/>
          <p:nvPr/>
        </p:nvSpPr>
        <p:spPr>
          <a:xfrm>
            <a:off x="914400" y="2130552"/>
            <a:ext cx="4709160" cy="310896"/>
          </a:xfrm>
          <a:prstGeom prst="rect">
            <a:avLst/>
          </a:prstGeom>
          <a:noFill/>
          <a:ln/>
        </p:spPr>
        <p:txBody>
          <a:bodyPr wrap="square" lIns="0" tIns="0" rIns="0" bIns="0" rtlCol="0" anchor="t"/>
          <a:lstStyle/>
          <a:p>
            <a:pPr indent="0" marL="0">
              <a:buNone/>
            </a:pPr>
            <a:r>
              <a:rPr lang="en-US" sz="1600" b="1" dirty="0">
                <a:solidFill>
                  <a:srgbClr val="1A1A1A"/>
                </a:solidFill>
                <a:latin typeface="Cambria" pitchFamily="34" charset="0"/>
                <a:ea typeface="Cambria" pitchFamily="34" charset="-122"/>
                <a:cs typeface="Cambria" pitchFamily="34" charset="-120"/>
              </a:rPr>
              <a:t>Commercial cold storages</a:t>
            </a:r>
            <a:endParaRPr lang="en-US" sz="1600" dirty="0"/>
          </a:p>
        </p:txBody>
      </p:sp>
      <p:sp>
        <p:nvSpPr>
          <p:cNvPr id="7" name="Text 5"/>
          <p:cNvSpPr/>
          <p:nvPr/>
        </p:nvSpPr>
        <p:spPr>
          <a:xfrm>
            <a:off x="914400" y="2478024"/>
            <a:ext cx="4709160" cy="749808"/>
          </a:xfrm>
          <a:prstGeom prst="rect">
            <a:avLst/>
          </a:prstGeom>
          <a:noFill/>
          <a:ln/>
        </p:spPr>
        <p:txBody>
          <a:bodyPr wrap="square" lIns="0" tIns="0" rIns="0" bIns="0" rtlCol="0" anchor="t"/>
          <a:lstStyle/>
          <a:p>
            <a:pPr indent="0" marL="0">
              <a:lnSpc>
                <a:spcPts val="1500"/>
              </a:lnSpc>
              <a:buNone/>
            </a:pPr>
            <a:r>
              <a:rPr lang="en-US" sz="1150" dirty="0">
                <a:solidFill>
                  <a:srgbClr val="5F6B63"/>
                </a:solidFill>
                <a:latin typeface="Calibri" pitchFamily="34" charset="0"/>
                <a:ea typeface="Calibri" pitchFamily="34" charset="-122"/>
                <a:cs typeface="Calibri" pitchFamily="34" charset="-120"/>
              </a:rPr>
              <a:t>Around 555 units nationally. Built for traders on season contracts and truckload minimums, and sited near cities.</a:t>
            </a:r>
            <a:endParaRPr lang="en-US" sz="1150" dirty="0"/>
          </a:p>
        </p:txBody>
      </p:sp>
      <p:sp>
        <p:nvSpPr>
          <p:cNvPr id="8" name="Text 6"/>
          <p:cNvSpPr/>
          <p:nvPr/>
        </p:nvSpPr>
        <p:spPr>
          <a:xfrm>
            <a:off x="914400" y="3246120"/>
            <a:ext cx="4709160" cy="411480"/>
          </a:xfrm>
          <a:prstGeom prst="rect">
            <a:avLst/>
          </a:prstGeom>
          <a:noFill/>
          <a:ln/>
        </p:spPr>
        <p:txBody>
          <a:bodyPr wrap="square" lIns="0" tIns="0" rIns="0" bIns="0" rtlCol="0" anchor="t"/>
          <a:lstStyle/>
          <a:p>
            <a:pPr indent="0" marL="0">
              <a:lnSpc>
                <a:spcPts val="1500"/>
              </a:lnSpc>
              <a:buNone/>
            </a:pPr>
            <a:r>
              <a:rPr lang="en-US" sz="1150" b="1" i="1" dirty="0">
                <a:solidFill>
                  <a:srgbClr val="E4572E"/>
                </a:solidFill>
                <a:latin typeface="Calibri" pitchFamily="34" charset="0"/>
                <a:ea typeface="Calibri" pitchFamily="34" charset="-122"/>
                <a:cs typeface="Calibri" pitchFamily="34" charset="-120"/>
              </a:rPr>
              <a:t>Cannot take ten crates for ten days.</a:t>
            </a:r>
            <a:endParaRPr lang="en-US" sz="1150" dirty="0"/>
          </a:p>
        </p:txBody>
      </p:sp>
      <p:sp>
        <p:nvSpPr>
          <p:cNvPr id="9" name="Shape 7"/>
          <p:cNvSpPr/>
          <p:nvPr/>
        </p:nvSpPr>
        <p:spPr>
          <a:xfrm>
            <a:off x="6263640" y="1965960"/>
            <a:ext cx="5257800" cy="1828800"/>
          </a:xfrm>
          <a:prstGeom prst="roundRect">
            <a:avLst>
              <a:gd name="adj" fmla="val 4000"/>
            </a:avLst>
          </a:prstGeom>
          <a:solidFill>
            <a:srgbClr val="FFFFFF"/>
          </a:solidFill>
          <a:ln w="12700">
            <a:solidFill>
              <a:srgbClr val="D8E0DA"/>
            </a:solidFill>
            <a:prstDash val="solid"/>
          </a:ln>
        </p:spPr>
      </p:sp>
      <p:sp>
        <p:nvSpPr>
          <p:cNvPr id="10" name="Text 8"/>
          <p:cNvSpPr/>
          <p:nvPr/>
        </p:nvSpPr>
        <p:spPr>
          <a:xfrm>
            <a:off x="6537960" y="2130552"/>
            <a:ext cx="4709160" cy="310896"/>
          </a:xfrm>
          <a:prstGeom prst="rect">
            <a:avLst/>
          </a:prstGeom>
          <a:noFill/>
          <a:ln/>
        </p:spPr>
        <p:txBody>
          <a:bodyPr wrap="square" lIns="0" tIns="0" rIns="0" bIns="0" rtlCol="0" anchor="t"/>
          <a:lstStyle/>
          <a:p>
            <a:pPr indent="0" marL="0">
              <a:buNone/>
            </a:pPr>
            <a:r>
              <a:rPr lang="en-US" sz="1600" b="1" dirty="0">
                <a:solidFill>
                  <a:srgbClr val="1A1A1A"/>
                </a:solidFill>
                <a:latin typeface="Cambria" pitchFamily="34" charset="0"/>
                <a:ea typeface="Cambria" pitchFamily="34" charset="-122"/>
                <a:cs typeface="Cambria" pitchFamily="34" charset="-120"/>
              </a:rPr>
              <a:t>Agritech marketplaces</a:t>
            </a:r>
            <a:endParaRPr lang="en-US" sz="1600" dirty="0"/>
          </a:p>
        </p:txBody>
      </p:sp>
      <p:sp>
        <p:nvSpPr>
          <p:cNvPr id="11" name="Text 9"/>
          <p:cNvSpPr/>
          <p:nvPr/>
        </p:nvSpPr>
        <p:spPr>
          <a:xfrm>
            <a:off x="6537960" y="2478024"/>
            <a:ext cx="4709160" cy="749808"/>
          </a:xfrm>
          <a:prstGeom prst="rect">
            <a:avLst/>
          </a:prstGeom>
          <a:noFill/>
          <a:ln/>
        </p:spPr>
        <p:txBody>
          <a:bodyPr wrap="square" lIns="0" tIns="0" rIns="0" bIns="0" rtlCol="0" anchor="t"/>
          <a:lstStyle/>
          <a:p>
            <a:pPr indent="0" marL="0">
              <a:lnSpc>
                <a:spcPts val="1500"/>
              </a:lnSpc>
              <a:buNone/>
            </a:pPr>
            <a:r>
              <a:rPr lang="en-US" sz="1150" dirty="0">
                <a:solidFill>
                  <a:srgbClr val="5F6B63"/>
                </a:solidFill>
                <a:latin typeface="Calibri" pitchFamily="34" charset="0"/>
                <a:ea typeface="Calibri" pitchFamily="34" charset="-122"/>
                <a:cs typeface="Calibri" pitchFamily="34" charset="-120"/>
              </a:rPr>
              <a:t>Tazah, Bazaar and others matched buyers and sellers digitally. Tazah has since pivoted away from local agri trade twice.</a:t>
            </a:r>
            <a:endParaRPr lang="en-US" sz="1150" dirty="0"/>
          </a:p>
        </p:txBody>
      </p:sp>
      <p:sp>
        <p:nvSpPr>
          <p:cNvPr id="12" name="Text 10"/>
          <p:cNvSpPr/>
          <p:nvPr/>
        </p:nvSpPr>
        <p:spPr>
          <a:xfrm>
            <a:off x="6537960" y="3246120"/>
            <a:ext cx="4709160" cy="411480"/>
          </a:xfrm>
          <a:prstGeom prst="rect">
            <a:avLst/>
          </a:prstGeom>
          <a:noFill/>
          <a:ln/>
        </p:spPr>
        <p:txBody>
          <a:bodyPr wrap="square" lIns="0" tIns="0" rIns="0" bIns="0" rtlCol="0" anchor="t"/>
          <a:lstStyle/>
          <a:p>
            <a:pPr indent="0" marL="0">
              <a:lnSpc>
                <a:spcPts val="1500"/>
              </a:lnSpc>
              <a:buNone/>
            </a:pPr>
            <a:r>
              <a:rPr lang="en-US" sz="1150" b="1" i="1" dirty="0">
                <a:solidFill>
                  <a:srgbClr val="E4572E"/>
                </a:solidFill>
                <a:latin typeface="Calibri" pitchFamily="34" charset="0"/>
                <a:ea typeface="Calibri" pitchFamily="34" charset="-122"/>
                <a:cs typeface="Calibri" pitchFamily="34" charset="-120"/>
              </a:rPr>
              <a:t>They move produce. They do not fix where it waits.</a:t>
            </a:r>
            <a:endParaRPr lang="en-US" sz="1150" dirty="0"/>
          </a:p>
        </p:txBody>
      </p:sp>
      <p:sp>
        <p:nvSpPr>
          <p:cNvPr id="13" name="Shape 11"/>
          <p:cNvSpPr/>
          <p:nvPr/>
        </p:nvSpPr>
        <p:spPr>
          <a:xfrm>
            <a:off x="640080" y="3977640"/>
            <a:ext cx="5257800" cy="1828800"/>
          </a:xfrm>
          <a:prstGeom prst="roundRect">
            <a:avLst>
              <a:gd name="adj" fmla="val 4000"/>
            </a:avLst>
          </a:prstGeom>
          <a:solidFill>
            <a:srgbClr val="FFFFFF"/>
          </a:solidFill>
          <a:ln w="12700">
            <a:solidFill>
              <a:srgbClr val="D8E0DA"/>
            </a:solidFill>
            <a:prstDash val="solid"/>
          </a:ln>
        </p:spPr>
      </p:sp>
      <p:sp>
        <p:nvSpPr>
          <p:cNvPr id="14" name="Text 12"/>
          <p:cNvSpPr/>
          <p:nvPr/>
        </p:nvSpPr>
        <p:spPr>
          <a:xfrm>
            <a:off x="914400" y="4142232"/>
            <a:ext cx="4709160" cy="310896"/>
          </a:xfrm>
          <a:prstGeom prst="rect">
            <a:avLst/>
          </a:prstGeom>
          <a:noFill/>
          <a:ln/>
        </p:spPr>
        <p:txBody>
          <a:bodyPr wrap="square" lIns="0" tIns="0" rIns="0" bIns="0" rtlCol="0" anchor="t"/>
          <a:lstStyle/>
          <a:p>
            <a:pPr indent="0" marL="0">
              <a:buNone/>
            </a:pPr>
            <a:r>
              <a:rPr lang="en-US" sz="1600" b="1" dirty="0">
                <a:solidFill>
                  <a:srgbClr val="1A1A1A"/>
                </a:solidFill>
                <a:latin typeface="Cambria" pitchFamily="34" charset="0"/>
                <a:ea typeface="Cambria" pitchFamily="34" charset="-122"/>
                <a:cs typeface="Cambria" pitchFamily="34" charset="-120"/>
              </a:rPr>
              <a:t>Government and donor schemes</a:t>
            </a:r>
            <a:endParaRPr lang="en-US" sz="1600" dirty="0"/>
          </a:p>
        </p:txBody>
      </p:sp>
      <p:sp>
        <p:nvSpPr>
          <p:cNvPr id="15" name="Text 13"/>
          <p:cNvSpPr/>
          <p:nvPr/>
        </p:nvSpPr>
        <p:spPr>
          <a:xfrm>
            <a:off x="914400" y="4489704"/>
            <a:ext cx="4709160" cy="749808"/>
          </a:xfrm>
          <a:prstGeom prst="rect">
            <a:avLst/>
          </a:prstGeom>
          <a:noFill/>
          <a:ln/>
        </p:spPr>
        <p:txBody>
          <a:bodyPr wrap="square" lIns="0" tIns="0" rIns="0" bIns="0" rtlCol="0" anchor="t"/>
          <a:lstStyle/>
          <a:p>
            <a:pPr indent="0" marL="0">
              <a:lnSpc>
                <a:spcPts val="1500"/>
              </a:lnSpc>
              <a:buNone/>
            </a:pPr>
            <a:r>
              <a:rPr lang="en-US" sz="1150" dirty="0">
                <a:solidFill>
                  <a:srgbClr val="5F6B63"/>
                </a:solidFill>
                <a:latin typeface="Calibri" pitchFamily="34" charset="0"/>
                <a:ea typeface="Calibri" pitchFamily="34" charset="-122"/>
                <a:cs typeface="Calibri" pitchFamily="34" charset="-120"/>
              </a:rPr>
              <a:t>Cold chain grants and subsidised storage funds exist and are useful.</a:t>
            </a:r>
            <a:endParaRPr lang="en-US" sz="1150" dirty="0"/>
          </a:p>
        </p:txBody>
      </p:sp>
      <p:sp>
        <p:nvSpPr>
          <p:cNvPr id="16" name="Text 14"/>
          <p:cNvSpPr/>
          <p:nvPr/>
        </p:nvSpPr>
        <p:spPr>
          <a:xfrm>
            <a:off x="914400" y="5257800"/>
            <a:ext cx="4709160" cy="411480"/>
          </a:xfrm>
          <a:prstGeom prst="rect">
            <a:avLst/>
          </a:prstGeom>
          <a:noFill/>
          <a:ln/>
        </p:spPr>
        <p:txBody>
          <a:bodyPr wrap="square" lIns="0" tIns="0" rIns="0" bIns="0" rtlCol="0" anchor="t"/>
          <a:lstStyle/>
          <a:p>
            <a:pPr indent="0" marL="0">
              <a:lnSpc>
                <a:spcPts val="1500"/>
              </a:lnSpc>
              <a:buNone/>
            </a:pPr>
            <a:r>
              <a:rPr lang="en-US" sz="1150" b="1" i="1" dirty="0">
                <a:solidFill>
                  <a:srgbClr val="E4572E"/>
                </a:solidFill>
                <a:latin typeface="Calibri" pitchFamily="34" charset="0"/>
                <a:ea typeface="Calibri" pitchFamily="34" charset="-122"/>
                <a:cs typeface="Calibri" pitchFamily="34" charset="-120"/>
              </a:rPr>
              <a:t>The capacity added is small next to a 40 percent loss.</a:t>
            </a:r>
            <a:endParaRPr lang="en-US" sz="1150" dirty="0"/>
          </a:p>
        </p:txBody>
      </p:sp>
      <p:sp>
        <p:nvSpPr>
          <p:cNvPr id="17" name="Shape 15"/>
          <p:cNvSpPr/>
          <p:nvPr/>
        </p:nvSpPr>
        <p:spPr>
          <a:xfrm>
            <a:off x="6263640" y="3977640"/>
            <a:ext cx="5257800" cy="1828800"/>
          </a:xfrm>
          <a:prstGeom prst="roundRect">
            <a:avLst>
              <a:gd name="adj" fmla="val 4000"/>
            </a:avLst>
          </a:prstGeom>
          <a:solidFill>
            <a:srgbClr val="F2F5F1"/>
          </a:solidFill>
          <a:ln w="12700">
            <a:solidFill>
              <a:srgbClr val="D8E0DA"/>
            </a:solidFill>
            <a:prstDash val="solid"/>
          </a:ln>
        </p:spPr>
      </p:sp>
      <p:sp>
        <p:nvSpPr>
          <p:cNvPr id="18" name="Text 16"/>
          <p:cNvSpPr/>
          <p:nvPr/>
        </p:nvSpPr>
        <p:spPr>
          <a:xfrm>
            <a:off x="6537960" y="4142232"/>
            <a:ext cx="4709160" cy="310896"/>
          </a:xfrm>
          <a:prstGeom prst="rect">
            <a:avLst/>
          </a:prstGeom>
          <a:noFill/>
          <a:ln/>
        </p:spPr>
        <p:txBody>
          <a:bodyPr wrap="square" lIns="0" tIns="0" rIns="0" bIns="0" rtlCol="0" anchor="t"/>
          <a:lstStyle/>
          <a:p>
            <a:pPr indent="0" marL="0">
              <a:buNone/>
            </a:pPr>
            <a:r>
              <a:rPr lang="en-US" sz="1600" b="1" dirty="0">
                <a:solidFill>
                  <a:srgbClr val="1A1A1A"/>
                </a:solidFill>
                <a:latin typeface="Cambria" pitchFamily="34" charset="0"/>
                <a:ea typeface="Cambria" pitchFamily="34" charset="-122"/>
                <a:cs typeface="Cambria" pitchFamily="34" charset="-120"/>
              </a:rPr>
              <a:t>The commission agent</a:t>
            </a:r>
            <a:endParaRPr lang="en-US" sz="1600" dirty="0"/>
          </a:p>
        </p:txBody>
      </p:sp>
      <p:sp>
        <p:nvSpPr>
          <p:cNvPr id="19" name="Text 17"/>
          <p:cNvSpPr/>
          <p:nvPr/>
        </p:nvSpPr>
        <p:spPr>
          <a:xfrm>
            <a:off x="6537960" y="4489704"/>
            <a:ext cx="4709160" cy="749808"/>
          </a:xfrm>
          <a:prstGeom prst="rect">
            <a:avLst/>
          </a:prstGeom>
          <a:noFill/>
          <a:ln/>
        </p:spPr>
        <p:txBody>
          <a:bodyPr wrap="square" lIns="0" tIns="0" rIns="0" bIns="0" rtlCol="0" anchor="t"/>
          <a:lstStyle/>
          <a:p>
            <a:pPr indent="0" marL="0">
              <a:lnSpc>
                <a:spcPts val="1500"/>
              </a:lnSpc>
              <a:buNone/>
            </a:pPr>
            <a:r>
              <a:rPr lang="en-US" sz="1150" dirty="0">
                <a:solidFill>
                  <a:srgbClr val="5F6B63"/>
                </a:solidFill>
                <a:latin typeface="Calibri" pitchFamily="34" charset="0"/>
                <a:ea typeface="Calibri" pitchFamily="34" charset="-122"/>
                <a:cs typeface="Calibri" pitchFamily="34" charset="-120"/>
              </a:rPr>
              <a:t>He advances credit before sowing and guarantees offtake at harvest. That is real value, and PIDE is right that he is not simply a villain.</a:t>
            </a:r>
            <a:endParaRPr lang="en-US" sz="1150" dirty="0"/>
          </a:p>
        </p:txBody>
      </p:sp>
      <p:sp>
        <p:nvSpPr>
          <p:cNvPr id="20" name="Text 18"/>
          <p:cNvSpPr/>
          <p:nvPr/>
        </p:nvSpPr>
        <p:spPr>
          <a:xfrm>
            <a:off x="6537960" y="5257800"/>
            <a:ext cx="4709160" cy="411480"/>
          </a:xfrm>
          <a:prstGeom prst="rect">
            <a:avLst/>
          </a:prstGeom>
          <a:noFill/>
          <a:ln/>
        </p:spPr>
        <p:txBody>
          <a:bodyPr wrap="square" lIns="0" tIns="0" rIns="0" bIns="0" rtlCol="0" anchor="t"/>
          <a:lstStyle/>
          <a:p>
            <a:pPr indent="0" marL="0">
              <a:lnSpc>
                <a:spcPts val="1500"/>
              </a:lnSpc>
              <a:buNone/>
            </a:pPr>
            <a:r>
              <a:rPr lang="en-US" sz="1150" b="1" i="1" dirty="0">
                <a:solidFill>
                  <a:srgbClr val="E4572E"/>
                </a:solidFill>
                <a:latin typeface="Calibri" pitchFamily="34" charset="0"/>
                <a:ea typeface="Calibri" pitchFamily="34" charset="-122"/>
                <a:cs typeface="Calibri" pitchFamily="34" charset="-120"/>
              </a:rPr>
              <a:t>We do not replace him. We rent him crate space at the same rate.</a:t>
            </a:r>
            <a:endParaRPr lang="en-US" sz="1150" dirty="0"/>
          </a:p>
        </p:txBody>
      </p:sp>
      <p:sp>
        <p:nvSpPr>
          <p:cNvPr id="21" name="Text 19"/>
          <p:cNvSpPr/>
          <p:nvPr/>
        </p:nvSpPr>
        <p:spPr>
          <a:xfrm>
            <a:off x="640080" y="6172200"/>
            <a:ext cx="10881360" cy="365760"/>
          </a:xfrm>
          <a:prstGeom prst="rect">
            <a:avLst/>
          </a:prstGeom>
          <a:noFill/>
          <a:ln/>
        </p:spPr>
        <p:txBody>
          <a:bodyPr wrap="square" lIns="0" tIns="0" rIns="0" bIns="0" rtlCol="0" anchor="t"/>
          <a:lstStyle/>
          <a:p>
            <a:pPr indent="0" marL="0">
              <a:buNone/>
            </a:pPr>
            <a:r>
              <a:rPr lang="en-US" sz="1500" b="1" dirty="0">
                <a:solidFill>
                  <a:srgbClr val="14392A"/>
                </a:solidFill>
                <a:latin typeface="Cambria" pitchFamily="34" charset="0"/>
                <a:ea typeface="Cambria" pitchFamily="34" charset="-122"/>
                <a:cs typeface="Cambria" pitchFamily="34" charset="-120"/>
              </a:rPr>
              <a:t>The only storage in the chain priced by the crate, by the day, and sited where the crop is picked.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11  LAUNCH AND MARKETING</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Village marketing is not digital ads.</a:t>
            </a:r>
            <a:endParaRPr lang="en-US" sz="3100" dirty="0"/>
          </a:p>
        </p:txBody>
      </p:sp>
      <p:sp>
        <p:nvSpPr>
          <p:cNvPr id="4" name="Shape 2"/>
          <p:cNvSpPr/>
          <p:nvPr/>
        </p:nvSpPr>
        <p:spPr>
          <a:xfrm>
            <a:off x="640080" y="1920240"/>
            <a:ext cx="3520440" cy="1783080"/>
          </a:xfrm>
          <a:prstGeom prst="roundRect">
            <a:avLst>
              <a:gd name="adj" fmla="val 4103"/>
            </a:avLst>
          </a:prstGeom>
          <a:solidFill>
            <a:srgbClr val="FFFFFF"/>
          </a:solidFill>
          <a:ln w="12700">
            <a:solidFill>
              <a:srgbClr val="D8E0DA"/>
            </a:solidFill>
            <a:prstDash val="solid"/>
          </a:ln>
        </p:spPr>
      </p:sp>
      <p:sp>
        <p:nvSpPr>
          <p:cNvPr id="5" name="Shape 3"/>
          <p:cNvSpPr/>
          <p:nvPr/>
        </p:nvSpPr>
        <p:spPr>
          <a:xfrm>
            <a:off x="896112" y="2139696"/>
            <a:ext cx="365760" cy="365760"/>
          </a:xfrm>
          <a:prstGeom prst="ellipse">
            <a:avLst/>
          </a:prstGeom>
          <a:solidFill>
            <a:srgbClr val="2E7D5B"/>
          </a:solidFill>
          <a:ln/>
        </p:spPr>
      </p:sp>
      <p:sp>
        <p:nvSpPr>
          <p:cNvPr id="6" name="Text 4"/>
          <p:cNvSpPr/>
          <p:nvPr/>
        </p:nvSpPr>
        <p:spPr>
          <a:xfrm>
            <a:off x="896112" y="2139696"/>
            <a:ext cx="3657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7" name="Text 5"/>
          <p:cNvSpPr/>
          <p:nvPr/>
        </p:nvSpPr>
        <p:spPr>
          <a:xfrm>
            <a:off x="1353312" y="2139696"/>
            <a:ext cx="2606040" cy="384048"/>
          </a:xfrm>
          <a:prstGeom prst="rect">
            <a:avLst/>
          </a:prstGeom>
          <a:noFill/>
          <a:ln/>
        </p:spPr>
        <p:txBody>
          <a:bodyPr wrap="square" lIns="0" tIns="0" rIns="0" bIns="0" rtlCol="0" anchor="ctr"/>
          <a:lstStyle/>
          <a:p>
            <a:pPr indent="0" marL="0">
              <a:lnSpc>
                <a:spcPts val="1700"/>
              </a:lnSpc>
              <a:buNone/>
            </a:pPr>
            <a:r>
              <a:rPr lang="en-US" sz="1400" b="1" dirty="0">
                <a:solidFill>
                  <a:srgbClr val="1A1A1A"/>
                </a:solidFill>
                <a:latin typeface="Cambria" pitchFamily="34" charset="0"/>
                <a:ea typeface="Cambria" pitchFamily="34" charset="-122"/>
                <a:cs typeface="Cambria" pitchFamily="34" charset="-120"/>
              </a:rPr>
              <a:t>Friday announcement</a:t>
            </a:r>
            <a:endParaRPr lang="en-US" sz="1400" dirty="0"/>
          </a:p>
        </p:txBody>
      </p:sp>
      <p:sp>
        <p:nvSpPr>
          <p:cNvPr id="8" name="Text 6"/>
          <p:cNvSpPr/>
          <p:nvPr/>
        </p:nvSpPr>
        <p:spPr>
          <a:xfrm>
            <a:off x="896112" y="2633472"/>
            <a:ext cx="3017520" cy="96012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A two minute announcement after Friday prayers in three village mosques, made by someone the village already knows.</a:t>
            </a:r>
            <a:endParaRPr lang="en-US" sz="1100" dirty="0"/>
          </a:p>
        </p:txBody>
      </p:sp>
      <p:sp>
        <p:nvSpPr>
          <p:cNvPr id="9" name="Shape 7"/>
          <p:cNvSpPr/>
          <p:nvPr/>
        </p:nvSpPr>
        <p:spPr>
          <a:xfrm>
            <a:off x="4315968" y="1920240"/>
            <a:ext cx="3520440" cy="1783080"/>
          </a:xfrm>
          <a:prstGeom prst="roundRect">
            <a:avLst>
              <a:gd name="adj" fmla="val 4103"/>
            </a:avLst>
          </a:prstGeom>
          <a:solidFill>
            <a:srgbClr val="FFFFFF"/>
          </a:solidFill>
          <a:ln w="12700">
            <a:solidFill>
              <a:srgbClr val="D8E0DA"/>
            </a:solidFill>
            <a:prstDash val="solid"/>
          </a:ln>
        </p:spPr>
      </p:sp>
      <p:sp>
        <p:nvSpPr>
          <p:cNvPr id="10" name="Shape 8"/>
          <p:cNvSpPr/>
          <p:nvPr/>
        </p:nvSpPr>
        <p:spPr>
          <a:xfrm>
            <a:off x="4572000" y="2139696"/>
            <a:ext cx="365760" cy="365760"/>
          </a:xfrm>
          <a:prstGeom prst="ellipse">
            <a:avLst/>
          </a:prstGeom>
          <a:solidFill>
            <a:srgbClr val="2E7D5B"/>
          </a:solidFill>
          <a:ln/>
        </p:spPr>
      </p:sp>
      <p:sp>
        <p:nvSpPr>
          <p:cNvPr id="11" name="Text 9"/>
          <p:cNvSpPr/>
          <p:nvPr/>
        </p:nvSpPr>
        <p:spPr>
          <a:xfrm>
            <a:off x="4572000" y="2139696"/>
            <a:ext cx="3657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2" name="Text 10"/>
          <p:cNvSpPr/>
          <p:nvPr/>
        </p:nvSpPr>
        <p:spPr>
          <a:xfrm>
            <a:off x="5029200" y="2139696"/>
            <a:ext cx="2606040" cy="384048"/>
          </a:xfrm>
          <a:prstGeom prst="rect">
            <a:avLst/>
          </a:prstGeom>
          <a:noFill/>
          <a:ln/>
        </p:spPr>
        <p:txBody>
          <a:bodyPr wrap="square" lIns="0" tIns="0" rIns="0" bIns="0" rtlCol="0" anchor="ctr"/>
          <a:lstStyle/>
          <a:p>
            <a:pPr indent="0" marL="0">
              <a:lnSpc>
                <a:spcPts val="1700"/>
              </a:lnSpc>
              <a:buNone/>
            </a:pPr>
            <a:r>
              <a:rPr lang="en-US" sz="1400" b="1" dirty="0">
                <a:solidFill>
                  <a:srgbClr val="1A1A1A"/>
                </a:solidFill>
                <a:latin typeface="Cambria" pitchFamily="34" charset="0"/>
                <a:ea typeface="Cambria" pitchFamily="34" charset="-122"/>
                <a:cs typeface="Cambria" pitchFamily="34" charset="-120"/>
              </a:rPr>
              <a:t>The input dealer's shop</a:t>
            </a:r>
            <a:endParaRPr lang="en-US" sz="1400" dirty="0"/>
          </a:p>
        </p:txBody>
      </p:sp>
      <p:sp>
        <p:nvSpPr>
          <p:cNvPr id="13" name="Text 11"/>
          <p:cNvSpPr/>
          <p:nvPr/>
        </p:nvSpPr>
        <p:spPr>
          <a:xfrm>
            <a:off x="4572000" y="2633472"/>
            <a:ext cx="3017520" cy="96012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Every grower visits the seed and fertiliser shop. A small stall and a signboard there reaches more people than any advertisement.</a:t>
            </a:r>
            <a:endParaRPr lang="en-US" sz="1100" dirty="0"/>
          </a:p>
        </p:txBody>
      </p:sp>
      <p:sp>
        <p:nvSpPr>
          <p:cNvPr id="14" name="Shape 12"/>
          <p:cNvSpPr/>
          <p:nvPr/>
        </p:nvSpPr>
        <p:spPr>
          <a:xfrm>
            <a:off x="7991856" y="1920240"/>
            <a:ext cx="3520440" cy="1783080"/>
          </a:xfrm>
          <a:prstGeom prst="roundRect">
            <a:avLst>
              <a:gd name="adj" fmla="val 4103"/>
            </a:avLst>
          </a:prstGeom>
          <a:solidFill>
            <a:srgbClr val="FFFFFF"/>
          </a:solidFill>
          <a:ln w="12700">
            <a:solidFill>
              <a:srgbClr val="D8E0DA"/>
            </a:solidFill>
            <a:prstDash val="solid"/>
          </a:ln>
        </p:spPr>
      </p:sp>
      <p:sp>
        <p:nvSpPr>
          <p:cNvPr id="15" name="Shape 13"/>
          <p:cNvSpPr/>
          <p:nvPr/>
        </p:nvSpPr>
        <p:spPr>
          <a:xfrm>
            <a:off x="8247888" y="2139696"/>
            <a:ext cx="365760" cy="365760"/>
          </a:xfrm>
          <a:prstGeom prst="ellipse">
            <a:avLst/>
          </a:prstGeom>
          <a:solidFill>
            <a:srgbClr val="2E7D5B"/>
          </a:solidFill>
          <a:ln/>
        </p:spPr>
      </p:sp>
      <p:sp>
        <p:nvSpPr>
          <p:cNvPr id="16" name="Text 14"/>
          <p:cNvSpPr/>
          <p:nvPr/>
        </p:nvSpPr>
        <p:spPr>
          <a:xfrm>
            <a:off x="8247888" y="2139696"/>
            <a:ext cx="3657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7" name="Text 15"/>
          <p:cNvSpPr/>
          <p:nvPr/>
        </p:nvSpPr>
        <p:spPr>
          <a:xfrm>
            <a:off x="8705088" y="2139696"/>
            <a:ext cx="2606040" cy="384048"/>
          </a:xfrm>
          <a:prstGeom prst="rect">
            <a:avLst/>
          </a:prstGeom>
          <a:noFill/>
          <a:ln/>
        </p:spPr>
        <p:txBody>
          <a:bodyPr wrap="square" lIns="0" tIns="0" rIns="0" bIns="0" rtlCol="0" anchor="ctr"/>
          <a:lstStyle/>
          <a:p>
            <a:pPr indent="0" marL="0">
              <a:lnSpc>
                <a:spcPts val="1700"/>
              </a:lnSpc>
              <a:buNone/>
            </a:pPr>
            <a:r>
              <a:rPr lang="en-US" sz="1400" b="1" dirty="0">
                <a:solidFill>
                  <a:srgbClr val="1A1A1A"/>
                </a:solidFill>
                <a:latin typeface="Cambria" pitchFamily="34" charset="0"/>
                <a:ea typeface="Cambria" pitchFamily="34" charset="-122"/>
                <a:cs typeface="Cambria" pitchFamily="34" charset="-120"/>
              </a:rPr>
              <a:t>Free first season</a:t>
            </a:r>
            <a:endParaRPr lang="en-US" sz="1400" dirty="0"/>
          </a:p>
        </p:txBody>
      </p:sp>
      <p:sp>
        <p:nvSpPr>
          <p:cNvPr id="18" name="Text 16"/>
          <p:cNvSpPr/>
          <p:nvPr/>
        </p:nvSpPr>
        <p:spPr>
          <a:xfrm>
            <a:off x="8247888" y="2633472"/>
            <a:ext cx="3017520" cy="96012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The first 20 growers store free for one season in exchange for letting us record their weights, prices and dates.</a:t>
            </a:r>
            <a:endParaRPr lang="en-US" sz="1100" dirty="0"/>
          </a:p>
        </p:txBody>
      </p:sp>
      <p:sp>
        <p:nvSpPr>
          <p:cNvPr id="19" name="Shape 17"/>
          <p:cNvSpPr/>
          <p:nvPr/>
        </p:nvSpPr>
        <p:spPr>
          <a:xfrm>
            <a:off x="640080" y="3931920"/>
            <a:ext cx="3520440" cy="1783080"/>
          </a:xfrm>
          <a:prstGeom prst="roundRect">
            <a:avLst>
              <a:gd name="adj" fmla="val 4103"/>
            </a:avLst>
          </a:prstGeom>
          <a:solidFill>
            <a:srgbClr val="FFFFFF"/>
          </a:solidFill>
          <a:ln w="12700">
            <a:solidFill>
              <a:srgbClr val="D8E0DA"/>
            </a:solidFill>
            <a:prstDash val="solid"/>
          </a:ln>
        </p:spPr>
      </p:sp>
      <p:sp>
        <p:nvSpPr>
          <p:cNvPr id="20" name="Shape 18"/>
          <p:cNvSpPr/>
          <p:nvPr/>
        </p:nvSpPr>
        <p:spPr>
          <a:xfrm>
            <a:off x="896112" y="4151376"/>
            <a:ext cx="365760" cy="365760"/>
          </a:xfrm>
          <a:prstGeom prst="ellipse">
            <a:avLst/>
          </a:prstGeom>
          <a:solidFill>
            <a:srgbClr val="2E7D5B"/>
          </a:solidFill>
          <a:ln/>
        </p:spPr>
      </p:sp>
      <p:sp>
        <p:nvSpPr>
          <p:cNvPr id="21" name="Text 19"/>
          <p:cNvSpPr/>
          <p:nvPr/>
        </p:nvSpPr>
        <p:spPr>
          <a:xfrm>
            <a:off x="896112" y="4151376"/>
            <a:ext cx="3657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2" name="Text 20"/>
          <p:cNvSpPr/>
          <p:nvPr/>
        </p:nvSpPr>
        <p:spPr>
          <a:xfrm>
            <a:off x="1353312" y="4151376"/>
            <a:ext cx="2606040" cy="384048"/>
          </a:xfrm>
          <a:prstGeom prst="rect">
            <a:avLst/>
          </a:prstGeom>
          <a:noFill/>
          <a:ln/>
        </p:spPr>
        <p:txBody>
          <a:bodyPr wrap="square" lIns="0" tIns="0" rIns="0" bIns="0" rtlCol="0" anchor="ctr"/>
          <a:lstStyle/>
          <a:p>
            <a:pPr indent="0" marL="0">
              <a:lnSpc>
                <a:spcPts val="1700"/>
              </a:lnSpc>
              <a:buNone/>
            </a:pPr>
            <a:r>
              <a:rPr lang="en-US" sz="1400" b="1" dirty="0">
                <a:solidFill>
                  <a:srgbClr val="1A1A1A"/>
                </a:solidFill>
                <a:latin typeface="Cambria" pitchFamily="34" charset="0"/>
                <a:ea typeface="Cambria" pitchFamily="34" charset="-122"/>
                <a:cs typeface="Cambria" pitchFamily="34" charset="-120"/>
              </a:rPr>
              <a:t>A WhatsApp rate group</a:t>
            </a:r>
            <a:endParaRPr lang="en-US" sz="1400" dirty="0"/>
          </a:p>
        </p:txBody>
      </p:sp>
      <p:sp>
        <p:nvSpPr>
          <p:cNvPr id="23" name="Text 21"/>
          <p:cNvSpPr/>
          <p:nvPr/>
        </p:nvSpPr>
        <p:spPr>
          <a:xfrm>
            <a:off x="896112" y="4645152"/>
            <a:ext cx="3017520" cy="96012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Daily mandi rates sent to every grower who signs up. It costs nothing and gives them a reason to stay in contact.</a:t>
            </a:r>
            <a:endParaRPr lang="en-US" sz="1100" dirty="0"/>
          </a:p>
        </p:txBody>
      </p:sp>
      <p:sp>
        <p:nvSpPr>
          <p:cNvPr id="24" name="Shape 22"/>
          <p:cNvSpPr/>
          <p:nvPr/>
        </p:nvSpPr>
        <p:spPr>
          <a:xfrm>
            <a:off x="4315968" y="3931920"/>
            <a:ext cx="3520440" cy="1783080"/>
          </a:xfrm>
          <a:prstGeom prst="roundRect">
            <a:avLst>
              <a:gd name="adj" fmla="val 4103"/>
            </a:avLst>
          </a:prstGeom>
          <a:solidFill>
            <a:srgbClr val="FFFFFF"/>
          </a:solidFill>
          <a:ln w="12700">
            <a:solidFill>
              <a:srgbClr val="D8E0DA"/>
            </a:solidFill>
            <a:prstDash val="solid"/>
          </a:ln>
        </p:spPr>
      </p:sp>
      <p:sp>
        <p:nvSpPr>
          <p:cNvPr id="25" name="Shape 23"/>
          <p:cNvSpPr/>
          <p:nvPr/>
        </p:nvSpPr>
        <p:spPr>
          <a:xfrm>
            <a:off x="4572000" y="4151376"/>
            <a:ext cx="365760" cy="365760"/>
          </a:xfrm>
          <a:prstGeom prst="ellipse">
            <a:avLst/>
          </a:prstGeom>
          <a:solidFill>
            <a:srgbClr val="2E7D5B"/>
          </a:solidFill>
          <a:ln/>
        </p:spPr>
      </p:sp>
      <p:sp>
        <p:nvSpPr>
          <p:cNvPr id="26" name="Text 24"/>
          <p:cNvSpPr/>
          <p:nvPr/>
        </p:nvSpPr>
        <p:spPr>
          <a:xfrm>
            <a:off x="4572000" y="4151376"/>
            <a:ext cx="3657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7" name="Text 25"/>
          <p:cNvSpPr/>
          <p:nvPr/>
        </p:nvSpPr>
        <p:spPr>
          <a:xfrm>
            <a:off x="5029200" y="4151376"/>
            <a:ext cx="2606040" cy="384048"/>
          </a:xfrm>
          <a:prstGeom prst="rect">
            <a:avLst/>
          </a:prstGeom>
          <a:noFill/>
          <a:ln/>
        </p:spPr>
        <p:txBody>
          <a:bodyPr wrap="square" lIns="0" tIns="0" rIns="0" bIns="0" rtlCol="0" anchor="ctr"/>
          <a:lstStyle/>
          <a:p>
            <a:pPr indent="0" marL="0">
              <a:lnSpc>
                <a:spcPts val="1700"/>
              </a:lnSpc>
              <a:buNone/>
            </a:pPr>
            <a:r>
              <a:rPr lang="en-US" sz="1400" b="1" dirty="0">
                <a:solidFill>
                  <a:srgbClr val="1A1A1A"/>
                </a:solidFill>
                <a:latin typeface="Cambria" pitchFamily="34" charset="0"/>
                <a:ea typeface="Cambria" pitchFamily="34" charset="-122"/>
                <a:cs typeface="Cambria" pitchFamily="34" charset="-120"/>
              </a:rPr>
              <a:t>Alkhidmat's district network</a:t>
            </a:r>
            <a:endParaRPr lang="en-US" sz="1400" dirty="0"/>
          </a:p>
        </p:txBody>
      </p:sp>
      <p:sp>
        <p:nvSpPr>
          <p:cNvPr id="28" name="Text 26"/>
          <p:cNvSpPr/>
          <p:nvPr/>
        </p:nvSpPr>
        <p:spPr>
          <a:xfrm>
            <a:off x="4572000" y="4645152"/>
            <a:ext cx="3017520" cy="96012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Existing offices and volunteers make the introductions and carry the trust we have not earned yet.</a:t>
            </a:r>
            <a:endParaRPr lang="en-US" sz="1100" dirty="0"/>
          </a:p>
        </p:txBody>
      </p:sp>
      <p:sp>
        <p:nvSpPr>
          <p:cNvPr id="29" name="Shape 27"/>
          <p:cNvSpPr/>
          <p:nvPr/>
        </p:nvSpPr>
        <p:spPr>
          <a:xfrm>
            <a:off x="7991856" y="3931920"/>
            <a:ext cx="3520440" cy="1783080"/>
          </a:xfrm>
          <a:prstGeom prst="roundRect">
            <a:avLst>
              <a:gd name="adj" fmla="val 4103"/>
            </a:avLst>
          </a:prstGeom>
          <a:solidFill>
            <a:srgbClr val="FFFFFF"/>
          </a:solidFill>
          <a:ln w="12700">
            <a:solidFill>
              <a:srgbClr val="D8E0DA"/>
            </a:solidFill>
            <a:prstDash val="solid"/>
          </a:ln>
        </p:spPr>
      </p:sp>
      <p:sp>
        <p:nvSpPr>
          <p:cNvPr id="30" name="Shape 28"/>
          <p:cNvSpPr/>
          <p:nvPr/>
        </p:nvSpPr>
        <p:spPr>
          <a:xfrm>
            <a:off x="8247888" y="4151376"/>
            <a:ext cx="365760" cy="365760"/>
          </a:xfrm>
          <a:prstGeom prst="ellipse">
            <a:avLst/>
          </a:prstGeom>
          <a:solidFill>
            <a:srgbClr val="2E7D5B"/>
          </a:solidFill>
          <a:ln/>
        </p:spPr>
      </p:sp>
      <p:sp>
        <p:nvSpPr>
          <p:cNvPr id="31" name="Text 29"/>
          <p:cNvSpPr/>
          <p:nvPr/>
        </p:nvSpPr>
        <p:spPr>
          <a:xfrm>
            <a:off x="8247888" y="4151376"/>
            <a:ext cx="3657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6</a:t>
            </a:r>
            <a:endParaRPr lang="en-US" sz="1350" dirty="0"/>
          </a:p>
        </p:txBody>
      </p:sp>
      <p:sp>
        <p:nvSpPr>
          <p:cNvPr id="32" name="Text 30"/>
          <p:cNvSpPr/>
          <p:nvPr/>
        </p:nvSpPr>
        <p:spPr>
          <a:xfrm>
            <a:off x="8705088" y="4151376"/>
            <a:ext cx="2606040" cy="384048"/>
          </a:xfrm>
          <a:prstGeom prst="rect">
            <a:avLst/>
          </a:prstGeom>
          <a:noFill/>
          <a:ln/>
        </p:spPr>
        <p:txBody>
          <a:bodyPr wrap="square" lIns="0" tIns="0" rIns="0" bIns="0" rtlCol="0" anchor="ctr"/>
          <a:lstStyle/>
          <a:p>
            <a:pPr indent="0" marL="0">
              <a:lnSpc>
                <a:spcPts val="1700"/>
              </a:lnSpc>
              <a:buNone/>
            </a:pPr>
            <a:r>
              <a:rPr lang="en-US" sz="1400" b="1" dirty="0">
                <a:solidFill>
                  <a:srgbClr val="1A1A1A"/>
                </a:solidFill>
                <a:latin typeface="Cambria" pitchFamily="34" charset="0"/>
                <a:ea typeface="Cambria" pitchFamily="34" charset="-122"/>
                <a:cs typeface="Cambria" pitchFamily="34" charset="-120"/>
              </a:rPr>
              <a:t>A board at the gate</a:t>
            </a:r>
            <a:endParaRPr lang="en-US" sz="1400" dirty="0"/>
          </a:p>
        </p:txBody>
      </p:sp>
      <p:sp>
        <p:nvSpPr>
          <p:cNvPr id="33" name="Text 31"/>
          <p:cNvSpPr/>
          <p:nvPr/>
        </p:nvSpPr>
        <p:spPr>
          <a:xfrm>
            <a:off x="8247888" y="4645152"/>
            <a:ext cx="3017520" cy="960120"/>
          </a:xfrm>
          <a:prstGeom prst="rect">
            <a:avLst/>
          </a:prstGeom>
          <a:noFill/>
          <a:ln/>
        </p:spPr>
        <p:txBody>
          <a:bodyPr wrap="square" lIns="0" tIns="0" rIns="0" bIns="0" rtlCol="0" anchor="ctr"/>
          <a:lstStyle/>
          <a:p>
            <a:pPr indent="0" marL="0">
              <a:lnSpc>
                <a:spcPts val="1400"/>
              </a:lnSpc>
              <a:buNone/>
            </a:pPr>
            <a:r>
              <a:rPr lang="en-US" sz="1100" dirty="0">
                <a:solidFill>
                  <a:srgbClr val="5F6B63"/>
                </a:solidFill>
                <a:latin typeface="Calibri" pitchFamily="34" charset="0"/>
                <a:ea typeface="Calibri" pitchFamily="34" charset="-122"/>
                <a:cs typeface="Calibri" pitchFamily="34" charset="-120"/>
              </a:rPr>
              <a:t>What growers who waited actually earned, written up where everyone can see it. Proof travels faster than promises.</a:t>
            </a:r>
            <a:endParaRPr lang="en-US" sz="1100" dirty="0"/>
          </a:p>
        </p:txBody>
      </p:sp>
      <p:sp>
        <p:nvSpPr>
          <p:cNvPr id="34" name="Text 32"/>
          <p:cNvSpPr/>
          <p:nvPr/>
        </p:nvSpPr>
        <p:spPr>
          <a:xfrm>
            <a:off x="640080" y="6035040"/>
            <a:ext cx="10881360" cy="365760"/>
          </a:xfrm>
          <a:prstGeom prst="rect">
            <a:avLst/>
          </a:prstGeom>
          <a:noFill/>
          <a:ln/>
        </p:spPr>
        <p:txBody>
          <a:bodyPr wrap="square" lIns="0" tIns="0" rIns="0" bIns="0" rtlCol="0" anchor="ctr"/>
          <a:lstStyle/>
          <a:p>
            <a:pPr indent="0" marL="0">
              <a:buNone/>
            </a:pPr>
            <a:r>
              <a:rPr lang="en-US" sz="1350" i="1" dirty="0">
                <a:solidFill>
                  <a:srgbClr val="14392A"/>
                </a:solidFill>
                <a:latin typeface="Calibri" pitchFamily="34" charset="0"/>
                <a:ea typeface="Calibri" pitchFamily="34" charset="-122"/>
                <a:cs typeface="Calibri" pitchFamily="34" charset="-120"/>
              </a:rPr>
              <a:t>The first season is not about volume. It is about twenty growers who can tell the next hundred what happened to their money.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12  RISKS</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What could go wrong, and what we would do.</a:t>
            </a:r>
            <a:endParaRPr lang="en-US" sz="3100" dirty="0"/>
          </a:p>
        </p:txBody>
      </p:sp>
      <p:sp>
        <p:nvSpPr>
          <p:cNvPr id="4" name="Shape 2"/>
          <p:cNvSpPr/>
          <p:nvPr/>
        </p:nvSpPr>
        <p:spPr>
          <a:xfrm>
            <a:off x="640080" y="1810512"/>
            <a:ext cx="10881360" cy="676656"/>
          </a:xfrm>
          <a:prstGeom prst="rect">
            <a:avLst/>
          </a:prstGeom>
          <a:solidFill>
            <a:srgbClr val="F2F5F1"/>
          </a:solidFill>
          <a:ln/>
        </p:spPr>
      </p:sp>
      <p:sp>
        <p:nvSpPr>
          <p:cNvPr id="5" name="Shape 3"/>
          <p:cNvSpPr/>
          <p:nvPr/>
        </p:nvSpPr>
        <p:spPr>
          <a:xfrm>
            <a:off x="822960" y="1956816"/>
            <a:ext cx="329184" cy="329184"/>
          </a:xfrm>
          <a:prstGeom prst="ellipse">
            <a:avLst/>
          </a:prstGeom>
          <a:solidFill>
            <a:srgbClr val="E4572E"/>
          </a:solidFill>
          <a:ln/>
        </p:spPr>
      </p:sp>
      <p:sp>
        <p:nvSpPr>
          <p:cNvPr id="6" name="Text 4"/>
          <p:cNvSpPr/>
          <p:nvPr/>
        </p:nvSpPr>
        <p:spPr>
          <a:xfrm>
            <a:off x="822960" y="1956816"/>
            <a:ext cx="329184"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7" name="Text 5"/>
          <p:cNvSpPr/>
          <p:nvPr/>
        </p:nvSpPr>
        <p:spPr>
          <a:xfrm>
            <a:off x="1280160" y="1874520"/>
            <a:ext cx="3566160" cy="530352"/>
          </a:xfrm>
          <a:prstGeom prst="rect">
            <a:avLst/>
          </a:prstGeom>
          <a:noFill/>
          <a:ln/>
        </p:spPr>
        <p:txBody>
          <a:bodyPr wrap="square" lIns="0" tIns="0" rIns="0" bIns="0" rtlCol="0" anchor="ctr"/>
          <a:lstStyle/>
          <a:p>
            <a:pPr indent="0" marL="0">
              <a:lnSpc>
                <a:spcPts val="1600"/>
              </a:lnSpc>
              <a:buNone/>
            </a:pPr>
            <a:r>
              <a:rPr lang="en-US" sz="1300" b="1" dirty="0">
                <a:solidFill>
                  <a:srgbClr val="1A1A1A"/>
                </a:solidFill>
                <a:latin typeface="Cambria" pitchFamily="34" charset="0"/>
                <a:ea typeface="Cambria" pitchFamily="34" charset="-122"/>
                <a:cs typeface="Cambria" pitchFamily="34" charset="-120"/>
              </a:rPr>
              <a:t>Growers do not trust us with their crop</a:t>
            </a:r>
            <a:endParaRPr lang="en-US" sz="1300" dirty="0"/>
          </a:p>
        </p:txBody>
      </p:sp>
      <p:sp>
        <p:nvSpPr>
          <p:cNvPr id="8" name="Text 6"/>
          <p:cNvSpPr/>
          <p:nvPr/>
        </p:nvSpPr>
        <p:spPr>
          <a:xfrm>
            <a:off x="5029200" y="1874520"/>
            <a:ext cx="6492240" cy="530352"/>
          </a:xfrm>
          <a:prstGeom prst="rect">
            <a:avLst/>
          </a:prstGeom>
          <a:noFill/>
          <a:ln/>
        </p:spPr>
        <p:txBody>
          <a:bodyPr wrap="square" lIns="0" tIns="0" rIns="0" bIns="0" rtlCol="0" anchor="ctr"/>
          <a:lstStyle/>
          <a:p>
            <a:pPr indent="0" marL="0">
              <a:lnSpc>
                <a:spcPts val="1400"/>
              </a:lnSpc>
              <a:buNone/>
            </a:pPr>
            <a:r>
              <a:rPr lang="en-US" sz="1150" dirty="0">
                <a:solidFill>
                  <a:srgbClr val="5F6B63"/>
                </a:solidFill>
                <a:latin typeface="Calibri" pitchFamily="34" charset="0"/>
                <a:ea typeface="Calibri" pitchFamily="34" charset="-122"/>
                <a:cs typeface="Calibri" pitchFamily="34" charset="-120"/>
              </a:rPr>
              <a:t>Weigh, tag and photograph at the gate. Printed receipt every time. A village committee with two growers on it holds the second key.</a:t>
            </a:r>
            <a:endParaRPr lang="en-US" sz="1150" dirty="0"/>
          </a:p>
        </p:txBody>
      </p:sp>
      <p:sp>
        <p:nvSpPr>
          <p:cNvPr id="9" name="Shape 7"/>
          <p:cNvSpPr/>
          <p:nvPr/>
        </p:nvSpPr>
        <p:spPr>
          <a:xfrm>
            <a:off x="822960" y="2679192"/>
            <a:ext cx="329184" cy="329184"/>
          </a:xfrm>
          <a:prstGeom prst="ellipse">
            <a:avLst/>
          </a:prstGeom>
          <a:solidFill>
            <a:srgbClr val="E4572E"/>
          </a:solidFill>
          <a:ln/>
        </p:spPr>
      </p:sp>
      <p:sp>
        <p:nvSpPr>
          <p:cNvPr id="10" name="Text 8"/>
          <p:cNvSpPr/>
          <p:nvPr/>
        </p:nvSpPr>
        <p:spPr>
          <a:xfrm>
            <a:off x="822960" y="2679192"/>
            <a:ext cx="329184"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1" name="Text 9"/>
          <p:cNvSpPr/>
          <p:nvPr/>
        </p:nvSpPr>
        <p:spPr>
          <a:xfrm>
            <a:off x="1280160" y="2596896"/>
            <a:ext cx="3566160" cy="530352"/>
          </a:xfrm>
          <a:prstGeom prst="rect">
            <a:avLst/>
          </a:prstGeom>
          <a:noFill/>
          <a:ln/>
        </p:spPr>
        <p:txBody>
          <a:bodyPr wrap="square" lIns="0" tIns="0" rIns="0" bIns="0" rtlCol="0" anchor="ctr"/>
          <a:lstStyle/>
          <a:p>
            <a:pPr indent="0" marL="0">
              <a:lnSpc>
                <a:spcPts val="1600"/>
              </a:lnSpc>
              <a:buNone/>
            </a:pPr>
            <a:r>
              <a:rPr lang="en-US" sz="1300" b="1" dirty="0">
                <a:solidFill>
                  <a:srgbClr val="1A1A1A"/>
                </a:solidFill>
                <a:latin typeface="Cambria" pitchFamily="34" charset="0"/>
                <a:ea typeface="Cambria" pitchFamily="34" charset="-122"/>
                <a:cs typeface="Cambria" pitchFamily="34" charset="-120"/>
              </a:rPr>
              <a:t>Arguments over quality on collection</a:t>
            </a:r>
            <a:endParaRPr lang="en-US" sz="1300" dirty="0"/>
          </a:p>
        </p:txBody>
      </p:sp>
      <p:sp>
        <p:nvSpPr>
          <p:cNvPr id="12" name="Text 10"/>
          <p:cNvSpPr/>
          <p:nvPr/>
        </p:nvSpPr>
        <p:spPr>
          <a:xfrm>
            <a:off x="5029200" y="2596896"/>
            <a:ext cx="6492240" cy="530352"/>
          </a:xfrm>
          <a:prstGeom prst="rect">
            <a:avLst/>
          </a:prstGeom>
          <a:noFill/>
          <a:ln/>
        </p:spPr>
        <p:txBody>
          <a:bodyPr wrap="square" lIns="0" tIns="0" rIns="0" bIns="0" rtlCol="0" anchor="ctr"/>
          <a:lstStyle/>
          <a:p>
            <a:pPr indent="0" marL="0">
              <a:lnSpc>
                <a:spcPts val="1400"/>
              </a:lnSpc>
              <a:buNone/>
            </a:pPr>
            <a:r>
              <a:rPr lang="en-US" sz="1150" dirty="0">
                <a:solidFill>
                  <a:srgbClr val="5F6B63"/>
                </a:solidFill>
                <a:latin typeface="Calibri" pitchFamily="34" charset="0"/>
                <a:ea typeface="Calibri" pitchFamily="34" charset="-122"/>
                <a:cs typeface="Calibri" pitchFamily="34" charset="-120"/>
              </a:rPr>
              <a:t>The grade is agreed and written on the receipt when the crop goes in, with the entry photograph attached to it.</a:t>
            </a:r>
            <a:endParaRPr lang="en-US" sz="1150" dirty="0"/>
          </a:p>
        </p:txBody>
      </p:sp>
      <p:sp>
        <p:nvSpPr>
          <p:cNvPr id="13" name="Shape 11"/>
          <p:cNvSpPr/>
          <p:nvPr/>
        </p:nvSpPr>
        <p:spPr>
          <a:xfrm>
            <a:off x="640080" y="3255264"/>
            <a:ext cx="10881360" cy="676656"/>
          </a:xfrm>
          <a:prstGeom prst="rect">
            <a:avLst/>
          </a:prstGeom>
          <a:solidFill>
            <a:srgbClr val="F2F5F1"/>
          </a:solidFill>
          <a:ln/>
        </p:spPr>
      </p:sp>
      <p:sp>
        <p:nvSpPr>
          <p:cNvPr id="14" name="Shape 12"/>
          <p:cNvSpPr/>
          <p:nvPr/>
        </p:nvSpPr>
        <p:spPr>
          <a:xfrm>
            <a:off x="822960" y="3401568"/>
            <a:ext cx="329184" cy="329184"/>
          </a:xfrm>
          <a:prstGeom prst="ellipse">
            <a:avLst/>
          </a:prstGeom>
          <a:solidFill>
            <a:srgbClr val="2E7D5B"/>
          </a:solidFill>
          <a:ln/>
        </p:spPr>
      </p:sp>
      <p:sp>
        <p:nvSpPr>
          <p:cNvPr id="15" name="Text 13"/>
          <p:cNvSpPr/>
          <p:nvPr/>
        </p:nvSpPr>
        <p:spPr>
          <a:xfrm>
            <a:off x="822960" y="3401568"/>
            <a:ext cx="329184"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6" name="Text 14"/>
          <p:cNvSpPr/>
          <p:nvPr/>
        </p:nvSpPr>
        <p:spPr>
          <a:xfrm>
            <a:off x="1280160" y="3319272"/>
            <a:ext cx="3566160" cy="530352"/>
          </a:xfrm>
          <a:prstGeom prst="rect">
            <a:avLst/>
          </a:prstGeom>
          <a:noFill/>
          <a:ln/>
        </p:spPr>
        <p:txBody>
          <a:bodyPr wrap="square" lIns="0" tIns="0" rIns="0" bIns="0" rtlCol="0" anchor="ctr"/>
          <a:lstStyle/>
          <a:p>
            <a:pPr indent="0" marL="0">
              <a:lnSpc>
                <a:spcPts val="1600"/>
              </a:lnSpc>
              <a:buNone/>
            </a:pPr>
            <a:r>
              <a:rPr lang="en-US" sz="1300" b="1" dirty="0">
                <a:solidFill>
                  <a:srgbClr val="1A1A1A"/>
                </a:solidFill>
                <a:latin typeface="Cambria" pitchFamily="34" charset="0"/>
                <a:ea typeface="Cambria" pitchFamily="34" charset="-122"/>
                <a:cs typeface="Cambria" pitchFamily="34" charset="-120"/>
              </a:rPr>
              <a:t>The room sits empty out of season</a:t>
            </a:r>
            <a:endParaRPr lang="en-US" sz="1300" dirty="0"/>
          </a:p>
        </p:txBody>
      </p:sp>
      <p:sp>
        <p:nvSpPr>
          <p:cNvPr id="17" name="Text 15"/>
          <p:cNvSpPr/>
          <p:nvPr/>
        </p:nvSpPr>
        <p:spPr>
          <a:xfrm>
            <a:off x="5029200" y="3319272"/>
            <a:ext cx="6492240" cy="530352"/>
          </a:xfrm>
          <a:prstGeom prst="rect">
            <a:avLst/>
          </a:prstGeom>
          <a:noFill/>
          <a:ln/>
        </p:spPr>
        <p:txBody>
          <a:bodyPr wrap="square" lIns="0" tIns="0" rIns="0" bIns="0" rtlCol="0" anchor="ctr"/>
          <a:lstStyle/>
          <a:p>
            <a:pPr indent="0" marL="0">
              <a:lnSpc>
                <a:spcPts val="1400"/>
              </a:lnSpc>
              <a:buNone/>
            </a:pPr>
            <a:r>
              <a:rPr lang="en-US" sz="1150" dirty="0">
                <a:solidFill>
                  <a:srgbClr val="5F6B63"/>
                </a:solidFill>
                <a:latin typeface="Calibri" pitchFamily="34" charset="0"/>
                <a:ea typeface="Calibri" pitchFamily="34" charset="-122"/>
                <a:cs typeface="Calibri" pitchFamily="34" charset="-120"/>
              </a:rPr>
              <a:t>Rotate to crops with different calendars, and offer the same room for seed, dairy and mango season overflow.</a:t>
            </a:r>
            <a:endParaRPr lang="en-US" sz="1150" dirty="0"/>
          </a:p>
        </p:txBody>
      </p:sp>
      <p:sp>
        <p:nvSpPr>
          <p:cNvPr id="18" name="Shape 16"/>
          <p:cNvSpPr/>
          <p:nvPr/>
        </p:nvSpPr>
        <p:spPr>
          <a:xfrm>
            <a:off x="822960" y="4123944"/>
            <a:ext cx="329184" cy="329184"/>
          </a:xfrm>
          <a:prstGeom prst="ellipse">
            <a:avLst/>
          </a:prstGeom>
          <a:solidFill>
            <a:srgbClr val="2E7D5B"/>
          </a:solidFill>
          <a:ln/>
        </p:spPr>
      </p:sp>
      <p:sp>
        <p:nvSpPr>
          <p:cNvPr id="19" name="Text 17"/>
          <p:cNvSpPr/>
          <p:nvPr/>
        </p:nvSpPr>
        <p:spPr>
          <a:xfrm>
            <a:off x="822960" y="4123944"/>
            <a:ext cx="329184"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0" name="Text 18"/>
          <p:cNvSpPr/>
          <p:nvPr/>
        </p:nvSpPr>
        <p:spPr>
          <a:xfrm>
            <a:off x="1280160" y="4041648"/>
            <a:ext cx="3566160" cy="530352"/>
          </a:xfrm>
          <a:prstGeom prst="rect">
            <a:avLst/>
          </a:prstGeom>
          <a:noFill/>
          <a:ln/>
        </p:spPr>
        <p:txBody>
          <a:bodyPr wrap="square" lIns="0" tIns="0" rIns="0" bIns="0" rtlCol="0" anchor="ctr"/>
          <a:lstStyle/>
          <a:p>
            <a:pPr indent="0" marL="0">
              <a:lnSpc>
                <a:spcPts val="1600"/>
              </a:lnSpc>
              <a:buNone/>
            </a:pPr>
            <a:r>
              <a:rPr lang="en-US" sz="1300" b="1" dirty="0">
                <a:solidFill>
                  <a:srgbClr val="1A1A1A"/>
                </a:solidFill>
                <a:latin typeface="Cambria" pitchFamily="34" charset="0"/>
                <a:ea typeface="Cambria" pitchFamily="34" charset="-122"/>
                <a:cs typeface="Cambria" pitchFamily="34" charset="-120"/>
              </a:rPr>
              <a:t>Solar or compressor breakdown</a:t>
            </a:r>
            <a:endParaRPr lang="en-US" sz="1300" dirty="0"/>
          </a:p>
        </p:txBody>
      </p:sp>
      <p:sp>
        <p:nvSpPr>
          <p:cNvPr id="21" name="Text 19"/>
          <p:cNvSpPr/>
          <p:nvPr/>
        </p:nvSpPr>
        <p:spPr>
          <a:xfrm>
            <a:off x="5029200" y="4041648"/>
            <a:ext cx="6492240" cy="530352"/>
          </a:xfrm>
          <a:prstGeom prst="rect">
            <a:avLst/>
          </a:prstGeom>
          <a:noFill/>
          <a:ln/>
        </p:spPr>
        <p:txBody>
          <a:bodyPr wrap="square" lIns="0" tIns="0" rIns="0" bIns="0" rtlCol="0" anchor="ctr"/>
          <a:lstStyle/>
          <a:p>
            <a:pPr indent="0" marL="0">
              <a:lnSpc>
                <a:spcPts val="1400"/>
              </a:lnSpc>
              <a:buNone/>
            </a:pPr>
            <a:r>
              <a:rPr lang="en-US" sz="1150" dirty="0">
                <a:solidFill>
                  <a:srgbClr val="5F6B63"/>
                </a:solidFill>
                <a:latin typeface="Calibri" pitchFamily="34" charset="0"/>
                <a:ea typeface="Calibri" pitchFamily="34" charset="-122"/>
                <a:cs typeface="Calibri" pitchFamily="34" charset="-120"/>
              </a:rPr>
              <a:t>A service contract with the supplier from day one, spare parts held locally, and a small generator that can run the compressor alone.</a:t>
            </a:r>
            <a:endParaRPr lang="en-US" sz="1150" dirty="0"/>
          </a:p>
        </p:txBody>
      </p:sp>
      <p:sp>
        <p:nvSpPr>
          <p:cNvPr id="22" name="Shape 20"/>
          <p:cNvSpPr/>
          <p:nvPr/>
        </p:nvSpPr>
        <p:spPr>
          <a:xfrm>
            <a:off x="640080" y="4700016"/>
            <a:ext cx="10881360" cy="676656"/>
          </a:xfrm>
          <a:prstGeom prst="rect">
            <a:avLst/>
          </a:prstGeom>
          <a:solidFill>
            <a:srgbClr val="F2F5F1"/>
          </a:solidFill>
          <a:ln/>
        </p:spPr>
      </p:sp>
      <p:sp>
        <p:nvSpPr>
          <p:cNvPr id="23" name="Shape 21"/>
          <p:cNvSpPr/>
          <p:nvPr/>
        </p:nvSpPr>
        <p:spPr>
          <a:xfrm>
            <a:off x="822960" y="4846320"/>
            <a:ext cx="329184" cy="329184"/>
          </a:xfrm>
          <a:prstGeom prst="ellipse">
            <a:avLst/>
          </a:prstGeom>
          <a:solidFill>
            <a:srgbClr val="2E7D5B"/>
          </a:solidFill>
          <a:ln/>
        </p:spPr>
      </p:sp>
      <p:sp>
        <p:nvSpPr>
          <p:cNvPr id="24" name="Text 22"/>
          <p:cNvSpPr/>
          <p:nvPr/>
        </p:nvSpPr>
        <p:spPr>
          <a:xfrm>
            <a:off x="822960" y="4846320"/>
            <a:ext cx="329184"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5" name="Text 23"/>
          <p:cNvSpPr/>
          <p:nvPr/>
        </p:nvSpPr>
        <p:spPr>
          <a:xfrm>
            <a:off x="1280160" y="4764024"/>
            <a:ext cx="3566160" cy="530352"/>
          </a:xfrm>
          <a:prstGeom prst="rect">
            <a:avLst/>
          </a:prstGeom>
          <a:noFill/>
          <a:ln/>
        </p:spPr>
        <p:txBody>
          <a:bodyPr wrap="square" lIns="0" tIns="0" rIns="0" bIns="0" rtlCol="0" anchor="ctr"/>
          <a:lstStyle/>
          <a:p>
            <a:pPr indent="0" marL="0">
              <a:lnSpc>
                <a:spcPts val="1600"/>
              </a:lnSpc>
              <a:buNone/>
            </a:pPr>
            <a:r>
              <a:rPr lang="en-US" sz="1300" b="1" dirty="0">
                <a:solidFill>
                  <a:srgbClr val="1A1A1A"/>
                </a:solidFill>
                <a:latin typeface="Cambria" pitchFamily="34" charset="0"/>
                <a:ea typeface="Cambria" pitchFamily="34" charset="-122"/>
                <a:cs typeface="Cambria" pitchFamily="34" charset="-120"/>
              </a:rPr>
              <a:t>The commission agent works against us</a:t>
            </a:r>
            <a:endParaRPr lang="en-US" sz="1300" dirty="0"/>
          </a:p>
        </p:txBody>
      </p:sp>
      <p:sp>
        <p:nvSpPr>
          <p:cNvPr id="26" name="Text 24"/>
          <p:cNvSpPr/>
          <p:nvPr/>
        </p:nvSpPr>
        <p:spPr>
          <a:xfrm>
            <a:off x="5029200" y="4764024"/>
            <a:ext cx="6492240" cy="530352"/>
          </a:xfrm>
          <a:prstGeom prst="rect">
            <a:avLst/>
          </a:prstGeom>
          <a:noFill/>
          <a:ln/>
        </p:spPr>
        <p:txBody>
          <a:bodyPr wrap="square" lIns="0" tIns="0" rIns="0" bIns="0" rtlCol="0" anchor="ctr"/>
          <a:lstStyle/>
          <a:p>
            <a:pPr indent="0" marL="0">
              <a:lnSpc>
                <a:spcPts val="1400"/>
              </a:lnSpc>
              <a:buNone/>
            </a:pPr>
            <a:r>
              <a:rPr lang="en-US" sz="1150" dirty="0">
                <a:solidFill>
                  <a:srgbClr val="5F6B63"/>
                </a:solidFill>
                <a:latin typeface="Calibri" pitchFamily="34" charset="0"/>
                <a:ea typeface="Calibri" pitchFamily="34" charset="-122"/>
                <a:cs typeface="Calibri" pitchFamily="34" charset="-120"/>
              </a:rPr>
              <a:t>He is offered crate space at the same rate as everyone else. We compete with his storage, not with his credit.</a:t>
            </a:r>
            <a:endParaRPr lang="en-US" sz="1150" dirty="0"/>
          </a:p>
        </p:txBody>
      </p:sp>
      <p:sp>
        <p:nvSpPr>
          <p:cNvPr id="27" name="Shape 25"/>
          <p:cNvSpPr/>
          <p:nvPr/>
        </p:nvSpPr>
        <p:spPr>
          <a:xfrm>
            <a:off x="822960" y="5568696"/>
            <a:ext cx="329184" cy="329184"/>
          </a:xfrm>
          <a:prstGeom prst="ellipse">
            <a:avLst/>
          </a:prstGeom>
          <a:solidFill>
            <a:srgbClr val="2E7D5B"/>
          </a:solidFill>
          <a:ln/>
        </p:spPr>
      </p:sp>
      <p:sp>
        <p:nvSpPr>
          <p:cNvPr id="28" name="Text 26"/>
          <p:cNvSpPr/>
          <p:nvPr/>
        </p:nvSpPr>
        <p:spPr>
          <a:xfrm>
            <a:off x="822960" y="5568696"/>
            <a:ext cx="329184"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6</a:t>
            </a:r>
            <a:endParaRPr lang="en-US" sz="1350" dirty="0"/>
          </a:p>
        </p:txBody>
      </p:sp>
      <p:sp>
        <p:nvSpPr>
          <p:cNvPr id="29" name="Text 27"/>
          <p:cNvSpPr/>
          <p:nvPr/>
        </p:nvSpPr>
        <p:spPr>
          <a:xfrm>
            <a:off x="1280160" y="5486400"/>
            <a:ext cx="3566160" cy="530352"/>
          </a:xfrm>
          <a:prstGeom prst="rect">
            <a:avLst/>
          </a:prstGeom>
          <a:noFill/>
          <a:ln/>
        </p:spPr>
        <p:txBody>
          <a:bodyPr wrap="square" lIns="0" tIns="0" rIns="0" bIns="0" rtlCol="0" anchor="ctr"/>
          <a:lstStyle/>
          <a:p>
            <a:pPr indent="0" marL="0">
              <a:lnSpc>
                <a:spcPts val="1600"/>
              </a:lnSpc>
              <a:buNone/>
            </a:pPr>
            <a:r>
              <a:rPr lang="en-US" sz="1300" b="1" dirty="0">
                <a:solidFill>
                  <a:srgbClr val="1A1A1A"/>
                </a:solidFill>
                <a:latin typeface="Cambria" pitchFamily="34" charset="0"/>
                <a:ea typeface="Cambria" pitchFamily="34" charset="-122"/>
                <a:cs typeface="Cambria" pitchFamily="34" charset="-120"/>
              </a:rPr>
              <a:t>Capital does not arrive</a:t>
            </a:r>
            <a:endParaRPr lang="en-US" sz="1300" dirty="0"/>
          </a:p>
        </p:txBody>
      </p:sp>
      <p:sp>
        <p:nvSpPr>
          <p:cNvPr id="30" name="Text 28"/>
          <p:cNvSpPr/>
          <p:nvPr/>
        </p:nvSpPr>
        <p:spPr>
          <a:xfrm>
            <a:off x="5029200" y="5486400"/>
            <a:ext cx="6492240" cy="530352"/>
          </a:xfrm>
          <a:prstGeom prst="rect">
            <a:avLst/>
          </a:prstGeom>
          <a:noFill/>
          <a:ln/>
        </p:spPr>
        <p:txBody>
          <a:bodyPr wrap="square" lIns="0" tIns="0" rIns="0" bIns="0" rtlCol="0" anchor="ctr"/>
          <a:lstStyle/>
          <a:p>
            <a:pPr indent="0" marL="0">
              <a:lnSpc>
                <a:spcPts val="1400"/>
              </a:lnSpc>
              <a:buNone/>
            </a:pPr>
            <a:r>
              <a:rPr lang="en-US" sz="1150" dirty="0">
                <a:solidFill>
                  <a:srgbClr val="5F6B63"/>
                </a:solidFill>
                <a:latin typeface="Calibri" pitchFamily="34" charset="0"/>
                <a:ea typeface="Calibri" pitchFamily="34" charset="-122"/>
                <a:cs typeface="Calibri" pitchFamily="34" charset="-120"/>
              </a:rPr>
              <a:t>We can start with a 2 tonne room at a much lower cost and grow from the surplus, which delays the plan but does not end 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392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9BC4A8"/>
                </a:solidFill>
                <a:latin typeface="Calibri" pitchFamily="34" charset="0"/>
                <a:ea typeface="Calibri" pitchFamily="34" charset="-122"/>
                <a:cs typeface="Calibri" pitchFamily="34" charset="-120"/>
              </a:rPr>
              <a:t>13  NEXT STEPS</a:t>
            </a:r>
            <a:endParaRPr lang="en-US" sz="1200" dirty="0"/>
          </a:p>
        </p:txBody>
      </p:sp>
      <p:sp>
        <p:nvSpPr>
          <p:cNvPr id="3" name="Text 1"/>
          <p:cNvSpPr/>
          <p:nvPr/>
        </p:nvSpPr>
        <p:spPr>
          <a:xfrm>
            <a:off x="640080" y="731520"/>
            <a:ext cx="10881360" cy="65836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next 90 days</a:t>
            </a:r>
            <a:endParaRPr lang="en-US" sz="3400" dirty="0"/>
          </a:p>
        </p:txBody>
      </p:sp>
      <p:sp>
        <p:nvSpPr>
          <p:cNvPr id="4" name="Text 2"/>
          <p:cNvSpPr/>
          <p:nvPr/>
        </p:nvSpPr>
        <p:spPr>
          <a:xfrm>
            <a:off x="640080" y="1371600"/>
            <a:ext cx="10881360" cy="320040"/>
          </a:xfrm>
          <a:prstGeom prst="rect">
            <a:avLst/>
          </a:prstGeom>
          <a:noFill/>
          <a:ln/>
        </p:spPr>
        <p:txBody>
          <a:bodyPr wrap="square" lIns="0" tIns="0" rIns="0" bIns="0" rtlCol="0" anchor="ctr"/>
          <a:lstStyle/>
          <a:p>
            <a:pPr indent="0" marL="0">
              <a:buNone/>
            </a:pPr>
            <a:r>
              <a:rPr lang="en-US" sz="1500" dirty="0">
                <a:solidFill>
                  <a:srgbClr val="BFD8C7"/>
                </a:solidFill>
                <a:latin typeface="Calibri" pitchFamily="34" charset="0"/>
                <a:ea typeface="Calibri" pitchFamily="34" charset="-122"/>
                <a:cs typeface="Calibri" pitchFamily="34" charset="-120"/>
              </a:rPr>
              <a:t>Nothing here needs the full capital. All of it can start this month.</a:t>
            </a:r>
            <a:endParaRPr lang="en-US" sz="1500" dirty="0"/>
          </a:p>
        </p:txBody>
      </p:sp>
      <p:sp>
        <p:nvSpPr>
          <p:cNvPr id="5" name="Shape 3"/>
          <p:cNvSpPr/>
          <p:nvPr/>
        </p:nvSpPr>
        <p:spPr>
          <a:xfrm>
            <a:off x="640080" y="2148840"/>
            <a:ext cx="2606040" cy="2606040"/>
          </a:xfrm>
          <a:prstGeom prst="roundRect">
            <a:avLst>
              <a:gd name="adj" fmla="val 2807"/>
            </a:avLst>
          </a:prstGeom>
          <a:solidFill>
            <a:srgbClr val="1D4C37"/>
          </a:solidFill>
          <a:ln/>
        </p:spPr>
      </p:sp>
      <p:sp>
        <p:nvSpPr>
          <p:cNvPr id="6" name="Shape 4"/>
          <p:cNvSpPr/>
          <p:nvPr/>
        </p:nvSpPr>
        <p:spPr>
          <a:xfrm>
            <a:off x="877824" y="2377440"/>
            <a:ext cx="384048" cy="384048"/>
          </a:xfrm>
          <a:prstGeom prst="ellipse">
            <a:avLst/>
          </a:prstGeom>
          <a:solidFill>
            <a:srgbClr val="E4572E"/>
          </a:solidFill>
          <a:ln/>
        </p:spPr>
      </p:sp>
      <p:sp>
        <p:nvSpPr>
          <p:cNvPr id="7" name="Text 5"/>
          <p:cNvSpPr/>
          <p:nvPr/>
        </p:nvSpPr>
        <p:spPr>
          <a:xfrm>
            <a:off x="877824" y="2377440"/>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8" name="Text 6"/>
          <p:cNvSpPr/>
          <p:nvPr/>
        </p:nvSpPr>
        <p:spPr>
          <a:xfrm>
            <a:off x="877824" y="2871216"/>
            <a:ext cx="2148840" cy="274320"/>
          </a:xfrm>
          <a:prstGeom prst="rect">
            <a:avLst/>
          </a:prstGeom>
          <a:noFill/>
          <a:ln/>
        </p:spPr>
        <p:txBody>
          <a:bodyPr wrap="square" lIns="0" tIns="0" rIns="0" bIns="0" rtlCol="0" anchor="ctr"/>
          <a:lstStyle/>
          <a:p>
            <a:pPr indent="0" marL="0">
              <a:buNone/>
            </a:pPr>
            <a:r>
              <a:rPr lang="en-US" sz="1100" b="1" spc="100" kern="0" dirty="0">
                <a:solidFill>
                  <a:srgbClr val="9BC4A8"/>
                </a:solidFill>
                <a:latin typeface="Calibri" pitchFamily="34" charset="0"/>
                <a:ea typeface="Calibri" pitchFamily="34" charset="-122"/>
                <a:cs typeface="Calibri" pitchFamily="34" charset="-120"/>
              </a:rPr>
              <a:t>Weeks 1 to 3</a:t>
            </a:r>
            <a:endParaRPr lang="en-US" sz="1100" dirty="0"/>
          </a:p>
        </p:txBody>
      </p:sp>
      <p:sp>
        <p:nvSpPr>
          <p:cNvPr id="9" name="Text 7"/>
          <p:cNvSpPr/>
          <p:nvPr/>
        </p:nvSpPr>
        <p:spPr>
          <a:xfrm>
            <a:off x="877824" y="3163824"/>
            <a:ext cx="21488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Field validation</a:t>
            </a:r>
            <a:endParaRPr lang="en-US" sz="1600" dirty="0"/>
          </a:p>
        </p:txBody>
      </p:sp>
      <p:sp>
        <p:nvSpPr>
          <p:cNvPr id="10" name="Text 8"/>
          <p:cNvSpPr/>
          <p:nvPr/>
        </p:nvSpPr>
        <p:spPr>
          <a:xfrm>
            <a:off x="877824" y="3602736"/>
            <a:ext cx="2148840" cy="1051560"/>
          </a:xfrm>
          <a:prstGeom prst="rect">
            <a:avLst/>
          </a:prstGeom>
          <a:noFill/>
          <a:ln/>
        </p:spPr>
        <p:txBody>
          <a:bodyPr wrap="square" lIns="0" tIns="0" rIns="0" bIns="0" rtlCol="0" anchor="ctr"/>
          <a:lstStyle/>
          <a:p>
            <a:pPr indent="0" marL="0">
              <a:lnSpc>
                <a:spcPts val="1400"/>
              </a:lnSpc>
              <a:buNone/>
            </a:pPr>
            <a:r>
              <a:rPr lang="en-US" sz="1050" dirty="0">
                <a:solidFill>
                  <a:srgbClr val="BFD8C7"/>
                </a:solidFill>
                <a:latin typeface="Calibri" pitchFamily="34" charset="0"/>
                <a:ea typeface="Calibri" pitchFamily="34" charset="-122"/>
                <a:cs typeface="Calibri" pitchFamily="34" charset="-120"/>
              </a:rPr>
              <a:t>12 grower interviews, 3 commission agents, 2 storage operators. Settle the one question that matters: will he pay PKR 12 a crate.</a:t>
            </a:r>
            <a:endParaRPr lang="en-US" sz="1050" dirty="0"/>
          </a:p>
        </p:txBody>
      </p:sp>
      <p:sp>
        <p:nvSpPr>
          <p:cNvPr id="11" name="Shape 9"/>
          <p:cNvSpPr/>
          <p:nvPr/>
        </p:nvSpPr>
        <p:spPr>
          <a:xfrm>
            <a:off x="3429000" y="2148840"/>
            <a:ext cx="2606040" cy="2606040"/>
          </a:xfrm>
          <a:prstGeom prst="roundRect">
            <a:avLst>
              <a:gd name="adj" fmla="val 2807"/>
            </a:avLst>
          </a:prstGeom>
          <a:solidFill>
            <a:srgbClr val="1D4C37"/>
          </a:solidFill>
          <a:ln/>
        </p:spPr>
      </p:sp>
      <p:sp>
        <p:nvSpPr>
          <p:cNvPr id="12" name="Shape 10"/>
          <p:cNvSpPr/>
          <p:nvPr/>
        </p:nvSpPr>
        <p:spPr>
          <a:xfrm>
            <a:off x="3666744" y="2377440"/>
            <a:ext cx="384048" cy="384048"/>
          </a:xfrm>
          <a:prstGeom prst="ellipse">
            <a:avLst/>
          </a:prstGeom>
          <a:solidFill>
            <a:srgbClr val="E4572E"/>
          </a:solidFill>
          <a:ln/>
        </p:spPr>
      </p:sp>
      <p:sp>
        <p:nvSpPr>
          <p:cNvPr id="13" name="Text 11"/>
          <p:cNvSpPr/>
          <p:nvPr/>
        </p:nvSpPr>
        <p:spPr>
          <a:xfrm>
            <a:off x="3666744" y="2377440"/>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2"/>
          <p:cNvSpPr/>
          <p:nvPr/>
        </p:nvSpPr>
        <p:spPr>
          <a:xfrm>
            <a:off x="3666744" y="2871216"/>
            <a:ext cx="2148840" cy="274320"/>
          </a:xfrm>
          <a:prstGeom prst="rect">
            <a:avLst/>
          </a:prstGeom>
          <a:noFill/>
          <a:ln/>
        </p:spPr>
        <p:txBody>
          <a:bodyPr wrap="square" lIns="0" tIns="0" rIns="0" bIns="0" rtlCol="0" anchor="ctr"/>
          <a:lstStyle/>
          <a:p>
            <a:pPr indent="0" marL="0">
              <a:buNone/>
            </a:pPr>
            <a:r>
              <a:rPr lang="en-US" sz="1100" b="1" spc="100" kern="0" dirty="0">
                <a:solidFill>
                  <a:srgbClr val="9BC4A8"/>
                </a:solidFill>
                <a:latin typeface="Calibri" pitchFamily="34" charset="0"/>
                <a:ea typeface="Calibri" pitchFamily="34" charset="-122"/>
                <a:cs typeface="Calibri" pitchFamily="34" charset="-120"/>
              </a:rPr>
              <a:t>Weeks 4 to 6</a:t>
            </a:r>
            <a:endParaRPr lang="en-US" sz="1100" dirty="0"/>
          </a:p>
        </p:txBody>
      </p:sp>
      <p:sp>
        <p:nvSpPr>
          <p:cNvPr id="15" name="Text 13"/>
          <p:cNvSpPr/>
          <p:nvPr/>
        </p:nvSpPr>
        <p:spPr>
          <a:xfrm>
            <a:off x="3666744" y="3163824"/>
            <a:ext cx="21488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Real costs</a:t>
            </a:r>
            <a:endParaRPr lang="en-US" sz="1600" dirty="0"/>
          </a:p>
        </p:txBody>
      </p:sp>
      <p:sp>
        <p:nvSpPr>
          <p:cNvPr id="16" name="Text 14"/>
          <p:cNvSpPr/>
          <p:nvPr/>
        </p:nvSpPr>
        <p:spPr>
          <a:xfrm>
            <a:off x="3666744" y="3602736"/>
            <a:ext cx="2148840" cy="1051560"/>
          </a:xfrm>
          <a:prstGeom prst="rect">
            <a:avLst/>
          </a:prstGeom>
          <a:noFill/>
          <a:ln/>
        </p:spPr>
        <p:txBody>
          <a:bodyPr wrap="square" lIns="0" tIns="0" rIns="0" bIns="0" rtlCol="0" anchor="ctr"/>
          <a:lstStyle/>
          <a:p>
            <a:pPr indent="0" marL="0">
              <a:lnSpc>
                <a:spcPts val="1400"/>
              </a:lnSpc>
              <a:buNone/>
            </a:pPr>
            <a:r>
              <a:rPr lang="en-US" sz="1050" dirty="0">
                <a:solidFill>
                  <a:srgbClr val="BFD8C7"/>
                </a:solidFill>
                <a:latin typeface="Calibri" pitchFamily="34" charset="0"/>
                <a:ea typeface="Calibri" pitchFamily="34" charset="-122"/>
                <a:cs typeface="Calibri" pitchFamily="34" charset="-120"/>
              </a:rPr>
              <a:t>Three written quotes for a 5 tonne solar cold room. Replace our PKR 2.5 million estimate with a number from a supplier.</a:t>
            </a:r>
            <a:endParaRPr lang="en-US" sz="1050" dirty="0"/>
          </a:p>
        </p:txBody>
      </p:sp>
      <p:sp>
        <p:nvSpPr>
          <p:cNvPr id="17" name="Shape 15"/>
          <p:cNvSpPr/>
          <p:nvPr/>
        </p:nvSpPr>
        <p:spPr>
          <a:xfrm>
            <a:off x="6217920" y="2148840"/>
            <a:ext cx="2606040" cy="2606040"/>
          </a:xfrm>
          <a:prstGeom prst="roundRect">
            <a:avLst>
              <a:gd name="adj" fmla="val 2807"/>
            </a:avLst>
          </a:prstGeom>
          <a:solidFill>
            <a:srgbClr val="1D4C37"/>
          </a:solidFill>
          <a:ln/>
        </p:spPr>
      </p:sp>
      <p:sp>
        <p:nvSpPr>
          <p:cNvPr id="18" name="Shape 16"/>
          <p:cNvSpPr/>
          <p:nvPr/>
        </p:nvSpPr>
        <p:spPr>
          <a:xfrm>
            <a:off x="6455664" y="2377440"/>
            <a:ext cx="384048" cy="384048"/>
          </a:xfrm>
          <a:prstGeom prst="ellipse">
            <a:avLst/>
          </a:prstGeom>
          <a:solidFill>
            <a:srgbClr val="E4572E"/>
          </a:solidFill>
          <a:ln/>
        </p:spPr>
      </p:sp>
      <p:sp>
        <p:nvSpPr>
          <p:cNvPr id="19" name="Text 17"/>
          <p:cNvSpPr/>
          <p:nvPr/>
        </p:nvSpPr>
        <p:spPr>
          <a:xfrm>
            <a:off x="6455664" y="2377440"/>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20" name="Text 18"/>
          <p:cNvSpPr/>
          <p:nvPr/>
        </p:nvSpPr>
        <p:spPr>
          <a:xfrm>
            <a:off x="6455664" y="2871216"/>
            <a:ext cx="2148840" cy="274320"/>
          </a:xfrm>
          <a:prstGeom prst="rect">
            <a:avLst/>
          </a:prstGeom>
          <a:noFill/>
          <a:ln/>
        </p:spPr>
        <p:txBody>
          <a:bodyPr wrap="square" lIns="0" tIns="0" rIns="0" bIns="0" rtlCol="0" anchor="ctr"/>
          <a:lstStyle/>
          <a:p>
            <a:pPr indent="0" marL="0">
              <a:buNone/>
            </a:pPr>
            <a:r>
              <a:rPr lang="en-US" sz="1100" b="1" spc="100" kern="0" dirty="0">
                <a:solidFill>
                  <a:srgbClr val="9BC4A8"/>
                </a:solidFill>
                <a:latin typeface="Calibri" pitchFamily="34" charset="0"/>
                <a:ea typeface="Calibri" pitchFamily="34" charset="-122"/>
                <a:cs typeface="Calibri" pitchFamily="34" charset="-120"/>
              </a:rPr>
              <a:t>Weeks 7 to 9</a:t>
            </a:r>
            <a:endParaRPr lang="en-US" sz="1100" dirty="0"/>
          </a:p>
        </p:txBody>
      </p:sp>
      <p:sp>
        <p:nvSpPr>
          <p:cNvPr id="21" name="Text 19"/>
          <p:cNvSpPr/>
          <p:nvPr/>
        </p:nvSpPr>
        <p:spPr>
          <a:xfrm>
            <a:off x="6455664" y="3163824"/>
            <a:ext cx="21488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Site and buyers</a:t>
            </a:r>
            <a:endParaRPr lang="en-US" sz="1600" dirty="0"/>
          </a:p>
        </p:txBody>
      </p:sp>
      <p:sp>
        <p:nvSpPr>
          <p:cNvPr id="22" name="Text 20"/>
          <p:cNvSpPr/>
          <p:nvPr/>
        </p:nvSpPr>
        <p:spPr>
          <a:xfrm>
            <a:off x="6455664" y="3602736"/>
            <a:ext cx="2148840" cy="1051560"/>
          </a:xfrm>
          <a:prstGeom prst="rect">
            <a:avLst/>
          </a:prstGeom>
          <a:noFill/>
          <a:ln/>
        </p:spPr>
        <p:txBody>
          <a:bodyPr wrap="square" lIns="0" tIns="0" rIns="0" bIns="0" rtlCol="0" anchor="ctr"/>
          <a:lstStyle/>
          <a:p>
            <a:pPr indent="0" marL="0">
              <a:lnSpc>
                <a:spcPts val="1400"/>
              </a:lnSpc>
              <a:buNone/>
            </a:pPr>
            <a:r>
              <a:rPr lang="en-US" sz="1050" dirty="0">
                <a:solidFill>
                  <a:srgbClr val="BFD8C7"/>
                </a:solidFill>
                <a:latin typeface="Calibri" pitchFamily="34" charset="0"/>
                <a:ea typeface="Calibri" pitchFamily="34" charset="-122"/>
                <a:cs typeface="Calibri" pitchFamily="34" charset="-120"/>
              </a:rPr>
              <a:t>A written site agreement with one village, support from the union council, and a letter of intent from two city buyers.</a:t>
            </a:r>
            <a:endParaRPr lang="en-US" sz="1050" dirty="0"/>
          </a:p>
        </p:txBody>
      </p:sp>
      <p:sp>
        <p:nvSpPr>
          <p:cNvPr id="23" name="Shape 21"/>
          <p:cNvSpPr/>
          <p:nvPr/>
        </p:nvSpPr>
        <p:spPr>
          <a:xfrm>
            <a:off x="9006840" y="2148840"/>
            <a:ext cx="2606040" cy="2606040"/>
          </a:xfrm>
          <a:prstGeom prst="roundRect">
            <a:avLst>
              <a:gd name="adj" fmla="val 2807"/>
            </a:avLst>
          </a:prstGeom>
          <a:solidFill>
            <a:srgbClr val="1D4C37"/>
          </a:solidFill>
          <a:ln/>
        </p:spPr>
      </p:sp>
      <p:sp>
        <p:nvSpPr>
          <p:cNvPr id="24" name="Shape 22"/>
          <p:cNvSpPr/>
          <p:nvPr/>
        </p:nvSpPr>
        <p:spPr>
          <a:xfrm>
            <a:off x="9244584" y="2377440"/>
            <a:ext cx="384048" cy="384048"/>
          </a:xfrm>
          <a:prstGeom prst="ellipse">
            <a:avLst/>
          </a:prstGeom>
          <a:solidFill>
            <a:srgbClr val="E4572E"/>
          </a:solidFill>
          <a:ln/>
        </p:spPr>
      </p:sp>
      <p:sp>
        <p:nvSpPr>
          <p:cNvPr id="25" name="Text 23"/>
          <p:cNvSpPr/>
          <p:nvPr/>
        </p:nvSpPr>
        <p:spPr>
          <a:xfrm>
            <a:off x="9244584" y="2377440"/>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6" name="Text 24"/>
          <p:cNvSpPr/>
          <p:nvPr/>
        </p:nvSpPr>
        <p:spPr>
          <a:xfrm>
            <a:off x="9244584" y="2871216"/>
            <a:ext cx="2148840" cy="274320"/>
          </a:xfrm>
          <a:prstGeom prst="rect">
            <a:avLst/>
          </a:prstGeom>
          <a:noFill/>
          <a:ln/>
        </p:spPr>
        <p:txBody>
          <a:bodyPr wrap="square" lIns="0" tIns="0" rIns="0" bIns="0" rtlCol="0" anchor="ctr"/>
          <a:lstStyle/>
          <a:p>
            <a:pPr indent="0" marL="0">
              <a:buNone/>
            </a:pPr>
            <a:r>
              <a:rPr lang="en-US" sz="1100" b="1" spc="100" kern="0" dirty="0">
                <a:solidFill>
                  <a:srgbClr val="9BC4A8"/>
                </a:solidFill>
                <a:latin typeface="Calibri" pitchFamily="34" charset="0"/>
                <a:ea typeface="Calibri" pitchFamily="34" charset="-122"/>
                <a:cs typeface="Calibri" pitchFamily="34" charset="-120"/>
              </a:rPr>
              <a:t>Weeks 10 to 12</a:t>
            </a:r>
            <a:endParaRPr lang="en-US" sz="1100" dirty="0"/>
          </a:p>
        </p:txBody>
      </p:sp>
      <p:sp>
        <p:nvSpPr>
          <p:cNvPr id="27" name="Text 25"/>
          <p:cNvSpPr/>
          <p:nvPr/>
        </p:nvSpPr>
        <p:spPr>
          <a:xfrm>
            <a:off x="9244584" y="3163824"/>
            <a:ext cx="21488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Capital and build</a:t>
            </a:r>
            <a:endParaRPr lang="en-US" sz="1600" dirty="0"/>
          </a:p>
        </p:txBody>
      </p:sp>
      <p:sp>
        <p:nvSpPr>
          <p:cNvPr id="28" name="Text 26"/>
          <p:cNvSpPr/>
          <p:nvPr/>
        </p:nvSpPr>
        <p:spPr>
          <a:xfrm>
            <a:off x="9244584" y="3602736"/>
            <a:ext cx="2148840" cy="1051560"/>
          </a:xfrm>
          <a:prstGeom prst="rect">
            <a:avLst/>
          </a:prstGeom>
          <a:noFill/>
          <a:ln/>
        </p:spPr>
        <p:txBody>
          <a:bodyPr wrap="square" lIns="0" tIns="0" rIns="0" bIns="0" rtlCol="0" anchor="ctr"/>
          <a:lstStyle/>
          <a:p>
            <a:pPr indent="0" marL="0">
              <a:lnSpc>
                <a:spcPts val="1400"/>
              </a:lnSpc>
              <a:buNone/>
            </a:pPr>
            <a:r>
              <a:rPr lang="en-US" sz="1050" dirty="0">
                <a:solidFill>
                  <a:srgbClr val="BFD8C7"/>
                </a:solidFill>
                <a:latin typeface="Calibri" pitchFamily="34" charset="0"/>
                <a:ea typeface="Calibri" pitchFamily="34" charset="-122"/>
                <a:cs typeface="Calibri" pitchFamily="34" charset="-120"/>
              </a:rPr>
              <a:t>Put the case to Alkhidmat, a CSR partner and one green financing window. Begin the build on the pilot unit.</a:t>
            </a:r>
            <a:endParaRPr lang="en-US" sz="1050" dirty="0"/>
          </a:p>
        </p:txBody>
      </p:sp>
      <p:sp>
        <p:nvSpPr>
          <p:cNvPr id="29" name="Text 27"/>
          <p:cNvSpPr/>
          <p:nvPr/>
        </p:nvSpPr>
        <p:spPr>
          <a:xfrm>
            <a:off x="640080" y="5010912"/>
            <a:ext cx="5029200" cy="274320"/>
          </a:xfrm>
          <a:prstGeom prst="rect">
            <a:avLst/>
          </a:prstGeom>
          <a:noFill/>
          <a:ln/>
        </p:spPr>
        <p:txBody>
          <a:bodyPr wrap="square" lIns="0" tIns="0" rIns="0" bIns="0" rtlCol="0" anchor="t"/>
          <a:lstStyle/>
          <a:p>
            <a:pPr indent="0" marL="0">
              <a:buNone/>
            </a:pPr>
            <a:r>
              <a:rPr lang="en-US" sz="1150" b="1" spc="180" kern="0" dirty="0">
                <a:solidFill>
                  <a:srgbClr val="9BC4A8"/>
                </a:solidFill>
                <a:latin typeface="Calibri" pitchFamily="34" charset="0"/>
                <a:ea typeface="Calibri" pitchFamily="34" charset="-122"/>
                <a:cs typeface="Calibri" pitchFamily="34" charset="-120"/>
              </a:rPr>
              <a:t>WHAT WE ARE ASKING FOR</a:t>
            </a:r>
            <a:endParaRPr lang="en-US" sz="1150" dirty="0"/>
          </a:p>
        </p:txBody>
      </p:sp>
      <p:sp>
        <p:nvSpPr>
          <p:cNvPr id="30" name="Text 28"/>
          <p:cNvSpPr/>
          <p:nvPr/>
        </p:nvSpPr>
        <p:spPr>
          <a:xfrm>
            <a:off x="640080" y="5376672"/>
            <a:ext cx="10881360" cy="868680"/>
          </a:xfrm>
          <a:prstGeom prst="rect">
            <a:avLst/>
          </a:prstGeom>
          <a:noFill/>
          <a:ln/>
        </p:spPr>
        <p:txBody>
          <a:bodyPr wrap="square" lIns="0" tIns="0" rIns="0" bIns="0" rtlCol="0" anchor="t"/>
          <a:lstStyle/>
          <a:p>
            <a:pPr indent="0" marL="0">
              <a:lnSpc>
                <a:spcPts val="2700"/>
              </a:lnSpc>
              <a:buNone/>
            </a:pPr>
            <a:r>
              <a:rPr lang="en-US" sz="1900" b="1" dirty="0">
                <a:solidFill>
                  <a:srgbClr val="FFFFFF"/>
                </a:solidFill>
                <a:latin typeface="Cambria" pitchFamily="34" charset="0"/>
                <a:ea typeface="Cambria" pitchFamily="34" charset="-122"/>
                <a:cs typeface="Cambria" pitchFamily="34" charset="-120"/>
              </a:rPr>
              <a:t>Capital for one pilot unit, a village willing to host it, and an introduction to two city buyers. One room, one season, and a real number at the end of it.</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50" b="1" spc="200" kern="0" dirty="0">
                <a:solidFill>
                  <a:srgbClr val="2E7D5B"/>
                </a:solidFill>
                <a:latin typeface="Calibri" pitchFamily="34" charset="0"/>
                <a:ea typeface="Calibri" pitchFamily="34" charset="-122"/>
                <a:cs typeface="Calibri" pitchFamily="34" charset="-120"/>
              </a:rPr>
              <a:t>APPENDIX</a:t>
            </a:r>
            <a:endParaRPr lang="en-US" sz="1150" dirty="0"/>
          </a:p>
        </p:txBody>
      </p:sp>
      <p:sp>
        <p:nvSpPr>
          <p:cNvPr id="3" name="Text 1"/>
          <p:cNvSpPr/>
          <p:nvPr/>
        </p:nvSpPr>
        <p:spPr>
          <a:xfrm>
            <a:off x="640080" y="676656"/>
            <a:ext cx="10881360" cy="566928"/>
          </a:xfrm>
          <a:prstGeom prst="rect">
            <a:avLst/>
          </a:prstGeom>
          <a:noFill/>
          <a:ln/>
        </p:spPr>
        <p:txBody>
          <a:bodyPr wrap="square" lIns="0" tIns="0" rIns="0" bIns="0" rtlCol="0" anchor="t"/>
          <a:lstStyle/>
          <a:p>
            <a:pPr indent="0" marL="0">
              <a:buNone/>
            </a:pPr>
            <a:r>
              <a:rPr lang="en-US" sz="3100" b="1" dirty="0">
                <a:solidFill>
                  <a:srgbClr val="1A1A1A"/>
                </a:solidFill>
                <a:latin typeface="Cambria" pitchFamily="34" charset="0"/>
                <a:ea typeface="Cambria" pitchFamily="34" charset="-122"/>
                <a:cs typeface="Cambria" pitchFamily="34" charset="-120"/>
              </a:rPr>
              <a:t>Sources</a:t>
            </a:r>
            <a:endParaRPr lang="en-US" sz="3100" dirty="0"/>
          </a:p>
        </p:txBody>
      </p:sp>
      <p:sp>
        <p:nvSpPr>
          <p:cNvPr id="4" name="Text 2"/>
          <p:cNvSpPr/>
          <p:nvPr/>
        </p:nvSpPr>
        <p:spPr>
          <a:xfrm>
            <a:off x="640080" y="1691640"/>
            <a:ext cx="5303520" cy="329184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Pakistan Bureau of Statistics, 7th Agricultural Census, reported by Profit and The Express Tribune, August 2025. Farm size distribution.</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Asian Development Bank estimate on post harvest losses, reported in Dawn.</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Pakistan Today and FreshPlaza, 2026. Forty percent post harvest losses and the cold storage gap.</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AgriHunt. Stage by stage breakdown of losses in fruits and vegetables.</a:t>
            </a:r>
            <a:endParaRPr lang="en-US" sz="1200" dirty="0"/>
          </a:p>
        </p:txBody>
      </p:sp>
      <p:sp>
        <p:nvSpPr>
          <p:cNvPr id="5" name="Text 3"/>
          <p:cNvSpPr/>
          <p:nvPr/>
        </p:nvSpPr>
        <p:spPr>
          <a:xfrm>
            <a:off x="6309360" y="1691640"/>
            <a:ext cx="5212080" cy="329184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The Express Tribune, 2026. Storage fund set against farm losses.</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International Growth Centre, PAK-22066, March 2023. Understanding the fresh produce supply chain.</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PIDE. The role of the middleman and neglected aspects.</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Arab News and Dawn reporting on the arhti system and farmer share of the retail price.</a:t>
            </a:r>
            <a:endParaRPr lang="en-US" sz="1200" dirty="0"/>
          </a:p>
          <a:p>
            <a:pPr marL="342900" indent="-342900">
              <a:lnSpc>
                <a:spcPts val="1600"/>
              </a:lnSpc>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Trade press on cold storage build cost and rental rates in Pakistan, 2026.</a:t>
            </a:r>
            <a:endParaRPr lang="en-US" sz="1200" dirty="0"/>
          </a:p>
        </p:txBody>
      </p:sp>
      <p:sp>
        <p:nvSpPr>
          <p:cNvPr id="6" name="Shape 4"/>
          <p:cNvSpPr/>
          <p:nvPr/>
        </p:nvSpPr>
        <p:spPr>
          <a:xfrm>
            <a:off x="640080" y="5120640"/>
            <a:ext cx="10881360" cy="1005840"/>
          </a:xfrm>
          <a:prstGeom prst="roundRect">
            <a:avLst>
              <a:gd name="adj" fmla="val 7273"/>
            </a:avLst>
          </a:prstGeom>
          <a:solidFill>
            <a:srgbClr val="F2F5F1"/>
          </a:solidFill>
          <a:ln/>
          <a:effectLst>
            <a:outerShdw sx="100000" sy="100000" kx="0" ky="0" algn="bl" rotWithShape="0" blurRad="101600" dist="635" dir="5400000">
              <a:srgbClr val="9AA69E">
                <a:alpha val="12000"/>
              </a:srgbClr>
            </a:outerShdw>
          </a:effectLst>
        </p:spPr>
      </p:sp>
      <p:sp>
        <p:nvSpPr>
          <p:cNvPr id="7" name="Text 5"/>
          <p:cNvSpPr/>
          <p:nvPr/>
        </p:nvSpPr>
        <p:spPr>
          <a:xfrm>
            <a:off x="1024128" y="5303520"/>
            <a:ext cx="10424160" cy="64008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Figures we produced ourselves and have marked as estimates: the PKR 2.5 million build cost, the 60 percent occupancy assumption, the 7 percent aggregation margin, and the 300 to 400 household catchment.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Thanda Godam</dc:title>
  <dc:subject>PptxGenJS Presentation</dc:subject>
  <dc:creator>Alkhidmat Summer Internship 2026</dc:creator>
  <cp:lastModifiedBy>Alkhidmat Summer Internship 2026</cp:lastModifiedBy>
  <cp:revision>1</cp:revision>
  <dcterms:created xsi:type="dcterms:W3CDTF">2026-08-17T15:27:02Z</dcterms:created>
  <dcterms:modified xsi:type="dcterms:W3CDTF">2026-08-17T15:27:02Z</dcterms:modified>
</cp:coreProperties>
</file>