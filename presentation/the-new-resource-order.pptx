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supplier share (%)</c:v>
                </c:pt>
              </c:strCache>
            </c:strRef>
          </c:tx>
          <c:spPr>
            <a:solidFill>
              <a:srgbClr val="BE5F26"/>
            </a:solidFill>
            <a:effectLst/>
          </c:spPr>
          <c:invertIfNegative val="0"/>
          <c:dLbls>
            <c:numFmt formatCode="0&quot;%&quot;" sourceLinked="0"/>
            <c:txPr>
              <a:bodyPr/>
              <a:lstStyle/>
              <a:p>
                <a:pPr>
                  <a:defRPr b="0" i="0" strike="noStrike" sz="1100" u="none">
                    <a:solidFill>
                      <a:srgbClr val="15191F"/>
                    </a:solidFill>
                    <a:latin typeface="Calibri"/>
                  </a:defRPr>
                </a:pPr>
              </a:p>
            </c:txPr>
            <c:showLegendKey val="0"/>
            <c:showVal val="1"/>
            <c:showCatName val="0"/>
            <c:showSerName val="0"/>
            <c:showPercent val="0"/>
            <c:showBubbleSize val="0"/>
            <c:showLeaderLines val="0"/>
          </c:dLbls>
          <c:cat>
            <c:multiLvlStrRef>
              <c:f>Sheet1!$A$2:$A$9</c:f>
              <c:multiLvlStrCache>
                <c:ptCount val="8"/>
                <c:lvl>
                  <c:pt idx="0">
                    <c:v>Copper</c:v>
                  </c:pt>
                  <c:pt idx="1">
                    <c:v>Nickel</c:v>
                  </c:pt>
                  <c:pt idx="2">
                    <c:v>Lithium</c:v>
                  </c:pt>
                  <c:pt idx="3">
                    <c:v>Cobalt</c:v>
                  </c:pt>
                  <c:pt idx="4">
                    <c:v>Manganese</c:v>
                  </c:pt>
                  <c:pt idx="5">
                    <c:v>Graphite</c:v>
                  </c:pt>
                  <c:pt idx="6">
                    <c:v>Rare earths</c:v>
                  </c:pt>
                  <c:pt idx="7">
                    <c:v>Gallium</c:v>
                  </c:pt>
                </c:lvl>
              </c:multiLvlStrCache>
            </c:multiLvlStrRef>
          </c:cat>
          <c:val>
            <c:numRef>
              <c:f>Sheet1!$B$2:$B$9</c:f>
              <c:numCache>
                <c:formatCode>General</c:formatCode>
                <c:ptCount val="8"/>
                <c:pt idx="0">
                  <c:v>44</c:v>
                </c:pt>
                <c:pt idx="1">
                  <c:v>63</c:v>
                </c:pt>
                <c:pt idx="2">
                  <c:v>70</c:v>
                </c:pt>
                <c:pt idx="3">
                  <c:v>76</c:v>
                </c:pt>
                <c:pt idx="4">
                  <c:v>90</c:v>
                </c:pt>
                <c:pt idx="5">
                  <c:v>91</c:v>
                </c:pt>
                <c:pt idx="6">
                  <c:v>92</c:v>
                </c:pt>
                <c:pt idx="7">
                  <c:v>98</c:v>
                </c:pt>
              </c:numCache>
            </c:numRef>
          </c:val>
        </c:ser>
        <c:dLbls>
          <c:numFmt formatCode="0&quot;%&quot;" sourceLinked="0"/>
          <c:txPr>
            <a:bodyPr/>
            <a:lstStyle/>
            <a:p>
              <a:pPr>
                <a:defRPr b="0" i="0" strike="noStrike" sz="1100" u="none">
                  <a:solidFill>
                    <a:srgbClr val="15191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5191F"/>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Change in investment (%)</c:v>
                </c:pt>
              </c:strCache>
            </c:strRef>
          </c:tx>
          <c:spPr>
            <a:solidFill>
              <a:srgbClr val="BE5F26"/>
            </a:solidFill>
            <a:effectLst/>
          </c:spPr>
          <c:invertIfNegative val="0"/>
          <c:dLbls>
            <c:numFmt formatCode="0&quot;%&quot;" sourceLinked="0"/>
            <c:txPr>
              <a:bodyPr/>
              <a:lstStyle/>
              <a:p>
                <a:pPr>
                  <a:defRPr b="0" i="0" strike="noStrike" sz="1200" u="none">
                    <a:solidFill>
                      <a:srgbClr val="1519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All critical minerals</c:v>
                  </c:pt>
                  <c:pt idx="1">
                    <c:v>Battery metals</c:v>
                  </c:pt>
                  <c:pt idx="2">
                    <c:v>Lithium</c:v>
                  </c:pt>
                </c:lvl>
              </c:multiLvlStrCache>
            </c:multiLvlStrRef>
          </c:cat>
          <c:val>
            <c:numRef>
              <c:f>Sheet1!$B$2:$B$4</c:f>
              <c:numCache>
                <c:formatCode>General</c:formatCode>
                <c:ptCount val="3"/>
                <c:pt idx="0">
                  <c:v>-9</c:v>
                </c:pt>
                <c:pt idx="1">
                  <c:v>-21</c:v>
                </c:pt>
                <c:pt idx="2">
                  <c:v>-40</c:v>
                </c:pt>
              </c:numCache>
            </c:numRef>
          </c:val>
        </c:ser>
        <c:dLbls>
          <c:numFmt formatCode="0&quot;%&quot;" sourceLinked="0"/>
          <c:txPr>
            <a:bodyPr/>
            <a:lstStyle/>
            <a:p>
              <a:pPr>
                <a:defRPr b="0" i="0" strike="noStrike" sz="1200" u="none">
                  <a:solidFill>
                    <a:srgbClr val="15191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5191F"/>
                </a:solidFill>
                <a:latin typeface="Calibri"/>
              </a:defRPr>
            </a:pPr>
            <a:endParaRPr lang="en-US"/>
          </a:p>
        </c:txPr>
        <c:crossAx val="2094734552"/>
        <c:crosses val="autoZero"/>
        <c:auto val="1"/>
        <c:lblAlgn val="ctr"/>
        <c:noMultiLvlLbl val="1"/>
      </c:catAx>
      <c:valAx>
        <c:axId val="2094734552"/>
        <c:scaling>
          <c:orientation val="minMax"/>
          <c:max val="0"/>
          <c:min val="-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69737F"/>
                </a:solidFill>
                <a:latin typeface="Calibri"/>
              </a:defRPr>
            </a:pPr>
            <a:r>
              <a:rPr sz="1150" b="0" i="0" u="none" strike="noStrike">
                <a:solidFill>
                  <a:srgbClr val="69737F"/>
                </a:solidFill>
                <a:latin typeface="Calibri"/>
              </a:rPr>
              <a:t>Average top-supplier share of refining (%)</a:t>
            </a:r>
          </a:p>
        </c:rich>
      </c:tx>
      <c:layout/>
      <c:overlay val="0"/>
    </c:title>
    <c:autoTitleDeleted val="0"/>
    <c:plotArea>
      <c:layout/>
      <c:lineChart>
        <c:varyColors val="0"/>
        <c:ser>
          <c:idx val="0"/>
          <c:order val="0"/>
          <c:tx>
            <c:strRef>
              <c:f>Sheet1!$B$1</c:f>
              <c:strCache>
                <c:ptCount val="1"/>
                <c:pt idx="0">
                  <c:v>Managed fragmentation</c:v>
                </c:pt>
              </c:strCache>
            </c:strRef>
          </c:tx>
          <c:spPr>
            <a:solidFill>
              <a:srgbClr val="69737F"/>
            </a:solidFill>
            <a:ln w="38100" cap="flat">
              <a:solidFill>
                <a:srgbClr val="6973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9737F"/>
              </a:solidFill>
              <a:ln w="9525" cap="flat">
                <a:solidFill>
                  <a:srgbClr val="69737F"/>
                </a:solidFill>
                <a:prstDash val="solid"/>
                <a:round/>
              </a:ln>
              <a:effectLst/>
            </c:spPr>
          </c:marker>
          <c:cat>
            <c:multiLvlStrRef>
              <c:f>Sheet1!$A$2:$A$5</c:f>
              <c:multiLvlStrCache>
                <c:ptCount val="4"/>
                <c:lvl>
                  <c:pt idx="0">
                    <c:v>2025</c:v>
                  </c:pt>
                  <c:pt idx="1">
                    <c:v>2028</c:v>
                  </c:pt>
                  <c:pt idx="2">
                    <c:v>2031</c:v>
                  </c:pt>
                  <c:pt idx="3">
                    <c:v>2035</c:v>
                  </c:pt>
                </c:lvl>
              </c:multiLvlStrCache>
            </c:multiLvlStrRef>
          </c:cat>
          <c:val>
            <c:numRef>
              <c:f>Sheet1!$B$2:$B$5</c:f>
              <c:numCache>
                <c:formatCode>General</c:formatCode>
                <c:ptCount val="4"/>
                <c:pt idx="0">
                  <c:v>70</c:v>
                </c:pt>
                <c:pt idx="1">
                  <c:v>71</c:v>
                </c:pt>
                <c:pt idx="2">
                  <c:v>72</c:v>
                </c:pt>
                <c:pt idx="3">
                  <c:v>70</c:v>
                </c:pt>
              </c:numCache>
            </c:numRef>
          </c:val>
          <c:smooth val="0"/>
        </c:ser>
        <c:ser>
          <c:idx val="1"/>
          <c:order val="1"/>
          <c:tx>
            <c:strRef>
              <c:f>Sheet1!$C$1</c:f>
              <c:strCache>
                <c:ptCount val="1"/>
                <c:pt idx="0">
                  <c:v>Weaponised bloc split</c:v>
                </c:pt>
              </c:strCache>
            </c:strRef>
          </c:tx>
          <c:spPr>
            <a:solidFill>
              <a:srgbClr val="BE5F26"/>
            </a:solidFill>
            <a:ln w="38100" cap="flat">
              <a:solidFill>
                <a:srgbClr val="BE5F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E5F26"/>
              </a:solidFill>
              <a:ln w="9525" cap="flat">
                <a:solidFill>
                  <a:srgbClr val="BE5F26"/>
                </a:solidFill>
                <a:prstDash val="solid"/>
                <a:round/>
              </a:ln>
              <a:effectLst/>
            </c:spPr>
          </c:marker>
          <c:cat>
            <c:multiLvlStrRef>
              <c:f>Sheet1!$A$2:$A$5</c:f>
              <c:multiLvlStrCache>
                <c:ptCount val="4"/>
                <c:lvl>
                  <c:pt idx="0">
                    <c:v>2025</c:v>
                  </c:pt>
                  <c:pt idx="1">
                    <c:v>2028</c:v>
                  </c:pt>
                  <c:pt idx="2">
                    <c:v>2031</c:v>
                  </c:pt>
                  <c:pt idx="3">
                    <c:v>2035</c:v>
                  </c:pt>
                </c:lvl>
              </c:multiLvlStrCache>
            </c:multiLvlStrRef>
          </c:cat>
          <c:val>
            <c:numRef>
              <c:f>Sheet1!$C$2:$C$5</c:f>
              <c:numCache>
                <c:formatCode>General</c:formatCode>
                <c:ptCount val="4"/>
                <c:pt idx="0">
                  <c:v>70</c:v>
                </c:pt>
                <c:pt idx="1">
                  <c:v>74</c:v>
                </c:pt>
                <c:pt idx="2">
                  <c:v>77</c:v>
                </c:pt>
                <c:pt idx="3">
                  <c:v>79</c:v>
                </c:pt>
              </c:numCache>
            </c:numRef>
          </c:val>
          <c:smooth val="0"/>
        </c:ser>
        <c:ser>
          <c:idx val="2"/>
          <c:order val="2"/>
          <c:tx>
            <c:strRef>
              <c:f>Sheet1!$D$1</c:f>
              <c:strCache>
                <c:ptCount val="1"/>
                <c:pt idx="0">
                  <c:v>Coordinated diversification</c:v>
                </c:pt>
              </c:strCache>
            </c:strRef>
          </c:tx>
          <c:spPr>
            <a:solidFill>
              <a:srgbClr val="2C7A72"/>
            </a:solidFill>
            <a:ln w="38100" cap="flat">
              <a:solidFill>
                <a:srgbClr val="2C7A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C7A72"/>
              </a:solidFill>
              <a:ln w="9525" cap="flat">
                <a:solidFill>
                  <a:srgbClr val="2C7A72"/>
                </a:solidFill>
                <a:prstDash val="solid"/>
                <a:round/>
              </a:ln>
              <a:effectLst/>
            </c:spPr>
          </c:marker>
          <c:cat>
            <c:multiLvlStrRef>
              <c:f>Sheet1!$A$2:$A$5</c:f>
              <c:multiLvlStrCache>
                <c:ptCount val="4"/>
                <c:lvl>
                  <c:pt idx="0">
                    <c:v>2025</c:v>
                  </c:pt>
                  <c:pt idx="1">
                    <c:v>2028</c:v>
                  </c:pt>
                  <c:pt idx="2">
                    <c:v>2031</c:v>
                  </c:pt>
                  <c:pt idx="3">
                    <c:v>2035</c:v>
                  </c:pt>
                </c:lvl>
              </c:multiLvlStrCache>
            </c:multiLvlStrRef>
          </c:cat>
          <c:val>
            <c:numRef>
              <c:f>Sheet1!$D$2:$D$5</c:f>
              <c:numCache>
                <c:formatCode>General</c:formatCode>
                <c:ptCount val="4"/>
                <c:pt idx="0">
                  <c:v>70</c:v>
                </c:pt>
                <c:pt idx="1">
                  <c:v>66</c:v>
                </c:pt>
                <c:pt idx="2">
                  <c:v>60</c:v>
                </c:pt>
                <c:pt idx="3">
                  <c:v>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5191F"/>
                </a:solidFill>
                <a:latin typeface="Calibri"/>
              </a:defRPr>
            </a:pPr>
            <a:endParaRPr lang="en-US"/>
          </a:p>
        </c:txPr>
        <c:crossAx val="2094734552"/>
        <c:crosses val="autoZero"/>
        <c:auto val="1"/>
        <c:lblAlgn val="ctr"/>
        <c:noMultiLvlLbl val="1"/>
      </c:catAx>
      <c:valAx>
        <c:axId val="2094734552"/>
        <c:scaling>
          <c:orientation val="minMax"/>
          <c:max val="85"/>
          <c:min val="45"/>
        </c:scaling>
        <c:delete val="0"/>
        <c:axPos val="l"/>
        <c:majorGridlines>
          <c:spPr>
            <a:ln w="9525" cap="flat">
              <a:solidFill>
                <a:srgbClr val="DFE4E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973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5191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contrast, not on the title. For a hundred years the question that decided alliances and wars was who owned the oil. The energy transition does not remove that question. It relocates it. The bottleneck is no longer the wellhead, it is the refinery and the processing plant. Everything in the next twenty minutes follows from that single relocation. About forty-five seconds,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claim plainly and do not soften it. Three moves. One: the scarcity is political, not geological. Two: that turns a climate file into a security file. Three: the answer is not self-sufficiency, which is unaffordable, but redundancy — more than one route through every stage — backed by rules. Everything after this slide is evidence for those three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here is the change in the physics. Fossil energy is a flow: you buy fuel forever. Clean energy is a stock: you buy the materials once, in the hardware, and then generate for twenty-five years. That is strategically better in the long run and strategically worse in the short run, because it concentrates the vulnerability into a single procurement moment — and that moment is happening now, everywhere,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criticality is relative. Japan and Chile would not write the same list, because criticality depends on what your economy makes and who you can buy from. This matters diplomatically: when negotiators say critical minerals they are often not talking about the same set of substances at all, and the first job in any bilateral is to agree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four boxes. Draw the line through them. In 1973 the hard-to-duplicate stage was the oilfield. By 2010 it was rare-earth separation chemistry. By 2020 producers realised the same logic could work for them, in reverse. And by 2025 what had been a series of episodes had become a standing legal architecture. That is the real change: from incident to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chart do the work; pause before speaking. The number to hold on to is seventy per cent — that is the average, not the worst case. And note the direction of travel: it was sixty-eight in 2020. Every diversification announcement of the last five years has not yet bent this curve. Announcements are not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analytical heart of the presentation. If the audience takes one slide away, it should be this one. Ore is common; the ability to turn ore into battery-grade material is not. And the reason is not technical secrecy — refining is dirty, slow to permit and low-margin, so it was deliberately offshored. The dependency was chosen, not imposed. That also means it can be unchosen, expensively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across the first five and slow down on the sixth. The asymmetry of this table is the point: the actors who carry the environmental and human cost of extraction are the only ones with no seat in the negotiations that allocate it. That is not a moral aside. It is a durability problem — agreements that exclude host communities are the ones that get renegotiated after the next 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obstacles, but they are not equal. If pressed for the binding constraint, name the first and the last: the timeline mismatch, because it cannot be legislated away, and the institutional vacuum, because it is the one item on this list that diplomacy could actually fix this decade.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for a technical audience. Two curves are moving in opposite directions. Demand for lithium and copper is heading towards a structural deficit by the mid-2030s, and in the same year investment fell nine per cent overall and forty per cent in lithium. Markets are behaving rationally — prices crashed, so capital left — but the aggregate result is a shortage the market will correct only through a price spike, and that spike lands hardest on consumers and on importing developing economies.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the child-labour figure with care and without sensationalism. The analytical point is that the DRC has begun doing something new: instead of asking for aid or better contract terms, it now manages export volumes directly, the way an oil producer does. Whether that works depends on whether it holds through a price cycle and whether the eastern security problem is genuinely settled — and on current evidence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Indonesia as neither a success story nor a cautionary tale but as evidence. It proves that a determined middle power can force value addition onshore inside five years — that is genuinely new, and every resource ministry in Africa and Latin America has read it. But note the sting in the middle column: the plants are Chinese-owned. Indonesia captured the smelting margin and simultaneously deepened a strategic relationship it may later want to loosen. Value capture and sovereignty are not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frame for a diplomatic audience is mechanism, not accusation. What changed in 2025 is not that a state used a supply chokepoint — every great power has. What changed is that the instrument became permanent, licensed, case-by-case and extraterritorial. That is the same architecture the United States built for semiconductors, applied to materials. The system now has two such regimes pointed at each other, and everyone else is downstream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on the sixth box and give it weight. The deepest implication is not economic. It is that a state’s geology is starting to determine its diplomatic room for manoeuvre. A country with a large nickel or cobalt endowment is now under pressure to pick a processing partner, and that choice carries alignment consequences it never used to. For the sixty-odd states that built their foreign policy on non-alignment, this is a genuinely new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school its strongest form, not a caricature — that is what separates analysis from advocacy. If asked which one I hold, say the honest thing: the realist diagnosis with the developmentalist prescription. The dependency is real and will be exploited; but the durable answer runs through giving producing states a genuine stake in the system rather than through building a parallel one behind subsidy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 and cannot" structure carries the argument here. Read one pair aloud, then jump to the black bar. The institutional map is not empty — it is fragmented. Six organisations each hold a piece and none holds the file. That is precisely the condition under which the strongest bilateral actor writes the rules, which is what is happening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strongest claim in the deck, so make it precisely. The transition is necessary and it is not neutral. It moves harm from a global commons to specific places. And the window in which producing states can convert that harm into industrial capacity is not open indefinitely — chemistry is moving. Sodium-ion batteries need no cobalt and no lithium. The bargaining power that exists in 2026 may not exist in 2036, and that argues for urgency in the Global South, not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ordering, because it is deliberate. Most national strategies stop at layer one — build more of everything, at home. Layer one alone is the most expensive route and the slowest. Layer two is the only one that shrinks the problem instead of relocating it. Layer three is the cheapest and the least attempted, because it requires giving producing states a vote rather than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present only recommendation one and recommendation three. One corrects the single most common policy error of the last five years — funding mines when the constraint is refineries. Three is the institutional fix, and it is deliberately unambitious: not a new treaty organisation, but a mandate given to a body that already exists and already has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chart is illustrative — a research audience will respect the disclosure and distrust a fabricated forecast. Then land the line at the bottom. All three scenarios use the same geology and roughly the same technology. What differs between them is a political choice about who gets a seat. That is the argument of the whole presentation compressed into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Three sentences, then the closing line, then stop talking — do not add a summary after it. The last line is what the room should carry out of the door: the transition can be fast and still unjust, and if it is, it will not hold.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Leave it on screen during questions — it is the slide that tells a research audience the deck is sourced, and it is the one people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1F"/>
        </a:solidFill>
      </p:bgPr>
    </p:bg>
    <p:spTree>
      <p:nvGrpSpPr>
        <p:cNvPr id="1" name=""/>
        <p:cNvGrpSpPr/>
        <p:nvPr/>
      </p:nvGrpSpPr>
      <p:grpSpPr>
        <a:xfrm>
          <a:off x="0" y="0"/>
          <a:ext cx="0" cy="0"/>
          <a:chOff x="0" y="0"/>
          <a:chExt cx="0" cy="0"/>
        </a:xfrm>
      </p:grpSpPr>
      <p:sp>
        <p:nvSpPr>
          <p:cNvPr id="2" name="Shape 0"/>
          <p:cNvSpPr/>
          <p:nvPr/>
        </p:nvSpPr>
        <p:spPr>
          <a:xfrm>
            <a:off x="9646920" y="502920"/>
            <a:ext cx="1051560" cy="1051560"/>
          </a:xfrm>
          <a:prstGeom prst="roundRect">
            <a:avLst>
              <a:gd name="adj" fmla="val 4348"/>
            </a:avLst>
          </a:prstGeom>
          <a:solidFill>
            <a:srgbClr val="BE5F26"/>
          </a:solidFill>
          <a:ln/>
        </p:spPr>
      </p:sp>
      <p:sp>
        <p:nvSpPr>
          <p:cNvPr id="3" name="Shape 1"/>
          <p:cNvSpPr/>
          <p:nvPr/>
        </p:nvSpPr>
        <p:spPr>
          <a:xfrm>
            <a:off x="10835640" y="502920"/>
            <a:ext cx="658368" cy="658368"/>
          </a:xfrm>
          <a:prstGeom prst="roundRect">
            <a:avLst>
              <a:gd name="adj" fmla="val 6944"/>
            </a:avLst>
          </a:prstGeom>
          <a:solidFill>
            <a:srgbClr val="222B36"/>
          </a:solidFill>
          <a:ln/>
        </p:spPr>
      </p:sp>
      <p:sp>
        <p:nvSpPr>
          <p:cNvPr id="4" name="Shape 2"/>
          <p:cNvSpPr/>
          <p:nvPr/>
        </p:nvSpPr>
        <p:spPr>
          <a:xfrm>
            <a:off x="9646920" y="1691640"/>
            <a:ext cx="658368" cy="658368"/>
          </a:xfrm>
          <a:prstGeom prst="roundRect">
            <a:avLst>
              <a:gd name="adj" fmla="val 6944"/>
            </a:avLst>
          </a:prstGeom>
          <a:solidFill>
            <a:srgbClr val="222B36"/>
          </a:solidFill>
          <a:ln/>
        </p:spPr>
      </p:sp>
      <p:sp>
        <p:nvSpPr>
          <p:cNvPr id="5" name="Shape 3"/>
          <p:cNvSpPr/>
          <p:nvPr/>
        </p:nvSpPr>
        <p:spPr>
          <a:xfrm>
            <a:off x="10442448" y="1691640"/>
            <a:ext cx="1051560" cy="1051560"/>
          </a:xfrm>
          <a:prstGeom prst="roundRect">
            <a:avLst>
              <a:gd name="adj" fmla="val 4348"/>
            </a:avLst>
          </a:prstGeom>
          <a:solidFill>
            <a:srgbClr val="BE5F26"/>
          </a:solidFill>
          <a:ln/>
        </p:spPr>
      </p:sp>
      <p:sp>
        <p:nvSpPr>
          <p:cNvPr id="6" name="Shape 4"/>
          <p:cNvSpPr/>
          <p:nvPr/>
        </p:nvSpPr>
        <p:spPr>
          <a:xfrm>
            <a:off x="11631168" y="1691640"/>
            <a:ext cx="502920" cy="502920"/>
          </a:xfrm>
          <a:prstGeom prst="roundRect">
            <a:avLst>
              <a:gd name="adj" fmla="val 9091"/>
            </a:avLst>
          </a:prstGeom>
          <a:solidFill>
            <a:srgbClr val="222B36"/>
          </a:solidFill>
          <a:ln/>
        </p:spPr>
      </p:sp>
      <p:sp>
        <p:nvSpPr>
          <p:cNvPr id="7" name="Shape 5"/>
          <p:cNvSpPr/>
          <p:nvPr/>
        </p:nvSpPr>
        <p:spPr>
          <a:xfrm>
            <a:off x="10442448" y="2880360"/>
            <a:ext cx="502920" cy="502920"/>
          </a:xfrm>
          <a:prstGeom prst="roundRect">
            <a:avLst>
              <a:gd name="adj" fmla="val 9091"/>
            </a:avLst>
          </a:prstGeom>
          <a:solidFill>
            <a:srgbClr val="222B36"/>
          </a:solidFill>
          <a:ln/>
        </p:spPr>
      </p:sp>
      <p:sp>
        <p:nvSpPr>
          <p:cNvPr id="8" name="Text 6"/>
          <p:cNvSpPr/>
          <p:nvPr/>
        </p:nvSpPr>
        <p:spPr>
          <a:xfrm>
            <a:off x="640080" y="566928"/>
            <a:ext cx="8412480" cy="256032"/>
          </a:xfrm>
          <a:prstGeom prst="rect">
            <a:avLst/>
          </a:prstGeom>
          <a:noFill/>
          <a:ln/>
        </p:spPr>
        <p:txBody>
          <a:bodyPr wrap="square" lIns="0" tIns="0" rIns="0" bIns="0" rtlCol="0" anchor="t"/>
          <a:lstStyle/>
          <a:p>
            <a:pPr indent="0" marL="0">
              <a:buNone/>
            </a:pPr>
            <a:r>
              <a:rPr lang="en-US" sz="1150" b="1" spc="240" kern="0" dirty="0">
                <a:solidFill>
                  <a:srgbClr val="E39A5C"/>
                </a:solidFill>
                <a:latin typeface="Calibri" pitchFamily="34" charset="0"/>
                <a:ea typeface="Calibri" pitchFamily="34" charset="-122"/>
                <a:cs typeface="Calibri" pitchFamily="34" charset="-120"/>
              </a:rPr>
              <a:t>IIRIS  ·  INTERNATIONAL PRESENTATION SERIES  ·  2026</a:t>
            </a:r>
            <a:endParaRPr lang="en-US" sz="1150" dirty="0"/>
          </a:p>
        </p:txBody>
      </p:sp>
      <p:sp>
        <p:nvSpPr>
          <p:cNvPr id="9" name="Text 7"/>
          <p:cNvSpPr/>
          <p:nvPr/>
        </p:nvSpPr>
        <p:spPr>
          <a:xfrm>
            <a:off x="640080" y="1078992"/>
            <a:ext cx="8503920" cy="1645920"/>
          </a:xfrm>
          <a:prstGeom prst="rect">
            <a:avLst/>
          </a:prstGeom>
          <a:noFill/>
          <a:ln/>
        </p:spPr>
        <p:txBody>
          <a:bodyPr wrap="square" lIns="0" tIns="0" rIns="0" bIns="0" rtlCol="0" anchor="t"/>
          <a:lstStyle/>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THE NEW</a:t>
            </a:r>
            <a:endParaRPr lang="en-US" sz="5000" dirty="0"/>
          </a:p>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RESOURCE ORDER</a:t>
            </a:r>
            <a:endParaRPr lang="en-US" sz="5000" dirty="0"/>
          </a:p>
        </p:txBody>
      </p:sp>
      <p:sp>
        <p:nvSpPr>
          <p:cNvPr id="10" name="Text 8"/>
          <p:cNvSpPr/>
          <p:nvPr/>
        </p:nvSpPr>
        <p:spPr>
          <a:xfrm>
            <a:off x="640080" y="2798064"/>
            <a:ext cx="8503920" cy="384048"/>
          </a:xfrm>
          <a:prstGeom prst="rect">
            <a:avLst/>
          </a:prstGeom>
          <a:noFill/>
          <a:ln/>
        </p:spPr>
        <p:txBody>
          <a:bodyPr wrap="square" lIns="0" tIns="0" rIns="0" bIns="0" rtlCol="0" anchor="t"/>
          <a:lstStyle/>
          <a:p>
            <a:pPr indent="0" marL="0">
              <a:buNone/>
            </a:pPr>
            <a:r>
              <a:rPr lang="en-US" sz="1900" dirty="0">
                <a:solidFill>
                  <a:srgbClr val="AEBACA"/>
                </a:solidFill>
                <a:latin typeface="Cambria" pitchFamily="34" charset="0"/>
                <a:ea typeface="Cambria" pitchFamily="34" charset="-122"/>
                <a:cs typeface="Cambria" pitchFamily="34" charset="-120"/>
              </a:rPr>
              <a:t>Critical Minerals and the Geopolitics of the Energy Transition</a:t>
            </a:r>
            <a:endParaRPr lang="en-US" sz="1900" dirty="0"/>
          </a:p>
        </p:txBody>
      </p:sp>
      <p:sp>
        <p:nvSpPr>
          <p:cNvPr id="11" name="Shape 9"/>
          <p:cNvSpPr/>
          <p:nvPr/>
        </p:nvSpPr>
        <p:spPr>
          <a:xfrm>
            <a:off x="640080" y="3529584"/>
            <a:ext cx="8503920" cy="1426464"/>
          </a:xfrm>
          <a:prstGeom prst="roundRect">
            <a:avLst>
              <a:gd name="adj" fmla="val 3846"/>
            </a:avLst>
          </a:prstGeom>
          <a:solidFill>
            <a:srgbClr val="222B36"/>
          </a:solidFill>
          <a:ln w="9525">
            <a:solidFill>
              <a:srgbClr val="222B36"/>
            </a:solidFill>
            <a:prstDash val="solid"/>
          </a:ln>
        </p:spPr>
      </p:sp>
      <p:sp>
        <p:nvSpPr>
          <p:cNvPr id="12" name="Text 10"/>
          <p:cNvSpPr/>
          <p:nvPr/>
        </p:nvSpPr>
        <p:spPr>
          <a:xfrm>
            <a:off x="1042416" y="3712464"/>
            <a:ext cx="7680960" cy="384048"/>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The last century’s power ran on who owned the oil.</a:t>
            </a:r>
            <a:endParaRPr lang="en-US" sz="1900" dirty="0"/>
          </a:p>
        </p:txBody>
      </p:sp>
      <p:sp>
        <p:nvSpPr>
          <p:cNvPr id="13" name="Text 11"/>
          <p:cNvSpPr/>
          <p:nvPr/>
        </p:nvSpPr>
        <p:spPr>
          <a:xfrm>
            <a:off x="1042416" y="4169664"/>
            <a:ext cx="7680960" cy="384048"/>
          </a:xfrm>
          <a:prstGeom prst="rect">
            <a:avLst/>
          </a:prstGeom>
          <a:noFill/>
          <a:ln/>
        </p:spPr>
        <p:txBody>
          <a:bodyPr wrap="square" lIns="0" tIns="0" rIns="0" bIns="0" rtlCol="0" anchor="t"/>
          <a:lstStyle/>
          <a:p>
            <a:pPr indent="0" marL="0">
              <a:buNone/>
            </a:pPr>
            <a:r>
              <a:rPr lang="en-US" sz="1900" b="1" dirty="0">
                <a:solidFill>
                  <a:srgbClr val="E39A5C"/>
                </a:solidFill>
                <a:latin typeface="Cambria" pitchFamily="34" charset="0"/>
                <a:ea typeface="Cambria" pitchFamily="34" charset="-122"/>
                <a:cs typeface="Cambria" pitchFamily="34" charset="-120"/>
              </a:rPr>
              <a:t>This one will turn on who controls the refinery.</a:t>
            </a:r>
            <a:endParaRPr lang="en-US" sz="1900" dirty="0"/>
          </a:p>
        </p:txBody>
      </p:sp>
      <p:sp>
        <p:nvSpPr>
          <p:cNvPr id="14" name="Text 12"/>
          <p:cNvSpPr/>
          <p:nvPr/>
        </p:nvSpPr>
        <p:spPr>
          <a:xfrm>
            <a:off x="640080" y="5285232"/>
            <a:ext cx="8778240" cy="274320"/>
          </a:xfrm>
          <a:prstGeom prst="rect">
            <a:avLst/>
          </a:prstGeom>
          <a:noFill/>
          <a:ln/>
        </p:spPr>
        <p:txBody>
          <a:bodyPr wrap="square" lIns="0" tIns="0" rIns="0" bIns="0" rtlCol="0" anchor="t"/>
          <a:lstStyle/>
          <a:p>
            <a:pPr indent="0" marL="0">
              <a:buNone/>
            </a:pPr>
            <a:r>
              <a:rPr lang="en-US" sz="1300" dirty="0">
                <a:solidFill>
                  <a:srgbClr val="AEBACA"/>
                </a:solidFill>
                <a:latin typeface="Calibri" pitchFamily="34" charset="0"/>
                <a:ea typeface="Calibri" pitchFamily="34" charset="-122"/>
                <a:cs typeface="Calibri" pitchFamily="34" charset="-120"/>
              </a:rPr>
              <a:t>Prepared for the International Institute for Research and International Studies</a:t>
            </a:r>
            <a:endParaRPr lang="en-US" sz="1300" dirty="0"/>
          </a:p>
        </p:txBody>
      </p:sp>
      <p:sp>
        <p:nvSpPr>
          <p:cNvPr id="15" name="Text 13"/>
          <p:cNvSpPr/>
          <p:nvPr/>
        </p:nvSpPr>
        <p:spPr>
          <a:xfrm>
            <a:off x="640080" y="5632704"/>
            <a:ext cx="10241280" cy="274320"/>
          </a:xfrm>
          <a:prstGeom prst="rect">
            <a:avLst/>
          </a:prstGeom>
          <a:noFill/>
          <a:ln/>
        </p:spPr>
        <p:txBody>
          <a:bodyPr wrap="square" lIns="0" tIns="0" rIns="0" bIns="0" rtlCol="0" anchor="t"/>
          <a:lstStyle/>
          <a:p>
            <a:pPr indent="0" marL="0">
              <a:buNone/>
            </a:pPr>
            <a:r>
              <a:rPr lang="en-US" sz="1050" dirty="0">
                <a:solidFill>
                  <a:srgbClr val="7C889A"/>
                </a:solidFill>
                <a:latin typeface="Calibri" pitchFamily="34" charset="0"/>
                <a:ea typeface="Calibri" pitchFamily="34" charset="-122"/>
                <a:cs typeface="Calibri" pitchFamily="34" charset="-120"/>
              </a:rPr>
              <a:t>Evidence base: IEA Global Critical Minerals Outlook 2026, World Bank, USGS, African Union, UNECA, CSIS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THESIS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The argument in one slide</a:t>
            </a:r>
            <a:endParaRPr lang="en-US" sz="3000" dirty="0"/>
          </a:p>
        </p:txBody>
      </p:sp>
      <p:sp>
        <p:nvSpPr>
          <p:cNvPr id="4" name="Shape 2"/>
          <p:cNvSpPr/>
          <p:nvPr/>
        </p:nvSpPr>
        <p:spPr>
          <a:xfrm>
            <a:off x="640080" y="1298448"/>
            <a:ext cx="10911535" cy="1371600"/>
          </a:xfrm>
          <a:prstGeom prst="roundRect">
            <a:avLst>
              <a:gd name="adj" fmla="val 4000"/>
            </a:avLst>
          </a:prstGeom>
          <a:solidFill>
            <a:srgbClr val="15191F"/>
          </a:solidFill>
          <a:ln w="9525">
            <a:solidFill>
              <a:srgbClr val="15191F"/>
            </a:solidFill>
            <a:prstDash val="solid"/>
          </a:ln>
        </p:spPr>
      </p:sp>
      <p:sp>
        <p:nvSpPr>
          <p:cNvPr id="5" name="Text 3"/>
          <p:cNvSpPr/>
          <p:nvPr/>
        </p:nvSpPr>
        <p:spPr>
          <a:xfrm>
            <a:off x="1051560" y="1481328"/>
            <a:ext cx="10088575" cy="1024128"/>
          </a:xfrm>
          <a:prstGeom prst="rect">
            <a:avLst/>
          </a:prstGeom>
          <a:noFill/>
          <a:ln/>
        </p:spPr>
        <p:txBody>
          <a:bodyPr wrap="square" lIns="0" tIns="0" rIns="0" bIns="0" rtlCol="0" anchor="t"/>
          <a:lstStyle/>
          <a:p>
            <a:pPr indent="0" marL="0">
              <a:lnSpc>
                <a:spcPts val="2500"/>
              </a:lnSpc>
              <a:buNone/>
            </a:pPr>
            <a:r>
              <a:rPr lang="en-US" sz="1800" dirty="0">
                <a:solidFill>
                  <a:srgbClr val="FFFFFF"/>
                </a:solidFill>
                <a:latin typeface="Cambria" pitchFamily="34" charset="0"/>
                <a:ea typeface="Cambria" pitchFamily="34" charset="-122"/>
                <a:cs typeface="Cambria" pitchFamily="34" charset="-120"/>
              </a:rPr>
              <a:t>Decarbonisation has quietly become the most concentrated supply-chain dependency in the modern world economy — and no country can decarbonise alone.</a:t>
            </a:r>
            <a:endParaRPr lang="en-US" sz="1800" dirty="0"/>
          </a:p>
        </p:txBody>
      </p:sp>
      <p:sp>
        <p:nvSpPr>
          <p:cNvPr id="6" name="Shape 4"/>
          <p:cNvSpPr/>
          <p:nvPr/>
        </p:nvSpPr>
        <p:spPr>
          <a:xfrm>
            <a:off x="640080" y="2834640"/>
            <a:ext cx="3454420" cy="2395728"/>
          </a:xfrm>
          <a:prstGeom prst="roundRect">
            <a:avLst>
              <a:gd name="adj" fmla="val 2290"/>
            </a:avLst>
          </a:prstGeom>
          <a:solidFill>
            <a:srgbClr val="F1F3F5"/>
          </a:solidFill>
          <a:ln w="9525">
            <a:solidFill>
              <a:srgbClr val="DFE4E9"/>
            </a:solidFill>
            <a:prstDash val="solid"/>
          </a:ln>
        </p:spPr>
      </p:sp>
      <p:sp>
        <p:nvSpPr>
          <p:cNvPr id="7" name="Shape 5"/>
          <p:cNvSpPr/>
          <p:nvPr/>
        </p:nvSpPr>
        <p:spPr>
          <a:xfrm>
            <a:off x="950976" y="3072384"/>
            <a:ext cx="402336" cy="402336"/>
          </a:xfrm>
          <a:prstGeom prst="roundRect">
            <a:avLst>
              <a:gd name="adj" fmla="val 11364"/>
            </a:avLst>
          </a:prstGeom>
          <a:solidFill>
            <a:srgbClr val="BE5F26"/>
          </a:solidFill>
          <a:ln/>
        </p:spPr>
      </p:sp>
      <p:sp>
        <p:nvSpPr>
          <p:cNvPr id="8" name="Text 6"/>
          <p:cNvSpPr/>
          <p:nvPr/>
        </p:nvSpPr>
        <p:spPr>
          <a:xfrm>
            <a:off x="950976" y="3072384"/>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9" name="Text 7"/>
          <p:cNvSpPr/>
          <p:nvPr/>
        </p:nvSpPr>
        <p:spPr>
          <a:xfrm>
            <a:off x="950976" y="3621024"/>
            <a:ext cx="2832628" cy="548640"/>
          </a:xfrm>
          <a:prstGeom prst="rect">
            <a:avLst/>
          </a:prstGeom>
          <a:noFill/>
          <a:ln/>
        </p:spPr>
        <p:txBody>
          <a:bodyPr wrap="square" lIns="0" tIns="0" rIns="0" bIns="0" rtlCol="0" anchor="t"/>
          <a:lstStyle/>
          <a:p>
            <a:pPr indent="0" marL="0">
              <a:lnSpc>
                <a:spcPts val="1900"/>
              </a:lnSpc>
              <a:buNone/>
            </a:pPr>
            <a:r>
              <a:rPr lang="en-US" sz="1500" b="1" dirty="0">
                <a:solidFill>
                  <a:srgbClr val="15191F"/>
                </a:solidFill>
                <a:latin typeface="Cambria" pitchFamily="34" charset="0"/>
                <a:ea typeface="Cambria" pitchFamily="34" charset="-122"/>
                <a:cs typeface="Cambria" pitchFamily="34" charset="-120"/>
              </a:rPr>
              <a:t>Concentration moved downstream</a:t>
            </a:r>
            <a:endParaRPr lang="en-US" sz="1500" dirty="0"/>
          </a:p>
        </p:txBody>
      </p:sp>
      <p:sp>
        <p:nvSpPr>
          <p:cNvPr id="10" name="Text 8"/>
          <p:cNvSpPr/>
          <p:nvPr/>
        </p:nvSpPr>
        <p:spPr>
          <a:xfrm>
            <a:off x="950976" y="4224528"/>
            <a:ext cx="2832628" cy="91440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The scarcity is not geological. Deposits are spread across dozens of states. The chokepoint is refining and component manufacture, where a single supplier now averages 70% of world capacity.</a:t>
            </a:r>
            <a:endParaRPr lang="en-US" sz="1100" dirty="0"/>
          </a:p>
        </p:txBody>
      </p:sp>
      <p:sp>
        <p:nvSpPr>
          <p:cNvPr id="11" name="Shape 9"/>
          <p:cNvSpPr/>
          <p:nvPr/>
        </p:nvSpPr>
        <p:spPr>
          <a:xfrm>
            <a:off x="4368820" y="2834640"/>
            <a:ext cx="3454420" cy="2395728"/>
          </a:xfrm>
          <a:prstGeom prst="roundRect">
            <a:avLst>
              <a:gd name="adj" fmla="val 2290"/>
            </a:avLst>
          </a:prstGeom>
          <a:solidFill>
            <a:srgbClr val="F1F3F5"/>
          </a:solidFill>
          <a:ln w="9525">
            <a:solidFill>
              <a:srgbClr val="DFE4E9"/>
            </a:solidFill>
            <a:prstDash val="solid"/>
          </a:ln>
        </p:spPr>
      </p:sp>
      <p:sp>
        <p:nvSpPr>
          <p:cNvPr id="12" name="Shape 10"/>
          <p:cNvSpPr/>
          <p:nvPr/>
        </p:nvSpPr>
        <p:spPr>
          <a:xfrm>
            <a:off x="4679716" y="3072384"/>
            <a:ext cx="402336" cy="402336"/>
          </a:xfrm>
          <a:prstGeom prst="roundRect">
            <a:avLst>
              <a:gd name="adj" fmla="val 11364"/>
            </a:avLst>
          </a:prstGeom>
          <a:solidFill>
            <a:srgbClr val="BE5F26"/>
          </a:solidFill>
          <a:ln/>
        </p:spPr>
      </p:sp>
      <p:sp>
        <p:nvSpPr>
          <p:cNvPr id="13" name="Text 11"/>
          <p:cNvSpPr/>
          <p:nvPr/>
        </p:nvSpPr>
        <p:spPr>
          <a:xfrm>
            <a:off x="4679716" y="3072384"/>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4" name="Text 12"/>
          <p:cNvSpPr/>
          <p:nvPr/>
        </p:nvSpPr>
        <p:spPr>
          <a:xfrm>
            <a:off x="4679716" y="3621024"/>
            <a:ext cx="2832628" cy="548640"/>
          </a:xfrm>
          <a:prstGeom prst="rect">
            <a:avLst/>
          </a:prstGeom>
          <a:noFill/>
          <a:ln/>
        </p:spPr>
        <p:txBody>
          <a:bodyPr wrap="square" lIns="0" tIns="0" rIns="0" bIns="0" rtlCol="0" anchor="t"/>
          <a:lstStyle/>
          <a:p>
            <a:pPr indent="0" marL="0">
              <a:lnSpc>
                <a:spcPts val="1900"/>
              </a:lnSpc>
              <a:buNone/>
            </a:pPr>
            <a:r>
              <a:rPr lang="en-US" sz="1500" b="1" dirty="0">
                <a:solidFill>
                  <a:srgbClr val="15191F"/>
                </a:solidFill>
                <a:latin typeface="Cambria" pitchFamily="34" charset="0"/>
                <a:ea typeface="Cambria" pitchFamily="34" charset="-122"/>
                <a:cs typeface="Cambria" pitchFamily="34" charset="-120"/>
              </a:rPr>
              <a:t>Climate policy is now security policy</a:t>
            </a:r>
            <a:endParaRPr lang="en-US" sz="1500" dirty="0"/>
          </a:p>
        </p:txBody>
      </p:sp>
      <p:sp>
        <p:nvSpPr>
          <p:cNvPr id="15" name="Text 13"/>
          <p:cNvSpPr/>
          <p:nvPr/>
        </p:nvSpPr>
        <p:spPr>
          <a:xfrm>
            <a:off x="4679716" y="4224528"/>
            <a:ext cx="2832628" cy="91440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Once one state can price, licence or halt the inputs to another’s grid, cars and defence systems, the energy transition stops being an environmental file and becomes a security file.</a:t>
            </a:r>
            <a:endParaRPr lang="en-US" sz="1100" dirty="0"/>
          </a:p>
        </p:txBody>
      </p:sp>
      <p:sp>
        <p:nvSpPr>
          <p:cNvPr id="16" name="Shape 14"/>
          <p:cNvSpPr/>
          <p:nvPr/>
        </p:nvSpPr>
        <p:spPr>
          <a:xfrm>
            <a:off x="8097561" y="2834640"/>
            <a:ext cx="3454420" cy="2395728"/>
          </a:xfrm>
          <a:prstGeom prst="roundRect">
            <a:avLst>
              <a:gd name="adj" fmla="val 2290"/>
            </a:avLst>
          </a:prstGeom>
          <a:solidFill>
            <a:srgbClr val="F1F3F5"/>
          </a:solidFill>
          <a:ln w="9525">
            <a:solidFill>
              <a:srgbClr val="DFE4E9"/>
            </a:solidFill>
            <a:prstDash val="solid"/>
          </a:ln>
        </p:spPr>
      </p:sp>
      <p:sp>
        <p:nvSpPr>
          <p:cNvPr id="17" name="Shape 15"/>
          <p:cNvSpPr/>
          <p:nvPr/>
        </p:nvSpPr>
        <p:spPr>
          <a:xfrm>
            <a:off x="8408457" y="3072384"/>
            <a:ext cx="402336" cy="402336"/>
          </a:xfrm>
          <a:prstGeom prst="roundRect">
            <a:avLst>
              <a:gd name="adj" fmla="val 11364"/>
            </a:avLst>
          </a:prstGeom>
          <a:solidFill>
            <a:srgbClr val="BE5F26"/>
          </a:solidFill>
          <a:ln/>
        </p:spPr>
      </p:sp>
      <p:sp>
        <p:nvSpPr>
          <p:cNvPr id="18" name="Text 16"/>
          <p:cNvSpPr/>
          <p:nvPr/>
        </p:nvSpPr>
        <p:spPr>
          <a:xfrm>
            <a:off x="8408457" y="3072384"/>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9" name="Text 17"/>
          <p:cNvSpPr/>
          <p:nvPr/>
        </p:nvSpPr>
        <p:spPr>
          <a:xfrm>
            <a:off x="8408457" y="3621024"/>
            <a:ext cx="2832628" cy="548640"/>
          </a:xfrm>
          <a:prstGeom prst="rect">
            <a:avLst/>
          </a:prstGeom>
          <a:noFill/>
          <a:ln/>
        </p:spPr>
        <p:txBody>
          <a:bodyPr wrap="square" lIns="0" tIns="0" rIns="0" bIns="0" rtlCol="0" anchor="t"/>
          <a:lstStyle/>
          <a:p>
            <a:pPr indent="0" marL="0">
              <a:lnSpc>
                <a:spcPts val="1900"/>
              </a:lnSpc>
              <a:buNone/>
            </a:pPr>
            <a:r>
              <a:rPr lang="en-US" sz="1500" b="1" dirty="0">
                <a:solidFill>
                  <a:srgbClr val="15191F"/>
                </a:solidFill>
                <a:latin typeface="Cambria" pitchFamily="34" charset="0"/>
                <a:ea typeface="Cambria" pitchFamily="34" charset="-122"/>
                <a:cs typeface="Cambria" pitchFamily="34" charset="-120"/>
              </a:rPr>
              <a:t>Redundancy, not autarky</a:t>
            </a:r>
            <a:endParaRPr lang="en-US" sz="1500" dirty="0"/>
          </a:p>
        </p:txBody>
      </p:sp>
      <p:sp>
        <p:nvSpPr>
          <p:cNvPr id="20" name="Text 18"/>
          <p:cNvSpPr/>
          <p:nvPr/>
        </p:nvSpPr>
        <p:spPr>
          <a:xfrm>
            <a:off x="8408457" y="4224528"/>
            <a:ext cx="2832628" cy="91440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No economy can rebuild the whole chain at home. The realistic objective is a system with more than one path through every stage — plus rules that make interruption costly.</a:t>
            </a:r>
            <a:endParaRPr lang="en-US" sz="1100" dirty="0"/>
          </a:p>
        </p:txBody>
      </p:sp>
      <p:sp>
        <p:nvSpPr>
          <p:cNvPr id="21" name="Text 19"/>
          <p:cNvSpPr/>
          <p:nvPr/>
        </p:nvSpPr>
        <p:spPr>
          <a:xfrm>
            <a:off x="640080" y="5486400"/>
            <a:ext cx="10911535" cy="310896"/>
          </a:xfrm>
          <a:prstGeom prst="rect">
            <a:avLst/>
          </a:prstGeom>
          <a:noFill/>
          <a:ln/>
        </p:spPr>
        <p:txBody>
          <a:bodyPr wrap="square" lIns="0" tIns="0" rIns="0" bIns="0" rtlCol="0" anchor="t"/>
          <a:lstStyle/>
          <a:p>
            <a:pPr indent="0" marL="0">
              <a:buNone/>
            </a:pPr>
            <a:r>
              <a:rPr lang="en-US" sz="1150" i="1" dirty="0">
                <a:solidFill>
                  <a:srgbClr val="69737F"/>
                </a:solidFill>
                <a:latin typeface="Calibri" pitchFamily="34" charset="0"/>
                <a:ea typeface="Calibri" pitchFamily="34" charset="-122"/>
                <a:cs typeface="Calibri" pitchFamily="34" charset="-120"/>
              </a:rPr>
              <a:t>Route:  definition  →  historical context  →  concentration data  →  case studies  →  governance  →  scenarios  →  recommendations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INTRODUCTION AND BACKGROUND</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How a climate question became a strategic one</a:t>
            </a:r>
            <a:endParaRPr lang="en-US" sz="3000" dirty="0"/>
          </a:p>
        </p:txBody>
      </p:sp>
      <p:sp>
        <p:nvSpPr>
          <p:cNvPr id="4" name="Shape 2"/>
          <p:cNvSpPr/>
          <p:nvPr/>
        </p:nvSpPr>
        <p:spPr>
          <a:xfrm>
            <a:off x="640080" y="1389888"/>
            <a:ext cx="384048" cy="384048"/>
          </a:xfrm>
          <a:prstGeom prst="roundRect">
            <a:avLst>
              <a:gd name="adj" fmla="val 11905"/>
            </a:avLst>
          </a:prstGeom>
          <a:solidFill>
            <a:srgbClr val="BE5F26"/>
          </a:solidFill>
          <a:ln/>
        </p:spPr>
      </p:sp>
      <p:sp>
        <p:nvSpPr>
          <p:cNvPr id="5" name="Text 3"/>
          <p:cNvSpPr/>
          <p:nvPr/>
        </p:nvSpPr>
        <p:spPr>
          <a:xfrm>
            <a:off x="640080" y="138988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6" name="Text 4"/>
          <p:cNvSpPr/>
          <p:nvPr/>
        </p:nvSpPr>
        <p:spPr>
          <a:xfrm>
            <a:off x="1243584" y="1371600"/>
            <a:ext cx="6400800" cy="292608"/>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A different physics of energy</a:t>
            </a:r>
            <a:endParaRPr lang="en-US" sz="1500" dirty="0"/>
          </a:p>
        </p:txBody>
      </p:sp>
      <p:sp>
        <p:nvSpPr>
          <p:cNvPr id="7" name="Text 5"/>
          <p:cNvSpPr/>
          <p:nvPr/>
        </p:nvSpPr>
        <p:spPr>
          <a:xfrm>
            <a:off x="1243584" y="1700784"/>
            <a:ext cx="6400800" cy="786384"/>
          </a:xfrm>
          <a:prstGeom prst="rect">
            <a:avLst/>
          </a:prstGeom>
          <a:noFill/>
          <a:ln/>
        </p:spPr>
        <p:txBody>
          <a:bodyPr wrap="square" lIns="0" tIns="0" rIns="0" bIns="0" rtlCol="0" anchor="t"/>
          <a:lstStyle/>
          <a:p>
            <a:pPr indent="0" marL="0">
              <a:lnSpc>
                <a:spcPts val="1600"/>
              </a:lnSpc>
              <a:buNone/>
            </a:pPr>
            <a:r>
              <a:rPr lang="en-US" sz="1150" dirty="0">
                <a:solidFill>
                  <a:srgbClr val="69737F"/>
                </a:solidFill>
                <a:latin typeface="Calibri" pitchFamily="34" charset="0"/>
                <a:ea typeface="Calibri" pitchFamily="34" charset="-122"/>
                <a:cs typeface="Calibri" pitchFamily="34" charset="-120"/>
              </a:rPr>
              <a:t>Fossil systems consume fuel continuously; clean systems front-load their resource use into hardware. A wind farm, a battery or a transmission line is a one-off act of materials procurement that then runs for decades.</a:t>
            </a:r>
            <a:endParaRPr lang="en-US" sz="1150" dirty="0"/>
          </a:p>
        </p:txBody>
      </p:sp>
      <p:sp>
        <p:nvSpPr>
          <p:cNvPr id="8" name="Shape 6"/>
          <p:cNvSpPr/>
          <p:nvPr/>
        </p:nvSpPr>
        <p:spPr>
          <a:xfrm>
            <a:off x="640080" y="2615184"/>
            <a:ext cx="384048" cy="384048"/>
          </a:xfrm>
          <a:prstGeom prst="roundRect">
            <a:avLst>
              <a:gd name="adj" fmla="val 11905"/>
            </a:avLst>
          </a:prstGeom>
          <a:solidFill>
            <a:srgbClr val="BE5F26"/>
          </a:solidFill>
          <a:ln/>
        </p:spPr>
      </p:sp>
      <p:sp>
        <p:nvSpPr>
          <p:cNvPr id="9" name="Text 7"/>
          <p:cNvSpPr/>
          <p:nvPr/>
        </p:nvSpPr>
        <p:spPr>
          <a:xfrm>
            <a:off x="640080" y="261518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0" name="Text 8"/>
          <p:cNvSpPr/>
          <p:nvPr/>
        </p:nvSpPr>
        <p:spPr>
          <a:xfrm>
            <a:off x="1243584" y="2596896"/>
            <a:ext cx="6400800" cy="292608"/>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Materials intensity multiplies</a:t>
            </a:r>
            <a:endParaRPr lang="en-US" sz="1500" dirty="0"/>
          </a:p>
        </p:txBody>
      </p:sp>
      <p:sp>
        <p:nvSpPr>
          <p:cNvPr id="11" name="Text 9"/>
          <p:cNvSpPr/>
          <p:nvPr/>
        </p:nvSpPr>
        <p:spPr>
          <a:xfrm>
            <a:off x="1243584" y="2926080"/>
            <a:ext cx="6400800" cy="786384"/>
          </a:xfrm>
          <a:prstGeom prst="rect">
            <a:avLst/>
          </a:prstGeom>
          <a:noFill/>
          <a:ln/>
        </p:spPr>
        <p:txBody>
          <a:bodyPr wrap="square" lIns="0" tIns="0" rIns="0" bIns="0" rtlCol="0" anchor="t"/>
          <a:lstStyle/>
          <a:p>
            <a:pPr indent="0" marL="0">
              <a:lnSpc>
                <a:spcPts val="1600"/>
              </a:lnSpc>
              <a:buNone/>
            </a:pPr>
            <a:r>
              <a:rPr lang="en-US" sz="1150" dirty="0">
                <a:solidFill>
                  <a:srgbClr val="69737F"/>
                </a:solidFill>
                <a:latin typeface="Calibri" pitchFamily="34" charset="0"/>
                <a:ea typeface="Calibri" pitchFamily="34" charset="-122"/>
                <a:cs typeface="Calibri" pitchFamily="34" charset="-120"/>
              </a:rPr>
              <a:t>An electric vehicle requires roughly six times the mineral input of a comparable combustion car; an offshore wind installation many times that of a gas plant of similar capacity.</a:t>
            </a:r>
            <a:endParaRPr lang="en-US" sz="1150" dirty="0"/>
          </a:p>
        </p:txBody>
      </p:sp>
      <p:sp>
        <p:nvSpPr>
          <p:cNvPr id="12" name="Shape 10"/>
          <p:cNvSpPr/>
          <p:nvPr/>
        </p:nvSpPr>
        <p:spPr>
          <a:xfrm>
            <a:off x="640080" y="3840480"/>
            <a:ext cx="384048" cy="384048"/>
          </a:xfrm>
          <a:prstGeom prst="roundRect">
            <a:avLst>
              <a:gd name="adj" fmla="val 11905"/>
            </a:avLst>
          </a:prstGeom>
          <a:solidFill>
            <a:srgbClr val="BE5F26"/>
          </a:solidFill>
          <a:ln/>
        </p:spPr>
      </p:sp>
      <p:sp>
        <p:nvSpPr>
          <p:cNvPr id="13" name="Text 11"/>
          <p:cNvSpPr/>
          <p:nvPr/>
        </p:nvSpPr>
        <p:spPr>
          <a:xfrm>
            <a:off x="640080" y="384048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4" name="Text 12"/>
          <p:cNvSpPr/>
          <p:nvPr/>
        </p:nvSpPr>
        <p:spPr>
          <a:xfrm>
            <a:off x="1243584" y="3822192"/>
            <a:ext cx="6400800" cy="292608"/>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Demand arrived faster than supply</a:t>
            </a:r>
            <a:endParaRPr lang="en-US" sz="1500" dirty="0"/>
          </a:p>
        </p:txBody>
      </p:sp>
      <p:sp>
        <p:nvSpPr>
          <p:cNvPr id="15" name="Text 13"/>
          <p:cNvSpPr/>
          <p:nvPr/>
        </p:nvSpPr>
        <p:spPr>
          <a:xfrm>
            <a:off x="1243584" y="4151376"/>
            <a:ext cx="6400800" cy="786384"/>
          </a:xfrm>
          <a:prstGeom prst="rect">
            <a:avLst/>
          </a:prstGeom>
          <a:noFill/>
          <a:ln/>
        </p:spPr>
        <p:txBody>
          <a:bodyPr wrap="square" lIns="0" tIns="0" rIns="0" bIns="0" rtlCol="0" anchor="t"/>
          <a:lstStyle/>
          <a:p>
            <a:pPr indent="0" marL="0">
              <a:lnSpc>
                <a:spcPts val="1600"/>
              </a:lnSpc>
              <a:buNone/>
            </a:pPr>
            <a:r>
              <a:rPr lang="en-US" sz="1150" dirty="0">
                <a:solidFill>
                  <a:srgbClr val="69737F"/>
                </a:solidFill>
                <a:latin typeface="Calibri" pitchFamily="34" charset="0"/>
                <a:ea typeface="Calibri" pitchFamily="34" charset="-122"/>
                <a:cs typeface="Calibri" pitchFamily="34" charset="-120"/>
              </a:rPr>
              <a:t>Lithium demand grew by close to 30% in a single year against a historical trend near 10%, while a new mine still takes on average well over a decade from discovery to first production.</a:t>
            </a:r>
            <a:endParaRPr lang="en-US" sz="1150" dirty="0"/>
          </a:p>
        </p:txBody>
      </p:sp>
      <p:sp>
        <p:nvSpPr>
          <p:cNvPr id="16" name="Shape 14"/>
          <p:cNvSpPr/>
          <p:nvPr/>
        </p:nvSpPr>
        <p:spPr>
          <a:xfrm>
            <a:off x="640080" y="5065776"/>
            <a:ext cx="384048" cy="384048"/>
          </a:xfrm>
          <a:prstGeom prst="roundRect">
            <a:avLst>
              <a:gd name="adj" fmla="val 11905"/>
            </a:avLst>
          </a:prstGeom>
          <a:solidFill>
            <a:srgbClr val="BE5F26"/>
          </a:solidFill>
          <a:ln/>
        </p:spPr>
      </p:sp>
      <p:sp>
        <p:nvSpPr>
          <p:cNvPr id="17" name="Text 15"/>
          <p:cNvSpPr/>
          <p:nvPr/>
        </p:nvSpPr>
        <p:spPr>
          <a:xfrm>
            <a:off x="640080" y="50657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18" name="Text 16"/>
          <p:cNvSpPr/>
          <p:nvPr/>
        </p:nvSpPr>
        <p:spPr>
          <a:xfrm>
            <a:off x="1243584" y="5047488"/>
            <a:ext cx="6400800" cy="292608"/>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Industrial policy returned</a:t>
            </a:r>
            <a:endParaRPr lang="en-US" sz="1500" dirty="0"/>
          </a:p>
        </p:txBody>
      </p:sp>
      <p:sp>
        <p:nvSpPr>
          <p:cNvPr id="19" name="Text 17"/>
          <p:cNvSpPr/>
          <p:nvPr/>
        </p:nvSpPr>
        <p:spPr>
          <a:xfrm>
            <a:off x="1243584" y="5376672"/>
            <a:ext cx="6400800" cy="786384"/>
          </a:xfrm>
          <a:prstGeom prst="rect">
            <a:avLst/>
          </a:prstGeom>
          <a:noFill/>
          <a:ln/>
        </p:spPr>
        <p:txBody>
          <a:bodyPr wrap="square" lIns="0" tIns="0" rIns="0" bIns="0" rtlCol="0" anchor="t"/>
          <a:lstStyle/>
          <a:p>
            <a:pPr indent="0" marL="0">
              <a:lnSpc>
                <a:spcPts val="1600"/>
              </a:lnSpc>
              <a:buNone/>
            </a:pPr>
            <a:r>
              <a:rPr lang="en-US" sz="1150" dirty="0">
                <a:solidFill>
                  <a:srgbClr val="69737F"/>
                </a:solidFill>
                <a:latin typeface="Calibri" pitchFamily="34" charset="0"/>
                <a:ea typeface="Calibri" pitchFamily="34" charset="-122"/>
                <a:cs typeface="Calibri" pitchFamily="34" charset="-120"/>
              </a:rPr>
              <a:t>The United States, European Union, China, India, Japan and Korea now all run explicit state programmes for mineral supply. Markets no longer set these prices alone.</a:t>
            </a:r>
            <a:endParaRPr lang="en-US" sz="1150" dirty="0"/>
          </a:p>
        </p:txBody>
      </p:sp>
      <p:sp>
        <p:nvSpPr>
          <p:cNvPr id="20" name="Shape 18"/>
          <p:cNvSpPr/>
          <p:nvPr/>
        </p:nvSpPr>
        <p:spPr>
          <a:xfrm>
            <a:off x="7772400" y="1371600"/>
            <a:ext cx="3776472" cy="1371600"/>
          </a:xfrm>
          <a:prstGeom prst="roundRect">
            <a:avLst>
              <a:gd name="adj" fmla="val 4000"/>
            </a:avLst>
          </a:prstGeom>
          <a:solidFill>
            <a:srgbClr val="15191F"/>
          </a:solidFill>
          <a:ln w="9525">
            <a:solidFill>
              <a:srgbClr val="15191F"/>
            </a:solidFill>
            <a:prstDash val="solid"/>
          </a:ln>
        </p:spPr>
      </p:sp>
      <p:sp>
        <p:nvSpPr>
          <p:cNvPr id="21" name="Text 19"/>
          <p:cNvSpPr/>
          <p:nvPr/>
        </p:nvSpPr>
        <p:spPr>
          <a:xfrm>
            <a:off x="8065008" y="1517904"/>
            <a:ext cx="3291840" cy="512064"/>
          </a:xfrm>
          <a:prstGeom prst="rect">
            <a:avLst/>
          </a:prstGeom>
          <a:noFill/>
          <a:ln/>
        </p:spPr>
        <p:txBody>
          <a:bodyPr wrap="square" lIns="0" tIns="0" rIns="0" bIns="0" rtlCol="0" anchor="t"/>
          <a:lstStyle/>
          <a:p>
            <a:pPr indent="0" marL="0">
              <a:buNone/>
            </a:pPr>
            <a:r>
              <a:rPr lang="en-US" sz="3100" b="1" dirty="0">
                <a:solidFill>
                  <a:srgbClr val="E39A5C"/>
                </a:solidFill>
                <a:latin typeface="Cambria" pitchFamily="34" charset="0"/>
                <a:ea typeface="Cambria" pitchFamily="34" charset="-122"/>
                <a:cs typeface="Cambria" pitchFamily="34" charset="-120"/>
              </a:rPr>
              <a:t>~6×</a:t>
            </a:r>
            <a:endParaRPr lang="en-US" sz="3100" dirty="0"/>
          </a:p>
        </p:txBody>
      </p:sp>
      <p:sp>
        <p:nvSpPr>
          <p:cNvPr id="22" name="Text 20"/>
          <p:cNvSpPr/>
          <p:nvPr/>
        </p:nvSpPr>
        <p:spPr>
          <a:xfrm>
            <a:off x="8065008" y="2121408"/>
            <a:ext cx="3200400" cy="512064"/>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mineral input of an electric car versus a petrol equivalent</a:t>
            </a:r>
            <a:endParaRPr lang="en-US" sz="1100" dirty="0"/>
          </a:p>
        </p:txBody>
      </p:sp>
      <p:sp>
        <p:nvSpPr>
          <p:cNvPr id="23" name="Shape 21"/>
          <p:cNvSpPr/>
          <p:nvPr/>
        </p:nvSpPr>
        <p:spPr>
          <a:xfrm>
            <a:off x="7772400" y="2944368"/>
            <a:ext cx="3776472" cy="1371600"/>
          </a:xfrm>
          <a:prstGeom prst="roundRect">
            <a:avLst>
              <a:gd name="adj" fmla="val 4000"/>
            </a:avLst>
          </a:prstGeom>
          <a:solidFill>
            <a:srgbClr val="F1F3F5"/>
          </a:solidFill>
          <a:ln w="9525">
            <a:solidFill>
              <a:srgbClr val="DFE4E9"/>
            </a:solidFill>
            <a:prstDash val="solid"/>
          </a:ln>
        </p:spPr>
      </p:sp>
      <p:sp>
        <p:nvSpPr>
          <p:cNvPr id="24" name="Text 22"/>
          <p:cNvSpPr/>
          <p:nvPr/>
        </p:nvSpPr>
        <p:spPr>
          <a:xfrm>
            <a:off x="8065008" y="3090672"/>
            <a:ext cx="3291840" cy="512064"/>
          </a:xfrm>
          <a:prstGeom prst="rect">
            <a:avLst/>
          </a:prstGeom>
          <a:noFill/>
          <a:ln/>
        </p:spPr>
        <p:txBody>
          <a:bodyPr wrap="square" lIns="0" tIns="0" rIns="0" bIns="0" rtlCol="0" anchor="t"/>
          <a:lstStyle/>
          <a:p>
            <a:pPr indent="0" marL="0">
              <a:buNone/>
            </a:pPr>
            <a:r>
              <a:rPr lang="en-US" sz="3100" b="1" dirty="0">
                <a:solidFill>
                  <a:srgbClr val="BE5F26"/>
                </a:solidFill>
                <a:latin typeface="Cambria" pitchFamily="34" charset="0"/>
                <a:ea typeface="Cambria" pitchFamily="34" charset="-122"/>
                <a:cs typeface="Cambria" pitchFamily="34" charset="-120"/>
              </a:rPr>
              <a:t>~30%</a:t>
            </a:r>
            <a:endParaRPr lang="en-US" sz="3100" dirty="0"/>
          </a:p>
        </p:txBody>
      </p:sp>
      <p:sp>
        <p:nvSpPr>
          <p:cNvPr id="25" name="Text 23"/>
          <p:cNvSpPr/>
          <p:nvPr/>
        </p:nvSpPr>
        <p:spPr>
          <a:xfrm>
            <a:off x="8065008" y="3694176"/>
            <a:ext cx="3200400" cy="512064"/>
          </a:xfrm>
          <a:prstGeom prst="rect">
            <a:avLst/>
          </a:prstGeom>
          <a:noFill/>
          <a:ln/>
        </p:spPr>
        <p:txBody>
          <a:bodyPr wrap="square" lIns="0" tIns="0" rIns="0" bIns="0" rtlCol="0" anchor="t"/>
          <a:lstStyle/>
          <a:p>
            <a:pPr indent="0" marL="0">
              <a:lnSpc>
                <a:spcPts val="1450"/>
              </a:lnSpc>
              <a:buNone/>
            </a:pPr>
            <a:r>
              <a:rPr lang="en-US" sz="1100" dirty="0">
                <a:solidFill>
                  <a:srgbClr val="69737F"/>
                </a:solidFill>
                <a:latin typeface="Calibri" pitchFamily="34" charset="0"/>
                <a:ea typeface="Calibri" pitchFamily="34" charset="-122"/>
                <a:cs typeface="Calibri" pitchFamily="34" charset="-120"/>
              </a:rPr>
              <a:t>single-year growth in lithium demand, driven overwhelmingly by batteries</a:t>
            </a:r>
            <a:endParaRPr lang="en-US" sz="1100" dirty="0"/>
          </a:p>
        </p:txBody>
      </p:sp>
      <p:sp>
        <p:nvSpPr>
          <p:cNvPr id="26" name="Shape 24"/>
          <p:cNvSpPr/>
          <p:nvPr/>
        </p:nvSpPr>
        <p:spPr>
          <a:xfrm>
            <a:off x="7772400" y="4517136"/>
            <a:ext cx="3776472" cy="1371600"/>
          </a:xfrm>
          <a:prstGeom prst="roundRect">
            <a:avLst>
              <a:gd name="adj" fmla="val 4000"/>
            </a:avLst>
          </a:prstGeom>
          <a:solidFill>
            <a:srgbClr val="F1F3F5"/>
          </a:solidFill>
          <a:ln w="9525">
            <a:solidFill>
              <a:srgbClr val="DFE4E9"/>
            </a:solidFill>
            <a:prstDash val="solid"/>
          </a:ln>
        </p:spPr>
      </p:sp>
      <p:sp>
        <p:nvSpPr>
          <p:cNvPr id="27" name="Text 25"/>
          <p:cNvSpPr/>
          <p:nvPr/>
        </p:nvSpPr>
        <p:spPr>
          <a:xfrm>
            <a:off x="8065008" y="4663440"/>
            <a:ext cx="3291840" cy="512064"/>
          </a:xfrm>
          <a:prstGeom prst="rect">
            <a:avLst/>
          </a:prstGeom>
          <a:noFill/>
          <a:ln/>
        </p:spPr>
        <p:txBody>
          <a:bodyPr wrap="square" lIns="0" tIns="0" rIns="0" bIns="0" rtlCol="0" anchor="t"/>
          <a:lstStyle/>
          <a:p>
            <a:pPr indent="0" marL="0">
              <a:buNone/>
            </a:pPr>
            <a:r>
              <a:rPr lang="en-US" sz="3100" b="1" dirty="0">
                <a:solidFill>
                  <a:srgbClr val="BE5F26"/>
                </a:solidFill>
                <a:latin typeface="Cambria" pitchFamily="34" charset="0"/>
                <a:ea typeface="Cambria" pitchFamily="34" charset="-122"/>
                <a:cs typeface="Cambria" pitchFamily="34" charset="-120"/>
              </a:rPr>
              <a:t>10–17 yrs</a:t>
            </a:r>
            <a:endParaRPr lang="en-US" sz="3100" dirty="0"/>
          </a:p>
        </p:txBody>
      </p:sp>
      <p:sp>
        <p:nvSpPr>
          <p:cNvPr id="28" name="Text 26"/>
          <p:cNvSpPr/>
          <p:nvPr/>
        </p:nvSpPr>
        <p:spPr>
          <a:xfrm>
            <a:off x="8065008" y="5266944"/>
            <a:ext cx="3200400" cy="512064"/>
          </a:xfrm>
          <a:prstGeom prst="rect">
            <a:avLst/>
          </a:prstGeom>
          <a:noFill/>
          <a:ln/>
        </p:spPr>
        <p:txBody>
          <a:bodyPr wrap="square" lIns="0" tIns="0" rIns="0" bIns="0" rtlCol="0" anchor="t"/>
          <a:lstStyle/>
          <a:p>
            <a:pPr indent="0" marL="0">
              <a:lnSpc>
                <a:spcPts val="1450"/>
              </a:lnSpc>
              <a:buNone/>
            </a:pPr>
            <a:r>
              <a:rPr lang="en-US" sz="1100" dirty="0">
                <a:solidFill>
                  <a:srgbClr val="69737F"/>
                </a:solidFill>
                <a:latin typeface="Calibri" pitchFamily="34" charset="0"/>
                <a:ea typeface="Calibri" pitchFamily="34" charset="-122"/>
                <a:cs typeface="Calibri" pitchFamily="34" charset="-120"/>
              </a:rPr>
              <a:t>typical lead time from mineral discovery to producing mine</a:t>
            </a:r>
            <a:endParaRPr lang="en-US" sz="1100" dirty="0"/>
          </a:p>
        </p:txBody>
      </p:sp>
      <p:sp>
        <p:nvSpPr>
          <p:cNvPr id="29" name="Text 27"/>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Sources: IEA, Global Critical Minerals Outlook 2025 and 2026; IEA, The Role of Critical Minerals in Clean Energy Transitions.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DEFINITION AND SCOPE</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What actually makes a mineral “critical”</a:t>
            </a:r>
            <a:endParaRPr lang="en-US" sz="3000" dirty="0"/>
          </a:p>
        </p:txBody>
      </p:sp>
      <p:sp>
        <p:nvSpPr>
          <p:cNvPr id="4" name="Text 2"/>
          <p:cNvSpPr/>
          <p:nvPr/>
        </p:nvSpPr>
        <p:spPr>
          <a:xfrm>
            <a:off x="640080" y="1298448"/>
            <a:ext cx="10911535" cy="310896"/>
          </a:xfrm>
          <a:prstGeom prst="rect">
            <a:avLst/>
          </a:prstGeom>
          <a:noFill/>
          <a:ln/>
        </p:spPr>
        <p:txBody>
          <a:bodyPr wrap="square" lIns="0" tIns="0" rIns="0" bIns="0" rtlCol="0" anchor="t"/>
          <a:lstStyle/>
          <a:p>
            <a:pPr indent="0" marL="0">
              <a:buNone/>
            </a:pPr>
            <a:r>
              <a:rPr lang="en-US" sz="1350" dirty="0">
                <a:solidFill>
                  <a:srgbClr val="69737F"/>
                </a:solidFill>
                <a:latin typeface="Calibri" pitchFamily="34" charset="0"/>
                <a:ea typeface="Calibri" pitchFamily="34" charset="-122"/>
                <a:cs typeface="Calibri" pitchFamily="34" charset="-120"/>
              </a:rPr>
              <a:t>Criticality is not a property of the rock. It is a judgement about a state’s exposure — which is why national lists differ.</a:t>
            </a:r>
            <a:endParaRPr lang="en-US" sz="1350" dirty="0"/>
          </a:p>
        </p:txBody>
      </p:sp>
      <p:sp>
        <p:nvSpPr>
          <p:cNvPr id="5" name="Shape 3"/>
          <p:cNvSpPr/>
          <p:nvPr/>
        </p:nvSpPr>
        <p:spPr>
          <a:xfrm>
            <a:off x="640080" y="1755648"/>
            <a:ext cx="3454420" cy="1298448"/>
          </a:xfrm>
          <a:prstGeom prst="roundRect">
            <a:avLst>
              <a:gd name="adj" fmla="val 4225"/>
            </a:avLst>
          </a:prstGeom>
          <a:solidFill>
            <a:srgbClr val="F1F3F5"/>
          </a:solidFill>
          <a:ln w="9525">
            <a:solidFill>
              <a:srgbClr val="DFE4E9"/>
            </a:solidFill>
            <a:prstDash val="solid"/>
          </a:ln>
        </p:spPr>
      </p:sp>
      <p:sp>
        <p:nvSpPr>
          <p:cNvPr id="6" name="Text 4"/>
          <p:cNvSpPr/>
          <p:nvPr/>
        </p:nvSpPr>
        <p:spPr>
          <a:xfrm>
            <a:off x="896112" y="1920240"/>
            <a:ext cx="2942356" cy="256032"/>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ECONOMIC IMPORTANCE</a:t>
            </a:r>
            <a:endParaRPr lang="en-US" sz="1350" dirty="0"/>
          </a:p>
        </p:txBody>
      </p:sp>
      <p:sp>
        <p:nvSpPr>
          <p:cNvPr id="7" name="Text 5"/>
          <p:cNvSpPr/>
          <p:nvPr/>
        </p:nvSpPr>
        <p:spPr>
          <a:xfrm>
            <a:off x="896112" y="2231136"/>
            <a:ext cx="2942356" cy="731520"/>
          </a:xfrm>
          <a:prstGeom prst="rect">
            <a:avLst/>
          </a:prstGeom>
          <a:noFill/>
          <a:ln/>
        </p:spPr>
        <p:txBody>
          <a:bodyPr wrap="square" lIns="0" tIns="0" rIns="0" bIns="0" rtlCol="0" anchor="t"/>
          <a:lstStyle/>
          <a:p>
            <a:pPr indent="0" marL="0">
              <a:lnSpc>
                <a:spcPts val="1400"/>
              </a:lnSpc>
              <a:buNone/>
            </a:pPr>
            <a:r>
              <a:rPr lang="en-US" sz="1050" dirty="0">
                <a:solidFill>
                  <a:srgbClr val="69737F"/>
                </a:solidFill>
                <a:latin typeface="Calibri" pitchFamily="34" charset="0"/>
                <a:ea typeface="Calibri" pitchFamily="34" charset="-122"/>
                <a:cs typeface="Calibri" pitchFamily="34" charset="-120"/>
              </a:rPr>
              <a:t>How much output, employment and strategic capability depends on the input</a:t>
            </a:r>
            <a:endParaRPr lang="en-US" sz="1050" dirty="0"/>
          </a:p>
        </p:txBody>
      </p:sp>
      <p:sp>
        <p:nvSpPr>
          <p:cNvPr id="8" name="Text 6"/>
          <p:cNvSpPr/>
          <p:nvPr/>
        </p:nvSpPr>
        <p:spPr>
          <a:xfrm>
            <a:off x="4112788" y="2176272"/>
            <a:ext cx="237744" cy="365760"/>
          </a:xfrm>
          <a:prstGeom prst="rect">
            <a:avLst/>
          </a:prstGeom>
          <a:noFill/>
          <a:ln/>
        </p:spPr>
        <p:txBody>
          <a:bodyPr wrap="square" lIns="0" tIns="0" rIns="0" bIns="0" rtlCol="0" anchor="ctr"/>
          <a:lstStyle/>
          <a:p>
            <a:pPr algn="ctr" indent="0" marL="0">
              <a:buNone/>
            </a:pPr>
            <a:r>
              <a:rPr lang="en-US" sz="2200" b="1" dirty="0">
                <a:solidFill>
                  <a:srgbClr val="BE5F26"/>
                </a:solidFill>
                <a:latin typeface="Cambria" pitchFamily="34" charset="0"/>
                <a:ea typeface="Cambria" pitchFamily="34" charset="-122"/>
                <a:cs typeface="Cambria" pitchFamily="34" charset="-120"/>
              </a:rPr>
              <a:t>×</a:t>
            </a:r>
            <a:endParaRPr lang="en-US" sz="2200" dirty="0"/>
          </a:p>
        </p:txBody>
      </p:sp>
      <p:sp>
        <p:nvSpPr>
          <p:cNvPr id="9" name="Shape 7"/>
          <p:cNvSpPr/>
          <p:nvPr/>
        </p:nvSpPr>
        <p:spPr>
          <a:xfrm>
            <a:off x="4368820" y="1755648"/>
            <a:ext cx="3454420" cy="1298448"/>
          </a:xfrm>
          <a:prstGeom prst="roundRect">
            <a:avLst>
              <a:gd name="adj" fmla="val 4225"/>
            </a:avLst>
          </a:prstGeom>
          <a:solidFill>
            <a:srgbClr val="F1F3F5"/>
          </a:solidFill>
          <a:ln w="9525">
            <a:solidFill>
              <a:srgbClr val="DFE4E9"/>
            </a:solidFill>
            <a:prstDash val="solid"/>
          </a:ln>
        </p:spPr>
      </p:sp>
      <p:sp>
        <p:nvSpPr>
          <p:cNvPr id="10" name="Text 8"/>
          <p:cNvSpPr/>
          <p:nvPr/>
        </p:nvSpPr>
        <p:spPr>
          <a:xfrm>
            <a:off x="4624852" y="1920240"/>
            <a:ext cx="2942356" cy="256032"/>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SUPPLY RISK</a:t>
            </a:r>
            <a:endParaRPr lang="en-US" sz="1350" dirty="0"/>
          </a:p>
        </p:txBody>
      </p:sp>
      <p:sp>
        <p:nvSpPr>
          <p:cNvPr id="11" name="Text 9"/>
          <p:cNvSpPr/>
          <p:nvPr/>
        </p:nvSpPr>
        <p:spPr>
          <a:xfrm>
            <a:off x="4624852" y="2231136"/>
            <a:ext cx="2942356" cy="731520"/>
          </a:xfrm>
          <a:prstGeom prst="rect">
            <a:avLst/>
          </a:prstGeom>
          <a:noFill/>
          <a:ln/>
        </p:spPr>
        <p:txBody>
          <a:bodyPr wrap="square" lIns="0" tIns="0" rIns="0" bIns="0" rtlCol="0" anchor="t"/>
          <a:lstStyle/>
          <a:p>
            <a:pPr indent="0" marL="0">
              <a:lnSpc>
                <a:spcPts val="1400"/>
              </a:lnSpc>
              <a:buNone/>
            </a:pPr>
            <a:r>
              <a:rPr lang="en-US" sz="1050" dirty="0">
                <a:solidFill>
                  <a:srgbClr val="69737F"/>
                </a:solidFill>
                <a:latin typeface="Calibri" pitchFamily="34" charset="0"/>
                <a:ea typeface="Calibri" pitchFamily="34" charset="-122"/>
                <a:cs typeface="Calibri" pitchFamily="34" charset="-120"/>
              </a:rPr>
              <a:t>Geological concentration, refining concentration, governance quality, substitutability</a:t>
            </a:r>
            <a:endParaRPr lang="en-US" sz="1050" dirty="0"/>
          </a:p>
        </p:txBody>
      </p:sp>
      <p:sp>
        <p:nvSpPr>
          <p:cNvPr id="12" name="Text 10"/>
          <p:cNvSpPr/>
          <p:nvPr/>
        </p:nvSpPr>
        <p:spPr>
          <a:xfrm>
            <a:off x="7841529" y="2176272"/>
            <a:ext cx="237744" cy="365760"/>
          </a:xfrm>
          <a:prstGeom prst="rect">
            <a:avLst/>
          </a:prstGeom>
          <a:noFill/>
          <a:ln/>
        </p:spPr>
        <p:txBody>
          <a:bodyPr wrap="square" lIns="0" tIns="0" rIns="0" bIns="0" rtlCol="0" anchor="ctr"/>
          <a:lstStyle/>
          <a:p>
            <a:pPr algn="ctr" indent="0" marL="0">
              <a:buNone/>
            </a:pPr>
            <a:r>
              <a:rPr lang="en-US" sz="2200" b="1" dirty="0">
                <a:solidFill>
                  <a:srgbClr val="BE5F26"/>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8097561" y="1755648"/>
            <a:ext cx="3454420" cy="1298448"/>
          </a:xfrm>
          <a:prstGeom prst="roundRect">
            <a:avLst>
              <a:gd name="adj" fmla="val 4225"/>
            </a:avLst>
          </a:prstGeom>
          <a:solidFill>
            <a:srgbClr val="15191F"/>
          </a:solidFill>
          <a:ln w="9525">
            <a:solidFill>
              <a:srgbClr val="15191F"/>
            </a:solidFill>
            <a:prstDash val="solid"/>
          </a:ln>
        </p:spPr>
      </p:sp>
      <p:sp>
        <p:nvSpPr>
          <p:cNvPr id="14" name="Text 12"/>
          <p:cNvSpPr/>
          <p:nvPr/>
        </p:nvSpPr>
        <p:spPr>
          <a:xfrm>
            <a:off x="8353593" y="1920240"/>
            <a:ext cx="2942356" cy="256032"/>
          </a:xfrm>
          <a:prstGeom prst="rect">
            <a:avLst/>
          </a:prstGeom>
          <a:noFill/>
          <a:ln/>
        </p:spPr>
        <p:txBody>
          <a:bodyPr wrap="square" lIns="0" tIns="0" rIns="0" bIns="0" rtlCol="0" anchor="t"/>
          <a:lstStyle/>
          <a:p>
            <a:pPr indent="0" marL="0">
              <a:buNone/>
            </a:pPr>
            <a:r>
              <a:rPr lang="en-US" sz="1350" b="1" dirty="0">
                <a:solidFill>
                  <a:srgbClr val="E39A5C"/>
                </a:solidFill>
                <a:latin typeface="Cambria" pitchFamily="34" charset="0"/>
                <a:ea typeface="Cambria" pitchFamily="34" charset="-122"/>
                <a:cs typeface="Cambria" pitchFamily="34" charset="-120"/>
              </a:rPr>
              <a:t>CRITICALITY</a:t>
            </a:r>
            <a:endParaRPr lang="en-US" sz="1350" dirty="0"/>
          </a:p>
        </p:txBody>
      </p:sp>
      <p:sp>
        <p:nvSpPr>
          <p:cNvPr id="15" name="Text 13"/>
          <p:cNvSpPr/>
          <p:nvPr/>
        </p:nvSpPr>
        <p:spPr>
          <a:xfrm>
            <a:off x="8353593" y="2231136"/>
            <a:ext cx="2942356" cy="731520"/>
          </a:xfrm>
          <a:prstGeom prst="rect">
            <a:avLst/>
          </a:prstGeom>
          <a:noFill/>
          <a:ln/>
        </p:spPr>
        <p:txBody>
          <a:bodyPr wrap="square" lIns="0" tIns="0" rIns="0" bIns="0" rtlCol="0" anchor="t"/>
          <a:lstStyle/>
          <a:p>
            <a:pPr indent="0" marL="0">
              <a:lnSpc>
                <a:spcPts val="1400"/>
              </a:lnSpc>
              <a:buNone/>
            </a:pPr>
            <a:r>
              <a:rPr lang="en-US" sz="1050" dirty="0">
                <a:solidFill>
                  <a:srgbClr val="AEBACA"/>
                </a:solidFill>
                <a:latin typeface="Calibri" pitchFamily="34" charset="0"/>
                <a:ea typeface="Calibri" pitchFamily="34" charset="-122"/>
                <a:cs typeface="Calibri" pitchFamily="34" charset="-120"/>
              </a:rPr>
              <a:t>The score that places a mineral on a national or regional strategic list</a:t>
            </a:r>
            <a:endParaRPr lang="en-US" sz="1050" dirty="0"/>
          </a:p>
        </p:txBody>
      </p:sp>
      <p:sp>
        <p:nvSpPr>
          <p:cNvPr id="16" name="Text 14"/>
          <p:cNvSpPr/>
          <p:nvPr/>
        </p:nvSpPr>
        <p:spPr>
          <a:xfrm>
            <a:off x="640080" y="3310128"/>
            <a:ext cx="5486400" cy="292608"/>
          </a:xfrm>
          <a:prstGeom prst="rect">
            <a:avLst/>
          </a:prstGeom>
          <a:noFill/>
          <a:ln/>
        </p:spPr>
        <p:txBody>
          <a:bodyPr wrap="square" lIns="0" tIns="0" rIns="0" bIns="0" rtlCol="0" anchor="t"/>
          <a:lstStyle/>
          <a:p>
            <a:pPr indent="0" marL="0">
              <a:buNone/>
            </a:pPr>
            <a:r>
              <a:rPr lang="en-US" sz="1600" b="1" dirty="0">
                <a:solidFill>
                  <a:srgbClr val="15191F"/>
                </a:solidFill>
                <a:latin typeface="Cambria" pitchFamily="34" charset="0"/>
                <a:ea typeface="Cambria" pitchFamily="34" charset="-122"/>
                <a:cs typeface="Cambria" pitchFamily="34" charset="-120"/>
              </a:rPr>
              <a:t>Four functional families</a:t>
            </a:r>
            <a:endParaRPr lang="en-US" sz="1600" dirty="0"/>
          </a:p>
        </p:txBody>
      </p:sp>
      <p:sp>
        <p:nvSpPr>
          <p:cNvPr id="17" name="Shape 15"/>
          <p:cNvSpPr/>
          <p:nvPr/>
        </p:nvSpPr>
        <p:spPr>
          <a:xfrm>
            <a:off x="640080" y="3712464"/>
            <a:ext cx="2535906" cy="2139696"/>
          </a:xfrm>
          <a:prstGeom prst="roundRect">
            <a:avLst>
              <a:gd name="adj" fmla="val 2564"/>
            </a:avLst>
          </a:prstGeom>
          <a:solidFill>
            <a:srgbClr val="F1F3F5"/>
          </a:solidFill>
          <a:ln w="9525">
            <a:solidFill>
              <a:srgbClr val="DFE4E9"/>
            </a:solidFill>
            <a:prstDash val="solid"/>
          </a:ln>
        </p:spPr>
      </p:sp>
      <p:sp>
        <p:nvSpPr>
          <p:cNvPr id="18" name="Shape 16"/>
          <p:cNvSpPr/>
          <p:nvPr/>
        </p:nvSpPr>
        <p:spPr>
          <a:xfrm>
            <a:off x="877824" y="3895344"/>
            <a:ext cx="347472" cy="347472"/>
          </a:xfrm>
          <a:prstGeom prst="roundRect">
            <a:avLst>
              <a:gd name="adj" fmla="val 13158"/>
            </a:avLst>
          </a:prstGeom>
          <a:solidFill>
            <a:srgbClr val="BE5F26"/>
          </a:solidFill>
          <a:ln/>
        </p:spPr>
      </p:sp>
      <p:sp>
        <p:nvSpPr>
          <p:cNvPr id="19" name="Text 17"/>
          <p:cNvSpPr/>
          <p:nvPr/>
        </p:nvSpPr>
        <p:spPr>
          <a:xfrm>
            <a:off x="877824" y="3895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0" name="Text 18"/>
          <p:cNvSpPr/>
          <p:nvPr/>
        </p:nvSpPr>
        <p:spPr>
          <a:xfrm>
            <a:off x="877824" y="4334256"/>
            <a:ext cx="2060418" cy="310896"/>
          </a:xfrm>
          <a:prstGeom prst="rect">
            <a:avLst/>
          </a:prstGeom>
          <a:noFill/>
          <a:ln/>
        </p:spPr>
        <p:txBody>
          <a:bodyPr wrap="square" lIns="0" tIns="0" rIns="0" bIns="0" rtlCol="0" anchor="t"/>
          <a:lstStyle/>
          <a:p>
            <a:pPr indent="0" marL="0">
              <a:buNone/>
            </a:pPr>
            <a:r>
              <a:rPr lang="en-US" sz="1350" b="1" dirty="0">
                <a:solidFill>
                  <a:srgbClr val="15191F"/>
                </a:solidFill>
                <a:latin typeface="Cambria" pitchFamily="34" charset="0"/>
                <a:ea typeface="Cambria" pitchFamily="34" charset="-122"/>
                <a:cs typeface="Cambria" pitchFamily="34" charset="-120"/>
              </a:rPr>
              <a:t>Battery metals</a:t>
            </a:r>
            <a:endParaRPr lang="en-US" sz="1350" dirty="0"/>
          </a:p>
        </p:txBody>
      </p:sp>
      <p:sp>
        <p:nvSpPr>
          <p:cNvPr id="21" name="Text 19"/>
          <p:cNvSpPr/>
          <p:nvPr/>
        </p:nvSpPr>
        <p:spPr>
          <a:xfrm>
            <a:off x="877824" y="4681728"/>
            <a:ext cx="2060418" cy="658368"/>
          </a:xfrm>
          <a:prstGeom prst="rect">
            <a:avLst/>
          </a:prstGeom>
          <a:noFill/>
          <a:ln/>
        </p:spPr>
        <p:txBody>
          <a:bodyPr wrap="square" lIns="0" tIns="0" rIns="0" bIns="0" rtlCol="0" anchor="t"/>
          <a:lstStyle/>
          <a:p>
            <a:pPr indent="0" marL="0">
              <a:lnSpc>
                <a:spcPts val="1400"/>
              </a:lnSpc>
              <a:buNone/>
            </a:pPr>
            <a:r>
              <a:rPr lang="en-US" sz="1050" dirty="0">
                <a:solidFill>
                  <a:srgbClr val="BE5F26"/>
                </a:solidFill>
                <a:latin typeface="Calibri" pitchFamily="34" charset="0"/>
                <a:ea typeface="Calibri" pitchFamily="34" charset="-122"/>
                <a:cs typeface="Calibri" pitchFamily="34" charset="-120"/>
              </a:rPr>
              <a:t>Lithium · cobalt · nickel · graphite · manganese</a:t>
            </a:r>
            <a:endParaRPr lang="en-US" sz="1050" dirty="0"/>
          </a:p>
        </p:txBody>
      </p:sp>
      <p:sp>
        <p:nvSpPr>
          <p:cNvPr id="22" name="Text 20"/>
          <p:cNvSpPr/>
          <p:nvPr/>
        </p:nvSpPr>
        <p:spPr>
          <a:xfrm>
            <a:off x="877824" y="5358384"/>
            <a:ext cx="2060418" cy="420624"/>
          </a:xfrm>
          <a:prstGeom prst="rect">
            <a:avLst/>
          </a:prstGeom>
          <a:noFill/>
          <a:ln/>
        </p:spPr>
        <p:txBody>
          <a:bodyPr wrap="square" lIns="0" tIns="0" rIns="0" bIns="0" rtlCol="0" anchor="t"/>
          <a:lstStyle/>
          <a:p>
            <a:pPr indent="0" marL="0">
              <a:lnSpc>
                <a:spcPts val="1350"/>
              </a:lnSpc>
              <a:buNone/>
            </a:pPr>
            <a:r>
              <a:rPr lang="en-US" sz="1050" i="1" dirty="0">
                <a:solidFill>
                  <a:srgbClr val="69737F"/>
                </a:solidFill>
                <a:latin typeface="Calibri" pitchFamily="34" charset="0"/>
                <a:ea typeface="Calibri" pitchFamily="34" charset="-122"/>
                <a:cs typeface="Calibri" pitchFamily="34" charset="-120"/>
              </a:rPr>
              <a:t>Storage: vehicles and grid firming</a:t>
            </a:r>
            <a:endParaRPr lang="en-US" sz="1050" dirty="0"/>
          </a:p>
        </p:txBody>
      </p:sp>
      <p:sp>
        <p:nvSpPr>
          <p:cNvPr id="23" name="Shape 21"/>
          <p:cNvSpPr/>
          <p:nvPr/>
        </p:nvSpPr>
        <p:spPr>
          <a:xfrm>
            <a:off x="3432018" y="3712464"/>
            <a:ext cx="2535906" cy="2139696"/>
          </a:xfrm>
          <a:prstGeom prst="roundRect">
            <a:avLst>
              <a:gd name="adj" fmla="val 2564"/>
            </a:avLst>
          </a:prstGeom>
          <a:solidFill>
            <a:srgbClr val="F1F3F5"/>
          </a:solidFill>
          <a:ln w="9525">
            <a:solidFill>
              <a:srgbClr val="DFE4E9"/>
            </a:solidFill>
            <a:prstDash val="solid"/>
          </a:ln>
        </p:spPr>
      </p:sp>
      <p:sp>
        <p:nvSpPr>
          <p:cNvPr id="24" name="Shape 22"/>
          <p:cNvSpPr/>
          <p:nvPr/>
        </p:nvSpPr>
        <p:spPr>
          <a:xfrm>
            <a:off x="3669762" y="3895344"/>
            <a:ext cx="347472" cy="347472"/>
          </a:xfrm>
          <a:prstGeom prst="roundRect">
            <a:avLst>
              <a:gd name="adj" fmla="val 13158"/>
            </a:avLst>
          </a:prstGeom>
          <a:solidFill>
            <a:srgbClr val="BE5F26"/>
          </a:solidFill>
          <a:ln/>
        </p:spPr>
      </p:sp>
      <p:sp>
        <p:nvSpPr>
          <p:cNvPr id="25" name="Text 23"/>
          <p:cNvSpPr/>
          <p:nvPr/>
        </p:nvSpPr>
        <p:spPr>
          <a:xfrm>
            <a:off x="3669762" y="3895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6" name="Text 24"/>
          <p:cNvSpPr/>
          <p:nvPr/>
        </p:nvSpPr>
        <p:spPr>
          <a:xfrm>
            <a:off x="3669762" y="4334256"/>
            <a:ext cx="2060418" cy="310896"/>
          </a:xfrm>
          <a:prstGeom prst="rect">
            <a:avLst/>
          </a:prstGeom>
          <a:noFill/>
          <a:ln/>
        </p:spPr>
        <p:txBody>
          <a:bodyPr wrap="square" lIns="0" tIns="0" rIns="0" bIns="0" rtlCol="0" anchor="t"/>
          <a:lstStyle/>
          <a:p>
            <a:pPr indent="0" marL="0">
              <a:buNone/>
            </a:pPr>
            <a:r>
              <a:rPr lang="en-US" sz="1350" b="1" dirty="0">
                <a:solidFill>
                  <a:srgbClr val="15191F"/>
                </a:solidFill>
                <a:latin typeface="Cambria" pitchFamily="34" charset="0"/>
                <a:ea typeface="Cambria" pitchFamily="34" charset="-122"/>
                <a:cs typeface="Cambria" pitchFamily="34" charset="-120"/>
              </a:rPr>
              <a:t>Magnet metals</a:t>
            </a:r>
            <a:endParaRPr lang="en-US" sz="1350" dirty="0"/>
          </a:p>
        </p:txBody>
      </p:sp>
      <p:sp>
        <p:nvSpPr>
          <p:cNvPr id="27" name="Text 25"/>
          <p:cNvSpPr/>
          <p:nvPr/>
        </p:nvSpPr>
        <p:spPr>
          <a:xfrm>
            <a:off x="3669762" y="4681728"/>
            <a:ext cx="2060418" cy="658368"/>
          </a:xfrm>
          <a:prstGeom prst="rect">
            <a:avLst/>
          </a:prstGeom>
          <a:noFill/>
          <a:ln/>
        </p:spPr>
        <p:txBody>
          <a:bodyPr wrap="square" lIns="0" tIns="0" rIns="0" bIns="0" rtlCol="0" anchor="t"/>
          <a:lstStyle/>
          <a:p>
            <a:pPr indent="0" marL="0">
              <a:lnSpc>
                <a:spcPts val="1400"/>
              </a:lnSpc>
              <a:buNone/>
            </a:pPr>
            <a:r>
              <a:rPr lang="en-US" sz="1050" dirty="0">
                <a:solidFill>
                  <a:srgbClr val="BE5F26"/>
                </a:solidFill>
                <a:latin typeface="Calibri" pitchFamily="34" charset="0"/>
                <a:ea typeface="Calibri" pitchFamily="34" charset="-122"/>
                <a:cs typeface="Calibri" pitchFamily="34" charset="-120"/>
              </a:rPr>
              <a:t>Neodymium · praseodymium · dysprosium · terbium</a:t>
            </a:r>
            <a:endParaRPr lang="en-US" sz="1050" dirty="0"/>
          </a:p>
        </p:txBody>
      </p:sp>
      <p:sp>
        <p:nvSpPr>
          <p:cNvPr id="28" name="Text 26"/>
          <p:cNvSpPr/>
          <p:nvPr/>
        </p:nvSpPr>
        <p:spPr>
          <a:xfrm>
            <a:off x="3669762" y="5358384"/>
            <a:ext cx="2060418" cy="420624"/>
          </a:xfrm>
          <a:prstGeom prst="rect">
            <a:avLst/>
          </a:prstGeom>
          <a:noFill/>
          <a:ln/>
        </p:spPr>
        <p:txBody>
          <a:bodyPr wrap="square" lIns="0" tIns="0" rIns="0" bIns="0" rtlCol="0" anchor="t"/>
          <a:lstStyle/>
          <a:p>
            <a:pPr indent="0" marL="0">
              <a:lnSpc>
                <a:spcPts val="1350"/>
              </a:lnSpc>
              <a:buNone/>
            </a:pPr>
            <a:r>
              <a:rPr lang="en-US" sz="1050" i="1" dirty="0">
                <a:solidFill>
                  <a:srgbClr val="69737F"/>
                </a:solidFill>
                <a:latin typeface="Calibri" pitchFamily="34" charset="0"/>
                <a:ea typeface="Calibri" pitchFamily="34" charset="-122"/>
                <a:cs typeface="Calibri" pitchFamily="34" charset="-120"/>
              </a:rPr>
              <a:t>Motors, turbines, guidance systems</a:t>
            </a:r>
            <a:endParaRPr lang="en-US" sz="1050" dirty="0"/>
          </a:p>
        </p:txBody>
      </p:sp>
      <p:sp>
        <p:nvSpPr>
          <p:cNvPr id="29" name="Shape 27"/>
          <p:cNvSpPr/>
          <p:nvPr/>
        </p:nvSpPr>
        <p:spPr>
          <a:xfrm>
            <a:off x="6223955" y="3712464"/>
            <a:ext cx="2535906" cy="2139696"/>
          </a:xfrm>
          <a:prstGeom prst="roundRect">
            <a:avLst>
              <a:gd name="adj" fmla="val 2564"/>
            </a:avLst>
          </a:prstGeom>
          <a:solidFill>
            <a:srgbClr val="F1F3F5"/>
          </a:solidFill>
          <a:ln w="9525">
            <a:solidFill>
              <a:srgbClr val="DFE4E9"/>
            </a:solidFill>
            <a:prstDash val="solid"/>
          </a:ln>
        </p:spPr>
      </p:sp>
      <p:sp>
        <p:nvSpPr>
          <p:cNvPr id="30" name="Shape 28"/>
          <p:cNvSpPr/>
          <p:nvPr/>
        </p:nvSpPr>
        <p:spPr>
          <a:xfrm>
            <a:off x="6461699" y="3895344"/>
            <a:ext cx="347472" cy="347472"/>
          </a:xfrm>
          <a:prstGeom prst="roundRect">
            <a:avLst>
              <a:gd name="adj" fmla="val 13158"/>
            </a:avLst>
          </a:prstGeom>
          <a:solidFill>
            <a:srgbClr val="BE5F26"/>
          </a:solidFill>
          <a:ln/>
        </p:spPr>
      </p:sp>
      <p:sp>
        <p:nvSpPr>
          <p:cNvPr id="31" name="Text 29"/>
          <p:cNvSpPr/>
          <p:nvPr/>
        </p:nvSpPr>
        <p:spPr>
          <a:xfrm>
            <a:off x="6461699" y="3895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2" name="Text 30"/>
          <p:cNvSpPr/>
          <p:nvPr/>
        </p:nvSpPr>
        <p:spPr>
          <a:xfrm>
            <a:off x="6461699" y="4334256"/>
            <a:ext cx="2060418" cy="310896"/>
          </a:xfrm>
          <a:prstGeom prst="rect">
            <a:avLst/>
          </a:prstGeom>
          <a:noFill/>
          <a:ln/>
        </p:spPr>
        <p:txBody>
          <a:bodyPr wrap="square" lIns="0" tIns="0" rIns="0" bIns="0" rtlCol="0" anchor="t"/>
          <a:lstStyle/>
          <a:p>
            <a:pPr indent="0" marL="0">
              <a:buNone/>
            </a:pPr>
            <a:r>
              <a:rPr lang="en-US" sz="1350" b="1" dirty="0">
                <a:solidFill>
                  <a:srgbClr val="15191F"/>
                </a:solidFill>
                <a:latin typeface="Cambria" pitchFamily="34" charset="0"/>
                <a:ea typeface="Cambria" pitchFamily="34" charset="-122"/>
                <a:cs typeface="Cambria" pitchFamily="34" charset="-120"/>
              </a:rPr>
              <a:t>Semiconductor metals</a:t>
            </a:r>
            <a:endParaRPr lang="en-US" sz="1350" dirty="0"/>
          </a:p>
        </p:txBody>
      </p:sp>
      <p:sp>
        <p:nvSpPr>
          <p:cNvPr id="33" name="Text 31"/>
          <p:cNvSpPr/>
          <p:nvPr/>
        </p:nvSpPr>
        <p:spPr>
          <a:xfrm>
            <a:off x="6461699" y="4681728"/>
            <a:ext cx="2060418" cy="658368"/>
          </a:xfrm>
          <a:prstGeom prst="rect">
            <a:avLst/>
          </a:prstGeom>
          <a:noFill/>
          <a:ln/>
        </p:spPr>
        <p:txBody>
          <a:bodyPr wrap="square" lIns="0" tIns="0" rIns="0" bIns="0" rtlCol="0" anchor="t"/>
          <a:lstStyle/>
          <a:p>
            <a:pPr indent="0" marL="0">
              <a:lnSpc>
                <a:spcPts val="1400"/>
              </a:lnSpc>
              <a:buNone/>
            </a:pPr>
            <a:r>
              <a:rPr lang="en-US" sz="1050" dirty="0">
                <a:solidFill>
                  <a:srgbClr val="BE5F26"/>
                </a:solidFill>
                <a:latin typeface="Calibri" pitchFamily="34" charset="0"/>
                <a:ea typeface="Calibri" pitchFamily="34" charset="-122"/>
                <a:cs typeface="Calibri" pitchFamily="34" charset="-120"/>
              </a:rPr>
              <a:t>Gallium · germanium · antimony · silicon</a:t>
            </a:r>
            <a:endParaRPr lang="en-US" sz="1050" dirty="0"/>
          </a:p>
        </p:txBody>
      </p:sp>
      <p:sp>
        <p:nvSpPr>
          <p:cNvPr id="34" name="Text 32"/>
          <p:cNvSpPr/>
          <p:nvPr/>
        </p:nvSpPr>
        <p:spPr>
          <a:xfrm>
            <a:off x="6461699" y="5358384"/>
            <a:ext cx="2060418" cy="420624"/>
          </a:xfrm>
          <a:prstGeom prst="rect">
            <a:avLst/>
          </a:prstGeom>
          <a:noFill/>
          <a:ln/>
        </p:spPr>
        <p:txBody>
          <a:bodyPr wrap="square" lIns="0" tIns="0" rIns="0" bIns="0" rtlCol="0" anchor="t"/>
          <a:lstStyle/>
          <a:p>
            <a:pPr indent="0" marL="0">
              <a:lnSpc>
                <a:spcPts val="1350"/>
              </a:lnSpc>
              <a:buNone/>
            </a:pPr>
            <a:r>
              <a:rPr lang="en-US" sz="1050" i="1" dirty="0">
                <a:solidFill>
                  <a:srgbClr val="69737F"/>
                </a:solidFill>
                <a:latin typeface="Calibri" pitchFamily="34" charset="0"/>
                <a:ea typeface="Calibri" pitchFamily="34" charset="-122"/>
                <a:cs typeface="Calibri" pitchFamily="34" charset="-120"/>
              </a:rPr>
              <a:t>Chips, optics, sensors, munitions</a:t>
            </a:r>
            <a:endParaRPr lang="en-US" sz="1050" dirty="0"/>
          </a:p>
        </p:txBody>
      </p:sp>
      <p:sp>
        <p:nvSpPr>
          <p:cNvPr id="35" name="Shape 33"/>
          <p:cNvSpPr/>
          <p:nvPr/>
        </p:nvSpPr>
        <p:spPr>
          <a:xfrm>
            <a:off x="9015893" y="3712464"/>
            <a:ext cx="2535906" cy="2139696"/>
          </a:xfrm>
          <a:prstGeom prst="roundRect">
            <a:avLst>
              <a:gd name="adj" fmla="val 2564"/>
            </a:avLst>
          </a:prstGeom>
          <a:solidFill>
            <a:srgbClr val="F1F3F5"/>
          </a:solidFill>
          <a:ln w="9525">
            <a:solidFill>
              <a:srgbClr val="DFE4E9"/>
            </a:solidFill>
            <a:prstDash val="solid"/>
          </a:ln>
        </p:spPr>
      </p:sp>
      <p:sp>
        <p:nvSpPr>
          <p:cNvPr id="36" name="Shape 34"/>
          <p:cNvSpPr/>
          <p:nvPr/>
        </p:nvSpPr>
        <p:spPr>
          <a:xfrm>
            <a:off x="9253637" y="3895344"/>
            <a:ext cx="347472" cy="347472"/>
          </a:xfrm>
          <a:prstGeom prst="roundRect">
            <a:avLst>
              <a:gd name="adj" fmla="val 13158"/>
            </a:avLst>
          </a:prstGeom>
          <a:solidFill>
            <a:srgbClr val="BE5F26"/>
          </a:solidFill>
          <a:ln/>
        </p:spPr>
      </p:sp>
      <p:sp>
        <p:nvSpPr>
          <p:cNvPr id="37" name="Text 35"/>
          <p:cNvSpPr/>
          <p:nvPr/>
        </p:nvSpPr>
        <p:spPr>
          <a:xfrm>
            <a:off x="9253637" y="3895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8" name="Text 36"/>
          <p:cNvSpPr/>
          <p:nvPr/>
        </p:nvSpPr>
        <p:spPr>
          <a:xfrm>
            <a:off x="9253637" y="4334256"/>
            <a:ext cx="2060418" cy="310896"/>
          </a:xfrm>
          <a:prstGeom prst="rect">
            <a:avLst/>
          </a:prstGeom>
          <a:noFill/>
          <a:ln/>
        </p:spPr>
        <p:txBody>
          <a:bodyPr wrap="square" lIns="0" tIns="0" rIns="0" bIns="0" rtlCol="0" anchor="t"/>
          <a:lstStyle/>
          <a:p>
            <a:pPr indent="0" marL="0">
              <a:buNone/>
            </a:pPr>
            <a:r>
              <a:rPr lang="en-US" sz="1350" b="1" dirty="0">
                <a:solidFill>
                  <a:srgbClr val="15191F"/>
                </a:solidFill>
                <a:latin typeface="Cambria" pitchFamily="34" charset="0"/>
                <a:ea typeface="Cambria" pitchFamily="34" charset="-122"/>
                <a:cs typeface="Cambria" pitchFamily="34" charset="-120"/>
              </a:rPr>
              <a:t>Grid and structure</a:t>
            </a:r>
            <a:endParaRPr lang="en-US" sz="1350" dirty="0"/>
          </a:p>
        </p:txBody>
      </p:sp>
      <p:sp>
        <p:nvSpPr>
          <p:cNvPr id="39" name="Text 37"/>
          <p:cNvSpPr/>
          <p:nvPr/>
        </p:nvSpPr>
        <p:spPr>
          <a:xfrm>
            <a:off x="9253637" y="4681728"/>
            <a:ext cx="2060418" cy="658368"/>
          </a:xfrm>
          <a:prstGeom prst="rect">
            <a:avLst/>
          </a:prstGeom>
          <a:noFill/>
          <a:ln/>
        </p:spPr>
        <p:txBody>
          <a:bodyPr wrap="square" lIns="0" tIns="0" rIns="0" bIns="0" rtlCol="0" anchor="t"/>
          <a:lstStyle/>
          <a:p>
            <a:pPr indent="0" marL="0">
              <a:lnSpc>
                <a:spcPts val="1400"/>
              </a:lnSpc>
              <a:buNone/>
            </a:pPr>
            <a:r>
              <a:rPr lang="en-US" sz="1050" dirty="0">
                <a:solidFill>
                  <a:srgbClr val="BE5F26"/>
                </a:solidFill>
                <a:latin typeface="Calibri" pitchFamily="34" charset="0"/>
                <a:ea typeface="Calibri" pitchFamily="34" charset="-122"/>
                <a:cs typeface="Calibri" pitchFamily="34" charset="-120"/>
              </a:rPr>
              <a:t>Copper · aluminium · silver · steel alloys</a:t>
            </a:r>
            <a:endParaRPr lang="en-US" sz="1050" dirty="0"/>
          </a:p>
        </p:txBody>
      </p:sp>
      <p:sp>
        <p:nvSpPr>
          <p:cNvPr id="40" name="Text 38"/>
          <p:cNvSpPr/>
          <p:nvPr/>
        </p:nvSpPr>
        <p:spPr>
          <a:xfrm>
            <a:off x="9253637" y="5358384"/>
            <a:ext cx="2060418" cy="420624"/>
          </a:xfrm>
          <a:prstGeom prst="rect">
            <a:avLst/>
          </a:prstGeom>
          <a:noFill/>
          <a:ln/>
        </p:spPr>
        <p:txBody>
          <a:bodyPr wrap="square" lIns="0" tIns="0" rIns="0" bIns="0" rtlCol="0" anchor="t"/>
          <a:lstStyle/>
          <a:p>
            <a:pPr indent="0" marL="0">
              <a:lnSpc>
                <a:spcPts val="1350"/>
              </a:lnSpc>
              <a:buNone/>
            </a:pPr>
            <a:r>
              <a:rPr lang="en-US" sz="1050" i="1" dirty="0">
                <a:solidFill>
                  <a:srgbClr val="69737F"/>
                </a:solidFill>
                <a:latin typeface="Calibri" pitchFamily="34" charset="0"/>
                <a:ea typeface="Calibri" pitchFamily="34" charset="-122"/>
                <a:cs typeface="Calibri" pitchFamily="34" charset="-120"/>
              </a:rPr>
              <a:t>Transmission, wiring, construction</a:t>
            </a:r>
            <a:endParaRPr lang="en-US" sz="1050" dirty="0"/>
          </a:p>
        </p:txBody>
      </p:sp>
      <p:sp>
        <p:nvSpPr>
          <p:cNvPr id="41" name="Text 39"/>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Definitions synthesised from the EU Critical Raw Materials Act (2024), the US Geological Survey critical minerals list, and IEA methodology.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91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E39A5C"/>
                </a:solidFill>
                <a:latin typeface="Calibri" pitchFamily="34" charset="0"/>
                <a:ea typeface="Calibri" pitchFamily="34" charset="-122"/>
                <a:cs typeface="Calibri" pitchFamily="34" charset="-120"/>
              </a:rPr>
              <a:t>HISTORICAL AND INTERNATIONAL CONTEXT</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Four moments that built the present system</a:t>
            </a:r>
            <a:endParaRPr lang="en-US" sz="3000" dirty="0"/>
          </a:p>
        </p:txBody>
      </p:sp>
      <p:sp>
        <p:nvSpPr>
          <p:cNvPr id="4" name="Shape 2"/>
          <p:cNvSpPr/>
          <p:nvPr/>
        </p:nvSpPr>
        <p:spPr>
          <a:xfrm>
            <a:off x="640080" y="1371600"/>
            <a:ext cx="2535906" cy="3529584"/>
          </a:xfrm>
          <a:prstGeom prst="roundRect">
            <a:avLst>
              <a:gd name="adj" fmla="val 2163"/>
            </a:avLst>
          </a:prstGeom>
          <a:solidFill>
            <a:srgbClr val="222B36"/>
          </a:solidFill>
          <a:ln w="9525">
            <a:solidFill>
              <a:srgbClr val="222B36"/>
            </a:solidFill>
            <a:prstDash val="solid"/>
          </a:ln>
        </p:spPr>
      </p:sp>
      <p:sp>
        <p:nvSpPr>
          <p:cNvPr id="5" name="Text 3"/>
          <p:cNvSpPr/>
          <p:nvPr/>
        </p:nvSpPr>
        <p:spPr>
          <a:xfrm>
            <a:off x="877824" y="1591056"/>
            <a:ext cx="2060418" cy="402336"/>
          </a:xfrm>
          <a:prstGeom prst="rect">
            <a:avLst/>
          </a:prstGeom>
          <a:noFill/>
          <a:ln/>
        </p:spPr>
        <p:txBody>
          <a:bodyPr wrap="square" lIns="0" tIns="0" rIns="0" bIns="0" rtlCol="0" anchor="t"/>
          <a:lstStyle/>
          <a:p>
            <a:pPr indent="0" marL="0">
              <a:buNone/>
            </a:pPr>
            <a:r>
              <a:rPr lang="en-US" sz="2400" b="1" dirty="0">
                <a:solidFill>
                  <a:srgbClr val="E39A5C"/>
                </a:solidFill>
                <a:latin typeface="Cambria" pitchFamily="34" charset="0"/>
                <a:ea typeface="Cambria" pitchFamily="34" charset="-122"/>
                <a:cs typeface="Cambria" pitchFamily="34" charset="-120"/>
              </a:rPr>
              <a:t>1973</a:t>
            </a:r>
            <a:endParaRPr lang="en-US" sz="2400" dirty="0"/>
          </a:p>
        </p:txBody>
      </p:sp>
      <p:sp>
        <p:nvSpPr>
          <p:cNvPr id="6" name="Text 4"/>
          <p:cNvSpPr/>
          <p:nvPr/>
        </p:nvSpPr>
        <p:spPr>
          <a:xfrm>
            <a:off x="877824" y="2066544"/>
            <a:ext cx="2060418" cy="566928"/>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The oil weapon</a:t>
            </a:r>
            <a:endParaRPr lang="en-US" sz="1500" dirty="0"/>
          </a:p>
        </p:txBody>
      </p:sp>
      <p:sp>
        <p:nvSpPr>
          <p:cNvPr id="7" name="Text 5"/>
          <p:cNvSpPr/>
          <p:nvPr/>
        </p:nvSpPr>
        <p:spPr>
          <a:xfrm>
            <a:off x="877824" y="2688336"/>
            <a:ext cx="2060418" cy="2103120"/>
          </a:xfrm>
          <a:prstGeom prst="rect">
            <a:avLst/>
          </a:prstGeom>
          <a:noFill/>
          <a:ln/>
        </p:spPr>
        <p:txBody>
          <a:bodyPr wrap="square" lIns="0" tIns="0" rIns="0" bIns="0" rtlCol="0" anchor="t"/>
          <a:lstStyle/>
          <a:p>
            <a:pPr indent="0" marL="0">
              <a:lnSpc>
                <a:spcPts val="1550"/>
              </a:lnSpc>
              <a:buNone/>
            </a:pPr>
            <a:r>
              <a:rPr lang="en-US" sz="1100" dirty="0">
                <a:solidFill>
                  <a:srgbClr val="AEBACA"/>
                </a:solidFill>
                <a:latin typeface="Calibri" pitchFamily="34" charset="0"/>
                <a:ea typeface="Calibri" pitchFamily="34" charset="-122"/>
                <a:cs typeface="Calibri" pitchFamily="34" charset="-120"/>
              </a:rPr>
              <a:t>The OPEC embargo sets the template: a producer group converts a commodity into diplomatic leverage, and importing states answer with strategic reserves and a new agency to coordinate them — the IEA.</a:t>
            </a:r>
            <a:endParaRPr lang="en-US" sz="1100" dirty="0"/>
          </a:p>
        </p:txBody>
      </p:sp>
      <p:sp>
        <p:nvSpPr>
          <p:cNvPr id="8" name="Shape 6"/>
          <p:cNvSpPr/>
          <p:nvPr/>
        </p:nvSpPr>
        <p:spPr>
          <a:xfrm>
            <a:off x="3432018" y="1371600"/>
            <a:ext cx="2535906" cy="3529584"/>
          </a:xfrm>
          <a:prstGeom prst="roundRect">
            <a:avLst>
              <a:gd name="adj" fmla="val 2163"/>
            </a:avLst>
          </a:prstGeom>
          <a:solidFill>
            <a:srgbClr val="222B36"/>
          </a:solidFill>
          <a:ln w="9525">
            <a:solidFill>
              <a:srgbClr val="222B36"/>
            </a:solidFill>
            <a:prstDash val="solid"/>
          </a:ln>
        </p:spPr>
      </p:sp>
      <p:sp>
        <p:nvSpPr>
          <p:cNvPr id="9" name="Text 7"/>
          <p:cNvSpPr/>
          <p:nvPr/>
        </p:nvSpPr>
        <p:spPr>
          <a:xfrm>
            <a:off x="3669762" y="1591056"/>
            <a:ext cx="2060418" cy="402336"/>
          </a:xfrm>
          <a:prstGeom prst="rect">
            <a:avLst/>
          </a:prstGeom>
          <a:noFill/>
          <a:ln/>
        </p:spPr>
        <p:txBody>
          <a:bodyPr wrap="square" lIns="0" tIns="0" rIns="0" bIns="0" rtlCol="0" anchor="t"/>
          <a:lstStyle/>
          <a:p>
            <a:pPr indent="0" marL="0">
              <a:buNone/>
            </a:pPr>
            <a:r>
              <a:rPr lang="en-US" sz="2400" b="1" dirty="0">
                <a:solidFill>
                  <a:srgbClr val="E39A5C"/>
                </a:solidFill>
                <a:latin typeface="Cambria" pitchFamily="34" charset="0"/>
                <a:ea typeface="Cambria" pitchFamily="34" charset="-122"/>
                <a:cs typeface="Cambria" pitchFamily="34" charset="-120"/>
              </a:rPr>
              <a:t>2010</a:t>
            </a:r>
            <a:endParaRPr lang="en-US" sz="2400" dirty="0"/>
          </a:p>
        </p:txBody>
      </p:sp>
      <p:sp>
        <p:nvSpPr>
          <p:cNvPr id="10" name="Text 8"/>
          <p:cNvSpPr/>
          <p:nvPr/>
        </p:nvSpPr>
        <p:spPr>
          <a:xfrm>
            <a:off x="3669762" y="2066544"/>
            <a:ext cx="2060418" cy="566928"/>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The rare-earth signal</a:t>
            </a:r>
            <a:endParaRPr lang="en-US" sz="1500" dirty="0"/>
          </a:p>
        </p:txBody>
      </p:sp>
      <p:sp>
        <p:nvSpPr>
          <p:cNvPr id="11" name="Text 9"/>
          <p:cNvSpPr/>
          <p:nvPr/>
        </p:nvSpPr>
        <p:spPr>
          <a:xfrm>
            <a:off x="3669762" y="2688336"/>
            <a:ext cx="2060418" cy="2103120"/>
          </a:xfrm>
          <a:prstGeom prst="rect">
            <a:avLst/>
          </a:prstGeom>
          <a:noFill/>
          <a:ln/>
        </p:spPr>
        <p:txBody>
          <a:bodyPr wrap="square" lIns="0" tIns="0" rIns="0" bIns="0" rtlCol="0" anchor="t"/>
          <a:lstStyle/>
          <a:p>
            <a:pPr indent="0" marL="0">
              <a:lnSpc>
                <a:spcPts val="1550"/>
              </a:lnSpc>
              <a:buNone/>
            </a:pPr>
            <a:r>
              <a:rPr lang="en-US" sz="1100" dirty="0">
                <a:solidFill>
                  <a:srgbClr val="AEBACA"/>
                </a:solidFill>
                <a:latin typeface="Calibri" pitchFamily="34" charset="0"/>
                <a:ea typeface="Calibri" pitchFamily="34" charset="-122"/>
                <a:cs typeface="Calibri" pitchFamily="34" charset="-120"/>
              </a:rPr>
              <a:t>Amid a maritime dispute with Japan, Chinese rare-earth shipments are disrupted. Prices spike, then collapse. Two lessons land at once: the leverage is real, and using it accelerates the search for alternatives.</a:t>
            </a:r>
            <a:endParaRPr lang="en-US" sz="1100" dirty="0"/>
          </a:p>
        </p:txBody>
      </p:sp>
      <p:sp>
        <p:nvSpPr>
          <p:cNvPr id="12" name="Shape 10"/>
          <p:cNvSpPr/>
          <p:nvPr/>
        </p:nvSpPr>
        <p:spPr>
          <a:xfrm>
            <a:off x="6223955" y="1371600"/>
            <a:ext cx="2535906" cy="3529584"/>
          </a:xfrm>
          <a:prstGeom prst="roundRect">
            <a:avLst>
              <a:gd name="adj" fmla="val 2163"/>
            </a:avLst>
          </a:prstGeom>
          <a:solidFill>
            <a:srgbClr val="222B36"/>
          </a:solidFill>
          <a:ln w="9525">
            <a:solidFill>
              <a:srgbClr val="222B36"/>
            </a:solidFill>
            <a:prstDash val="solid"/>
          </a:ln>
        </p:spPr>
      </p:sp>
      <p:sp>
        <p:nvSpPr>
          <p:cNvPr id="13" name="Text 11"/>
          <p:cNvSpPr/>
          <p:nvPr/>
        </p:nvSpPr>
        <p:spPr>
          <a:xfrm>
            <a:off x="6461699" y="1591056"/>
            <a:ext cx="2060418" cy="402336"/>
          </a:xfrm>
          <a:prstGeom prst="rect">
            <a:avLst/>
          </a:prstGeom>
          <a:noFill/>
          <a:ln/>
        </p:spPr>
        <p:txBody>
          <a:bodyPr wrap="square" lIns="0" tIns="0" rIns="0" bIns="0" rtlCol="0" anchor="t"/>
          <a:lstStyle/>
          <a:p>
            <a:pPr indent="0" marL="0">
              <a:buNone/>
            </a:pPr>
            <a:r>
              <a:rPr lang="en-US" sz="2400" b="1" dirty="0">
                <a:solidFill>
                  <a:srgbClr val="E39A5C"/>
                </a:solidFill>
                <a:latin typeface="Cambria" pitchFamily="34" charset="0"/>
                <a:ea typeface="Cambria" pitchFamily="34" charset="-122"/>
                <a:cs typeface="Cambria" pitchFamily="34" charset="-120"/>
              </a:rPr>
              <a:t>2020</a:t>
            </a:r>
            <a:endParaRPr lang="en-US" sz="2400" dirty="0"/>
          </a:p>
        </p:txBody>
      </p:sp>
      <p:sp>
        <p:nvSpPr>
          <p:cNvPr id="14" name="Text 12"/>
          <p:cNvSpPr/>
          <p:nvPr/>
        </p:nvSpPr>
        <p:spPr>
          <a:xfrm>
            <a:off x="6461699" y="2066544"/>
            <a:ext cx="2060418" cy="566928"/>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The producer answer</a:t>
            </a:r>
            <a:endParaRPr lang="en-US" sz="1500" dirty="0"/>
          </a:p>
        </p:txBody>
      </p:sp>
      <p:sp>
        <p:nvSpPr>
          <p:cNvPr id="15" name="Text 13"/>
          <p:cNvSpPr/>
          <p:nvPr/>
        </p:nvSpPr>
        <p:spPr>
          <a:xfrm>
            <a:off x="6461699" y="2688336"/>
            <a:ext cx="2060418" cy="2103120"/>
          </a:xfrm>
          <a:prstGeom prst="rect">
            <a:avLst/>
          </a:prstGeom>
          <a:noFill/>
          <a:ln/>
        </p:spPr>
        <p:txBody>
          <a:bodyPr wrap="square" lIns="0" tIns="0" rIns="0" bIns="0" rtlCol="0" anchor="t"/>
          <a:lstStyle/>
          <a:p>
            <a:pPr indent="0" marL="0">
              <a:lnSpc>
                <a:spcPts val="1550"/>
              </a:lnSpc>
              <a:buNone/>
            </a:pPr>
            <a:r>
              <a:rPr lang="en-US" sz="1100" dirty="0">
                <a:solidFill>
                  <a:srgbClr val="AEBACA"/>
                </a:solidFill>
                <a:latin typeface="Calibri" pitchFamily="34" charset="0"/>
                <a:ea typeface="Calibri" pitchFamily="34" charset="-122"/>
                <a:cs typeface="Calibri" pitchFamily="34" charset="-120"/>
              </a:rPr>
              <a:t>Indonesia bans exports of unprocessed nickel ore, forcing smelting onshore. The WTO rules against it; Indonesia appeals into a paralysed Appellate Body and keeps the policy. Value addition beats legal compliance.</a:t>
            </a:r>
            <a:endParaRPr lang="en-US" sz="1100" dirty="0"/>
          </a:p>
        </p:txBody>
      </p:sp>
      <p:sp>
        <p:nvSpPr>
          <p:cNvPr id="16" name="Shape 14"/>
          <p:cNvSpPr/>
          <p:nvPr/>
        </p:nvSpPr>
        <p:spPr>
          <a:xfrm>
            <a:off x="9015893" y="1371600"/>
            <a:ext cx="2535906" cy="3529584"/>
          </a:xfrm>
          <a:prstGeom prst="roundRect">
            <a:avLst>
              <a:gd name="adj" fmla="val 2163"/>
            </a:avLst>
          </a:prstGeom>
          <a:solidFill>
            <a:srgbClr val="222B36"/>
          </a:solidFill>
          <a:ln w="9525">
            <a:solidFill>
              <a:srgbClr val="222B36"/>
            </a:solidFill>
            <a:prstDash val="solid"/>
          </a:ln>
        </p:spPr>
      </p:sp>
      <p:sp>
        <p:nvSpPr>
          <p:cNvPr id="17" name="Text 15"/>
          <p:cNvSpPr/>
          <p:nvPr/>
        </p:nvSpPr>
        <p:spPr>
          <a:xfrm>
            <a:off x="9253637" y="1591056"/>
            <a:ext cx="2060418" cy="402336"/>
          </a:xfrm>
          <a:prstGeom prst="rect">
            <a:avLst/>
          </a:prstGeom>
          <a:noFill/>
          <a:ln/>
        </p:spPr>
        <p:txBody>
          <a:bodyPr wrap="square" lIns="0" tIns="0" rIns="0" bIns="0" rtlCol="0" anchor="t"/>
          <a:lstStyle/>
          <a:p>
            <a:pPr indent="0" marL="0">
              <a:buNone/>
            </a:pPr>
            <a:r>
              <a:rPr lang="en-US" sz="2400" b="1" dirty="0">
                <a:solidFill>
                  <a:srgbClr val="E39A5C"/>
                </a:solidFill>
                <a:latin typeface="Cambria" pitchFamily="34" charset="0"/>
                <a:ea typeface="Cambria" pitchFamily="34" charset="-122"/>
                <a:cs typeface="Cambria" pitchFamily="34" charset="-120"/>
              </a:rPr>
              <a:t>2024–25</a:t>
            </a:r>
            <a:endParaRPr lang="en-US" sz="2400" dirty="0"/>
          </a:p>
        </p:txBody>
      </p:sp>
      <p:sp>
        <p:nvSpPr>
          <p:cNvPr id="18" name="Text 16"/>
          <p:cNvSpPr/>
          <p:nvPr/>
        </p:nvSpPr>
        <p:spPr>
          <a:xfrm>
            <a:off x="9253637" y="2066544"/>
            <a:ext cx="2060418" cy="566928"/>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Architecture, not episode</a:t>
            </a:r>
            <a:endParaRPr lang="en-US" sz="1500" dirty="0"/>
          </a:p>
        </p:txBody>
      </p:sp>
      <p:sp>
        <p:nvSpPr>
          <p:cNvPr id="19" name="Text 17"/>
          <p:cNvSpPr/>
          <p:nvPr/>
        </p:nvSpPr>
        <p:spPr>
          <a:xfrm>
            <a:off x="9253637" y="2688336"/>
            <a:ext cx="2060418" cy="2103120"/>
          </a:xfrm>
          <a:prstGeom prst="rect">
            <a:avLst/>
          </a:prstGeom>
          <a:noFill/>
          <a:ln/>
        </p:spPr>
        <p:txBody>
          <a:bodyPr wrap="square" lIns="0" tIns="0" rIns="0" bIns="0" rtlCol="0" anchor="t"/>
          <a:lstStyle/>
          <a:p>
            <a:pPr indent="0" marL="0">
              <a:lnSpc>
                <a:spcPts val="1550"/>
              </a:lnSpc>
              <a:buNone/>
            </a:pPr>
            <a:r>
              <a:rPr lang="en-US" sz="1100" dirty="0">
                <a:solidFill>
                  <a:srgbClr val="AEBACA"/>
                </a:solidFill>
                <a:latin typeface="Calibri" pitchFamily="34" charset="0"/>
                <a:ea typeface="Calibri" pitchFamily="34" charset="-122"/>
                <a:cs typeface="Calibri" pitchFamily="34" charset="-120"/>
              </a:rPr>
              <a:t>China moves from ad hoc restriction to a standing licensing system covering gallium, germanium, antimony, graphite and heavy rare earths — with extraterritorial reach modelled on US export-control law.</a:t>
            </a:r>
            <a:endParaRPr lang="en-US" sz="1100" dirty="0"/>
          </a:p>
        </p:txBody>
      </p:sp>
      <p:sp>
        <p:nvSpPr>
          <p:cNvPr id="20" name="Shape 18"/>
          <p:cNvSpPr/>
          <p:nvPr/>
        </p:nvSpPr>
        <p:spPr>
          <a:xfrm>
            <a:off x="640080" y="5175504"/>
            <a:ext cx="10911535" cy="822960"/>
          </a:xfrm>
          <a:prstGeom prst="roundRect">
            <a:avLst>
              <a:gd name="adj" fmla="val 6667"/>
            </a:avLst>
          </a:prstGeom>
          <a:solidFill>
            <a:srgbClr val="222B36"/>
          </a:solidFill>
          <a:ln w="9525">
            <a:solidFill>
              <a:srgbClr val="222B36"/>
            </a:solidFill>
            <a:prstDash val="solid"/>
          </a:ln>
        </p:spPr>
      </p:sp>
      <p:sp>
        <p:nvSpPr>
          <p:cNvPr id="21" name="Text 19"/>
          <p:cNvSpPr/>
          <p:nvPr/>
        </p:nvSpPr>
        <p:spPr>
          <a:xfrm>
            <a:off x="1024128" y="5394960"/>
            <a:ext cx="10143439" cy="402336"/>
          </a:xfrm>
          <a:prstGeom prst="rect">
            <a:avLst/>
          </a:prstGeom>
          <a:noFill/>
          <a:ln/>
        </p:spPr>
        <p:txBody>
          <a:bodyPr wrap="square" lIns="0" tIns="0" rIns="0" bIns="0" rtlCol="0" anchor="t"/>
          <a:lstStyle/>
          <a:p>
            <a:pPr indent="0" marL="0">
              <a:buNone/>
            </a:pPr>
            <a:r>
              <a:rPr lang="en-US" sz="1450" i="1" dirty="0">
                <a:solidFill>
                  <a:srgbClr val="E39A5C"/>
                </a:solidFill>
                <a:latin typeface="Cambria" pitchFamily="34" charset="0"/>
                <a:ea typeface="Cambria" pitchFamily="34" charset="-122"/>
                <a:cs typeface="Cambria" pitchFamily="34" charset="-120"/>
              </a:rPr>
              <a:t>The pattern across all four: leverage is exercised at whichever stage of the chain is hardest to duplicate — and that stage keeps moving.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THE CURRENT GLOBAL SITUATION</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One supplier, most of the world’s capacity</a:t>
            </a:r>
            <a:endParaRPr lang="en-US" sz="3000" dirty="0"/>
          </a:p>
        </p:txBody>
      </p:sp>
      <p:sp>
        <p:nvSpPr>
          <p:cNvPr id="4" name="Text 2"/>
          <p:cNvSpPr/>
          <p:nvPr/>
        </p:nvSpPr>
        <p:spPr>
          <a:xfrm>
            <a:off x="640080" y="1243584"/>
            <a:ext cx="6949440" cy="274320"/>
          </a:xfrm>
          <a:prstGeom prst="rect">
            <a:avLst/>
          </a:prstGeom>
          <a:noFill/>
          <a:ln/>
        </p:spPr>
        <p:txBody>
          <a:bodyPr wrap="square" lIns="0" tIns="0" rIns="0" bIns="0" rtlCol="0" anchor="t"/>
          <a:lstStyle/>
          <a:p>
            <a:pPr indent="0" marL="0">
              <a:buNone/>
            </a:pPr>
            <a:r>
              <a:rPr lang="en-US" sz="1250" dirty="0">
                <a:solidFill>
                  <a:srgbClr val="69737F"/>
                </a:solidFill>
                <a:latin typeface="Calibri" pitchFamily="34" charset="0"/>
                <a:ea typeface="Calibri" pitchFamily="34" charset="-122"/>
                <a:cs typeface="Calibri" pitchFamily="34" charset="-120"/>
              </a:rPr>
              <a:t>Share of global refined output held by the single largest supplier, 2025</a:t>
            </a:r>
            <a:endParaRPr lang="en-US" sz="1250" dirty="0"/>
          </a:p>
        </p:txBody>
      </p:sp>
      <p:graphicFrame>
        <p:nvGraphicFramePr>
          <p:cNvPr id="5" name="Chart 0" descr=""/>
          <p:cNvGraphicFramePr/>
          <p:nvPr/>
        </p:nvGraphicFramePr>
        <p:xfrm>
          <a:off x="530352" y="155448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73568" y="1554480"/>
            <a:ext cx="3575304" cy="1371600"/>
          </a:xfrm>
          <a:prstGeom prst="roundRect">
            <a:avLst>
              <a:gd name="adj" fmla="val 4000"/>
            </a:avLst>
          </a:prstGeom>
          <a:solidFill>
            <a:srgbClr val="F1F3F5"/>
          </a:solidFill>
          <a:ln w="9525">
            <a:solidFill>
              <a:srgbClr val="DFE4E9"/>
            </a:solidFill>
            <a:prstDash val="solid"/>
          </a:ln>
        </p:spPr>
      </p:sp>
      <p:sp>
        <p:nvSpPr>
          <p:cNvPr id="7" name="Text 4"/>
          <p:cNvSpPr/>
          <p:nvPr/>
        </p:nvSpPr>
        <p:spPr>
          <a:xfrm>
            <a:off x="8229600" y="1682496"/>
            <a:ext cx="3108960" cy="310896"/>
          </a:xfrm>
          <a:prstGeom prst="rect">
            <a:avLst/>
          </a:prstGeom>
          <a:noFill/>
          <a:ln/>
        </p:spPr>
        <p:txBody>
          <a:bodyPr wrap="square" lIns="0" tIns="0" rIns="0" bIns="0" rtlCol="0" anchor="t"/>
          <a:lstStyle/>
          <a:p>
            <a:pPr indent="0" marL="0">
              <a:buNone/>
            </a:pPr>
            <a:r>
              <a:rPr lang="en-US" sz="1700" b="1" dirty="0">
                <a:solidFill>
                  <a:srgbClr val="BE5F26"/>
                </a:solidFill>
                <a:latin typeface="Cambria" pitchFamily="34" charset="0"/>
                <a:ea typeface="Cambria" pitchFamily="34" charset="-122"/>
                <a:cs typeface="Cambria" pitchFamily="34" charset="-120"/>
              </a:rPr>
              <a:t>70%</a:t>
            </a:r>
            <a:endParaRPr lang="en-US" sz="1700" dirty="0"/>
          </a:p>
        </p:txBody>
      </p:sp>
      <p:sp>
        <p:nvSpPr>
          <p:cNvPr id="8" name="Text 5"/>
          <p:cNvSpPr/>
          <p:nvPr/>
        </p:nvSpPr>
        <p:spPr>
          <a:xfrm>
            <a:off x="8229600" y="2029968"/>
            <a:ext cx="3108960" cy="841248"/>
          </a:xfrm>
          <a:prstGeom prst="rect">
            <a:avLst/>
          </a:prstGeom>
          <a:noFill/>
          <a:ln/>
        </p:spPr>
        <p:txBody>
          <a:bodyPr wrap="square" lIns="0" tIns="0" rIns="0" bIns="0" rtlCol="0" anchor="t"/>
          <a:lstStyle/>
          <a:p>
            <a:pPr indent="0" marL="0">
              <a:lnSpc>
                <a:spcPts val="1400"/>
              </a:lnSpc>
              <a:buNone/>
            </a:pPr>
            <a:r>
              <a:rPr lang="en-US" sz="1050" dirty="0">
                <a:solidFill>
                  <a:srgbClr val="69737F"/>
                </a:solidFill>
                <a:latin typeface="Calibri" pitchFamily="34" charset="0"/>
                <a:ea typeface="Calibri" pitchFamily="34" charset="-122"/>
                <a:cs typeface="Calibri" pitchFamily="34" charset="-120"/>
              </a:rPr>
              <a:t>Average share held by the top refining country across energy minerals in 2025 — up from 68% in 2020. Concentration is still rising.</a:t>
            </a:r>
            <a:endParaRPr lang="en-US" sz="1050" dirty="0"/>
          </a:p>
        </p:txBody>
      </p:sp>
      <p:sp>
        <p:nvSpPr>
          <p:cNvPr id="9" name="Shape 6"/>
          <p:cNvSpPr/>
          <p:nvPr/>
        </p:nvSpPr>
        <p:spPr>
          <a:xfrm>
            <a:off x="7973568" y="3072384"/>
            <a:ext cx="3575304" cy="1371600"/>
          </a:xfrm>
          <a:prstGeom prst="roundRect">
            <a:avLst>
              <a:gd name="adj" fmla="val 4000"/>
            </a:avLst>
          </a:prstGeom>
          <a:solidFill>
            <a:srgbClr val="F1F3F5"/>
          </a:solidFill>
          <a:ln w="9525">
            <a:solidFill>
              <a:srgbClr val="DFE4E9"/>
            </a:solidFill>
            <a:prstDash val="solid"/>
          </a:ln>
        </p:spPr>
      </p:sp>
      <p:sp>
        <p:nvSpPr>
          <p:cNvPr id="10" name="Text 7"/>
          <p:cNvSpPr/>
          <p:nvPr/>
        </p:nvSpPr>
        <p:spPr>
          <a:xfrm>
            <a:off x="8229600" y="3200400"/>
            <a:ext cx="3108960" cy="310896"/>
          </a:xfrm>
          <a:prstGeom prst="rect">
            <a:avLst/>
          </a:prstGeom>
          <a:noFill/>
          <a:ln/>
        </p:spPr>
        <p:txBody>
          <a:bodyPr wrap="square" lIns="0" tIns="0" rIns="0" bIns="0" rtlCol="0" anchor="t"/>
          <a:lstStyle/>
          <a:p>
            <a:pPr indent="0" marL="0">
              <a:buNone/>
            </a:pPr>
            <a:r>
              <a:rPr lang="en-US" sz="1700" b="1" dirty="0">
                <a:solidFill>
                  <a:srgbClr val="BE5F26"/>
                </a:solidFill>
                <a:latin typeface="Cambria" pitchFamily="34" charset="0"/>
                <a:ea typeface="Cambria" pitchFamily="34" charset="-122"/>
                <a:cs typeface="Cambria" pitchFamily="34" charset="-120"/>
              </a:rPr>
              <a:t>Midstream</a:t>
            </a:r>
            <a:endParaRPr lang="en-US" sz="1700" dirty="0"/>
          </a:p>
        </p:txBody>
      </p:sp>
      <p:sp>
        <p:nvSpPr>
          <p:cNvPr id="11" name="Text 8"/>
          <p:cNvSpPr/>
          <p:nvPr/>
        </p:nvSpPr>
        <p:spPr>
          <a:xfrm>
            <a:off x="8229600" y="3547872"/>
            <a:ext cx="3108960" cy="841248"/>
          </a:xfrm>
          <a:prstGeom prst="rect">
            <a:avLst/>
          </a:prstGeom>
          <a:noFill/>
          <a:ln/>
        </p:spPr>
        <p:txBody>
          <a:bodyPr wrap="square" lIns="0" tIns="0" rIns="0" bIns="0" rtlCol="0" anchor="t"/>
          <a:lstStyle/>
          <a:p>
            <a:pPr indent="0" marL="0">
              <a:lnSpc>
                <a:spcPts val="1400"/>
              </a:lnSpc>
              <a:buNone/>
            </a:pPr>
            <a:r>
              <a:rPr lang="en-US" sz="1050" dirty="0">
                <a:solidFill>
                  <a:srgbClr val="69737F"/>
                </a:solidFill>
                <a:latin typeface="Calibri" pitchFamily="34" charset="0"/>
                <a:ea typeface="Calibri" pitchFamily="34" charset="-122"/>
                <a:cs typeface="Calibri" pitchFamily="34" charset="-120"/>
              </a:rPr>
              <a:t>For most of these minerals the country that refines is not the country that mines. Congolese cobalt and Australian lithium are overwhelmingly processed in China.</a:t>
            </a:r>
            <a:endParaRPr lang="en-US" sz="1050" dirty="0"/>
          </a:p>
        </p:txBody>
      </p:sp>
      <p:sp>
        <p:nvSpPr>
          <p:cNvPr id="12" name="Shape 9"/>
          <p:cNvSpPr/>
          <p:nvPr/>
        </p:nvSpPr>
        <p:spPr>
          <a:xfrm>
            <a:off x="7973568" y="4590288"/>
            <a:ext cx="3575304" cy="1371600"/>
          </a:xfrm>
          <a:prstGeom prst="roundRect">
            <a:avLst>
              <a:gd name="adj" fmla="val 4000"/>
            </a:avLst>
          </a:prstGeom>
          <a:solidFill>
            <a:srgbClr val="F1F3F5"/>
          </a:solidFill>
          <a:ln w="9525">
            <a:solidFill>
              <a:srgbClr val="DFE4E9"/>
            </a:solidFill>
            <a:prstDash val="solid"/>
          </a:ln>
        </p:spPr>
      </p:sp>
      <p:sp>
        <p:nvSpPr>
          <p:cNvPr id="13" name="Text 10"/>
          <p:cNvSpPr/>
          <p:nvPr/>
        </p:nvSpPr>
        <p:spPr>
          <a:xfrm>
            <a:off x="8229600" y="4718304"/>
            <a:ext cx="3108960" cy="310896"/>
          </a:xfrm>
          <a:prstGeom prst="rect">
            <a:avLst/>
          </a:prstGeom>
          <a:noFill/>
          <a:ln/>
        </p:spPr>
        <p:txBody>
          <a:bodyPr wrap="square" lIns="0" tIns="0" rIns="0" bIns="0" rtlCol="0" anchor="t"/>
          <a:lstStyle/>
          <a:p>
            <a:pPr indent="0" marL="0">
              <a:buNone/>
            </a:pPr>
            <a:r>
              <a:rPr lang="en-US" sz="1700" b="1" dirty="0">
                <a:solidFill>
                  <a:srgbClr val="BE5F26"/>
                </a:solidFill>
                <a:latin typeface="Cambria" pitchFamily="34" charset="0"/>
                <a:ea typeface="Cambria" pitchFamily="34" charset="-122"/>
                <a:cs typeface="Cambria" pitchFamily="34" charset="-120"/>
              </a:rPr>
              <a:t>Fragile by design</a:t>
            </a:r>
            <a:endParaRPr lang="en-US" sz="1700" dirty="0"/>
          </a:p>
        </p:txBody>
      </p:sp>
      <p:sp>
        <p:nvSpPr>
          <p:cNvPr id="14" name="Text 11"/>
          <p:cNvSpPr/>
          <p:nvPr/>
        </p:nvSpPr>
        <p:spPr>
          <a:xfrm>
            <a:off x="8229600" y="5065776"/>
            <a:ext cx="3108960" cy="841248"/>
          </a:xfrm>
          <a:prstGeom prst="rect">
            <a:avLst/>
          </a:prstGeom>
          <a:noFill/>
          <a:ln/>
        </p:spPr>
        <p:txBody>
          <a:bodyPr wrap="square" lIns="0" tIns="0" rIns="0" bIns="0" rtlCol="0" anchor="t"/>
          <a:lstStyle/>
          <a:p>
            <a:pPr indent="0" marL="0">
              <a:lnSpc>
                <a:spcPts val="1400"/>
              </a:lnSpc>
              <a:buNone/>
            </a:pPr>
            <a:r>
              <a:rPr lang="en-US" sz="1050" dirty="0">
                <a:solidFill>
                  <a:srgbClr val="69737F"/>
                </a:solidFill>
                <a:latin typeface="Calibri" pitchFamily="34" charset="0"/>
                <a:ea typeface="Calibri" pitchFamily="34" charset="-122"/>
                <a:cs typeface="Calibri" pitchFamily="34" charset="-120"/>
              </a:rPr>
              <a:t>This is not an accident of geology. It is the result of two decades in which processing was treated as a low-margin, high-pollution activity best located elsewhere.</a:t>
            </a:r>
            <a:endParaRPr lang="en-US" sz="1050" dirty="0"/>
          </a:p>
        </p:txBody>
      </p:sp>
      <p:sp>
        <p:nvSpPr>
          <p:cNvPr id="15" name="Text 12"/>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 IEA, Global Critical Minerals Outlook 2026; CSIS on gallium. Figures are approximate shares of refined or processed output.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ANALYSIS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The chokepoint is the midstream, not the mine</a:t>
            </a:r>
            <a:endParaRPr lang="en-US" sz="3000" dirty="0"/>
          </a:p>
        </p:txBody>
      </p:sp>
      <p:sp>
        <p:nvSpPr>
          <p:cNvPr id="4" name="Shape 2"/>
          <p:cNvSpPr/>
          <p:nvPr/>
        </p:nvSpPr>
        <p:spPr>
          <a:xfrm>
            <a:off x="640080" y="1389888"/>
            <a:ext cx="2535906" cy="2670048"/>
          </a:xfrm>
          <a:prstGeom prst="roundRect">
            <a:avLst>
              <a:gd name="adj" fmla="val 2163"/>
            </a:avLst>
          </a:prstGeom>
          <a:solidFill>
            <a:srgbClr val="F1F3F5"/>
          </a:solidFill>
          <a:ln w="9525">
            <a:solidFill>
              <a:srgbClr val="DFE4E9"/>
            </a:solidFill>
            <a:prstDash val="solid"/>
          </a:ln>
        </p:spPr>
      </p:sp>
      <p:sp>
        <p:nvSpPr>
          <p:cNvPr id="5" name="Text 3"/>
          <p:cNvSpPr/>
          <p:nvPr/>
        </p:nvSpPr>
        <p:spPr>
          <a:xfrm>
            <a:off x="877824" y="1572768"/>
            <a:ext cx="2060418" cy="256032"/>
          </a:xfrm>
          <a:prstGeom prst="rect">
            <a:avLst/>
          </a:prstGeom>
          <a:noFill/>
          <a:ln/>
        </p:spPr>
        <p:txBody>
          <a:bodyPr wrap="square" lIns="0" tIns="0" rIns="0" bIns="0" rtlCol="0" anchor="t"/>
          <a:lstStyle/>
          <a:p>
            <a:pPr indent="0" marL="0">
              <a:buNone/>
            </a:pPr>
            <a:r>
              <a:rPr lang="en-US" sz="1100" b="1" spc="160" kern="0" dirty="0">
                <a:solidFill>
                  <a:srgbClr val="69737F"/>
                </a:solidFill>
                <a:latin typeface="Calibri" pitchFamily="34" charset="0"/>
                <a:ea typeface="Calibri" pitchFamily="34" charset="-122"/>
                <a:cs typeface="Calibri" pitchFamily="34" charset="-120"/>
              </a:rPr>
              <a:t>EXTRACTION</a:t>
            </a:r>
            <a:endParaRPr lang="en-US" sz="1100" dirty="0"/>
          </a:p>
        </p:txBody>
      </p:sp>
      <p:sp>
        <p:nvSpPr>
          <p:cNvPr id="6" name="Text 4"/>
          <p:cNvSpPr/>
          <p:nvPr/>
        </p:nvSpPr>
        <p:spPr>
          <a:xfrm>
            <a:off x="877824" y="1865376"/>
            <a:ext cx="2060418" cy="548640"/>
          </a:xfrm>
          <a:prstGeom prst="rect">
            <a:avLst/>
          </a:prstGeom>
          <a:noFill/>
          <a:ln/>
        </p:spPr>
        <p:txBody>
          <a:bodyPr wrap="square" lIns="0" tIns="0" rIns="0" bIns="0" rtlCol="0" anchor="t"/>
          <a:lstStyle/>
          <a:p>
            <a:pPr indent="0" marL="0">
              <a:lnSpc>
                <a:spcPts val="1900"/>
              </a:lnSpc>
              <a:buNone/>
            </a:pPr>
            <a:r>
              <a:rPr lang="en-US" sz="1500" b="1" dirty="0">
                <a:solidFill>
                  <a:srgbClr val="15191F"/>
                </a:solidFill>
                <a:latin typeface="Cambria" pitchFamily="34" charset="0"/>
                <a:ea typeface="Cambria" pitchFamily="34" charset="-122"/>
                <a:cs typeface="Cambria" pitchFamily="34" charset="-120"/>
              </a:rPr>
              <a:t>Geologically dispersed</a:t>
            </a:r>
            <a:endParaRPr lang="en-US" sz="1500" dirty="0"/>
          </a:p>
        </p:txBody>
      </p:sp>
      <p:sp>
        <p:nvSpPr>
          <p:cNvPr id="7" name="Text 5"/>
          <p:cNvSpPr/>
          <p:nvPr/>
        </p:nvSpPr>
        <p:spPr>
          <a:xfrm>
            <a:off x="877824" y="2487168"/>
            <a:ext cx="2060418" cy="1691640"/>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Deposits exist across Africa, Latin America, Australia, Canada and Central Asia. No single state controls the ore.</a:t>
            </a:r>
            <a:endParaRPr lang="en-US" sz="1100" dirty="0"/>
          </a:p>
        </p:txBody>
      </p:sp>
      <p:sp>
        <p:nvSpPr>
          <p:cNvPr id="8" name="Shape 6"/>
          <p:cNvSpPr/>
          <p:nvPr/>
        </p:nvSpPr>
        <p:spPr>
          <a:xfrm>
            <a:off x="3203418" y="2615184"/>
            <a:ext cx="201168" cy="219456"/>
          </a:xfrm>
          <a:prstGeom prst="rightArrow">
            <a:avLst/>
          </a:prstGeom>
          <a:solidFill>
            <a:srgbClr val="BE5F26"/>
          </a:solidFill>
          <a:ln/>
        </p:spPr>
      </p:sp>
      <p:sp>
        <p:nvSpPr>
          <p:cNvPr id="9" name="Shape 7"/>
          <p:cNvSpPr/>
          <p:nvPr/>
        </p:nvSpPr>
        <p:spPr>
          <a:xfrm>
            <a:off x="3432018" y="1389888"/>
            <a:ext cx="2535906" cy="2670048"/>
          </a:xfrm>
          <a:prstGeom prst="roundRect">
            <a:avLst>
              <a:gd name="adj" fmla="val 2163"/>
            </a:avLst>
          </a:prstGeom>
          <a:solidFill>
            <a:srgbClr val="15191F"/>
          </a:solidFill>
          <a:ln w="9525">
            <a:solidFill>
              <a:srgbClr val="15191F"/>
            </a:solidFill>
            <a:prstDash val="solid"/>
          </a:ln>
        </p:spPr>
      </p:sp>
      <p:sp>
        <p:nvSpPr>
          <p:cNvPr id="10" name="Text 8"/>
          <p:cNvSpPr/>
          <p:nvPr/>
        </p:nvSpPr>
        <p:spPr>
          <a:xfrm>
            <a:off x="3669762" y="1572768"/>
            <a:ext cx="2060418" cy="256032"/>
          </a:xfrm>
          <a:prstGeom prst="rect">
            <a:avLst/>
          </a:prstGeom>
          <a:noFill/>
          <a:ln/>
        </p:spPr>
        <p:txBody>
          <a:bodyPr wrap="square" lIns="0" tIns="0" rIns="0" bIns="0" rtlCol="0" anchor="t"/>
          <a:lstStyle/>
          <a:p>
            <a:pPr indent="0" marL="0">
              <a:buNone/>
            </a:pPr>
            <a:r>
              <a:rPr lang="en-US" sz="1100" b="1" spc="160" kern="0" dirty="0">
                <a:solidFill>
                  <a:srgbClr val="E39A5C"/>
                </a:solidFill>
                <a:latin typeface="Calibri" pitchFamily="34" charset="0"/>
                <a:ea typeface="Calibri" pitchFamily="34" charset="-122"/>
                <a:cs typeface="Calibri" pitchFamily="34" charset="-120"/>
              </a:rPr>
              <a:t>REFINING</a:t>
            </a:r>
            <a:endParaRPr lang="en-US" sz="1100" dirty="0"/>
          </a:p>
        </p:txBody>
      </p:sp>
      <p:sp>
        <p:nvSpPr>
          <p:cNvPr id="11" name="Text 9"/>
          <p:cNvSpPr/>
          <p:nvPr/>
        </p:nvSpPr>
        <p:spPr>
          <a:xfrm>
            <a:off x="3669762" y="1865376"/>
            <a:ext cx="2060418" cy="548640"/>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Structurally concentrated</a:t>
            </a:r>
            <a:endParaRPr lang="en-US" sz="1500" dirty="0"/>
          </a:p>
        </p:txBody>
      </p:sp>
      <p:sp>
        <p:nvSpPr>
          <p:cNvPr id="12" name="Text 10"/>
          <p:cNvSpPr/>
          <p:nvPr/>
        </p:nvSpPr>
        <p:spPr>
          <a:xfrm>
            <a:off x="3669762" y="2487168"/>
            <a:ext cx="2060418" cy="1691640"/>
          </a:xfrm>
          <a:prstGeom prst="rect">
            <a:avLst/>
          </a:prstGeom>
          <a:noFill/>
          <a:ln/>
        </p:spPr>
        <p:txBody>
          <a:bodyPr wrap="square" lIns="0" tIns="0" rIns="0" bIns="0" rtlCol="0" anchor="t"/>
          <a:lstStyle/>
          <a:p>
            <a:pPr indent="0" marL="0">
              <a:lnSpc>
                <a:spcPts val="1500"/>
              </a:lnSpc>
              <a:buNone/>
            </a:pPr>
            <a:r>
              <a:rPr lang="en-US" sz="1100" dirty="0">
                <a:solidFill>
                  <a:srgbClr val="AEBACA"/>
                </a:solidFill>
                <a:latin typeface="Calibri" pitchFamily="34" charset="0"/>
                <a:ea typeface="Calibri" pitchFamily="34" charset="-122"/>
                <a:cs typeface="Calibri" pitchFamily="34" charset="-120"/>
              </a:rPr>
              <a:t>Separation chemistry is capital-heavy, pollution-intensive and slow to permit. One state built it at scale while others outsourced it.</a:t>
            </a:r>
            <a:endParaRPr lang="en-US" sz="1100" dirty="0"/>
          </a:p>
        </p:txBody>
      </p:sp>
      <p:sp>
        <p:nvSpPr>
          <p:cNvPr id="13" name="Shape 11"/>
          <p:cNvSpPr/>
          <p:nvPr/>
        </p:nvSpPr>
        <p:spPr>
          <a:xfrm>
            <a:off x="5995355" y="2615184"/>
            <a:ext cx="201168" cy="219456"/>
          </a:xfrm>
          <a:prstGeom prst="rightArrow">
            <a:avLst/>
          </a:prstGeom>
          <a:solidFill>
            <a:srgbClr val="BE5F26"/>
          </a:solidFill>
          <a:ln/>
        </p:spPr>
      </p:sp>
      <p:sp>
        <p:nvSpPr>
          <p:cNvPr id="14" name="Shape 12"/>
          <p:cNvSpPr/>
          <p:nvPr/>
        </p:nvSpPr>
        <p:spPr>
          <a:xfrm>
            <a:off x="6223955" y="1389888"/>
            <a:ext cx="2535906" cy="2670048"/>
          </a:xfrm>
          <a:prstGeom prst="roundRect">
            <a:avLst>
              <a:gd name="adj" fmla="val 2163"/>
            </a:avLst>
          </a:prstGeom>
          <a:solidFill>
            <a:srgbClr val="15191F"/>
          </a:solidFill>
          <a:ln w="9525">
            <a:solidFill>
              <a:srgbClr val="15191F"/>
            </a:solidFill>
            <a:prstDash val="solid"/>
          </a:ln>
        </p:spPr>
      </p:sp>
      <p:sp>
        <p:nvSpPr>
          <p:cNvPr id="15" name="Text 13"/>
          <p:cNvSpPr/>
          <p:nvPr/>
        </p:nvSpPr>
        <p:spPr>
          <a:xfrm>
            <a:off x="6461699" y="1572768"/>
            <a:ext cx="2060418" cy="256032"/>
          </a:xfrm>
          <a:prstGeom prst="rect">
            <a:avLst/>
          </a:prstGeom>
          <a:noFill/>
          <a:ln/>
        </p:spPr>
        <p:txBody>
          <a:bodyPr wrap="square" lIns="0" tIns="0" rIns="0" bIns="0" rtlCol="0" anchor="t"/>
          <a:lstStyle/>
          <a:p>
            <a:pPr indent="0" marL="0">
              <a:buNone/>
            </a:pPr>
            <a:r>
              <a:rPr lang="en-US" sz="1100" b="1" spc="160" kern="0" dirty="0">
                <a:solidFill>
                  <a:srgbClr val="E39A5C"/>
                </a:solidFill>
                <a:latin typeface="Calibri" pitchFamily="34" charset="0"/>
                <a:ea typeface="Calibri" pitchFamily="34" charset="-122"/>
                <a:cs typeface="Calibri" pitchFamily="34" charset="-120"/>
              </a:rPr>
              <a:t>COMPONENTS</a:t>
            </a:r>
            <a:endParaRPr lang="en-US" sz="1100" dirty="0"/>
          </a:p>
        </p:txBody>
      </p:sp>
      <p:sp>
        <p:nvSpPr>
          <p:cNvPr id="16" name="Text 14"/>
          <p:cNvSpPr/>
          <p:nvPr/>
        </p:nvSpPr>
        <p:spPr>
          <a:xfrm>
            <a:off x="6461699" y="1865376"/>
            <a:ext cx="2060418" cy="548640"/>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Concentrated and rising</a:t>
            </a:r>
            <a:endParaRPr lang="en-US" sz="1500" dirty="0"/>
          </a:p>
        </p:txBody>
      </p:sp>
      <p:sp>
        <p:nvSpPr>
          <p:cNvPr id="17" name="Text 15"/>
          <p:cNvSpPr/>
          <p:nvPr/>
        </p:nvSpPr>
        <p:spPr>
          <a:xfrm>
            <a:off x="6461699" y="2487168"/>
            <a:ext cx="2060418" cy="1691640"/>
          </a:xfrm>
          <a:prstGeom prst="rect">
            <a:avLst/>
          </a:prstGeom>
          <a:noFill/>
          <a:ln/>
        </p:spPr>
        <p:txBody>
          <a:bodyPr wrap="square" lIns="0" tIns="0" rIns="0" bIns="0" rtlCol="0" anchor="t"/>
          <a:lstStyle/>
          <a:p>
            <a:pPr indent="0" marL="0">
              <a:lnSpc>
                <a:spcPts val="1500"/>
              </a:lnSpc>
              <a:buNone/>
            </a:pPr>
            <a:r>
              <a:rPr lang="en-US" sz="1100" dirty="0">
                <a:solidFill>
                  <a:srgbClr val="AEBACA"/>
                </a:solidFill>
                <a:latin typeface="Calibri" pitchFamily="34" charset="0"/>
                <a:ea typeface="Calibri" pitchFamily="34" charset="-122"/>
                <a:cs typeface="Calibri" pitchFamily="34" charset="-120"/>
              </a:rPr>
              <a:t>Cathodes, anodes and permanent magnets sit even closer to a single supplier than refining does.</a:t>
            </a:r>
            <a:endParaRPr lang="en-US" sz="1100" dirty="0"/>
          </a:p>
        </p:txBody>
      </p:sp>
      <p:sp>
        <p:nvSpPr>
          <p:cNvPr id="18" name="Shape 16"/>
          <p:cNvSpPr/>
          <p:nvPr/>
        </p:nvSpPr>
        <p:spPr>
          <a:xfrm>
            <a:off x="8787293" y="2615184"/>
            <a:ext cx="201168" cy="219456"/>
          </a:xfrm>
          <a:prstGeom prst="rightArrow">
            <a:avLst/>
          </a:prstGeom>
          <a:solidFill>
            <a:srgbClr val="BE5F26"/>
          </a:solidFill>
          <a:ln/>
        </p:spPr>
      </p:sp>
      <p:sp>
        <p:nvSpPr>
          <p:cNvPr id="19" name="Shape 17"/>
          <p:cNvSpPr/>
          <p:nvPr/>
        </p:nvSpPr>
        <p:spPr>
          <a:xfrm>
            <a:off x="9015893" y="1389888"/>
            <a:ext cx="2535906" cy="2670048"/>
          </a:xfrm>
          <a:prstGeom prst="roundRect">
            <a:avLst>
              <a:gd name="adj" fmla="val 2163"/>
            </a:avLst>
          </a:prstGeom>
          <a:solidFill>
            <a:srgbClr val="F1F3F5"/>
          </a:solidFill>
          <a:ln w="9525">
            <a:solidFill>
              <a:srgbClr val="DFE4E9"/>
            </a:solidFill>
            <a:prstDash val="solid"/>
          </a:ln>
        </p:spPr>
      </p:sp>
      <p:sp>
        <p:nvSpPr>
          <p:cNvPr id="20" name="Text 18"/>
          <p:cNvSpPr/>
          <p:nvPr/>
        </p:nvSpPr>
        <p:spPr>
          <a:xfrm>
            <a:off x="9253637" y="1572768"/>
            <a:ext cx="2060418" cy="256032"/>
          </a:xfrm>
          <a:prstGeom prst="rect">
            <a:avLst/>
          </a:prstGeom>
          <a:noFill/>
          <a:ln/>
        </p:spPr>
        <p:txBody>
          <a:bodyPr wrap="square" lIns="0" tIns="0" rIns="0" bIns="0" rtlCol="0" anchor="t"/>
          <a:lstStyle/>
          <a:p>
            <a:pPr indent="0" marL="0">
              <a:buNone/>
            </a:pPr>
            <a:r>
              <a:rPr lang="en-US" sz="1100" b="1" spc="160" kern="0" dirty="0">
                <a:solidFill>
                  <a:srgbClr val="69737F"/>
                </a:solidFill>
                <a:latin typeface="Calibri" pitchFamily="34" charset="0"/>
                <a:ea typeface="Calibri" pitchFamily="34" charset="-122"/>
                <a:cs typeface="Calibri" pitchFamily="34" charset="-120"/>
              </a:rPr>
              <a:t>ASSEMBLY</a:t>
            </a:r>
            <a:endParaRPr lang="en-US" sz="1100" dirty="0"/>
          </a:p>
        </p:txBody>
      </p:sp>
      <p:sp>
        <p:nvSpPr>
          <p:cNvPr id="21" name="Text 19"/>
          <p:cNvSpPr/>
          <p:nvPr/>
        </p:nvSpPr>
        <p:spPr>
          <a:xfrm>
            <a:off x="9253637" y="1865376"/>
            <a:ext cx="2060418" cy="548640"/>
          </a:xfrm>
          <a:prstGeom prst="rect">
            <a:avLst/>
          </a:prstGeom>
          <a:noFill/>
          <a:ln/>
        </p:spPr>
        <p:txBody>
          <a:bodyPr wrap="square" lIns="0" tIns="0" rIns="0" bIns="0" rtlCol="0" anchor="t"/>
          <a:lstStyle/>
          <a:p>
            <a:pPr indent="0" marL="0">
              <a:lnSpc>
                <a:spcPts val="1900"/>
              </a:lnSpc>
              <a:buNone/>
            </a:pPr>
            <a:r>
              <a:rPr lang="en-US" sz="1500" b="1" dirty="0">
                <a:solidFill>
                  <a:srgbClr val="15191F"/>
                </a:solidFill>
                <a:latin typeface="Cambria" pitchFamily="34" charset="0"/>
                <a:ea typeface="Cambria" pitchFamily="34" charset="-122"/>
                <a:cs typeface="Cambria" pitchFamily="34" charset="-120"/>
              </a:rPr>
              <a:t>Widely distributed</a:t>
            </a:r>
            <a:endParaRPr lang="en-US" sz="1500" dirty="0"/>
          </a:p>
        </p:txBody>
      </p:sp>
      <p:sp>
        <p:nvSpPr>
          <p:cNvPr id="22" name="Text 20"/>
          <p:cNvSpPr/>
          <p:nvPr/>
        </p:nvSpPr>
        <p:spPr>
          <a:xfrm>
            <a:off x="9253637" y="2487168"/>
            <a:ext cx="2060418" cy="1691640"/>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Cars, turbines and electronics are assembled in many countries — which is precisely why an upstream restriction propagates so widely.</a:t>
            </a:r>
            <a:endParaRPr lang="en-US" sz="1100" dirty="0"/>
          </a:p>
        </p:txBody>
      </p:sp>
      <p:sp>
        <p:nvSpPr>
          <p:cNvPr id="23" name="Shape 21"/>
          <p:cNvSpPr/>
          <p:nvPr/>
        </p:nvSpPr>
        <p:spPr>
          <a:xfrm>
            <a:off x="640080" y="4370832"/>
            <a:ext cx="10911535" cy="1517904"/>
          </a:xfrm>
          <a:prstGeom prst="roundRect">
            <a:avLst>
              <a:gd name="adj" fmla="val 3614"/>
            </a:avLst>
          </a:prstGeom>
          <a:solidFill>
            <a:srgbClr val="F1F3F5"/>
          </a:solidFill>
          <a:ln w="9525">
            <a:solidFill>
              <a:srgbClr val="DFE4E9"/>
            </a:solidFill>
            <a:prstDash val="solid"/>
          </a:ln>
        </p:spPr>
      </p:sp>
      <p:sp>
        <p:nvSpPr>
          <p:cNvPr id="24" name="Text 22"/>
          <p:cNvSpPr/>
          <p:nvPr/>
        </p:nvSpPr>
        <p:spPr>
          <a:xfrm>
            <a:off x="1005840" y="4681728"/>
            <a:ext cx="3749040" cy="548640"/>
          </a:xfrm>
          <a:prstGeom prst="rect">
            <a:avLst/>
          </a:prstGeom>
          <a:noFill/>
          <a:ln/>
        </p:spPr>
        <p:txBody>
          <a:bodyPr wrap="square" lIns="0" tIns="0" rIns="0" bIns="0" rtlCol="0" anchor="t"/>
          <a:lstStyle/>
          <a:p>
            <a:pPr indent="0" marL="0">
              <a:lnSpc>
                <a:spcPts val="1900"/>
              </a:lnSpc>
              <a:buNone/>
            </a:pPr>
            <a:r>
              <a:rPr lang="en-US" sz="1450" b="1" dirty="0">
                <a:solidFill>
                  <a:srgbClr val="15191F"/>
                </a:solidFill>
                <a:latin typeface="Cambria" pitchFamily="34" charset="0"/>
                <a:ea typeface="Cambria" pitchFamily="34" charset="-122"/>
                <a:cs typeface="Cambria" pitchFamily="34" charset="-120"/>
              </a:rPr>
              <a:t>Why this distinction decides policy</a:t>
            </a:r>
            <a:endParaRPr lang="en-US" sz="1450" dirty="0"/>
          </a:p>
        </p:txBody>
      </p:sp>
      <p:sp>
        <p:nvSpPr>
          <p:cNvPr id="25" name="Text 23"/>
          <p:cNvSpPr/>
          <p:nvPr/>
        </p:nvSpPr>
        <p:spPr>
          <a:xfrm>
            <a:off x="4937760" y="4645152"/>
            <a:ext cx="6248095" cy="1005840"/>
          </a:xfrm>
          <a:prstGeom prst="rect">
            <a:avLst/>
          </a:prstGeom>
          <a:noFill/>
          <a:ln/>
        </p:spPr>
        <p:txBody>
          <a:bodyPr wrap="square" lIns="0" tIns="0" rIns="0" bIns="0" rtlCol="0" anchor="t"/>
          <a:lstStyle/>
          <a:p>
            <a:pPr indent="0" marL="0">
              <a:lnSpc>
                <a:spcPts val="1600"/>
              </a:lnSpc>
              <a:buNone/>
            </a:pPr>
            <a:r>
              <a:rPr lang="en-US" sz="1150" dirty="0">
                <a:solidFill>
                  <a:srgbClr val="69737F"/>
                </a:solidFill>
                <a:latin typeface="Calibri" pitchFamily="34" charset="0"/>
                <a:ea typeface="Calibri" pitchFamily="34" charset="-122"/>
                <a:cs typeface="Calibri" pitchFamily="34" charset="-120"/>
              </a:rPr>
              <a:t>A state that funds exploration but not processing has bought itself ore it still cannot use. Most Western mineral strategies of the past five years have been written at the wrong end of the chain — and the two stages that matter are the two with the worst environmental politics at home.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MAJOR ACTORS AND STAKEHOLDERS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Who sits at the table — and who does not</a:t>
            </a:r>
            <a:endParaRPr lang="en-US" sz="3000" dirty="0"/>
          </a:p>
        </p:txBody>
      </p:sp>
      <p:sp>
        <p:nvSpPr>
          <p:cNvPr id="4" name="Shape 2"/>
          <p:cNvSpPr/>
          <p:nvPr/>
        </p:nvSpPr>
        <p:spPr>
          <a:xfrm>
            <a:off x="640080" y="1371600"/>
            <a:ext cx="3454420" cy="2194560"/>
          </a:xfrm>
          <a:prstGeom prst="roundRect">
            <a:avLst>
              <a:gd name="adj" fmla="val 2500"/>
            </a:avLst>
          </a:prstGeom>
          <a:solidFill>
            <a:srgbClr val="F1F3F5"/>
          </a:solidFill>
          <a:ln w="9525">
            <a:solidFill>
              <a:srgbClr val="DFE4E9"/>
            </a:solidFill>
            <a:prstDash val="solid"/>
          </a:ln>
        </p:spPr>
      </p:sp>
      <p:sp>
        <p:nvSpPr>
          <p:cNvPr id="5" name="Text 3"/>
          <p:cNvSpPr/>
          <p:nvPr/>
        </p:nvSpPr>
        <p:spPr>
          <a:xfrm>
            <a:off x="914400" y="155448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Resource states</a:t>
            </a:r>
            <a:endParaRPr lang="en-US" sz="1500" dirty="0"/>
          </a:p>
        </p:txBody>
      </p:sp>
      <p:sp>
        <p:nvSpPr>
          <p:cNvPr id="6" name="Text 4"/>
          <p:cNvSpPr/>
          <p:nvPr/>
        </p:nvSpPr>
        <p:spPr>
          <a:xfrm>
            <a:off x="914400" y="1883664"/>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DR Congo · Indonesia · Chile · Australia · Guinea · Zimbabwe · Kazakhstan</a:t>
            </a:r>
            <a:endParaRPr lang="en-US" sz="1050" dirty="0"/>
          </a:p>
        </p:txBody>
      </p:sp>
      <p:sp>
        <p:nvSpPr>
          <p:cNvPr id="7" name="Text 5"/>
          <p:cNvSpPr/>
          <p:nvPr/>
        </p:nvSpPr>
        <p:spPr>
          <a:xfrm>
            <a:off x="914400" y="2468880"/>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Hold the deposits. Increasingly refuse to export them raw. Their leverage is real but time-limited by substitution.</a:t>
            </a:r>
            <a:endParaRPr lang="en-US" sz="1100" dirty="0"/>
          </a:p>
        </p:txBody>
      </p:sp>
      <p:sp>
        <p:nvSpPr>
          <p:cNvPr id="8" name="Shape 6"/>
          <p:cNvSpPr/>
          <p:nvPr/>
        </p:nvSpPr>
        <p:spPr>
          <a:xfrm>
            <a:off x="4368820" y="1371600"/>
            <a:ext cx="3454420" cy="2194560"/>
          </a:xfrm>
          <a:prstGeom prst="roundRect">
            <a:avLst>
              <a:gd name="adj" fmla="val 2500"/>
            </a:avLst>
          </a:prstGeom>
          <a:solidFill>
            <a:srgbClr val="F1F3F5"/>
          </a:solidFill>
          <a:ln w="9525">
            <a:solidFill>
              <a:srgbClr val="DFE4E9"/>
            </a:solidFill>
            <a:prstDash val="solid"/>
          </a:ln>
        </p:spPr>
      </p:sp>
      <p:sp>
        <p:nvSpPr>
          <p:cNvPr id="9" name="Text 7"/>
          <p:cNvSpPr/>
          <p:nvPr/>
        </p:nvSpPr>
        <p:spPr>
          <a:xfrm>
            <a:off x="4643140" y="155448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The refining power</a:t>
            </a:r>
            <a:endParaRPr lang="en-US" sz="1500" dirty="0"/>
          </a:p>
        </p:txBody>
      </p:sp>
      <p:sp>
        <p:nvSpPr>
          <p:cNvPr id="10" name="Text 8"/>
          <p:cNvSpPr/>
          <p:nvPr/>
        </p:nvSpPr>
        <p:spPr>
          <a:xfrm>
            <a:off x="4643140" y="1883664"/>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China</a:t>
            </a:r>
            <a:endParaRPr lang="en-US" sz="1050" dirty="0"/>
          </a:p>
        </p:txBody>
      </p:sp>
      <p:sp>
        <p:nvSpPr>
          <p:cNvPr id="11" name="Text 9"/>
          <p:cNvSpPr/>
          <p:nvPr/>
        </p:nvSpPr>
        <p:spPr>
          <a:xfrm>
            <a:off x="4643140" y="2468880"/>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Converts most of the world’s ore into usable material, and has built the legal machinery to license who receives it.</a:t>
            </a:r>
            <a:endParaRPr lang="en-US" sz="1100" dirty="0"/>
          </a:p>
        </p:txBody>
      </p:sp>
      <p:sp>
        <p:nvSpPr>
          <p:cNvPr id="12" name="Shape 10"/>
          <p:cNvSpPr/>
          <p:nvPr/>
        </p:nvSpPr>
        <p:spPr>
          <a:xfrm>
            <a:off x="8097561" y="1371600"/>
            <a:ext cx="3454420" cy="2194560"/>
          </a:xfrm>
          <a:prstGeom prst="roundRect">
            <a:avLst>
              <a:gd name="adj" fmla="val 2500"/>
            </a:avLst>
          </a:prstGeom>
          <a:solidFill>
            <a:srgbClr val="F1F3F5"/>
          </a:solidFill>
          <a:ln w="9525">
            <a:solidFill>
              <a:srgbClr val="DFE4E9"/>
            </a:solidFill>
            <a:prstDash val="solid"/>
          </a:ln>
        </p:spPr>
      </p:sp>
      <p:sp>
        <p:nvSpPr>
          <p:cNvPr id="13" name="Text 11"/>
          <p:cNvSpPr/>
          <p:nvPr/>
        </p:nvSpPr>
        <p:spPr>
          <a:xfrm>
            <a:off x="8371881" y="155448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Consumer economies</a:t>
            </a:r>
            <a:endParaRPr lang="en-US" sz="1500" dirty="0"/>
          </a:p>
        </p:txBody>
      </p:sp>
      <p:sp>
        <p:nvSpPr>
          <p:cNvPr id="14" name="Text 12"/>
          <p:cNvSpPr/>
          <p:nvPr/>
        </p:nvSpPr>
        <p:spPr>
          <a:xfrm>
            <a:off x="8371881" y="1883664"/>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EU · United States · Japan · Korea · India</a:t>
            </a:r>
            <a:endParaRPr lang="en-US" sz="1050" dirty="0"/>
          </a:p>
        </p:txBody>
      </p:sp>
      <p:sp>
        <p:nvSpPr>
          <p:cNvPr id="15" name="Text 13"/>
          <p:cNvSpPr/>
          <p:nvPr/>
        </p:nvSpPr>
        <p:spPr>
          <a:xfrm>
            <a:off x="8371881" y="2468880"/>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Large demand, thin midstream. Responding with subsidy, stockpiles, friend-shoring clubs and bilateral partnerships.</a:t>
            </a:r>
            <a:endParaRPr lang="en-US" sz="1100" dirty="0"/>
          </a:p>
        </p:txBody>
      </p:sp>
      <p:sp>
        <p:nvSpPr>
          <p:cNvPr id="16" name="Shape 14"/>
          <p:cNvSpPr/>
          <p:nvPr/>
        </p:nvSpPr>
        <p:spPr>
          <a:xfrm>
            <a:off x="640080" y="3767328"/>
            <a:ext cx="3454420" cy="2194560"/>
          </a:xfrm>
          <a:prstGeom prst="roundRect">
            <a:avLst>
              <a:gd name="adj" fmla="val 2500"/>
            </a:avLst>
          </a:prstGeom>
          <a:solidFill>
            <a:srgbClr val="F1F3F5"/>
          </a:solidFill>
          <a:ln w="9525">
            <a:solidFill>
              <a:srgbClr val="DFE4E9"/>
            </a:solidFill>
            <a:prstDash val="solid"/>
          </a:ln>
        </p:spPr>
      </p:sp>
      <p:sp>
        <p:nvSpPr>
          <p:cNvPr id="17" name="Text 15"/>
          <p:cNvSpPr/>
          <p:nvPr/>
        </p:nvSpPr>
        <p:spPr>
          <a:xfrm>
            <a:off x="914400" y="3950208"/>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Corporate actors</a:t>
            </a:r>
            <a:endParaRPr lang="en-US" sz="1500" dirty="0"/>
          </a:p>
        </p:txBody>
      </p:sp>
      <p:sp>
        <p:nvSpPr>
          <p:cNvPr id="18" name="Text 16"/>
          <p:cNvSpPr/>
          <p:nvPr/>
        </p:nvSpPr>
        <p:spPr>
          <a:xfrm>
            <a:off x="914400" y="4279392"/>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Miners · refiners · automakers · commodity traders</a:t>
            </a:r>
            <a:endParaRPr lang="en-US" sz="1050" dirty="0"/>
          </a:p>
        </p:txBody>
      </p:sp>
      <p:sp>
        <p:nvSpPr>
          <p:cNvPr id="19" name="Text 17"/>
          <p:cNvSpPr/>
          <p:nvPr/>
        </p:nvSpPr>
        <p:spPr>
          <a:xfrm>
            <a:off x="914400" y="4864608"/>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Offtake contracts and equity stakes often determine real dependency more than state policy does.</a:t>
            </a:r>
            <a:endParaRPr lang="en-US" sz="1100" dirty="0"/>
          </a:p>
        </p:txBody>
      </p:sp>
      <p:sp>
        <p:nvSpPr>
          <p:cNvPr id="20" name="Shape 18"/>
          <p:cNvSpPr/>
          <p:nvPr/>
        </p:nvSpPr>
        <p:spPr>
          <a:xfrm>
            <a:off x="4368820" y="3767328"/>
            <a:ext cx="3454420" cy="2194560"/>
          </a:xfrm>
          <a:prstGeom prst="roundRect">
            <a:avLst>
              <a:gd name="adj" fmla="val 2500"/>
            </a:avLst>
          </a:prstGeom>
          <a:solidFill>
            <a:srgbClr val="F1F3F5"/>
          </a:solidFill>
          <a:ln w="9525">
            <a:solidFill>
              <a:srgbClr val="DFE4E9"/>
            </a:solidFill>
            <a:prstDash val="solid"/>
          </a:ln>
        </p:spPr>
      </p:sp>
      <p:sp>
        <p:nvSpPr>
          <p:cNvPr id="21" name="Text 19"/>
          <p:cNvSpPr/>
          <p:nvPr/>
        </p:nvSpPr>
        <p:spPr>
          <a:xfrm>
            <a:off x="4643140" y="3950208"/>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Multilateral institutions</a:t>
            </a:r>
            <a:endParaRPr lang="en-US" sz="1500" dirty="0"/>
          </a:p>
        </p:txBody>
      </p:sp>
      <p:sp>
        <p:nvSpPr>
          <p:cNvPr id="22" name="Text 20"/>
          <p:cNvSpPr/>
          <p:nvPr/>
        </p:nvSpPr>
        <p:spPr>
          <a:xfrm>
            <a:off x="4643140" y="4279392"/>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UN · IEA · WTO · ISA · OECD · World Bank</a:t>
            </a:r>
            <a:endParaRPr lang="en-US" sz="1050" dirty="0"/>
          </a:p>
        </p:txBody>
      </p:sp>
      <p:sp>
        <p:nvSpPr>
          <p:cNvPr id="23" name="Text 21"/>
          <p:cNvSpPr/>
          <p:nvPr/>
        </p:nvSpPr>
        <p:spPr>
          <a:xfrm>
            <a:off x="4643140" y="4864608"/>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Provide data, standards and dispute settlement — but no institution holds a mandate over mineral supply security as such.</a:t>
            </a:r>
            <a:endParaRPr lang="en-US" sz="1100" dirty="0"/>
          </a:p>
        </p:txBody>
      </p:sp>
      <p:sp>
        <p:nvSpPr>
          <p:cNvPr id="24" name="Shape 22"/>
          <p:cNvSpPr/>
          <p:nvPr/>
        </p:nvSpPr>
        <p:spPr>
          <a:xfrm>
            <a:off x="8097561" y="3767328"/>
            <a:ext cx="3454420" cy="2194560"/>
          </a:xfrm>
          <a:prstGeom prst="roundRect">
            <a:avLst>
              <a:gd name="adj" fmla="val 2500"/>
            </a:avLst>
          </a:prstGeom>
          <a:solidFill>
            <a:srgbClr val="15191F"/>
          </a:solidFill>
          <a:ln w="9525">
            <a:solidFill>
              <a:srgbClr val="15191F"/>
            </a:solidFill>
            <a:prstDash val="solid"/>
          </a:ln>
        </p:spPr>
      </p:sp>
      <p:sp>
        <p:nvSpPr>
          <p:cNvPr id="25" name="Text 23"/>
          <p:cNvSpPr/>
          <p:nvPr/>
        </p:nvSpPr>
        <p:spPr>
          <a:xfrm>
            <a:off x="8371881" y="3950208"/>
            <a:ext cx="290578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Communities and labour</a:t>
            </a:r>
            <a:endParaRPr lang="en-US" sz="1500" dirty="0"/>
          </a:p>
        </p:txBody>
      </p:sp>
      <p:sp>
        <p:nvSpPr>
          <p:cNvPr id="26" name="Text 24"/>
          <p:cNvSpPr/>
          <p:nvPr/>
        </p:nvSpPr>
        <p:spPr>
          <a:xfrm>
            <a:off x="8371881" y="4279392"/>
            <a:ext cx="2905780" cy="530352"/>
          </a:xfrm>
          <a:prstGeom prst="rect">
            <a:avLst/>
          </a:prstGeom>
          <a:noFill/>
          <a:ln/>
        </p:spPr>
        <p:txBody>
          <a:bodyPr wrap="square" lIns="0" tIns="0" rIns="0" bIns="0" rtlCol="0" anchor="t"/>
          <a:lstStyle/>
          <a:p>
            <a:pPr indent="0" marL="0">
              <a:lnSpc>
                <a:spcPts val="1400"/>
              </a:lnSpc>
              <a:buNone/>
            </a:pPr>
            <a:r>
              <a:rPr lang="en-US" sz="1050" b="1" dirty="0">
                <a:solidFill>
                  <a:srgbClr val="E39A5C"/>
                </a:solidFill>
                <a:latin typeface="Calibri" pitchFamily="34" charset="0"/>
                <a:ea typeface="Calibri" pitchFamily="34" charset="-122"/>
                <a:cs typeface="Calibri" pitchFamily="34" charset="-120"/>
              </a:rPr>
              <a:t>Artisanal miners · indigenous peoples · host municipalities</a:t>
            </a:r>
            <a:endParaRPr lang="en-US" sz="1050" dirty="0"/>
          </a:p>
        </p:txBody>
      </p:sp>
      <p:sp>
        <p:nvSpPr>
          <p:cNvPr id="27" name="Text 25"/>
          <p:cNvSpPr/>
          <p:nvPr/>
        </p:nvSpPr>
        <p:spPr>
          <a:xfrm>
            <a:off x="8371881" y="4864608"/>
            <a:ext cx="2905780" cy="969264"/>
          </a:xfrm>
          <a:prstGeom prst="rect">
            <a:avLst/>
          </a:prstGeom>
          <a:noFill/>
          <a:ln/>
        </p:spPr>
        <p:txBody>
          <a:bodyPr wrap="square" lIns="0" tIns="0" rIns="0" bIns="0" rtlCol="0" anchor="t"/>
          <a:lstStyle/>
          <a:p>
            <a:pPr indent="0" marL="0">
              <a:lnSpc>
                <a:spcPts val="1500"/>
              </a:lnSpc>
              <a:buNone/>
            </a:pPr>
            <a:r>
              <a:rPr lang="en-US" sz="1100" dirty="0">
                <a:solidFill>
                  <a:srgbClr val="AEBACA"/>
                </a:solidFill>
                <a:latin typeface="Calibri" pitchFamily="34" charset="0"/>
                <a:ea typeface="Calibri" pitchFamily="34" charset="-122"/>
                <a:cs typeface="Calibri" pitchFamily="34" charset="-120"/>
              </a:rPr>
              <a:t>Bear the water, land and health costs. Rarely represented in the bilateral agreements that allocate the resource.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KEY CHALLENGES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Six structural obstacles</a:t>
            </a:r>
            <a:endParaRPr lang="en-US" sz="3000" dirty="0"/>
          </a:p>
        </p:txBody>
      </p:sp>
      <p:sp>
        <p:nvSpPr>
          <p:cNvPr id="4" name="Shape 2"/>
          <p:cNvSpPr/>
          <p:nvPr/>
        </p:nvSpPr>
        <p:spPr>
          <a:xfrm>
            <a:off x="640080" y="1371600"/>
            <a:ext cx="3454420" cy="2194560"/>
          </a:xfrm>
          <a:prstGeom prst="roundRect">
            <a:avLst>
              <a:gd name="adj" fmla="val 2500"/>
            </a:avLst>
          </a:prstGeom>
          <a:solidFill>
            <a:srgbClr val="F1F3F5"/>
          </a:solidFill>
          <a:ln w="9525">
            <a:solidFill>
              <a:srgbClr val="DFE4E9"/>
            </a:solidFill>
            <a:prstDash val="solid"/>
          </a:ln>
        </p:spPr>
      </p:sp>
      <p:sp>
        <p:nvSpPr>
          <p:cNvPr id="5" name="Shape 3"/>
          <p:cNvSpPr/>
          <p:nvPr/>
        </p:nvSpPr>
        <p:spPr>
          <a:xfrm>
            <a:off x="914400" y="1591056"/>
            <a:ext cx="384048" cy="384048"/>
          </a:xfrm>
          <a:prstGeom prst="roundRect">
            <a:avLst>
              <a:gd name="adj" fmla="val 11905"/>
            </a:avLst>
          </a:prstGeom>
          <a:solidFill>
            <a:srgbClr val="BE5F26"/>
          </a:solidFill>
          <a:ln/>
        </p:spPr>
      </p:sp>
      <p:sp>
        <p:nvSpPr>
          <p:cNvPr id="6" name="Text 4"/>
          <p:cNvSpPr/>
          <p:nvPr/>
        </p:nvSpPr>
        <p:spPr>
          <a:xfrm>
            <a:off x="914400" y="15910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7" name="Text 5"/>
          <p:cNvSpPr/>
          <p:nvPr/>
        </p:nvSpPr>
        <p:spPr>
          <a:xfrm>
            <a:off x="1408176" y="1609344"/>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Timeline mismatch</a:t>
            </a:r>
            <a:endParaRPr lang="en-US" sz="1450" dirty="0"/>
          </a:p>
        </p:txBody>
      </p:sp>
      <p:sp>
        <p:nvSpPr>
          <p:cNvPr id="8" name="Text 6"/>
          <p:cNvSpPr/>
          <p:nvPr/>
        </p:nvSpPr>
        <p:spPr>
          <a:xfrm>
            <a:off x="914400" y="2231136"/>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Demand curves move on a five-year political cycle. Mines and refineries move on a fifteen-year capital cycle. Policy cannot compress geology or permitting.</a:t>
            </a:r>
            <a:endParaRPr lang="en-US" sz="1100" dirty="0"/>
          </a:p>
        </p:txBody>
      </p:sp>
      <p:sp>
        <p:nvSpPr>
          <p:cNvPr id="9" name="Shape 7"/>
          <p:cNvSpPr/>
          <p:nvPr/>
        </p:nvSpPr>
        <p:spPr>
          <a:xfrm>
            <a:off x="4368820" y="1371600"/>
            <a:ext cx="3454420" cy="2194560"/>
          </a:xfrm>
          <a:prstGeom prst="roundRect">
            <a:avLst>
              <a:gd name="adj" fmla="val 2500"/>
            </a:avLst>
          </a:prstGeom>
          <a:solidFill>
            <a:srgbClr val="F1F3F5"/>
          </a:solidFill>
          <a:ln w="9525">
            <a:solidFill>
              <a:srgbClr val="DFE4E9"/>
            </a:solidFill>
            <a:prstDash val="solid"/>
          </a:ln>
        </p:spPr>
      </p:sp>
      <p:sp>
        <p:nvSpPr>
          <p:cNvPr id="10" name="Shape 8"/>
          <p:cNvSpPr/>
          <p:nvPr/>
        </p:nvSpPr>
        <p:spPr>
          <a:xfrm>
            <a:off x="4643140" y="1591056"/>
            <a:ext cx="384048" cy="384048"/>
          </a:xfrm>
          <a:prstGeom prst="roundRect">
            <a:avLst>
              <a:gd name="adj" fmla="val 11905"/>
            </a:avLst>
          </a:prstGeom>
          <a:solidFill>
            <a:srgbClr val="BE5F26"/>
          </a:solidFill>
          <a:ln/>
        </p:spPr>
      </p:sp>
      <p:sp>
        <p:nvSpPr>
          <p:cNvPr id="11" name="Text 9"/>
          <p:cNvSpPr/>
          <p:nvPr/>
        </p:nvSpPr>
        <p:spPr>
          <a:xfrm>
            <a:off x="4643140" y="15910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2" name="Text 10"/>
          <p:cNvSpPr/>
          <p:nvPr/>
        </p:nvSpPr>
        <p:spPr>
          <a:xfrm>
            <a:off x="5136916" y="1609344"/>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Price volatility kills projects</a:t>
            </a:r>
            <a:endParaRPr lang="en-US" sz="1450" dirty="0"/>
          </a:p>
        </p:txBody>
      </p:sp>
      <p:sp>
        <p:nvSpPr>
          <p:cNvPr id="13" name="Text 11"/>
          <p:cNvSpPr/>
          <p:nvPr/>
        </p:nvSpPr>
        <p:spPr>
          <a:xfrm>
            <a:off x="4643140" y="2231136"/>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Lithium and nickel prices collapsed, then rebounded. Investors will not finance a decade-long asset against a two-year price signal without a floor.</a:t>
            </a:r>
            <a:endParaRPr lang="en-US" sz="1100" dirty="0"/>
          </a:p>
        </p:txBody>
      </p:sp>
      <p:sp>
        <p:nvSpPr>
          <p:cNvPr id="14" name="Shape 12"/>
          <p:cNvSpPr/>
          <p:nvPr/>
        </p:nvSpPr>
        <p:spPr>
          <a:xfrm>
            <a:off x="8097561" y="1371600"/>
            <a:ext cx="3454420" cy="2194560"/>
          </a:xfrm>
          <a:prstGeom prst="roundRect">
            <a:avLst>
              <a:gd name="adj" fmla="val 2500"/>
            </a:avLst>
          </a:prstGeom>
          <a:solidFill>
            <a:srgbClr val="F1F3F5"/>
          </a:solidFill>
          <a:ln w="9525">
            <a:solidFill>
              <a:srgbClr val="DFE4E9"/>
            </a:solidFill>
            <a:prstDash val="solid"/>
          </a:ln>
        </p:spPr>
      </p:sp>
      <p:sp>
        <p:nvSpPr>
          <p:cNvPr id="15" name="Shape 13"/>
          <p:cNvSpPr/>
          <p:nvPr/>
        </p:nvSpPr>
        <p:spPr>
          <a:xfrm>
            <a:off x="8371881" y="1591056"/>
            <a:ext cx="384048" cy="384048"/>
          </a:xfrm>
          <a:prstGeom prst="roundRect">
            <a:avLst>
              <a:gd name="adj" fmla="val 11905"/>
            </a:avLst>
          </a:prstGeom>
          <a:solidFill>
            <a:srgbClr val="BE5F26"/>
          </a:solidFill>
          <a:ln/>
        </p:spPr>
      </p:sp>
      <p:sp>
        <p:nvSpPr>
          <p:cNvPr id="16" name="Text 14"/>
          <p:cNvSpPr/>
          <p:nvPr/>
        </p:nvSpPr>
        <p:spPr>
          <a:xfrm>
            <a:off x="8371881" y="15910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7" name="Text 15"/>
          <p:cNvSpPr/>
          <p:nvPr/>
        </p:nvSpPr>
        <p:spPr>
          <a:xfrm>
            <a:off x="8865657" y="1609344"/>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The environmental paradox</a:t>
            </a:r>
            <a:endParaRPr lang="en-US" sz="1450" dirty="0"/>
          </a:p>
        </p:txBody>
      </p:sp>
      <p:sp>
        <p:nvSpPr>
          <p:cNvPr id="18" name="Text 16"/>
          <p:cNvSpPr/>
          <p:nvPr/>
        </p:nvSpPr>
        <p:spPr>
          <a:xfrm>
            <a:off x="8371881" y="2231136"/>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Clean technology requires extraction that is water-intensive, land-hungry and often sited on ecologically or culturally sensitive ground.</a:t>
            </a:r>
            <a:endParaRPr lang="en-US" sz="1100" dirty="0"/>
          </a:p>
        </p:txBody>
      </p:sp>
      <p:sp>
        <p:nvSpPr>
          <p:cNvPr id="19" name="Shape 17"/>
          <p:cNvSpPr/>
          <p:nvPr/>
        </p:nvSpPr>
        <p:spPr>
          <a:xfrm>
            <a:off x="640080" y="3767328"/>
            <a:ext cx="3454420" cy="2194560"/>
          </a:xfrm>
          <a:prstGeom prst="roundRect">
            <a:avLst>
              <a:gd name="adj" fmla="val 2500"/>
            </a:avLst>
          </a:prstGeom>
          <a:solidFill>
            <a:srgbClr val="F1F3F5"/>
          </a:solidFill>
          <a:ln w="9525">
            <a:solidFill>
              <a:srgbClr val="DFE4E9"/>
            </a:solidFill>
            <a:prstDash val="solid"/>
          </a:ln>
        </p:spPr>
      </p:sp>
      <p:sp>
        <p:nvSpPr>
          <p:cNvPr id="20" name="Shape 18"/>
          <p:cNvSpPr/>
          <p:nvPr/>
        </p:nvSpPr>
        <p:spPr>
          <a:xfrm>
            <a:off x="914400" y="3986784"/>
            <a:ext cx="384048" cy="384048"/>
          </a:xfrm>
          <a:prstGeom prst="roundRect">
            <a:avLst>
              <a:gd name="adj" fmla="val 11905"/>
            </a:avLst>
          </a:prstGeom>
          <a:solidFill>
            <a:srgbClr val="BE5F26"/>
          </a:solidFill>
          <a:ln/>
        </p:spPr>
      </p:sp>
      <p:sp>
        <p:nvSpPr>
          <p:cNvPr id="21" name="Text 19"/>
          <p:cNvSpPr/>
          <p:nvPr/>
        </p:nvSpPr>
        <p:spPr>
          <a:xfrm>
            <a:off x="914400" y="398678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2" name="Text 20"/>
          <p:cNvSpPr/>
          <p:nvPr/>
        </p:nvSpPr>
        <p:spPr>
          <a:xfrm>
            <a:off x="1408176" y="4005072"/>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Governance and conflict</a:t>
            </a:r>
            <a:endParaRPr lang="en-US" sz="1450" dirty="0"/>
          </a:p>
        </p:txBody>
      </p:sp>
      <p:sp>
        <p:nvSpPr>
          <p:cNvPr id="23" name="Text 21"/>
          <p:cNvSpPr/>
          <p:nvPr/>
        </p:nvSpPr>
        <p:spPr>
          <a:xfrm>
            <a:off x="914400" y="4626864"/>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Several of the richest deposits sit in states with weak institutions or active armed conflict, where mineral rents finance the very instability that threatens supply.</a:t>
            </a:r>
            <a:endParaRPr lang="en-US" sz="1100" dirty="0"/>
          </a:p>
        </p:txBody>
      </p:sp>
      <p:sp>
        <p:nvSpPr>
          <p:cNvPr id="24" name="Shape 22"/>
          <p:cNvSpPr/>
          <p:nvPr/>
        </p:nvSpPr>
        <p:spPr>
          <a:xfrm>
            <a:off x="4368820" y="3767328"/>
            <a:ext cx="3454420" cy="2194560"/>
          </a:xfrm>
          <a:prstGeom prst="roundRect">
            <a:avLst>
              <a:gd name="adj" fmla="val 2500"/>
            </a:avLst>
          </a:prstGeom>
          <a:solidFill>
            <a:srgbClr val="F1F3F5"/>
          </a:solidFill>
          <a:ln w="9525">
            <a:solidFill>
              <a:srgbClr val="DFE4E9"/>
            </a:solidFill>
            <a:prstDash val="solid"/>
          </a:ln>
        </p:spPr>
      </p:sp>
      <p:sp>
        <p:nvSpPr>
          <p:cNvPr id="25" name="Shape 23"/>
          <p:cNvSpPr/>
          <p:nvPr/>
        </p:nvSpPr>
        <p:spPr>
          <a:xfrm>
            <a:off x="4643140" y="3986784"/>
            <a:ext cx="384048" cy="384048"/>
          </a:xfrm>
          <a:prstGeom prst="roundRect">
            <a:avLst>
              <a:gd name="adj" fmla="val 11905"/>
            </a:avLst>
          </a:prstGeom>
          <a:solidFill>
            <a:srgbClr val="BE5F26"/>
          </a:solidFill>
          <a:ln/>
        </p:spPr>
      </p:sp>
      <p:sp>
        <p:nvSpPr>
          <p:cNvPr id="26" name="Text 24"/>
          <p:cNvSpPr/>
          <p:nvPr/>
        </p:nvSpPr>
        <p:spPr>
          <a:xfrm>
            <a:off x="4643140" y="398678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27" name="Text 25"/>
          <p:cNvSpPr/>
          <p:nvPr/>
        </p:nvSpPr>
        <p:spPr>
          <a:xfrm>
            <a:off x="5136916" y="4005072"/>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Weak recycling base</a:t>
            </a:r>
            <a:endParaRPr lang="en-US" sz="1450" dirty="0"/>
          </a:p>
        </p:txBody>
      </p:sp>
      <p:sp>
        <p:nvSpPr>
          <p:cNvPr id="28" name="Text 26"/>
          <p:cNvSpPr/>
          <p:nvPr/>
        </p:nvSpPr>
        <p:spPr>
          <a:xfrm>
            <a:off x="4643140" y="4626864"/>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Circularity is the structural answer, but the first large cohort of EV batteries will not retire in volume until the 2030s. There is a stock that does not yet exist.</a:t>
            </a:r>
            <a:endParaRPr lang="en-US" sz="1100" dirty="0"/>
          </a:p>
        </p:txBody>
      </p:sp>
      <p:sp>
        <p:nvSpPr>
          <p:cNvPr id="29" name="Shape 27"/>
          <p:cNvSpPr/>
          <p:nvPr/>
        </p:nvSpPr>
        <p:spPr>
          <a:xfrm>
            <a:off x="8097561" y="3767328"/>
            <a:ext cx="3454420" cy="2194560"/>
          </a:xfrm>
          <a:prstGeom prst="roundRect">
            <a:avLst>
              <a:gd name="adj" fmla="val 2500"/>
            </a:avLst>
          </a:prstGeom>
          <a:solidFill>
            <a:srgbClr val="F1F3F5"/>
          </a:solidFill>
          <a:ln w="9525">
            <a:solidFill>
              <a:srgbClr val="DFE4E9"/>
            </a:solidFill>
            <a:prstDash val="solid"/>
          </a:ln>
        </p:spPr>
      </p:sp>
      <p:sp>
        <p:nvSpPr>
          <p:cNvPr id="30" name="Shape 28"/>
          <p:cNvSpPr/>
          <p:nvPr/>
        </p:nvSpPr>
        <p:spPr>
          <a:xfrm>
            <a:off x="8371881" y="3986784"/>
            <a:ext cx="384048" cy="384048"/>
          </a:xfrm>
          <a:prstGeom prst="roundRect">
            <a:avLst>
              <a:gd name="adj" fmla="val 11905"/>
            </a:avLst>
          </a:prstGeom>
          <a:solidFill>
            <a:srgbClr val="BE5F26"/>
          </a:solidFill>
          <a:ln/>
        </p:spPr>
      </p:sp>
      <p:sp>
        <p:nvSpPr>
          <p:cNvPr id="31" name="Text 29"/>
          <p:cNvSpPr/>
          <p:nvPr/>
        </p:nvSpPr>
        <p:spPr>
          <a:xfrm>
            <a:off x="8371881" y="398678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6</a:t>
            </a:r>
            <a:endParaRPr lang="en-US" sz="1150" dirty="0"/>
          </a:p>
        </p:txBody>
      </p:sp>
      <p:sp>
        <p:nvSpPr>
          <p:cNvPr id="32" name="Text 30"/>
          <p:cNvSpPr/>
          <p:nvPr/>
        </p:nvSpPr>
        <p:spPr>
          <a:xfrm>
            <a:off x="8865657" y="4005072"/>
            <a:ext cx="2412004" cy="329184"/>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No governing institution</a:t>
            </a:r>
            <a:endParaRPr lang="en-US" sz="1450" dirty="0"/>
          </a:p>
        </p:txBody>
      </p:sp>
      <p:sp>
        <p:nvSpPr>
          <p:cNvPr id="33" name="Text 31"/>
          <p:cNvSpPr/>
          <p:nvPr/>
        </p:nvSpPr>
        <p:spPr>
          <a:xfrm>
            <a:off x="8371881" y="4626864"/>
            <a:ext cx="2905780" cy="1188720"/>
          </a:xfrm>
          <a:prstGeom prst="rect">
            <a:avLst/>
          </a:prstGeom>
          <a:noFill/>
          <a:ln/>
        </p:spPr>
        <p:txBody>
          <a:bodyPr wrap="square" lIns="0" tIns="0" rIns="0" bIns="0" rtlCol="0" anchor="t"/>
          <a:lstStyle/>
          <a:p>
            <a:pPr indent="0" marL="0">
              <a:lnSpc>
                <a:spcPts val="1550"/>
              </a:lnSpc>
              <a:buNone/>
            </a:pPr>
            <a:r>
              <a:rPr lang="en-US" sz="1100" dirty="0">
                <a:solidFill>
                  <a:srgbClr val="69737F"/>
                </a:solidFill>
                <a:latin typeface="Calibri" pitchFamily="34" charset="0"/>
                <a:ea typeface="Calibri" pitchFamily="34" charset="-122"/>
                <a:cs typeface="Calibri" pitchFamily="34" charset="-120"/>
              </a:rPr>
              <a:t>There is no minerals equivalent of the IAEA or of the WTO for energy. Rules are being written bilaterally, by the stronger party in each pair.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RELEVANT STATISTICS AND DATA</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Demand is rising while investment falls</a:t>
            </a:r>
            <a:endParaRPr lang="en-US" sz="3000" dirty="0"/>
          </a:p>
        </p:txBody>
      </p:sp>
      <p:sp>
        <p:nvSpPr>
          <p:cNvPr id="4" name="Text 2"/>
          <p:cNvSpPr/>
          <p:nvPr/>
        </p:nvSpPr>
        <p:spPr>
          <a:xfrm>
            <a:off x="640080" y="1261872"/>
            <a:ext cx="5852160" cy="274320"/>
          </a:xfrm>
          <a:prstGeom prst="rect">
            <a:avLst/>
          </a:prstGeom>
          <a:noFill/>
          <a:ln/>
        </p:spPr>
        <p:txBody>
          <a:bodyPr wrap="square" lIns="0" tIns="0" rIns="0" bIns="0" rtlCol="0" anchor="t"/>
          <a:lstStyle/>
          <a:p>
            <a:pPr indent="0" marL="0">
              <a:buNone/>
            </a:pPr>
            <a:r>
              <a:rPr lang="en-US" sz="1250" dirty="0">
                <a:solidFill>
                  <a:srgbClr val="69737F"/>
                </a:solidFill>
                <a:latin typeface="Calibri" pitchFamily="34" charset="0"/>
                <a:ea typeface="Calibri" pitchFamily="34" charset="-122"/>
                <a:cs typeface="Calibri" pitchFamily="34" charset="-120"/>
              </a:rPr>
              <a:t>Change in global critical-minerals investment, 2025</a:t>
            </a:r>
            <a:endParaRPr lang="en-US" sz="1250" dirty="0"/>
          </a:p>
        </p:txBody>
      </p:sp>
      <p:graphicFrame>
        <p:nvGraphicFramePr>
          <p:cNvPr id="5" name="Chart 0" descr=""/>
          <p:cNvGraphicFramePr/>
          <p:nvPr/>
        </p:nvGraphicFramePr>
        <p:xfrm>
          <a:off x="548640" y="1536192"/>
          <a:ext cx="6035040"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0080" y="4572000"/>
            <a:ext cx="5852160" cy="1481328"/>
          </a:xfrm>
          <a:prstGeom prst="roundRect">
            <a:avLst>
              <a:gd name="adj" fmla="val 3704"/>
            </a:avLst>
          </a:prstGeom>
          <a:solidFill>
            <a:srgbClr val="15191F"/>
          </a:solidFill>
          <a:ln w="9525">
            <a:solidFill>
              <a:srgbClr val="15191F"/>
            </a:solidFill>
            <a:prstDash val="solid"/>
          </a:ln>
        </p:spPr>
      </p:sp>
      <p:sp>
        <p:nvSpPr>
          <p:cNvPr id="7" name="Text 4"/>
          <p:cNvSpPr/>
          <p:nvPr/>
        </p:nvSpPr>
        <p:spPr>
          <a:xfrm>
            <a:off x="950976" y="4754880"/>
            <a:ext cx="2743200" cy="274320"/>
          </a:xfrm>
          <a:prstGeom prst="rect">
            <a:avLst/>
          </a:prstGeom>
          <a:noFill/>
          <a:ln/>
        </p:spPr>
        <p:txBody>
          <a:bodyPr wrap="square" lIns="0" tIns="0" rIns="0" bIns="0" rtlCol="0" anchor="t"/>
          <a:lstStyle/>
          <a:p>
            <a:pPr indent="0" marL="0">
              <a:buNone/>
            </a:pPr>
            <a:r>
              <a:rPr lang="en-US" sz="1500" b="1" dirty="0">
                <a:solidFill>
                  <a:srgbClr val="E39A5C"/>
                </a:solidFill>
                <a:latin typeface="Cambria" pitchFamily="34" charset="0"/>
                <a:ea typeface="Cambria" pitchFamily="34" charset="-122"/>
                <a:cs typeface="Cambria" pitchFamily="34" charset="-120"/>
              </a:rPr>
              <a:t>The scissors</a:t>
            </a:r>
            <a:endParaRPr lang="en-US" sz="1500" dirty="0"/>
          </a:p>
        </p:txBody>
      </p:sp>
      <p:sp>
        <p:nvSpPr>
          <p:cNvPr id="8" name="Text 5"/>
          <p:cNvSpPr/>
          <p:nvPr/>
        </p:nvSpPr>
        <p:spPr>
          <a:xfrm>
            <a:off x="950976" y="5102352"/>
            <a:ext cx="5257800" cy="859536"/>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2025 was the first year in half a decade in which capital spending on the minerals of the energy transition went into reverse — at exactly the point in the demand curve where it needed to accelerate.</a:t>
            </a:r>
            <a:endParaRPr lang="en-US" sz="1150" dirty="0"/>
          </a:p>
        </p:txBody>
      </p:sp>
      <p:sp>
        <p:nvSpPr>
          <p:cNvPr id="9" name="Shape 6"/>
          <p:cNvSpPr/>
          <p:nvPr/>
        </p:nvSpPr>
        <p:spPr>
          <a:xfrm>
            <a:off x="6858000" y="1536192"/>
            <a:ext cx="4690872" cy="1371600"/>
          </a:xfrm>
          <a:prstGeom prst="roundRect">
            <a:avLst>
              <a:gd name="adj" fmla="val 4000"/>
            </a:avLst>
          </a:prstGeom>
          <a:solidFill>
            <a:srgbClr val="F1F3F5"/>
          </a:solidFill>
          <a:ln w="9525">
            <a:solidFill>
              <a:srgbClr val="DFE4E9"/>
            </a:solidFill>
            <a:prstDash val="solid"/>
          </a:ln>
        </p:spPr>
      </p:sp>
      <p:sp>
        <p:nvSpPr>
          <p:cNvPr id="10" name="Text 7"/>
          <p:cNvSpPr/>
          <p:nvPr/>
        </p:nvSpPr>
        <p:spPr>
          <a:xfrm>
            <a:off x="7150608" y="1664208"/>
            <a:ext cx="4206240" cy="457200"/>
          </a:xfrm>
          <a:prstGeom prst="rect">
            <a:avLst/>
          </a:prstGeom>
          <a:noFill/>
          <a:ln/>
        </p:spPr>
        <p:txBody>
          <a:bodyPr wrap="square" lIns="0" tIns="0" rIns="0" bIns="0" rtlCol="0" anchor="t"/>
          <a:lstStyle/>
          <a:p>
            <a:pPr indent="0" marL="0">
              <a:buNone/>
            </a:pPr>
            <a:r>
              <a:rPr lang="en-US" sz="2700" b="1" dirty="0">
                <a:solidFill>
                  <a:srgbClr val="BE5F26"/>
                </a:solidFill>
                <a:latin typeface="Cambria" pitchFamily="34" charset="0"/>
                <a:ea typeface="Cambria" pitchFamily="34" charset="-122"/>
                <a:cs typeface="Cambria" pitchFamily="34" charset="-120"/>
              </a:rPr>
              <a:t>40%</a:t>
            </a:r>
            <a:endParaRPr lang="en-US" sz="2700" dirty="0"/>
          </a:p>
        </p:txBody>
      </p:sp>
      <p:sp>
        <p:nvSpPr>
          <p:cNvPr id="11" name="Text 8"/>
          <p:cNvSpPr/>
          <p:nvPr/>
        </p:nvSpPr>
        <p:spPr>
          <a:xfrm>
            <a:off x="7150608" y="2194560"/>
            <a:ext cx="4160520" cy="640080"/>
          </a:xfrm>
          <a:prstGeom prst="rect">
            <a:avLst/>
          </a:prstGeom>
          <a:noFill/>
          <a:ln/>
        </p:spPr>
        <p:txBody>
          <a:bodyPr wrap="square" lIns="0" tIns="0" rIns="0" bIns="0" rtlCol="0" anchor="t"/>
          <a:lstStyle/>
          <a:p>
            <a:pPr indent="0" marL="0">
              <a:lnSpc>
                <a:spcPts val="1450"/>
              </a:lnSpc>
              <a:buNone/>
            </a:pPr>
            <a:r>
              <a:rPr lang="en-US" sz="1100" dirty="0">
                <a:solidFill>
                  <a:srgbClr val="69737F"/>
                </a:solidFill>
                <a:latin typeface="Calibri" pitchFamily="34" charset="0"/>
                <a:ea typeface="Calibri" pitchFamily="34" charset="-122"/>
                <a:cs typeface="Calibri" pitchFamily="34" charset="-120"/>
              </a:rPr>
              <a:t>projected lithium supply deficit by 2035, even assuming every announced project is delivered</a:t>
            </a:r>
            <a:endParaRPr lang="en-US" sz="1100" dirty="0"/>
          </a:p>
        </p:txBody>
      </p:sp>
      <p:sp>
        <p:nvSpPr>
          <p:cNvPr id="12" name="Shape 9"/>
          <p:cNvSpPr/>
          <p:nvPr/>
        </p:nvSpPr>
        <p:spPr>
          <a:xfrm>
            <a:off x="6858000" y="3054096"/>
            <a:ext cx="4690872" cy="1371600"/>
          </a:xfrm>
          <a:prstGeom prst="roundRect">
            <a:avLst>
              <a:gd name="adj" fmla="val 4000"/>
            </a:avLst>
          </a:prstGeom>
          <a:solidFill>
            <a:srgbClr val="F1F3F5"/>
          </a:solidFill>
          <a:ln w="9525">
            <a:solidFill>
              <a:srgbClr val="DFE4E9"/>
            </a:solidFill>
            <a:prstDash val="solid"/>
          </a:ln>
        </p:spPr>
      </p:sp>
      <p:sp>
        <p:nvSpPr>
          <p:cNvPr id="13" name="Text 10"/>
          <p:cNvSpPr/>
          <p:nvPr/>
        </p:nvSpPr>
        <p:spPr>
          <a:xfrm>
            <a:off x="7150608" y="3182112"/>
            <a:ext cx="4206240" cy="457200"/>
          </a:xfrm>
          <a:prstGeom prst="rect">
            <a:avLst/>
          </a:prstGeom>
          <a:noFill/>
          <a:ln/>
        </p:spPr>
        <p:txBody>
          <a:bodyPr wrap="square" lIns="0" tIns="0" rIns="0" bIns="0" rtlCol="0" anchor="t"/>
          <a:lstStyle/>
          <a:p>
            <a:pPr indent="0" marL="0">
              <a:buNone/>
            </a:pPr>
            <a:r>
              <a:rPr lang="en-US" sz="2700" b="1" dirty="0">
                <a:solidFill>
                  <a:srgbClr val="BE5F26"/>
                </a:solidFill>
                <a:latin typeface="Cambria" pitchFamily="34" charset="0"/>
                <a:ea typeface="Cambria" pitchFamily="34" charset="-122"/>
                <a:cs typeface="Cambria" pitchFamily="34" charset="-120"/>
              </a:rPr>
              <a:t>30%</a:t>
            </a:r>
            <a:endParaRPr lang="en-US" sz="2700" dirty="0"/>
          </a:p>
        </p:txBody>
      </p:sp>
      <p:sp>
        <p:nvSpPr>
          <p:cNvPr id="14" name="Text 11"/>
          <p:cNvSpPr/>
          <p:nvPr/>
        </p:nvSpPr>
        <p:spPr>
          <a:xfrm>
            <a:off x="7150608" y="3712464"/>
            <a:ext cx="4160520" cy="640080"/>
          </a:xfrm>
          <a:prstGeom prst="rect">
            <a:avLst/>
          </a:prstGeom>
          <a:noFill/>
          <a:ln/>
        </p:spPr>
        <p:txBody>
          <a:bodyPr wrap="square" lIns="0" tIns="0" rIns="0" bIns="0" rtlCol="0" anchor="t"/>
          <a:lstStyle/>
          <a:p>
            <a:pPr indent="0" marL="0">
              <a:lnSpc>
                <a:spcPts val="1450"/>
              </a:lnSpc>
              <a:buNone/>
            </a:pPr>
            <a:r>
              <a:rPr lang="en-US" sz="1100" dirty="0">
                <a:solidFill>
                  <a:srgbClr val="69737F"/>
                </a:solidFill>
                <a:latin typeface="Calibri" pitchFamily="34" charset="0"/>
                <a:ea typeface="Calibri" pitchFamily="34" charset="-122"/>
                <a:cs typeface="Calibri" pitchFamily="34" charset="-120"/>
              </a:rPr>
              <a:t>projected copper supply deficit by 2035, driven by falling ore grades and few new discoveries</a:t>
            </a:r>
            <a:endParaRPr lang="en-US" sz="1100" dirty="0"/>
          </a:p>
        </p:txBody>
      </p:sp>
      <p:sp>
        <p:nvSpPr>
          <p:cNvPr id="15" name="Shape 12"/>
          <p:cNvSpPr/>
          <p:nvPr/>
        </p:nvSpPr>
        <p:spPr>
          <a:xfrm>
            <a:off x="6858000" y="4572000"/>
            <a:ext cx="4690872" cy="1371600"/>
          </a:xfrm>
          <a:prstGeom prst="roundRect">
            <a:avLst>
              <a:gd name="adj" fmla="val 4000"/>
            </a:avLst>
          </a:prstGeom>
          <a:solidFill>
            <a:srgbClr val="F1F3F5"/>
          </a:solidFill>
          <a:ln w="9525">
            <a:solidFill>
              <a:srgbClr val="DFE4E9"/>
            </a:solidFill>
            <a:prstDash val="solid"/>
          </a:ln>
        </p:spPr>
      </p:sp>
      <p:sp>
        <p:nvSpPr>
          <p:cNvPr id="16" name="Text 13"/>
          <p:cNvSpPr/>
          <p:nvPr/>
        </p:nvSpPr>
        <p:spPr>
          <a:xfrm>
            <a:off x="7150608" y="4700016"/>
            <a:ext cx="4206240" cy="457200"/>
          </a:xfrm>
          <a:prstGeom prst="rect">
            <a:avLst/>
          </a:prstGeom>
          <a:noFill/>
          <a:ln/>
        </p:spPr>
        <p:txBody>
          <a:bodyPr wrap="square" lIns="0" tIns="0" rIns="0" bIns="0" rtlCol="0" anchor="t"/>
          <a:lstStyle/>
          <a:p>
            <a:pPr indent="0" marL="0">
              <a:buNone/>
            </a:pPr>
            <a:r>
              <a:rPr lang="en-US" sz="2700" b="1" dirty="0">
                <a:solidFill>
                  <a:srgbClr val="BE5F26"/>
                </a:solidFill>
                <a:latin typeface="Cambria" pitchFamily="34" charset="0"/>
                <a:ea typeface="Cambria" pitchFamily="34" charset="-122"/>
                <a:cs typeface="Cambria" pitchFamily="34" charset="-120"/>
              </a:rPr>
              <a:t>USD 6.5 tn</a:t>
            </a:r>
            <a:endParaRPr lang="en-US" sz="2700" dirty="0"/>
          </a:p>
        </p:txBody>
      </p:sp>
      <p:sp>
        <p:nvSpPr>
          <p:cNvPr id="17" name="Text 14"/>
          <p:cNvSpPr/>
          <p:nvPr/>
        </p:nvSpPr>
        <p:spPr>
          <a:xfrm>
            <a:off x="7150608" y="5230368"/>
            <a:ext cx="4160520" cy="640080"/>
          </a:xfrm>
          <a:prstGeom prst="rect">
            <a:avLst/>
          </a:prstGeom>
          <a:noFill/>
          <a:ln/>
        </p:spPr>
        <p:txBody>
          <a:bodyPr wrap="square" lIns="0" tIns="0" rIns="0" bIns="0" rtlCol="0" anchor="t"/>
          <a:lstStyle/>
          <a:p>
            <a:pPr indent="0" marL="0">
              <a:lnSpc>
                <a:spcPts val="1450"/>
              </a:lnSpc>
              <a:buNone/>
            </a:pPr>
            <a:r>
              <a:rPr lang="en-US" sz="1100" dirty="0">
                <a:solidFill>
                  <a:srgbClr val="69737F"/>
                </a:solidFill>
                <a:latin typeface="Calibri" pitchFamily="34" charset="0"/>
                <a:ea typeface="Calibri" pitchFamily="34" charset="-122"/>
                <a:cs typeface="Calibri" pitchFamily="34" charset="-120"/>
              </a:rPr>
              <a:t>of downstream production outside China exposed to full implementation of the 2025 rare-earth export controls</a:t>
            </a:r>
            <a:endParaRPr lang="en-US" sz="1100" dirty="0"/>
          </a:p>
        </p:txBody>
      </p:sp>
      <p:sp>
        <p:nvSpPr>
          <p:cNvPr id="18" name="Text 15"/>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 IEA, Global Critical Minerals Outlook 2026 and 2025. Deficit figures are projections under the IEA base case.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REAL-WORLD EVIDENCE</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Case study I · Cobalt in the DR Congo</a:t>
            </a:r>
            <a:endParaRPr lang="en-US" sz="3000" dirty="0"/>
          </a:p>
        </p:txBody>
      </p:sp>
      <p:sp>
        <p:nvSpPr>
          <p:cNvPr id="4" name="Shape 2"/>
          <p:cNvSpPr/>
          <p:nvPr/>
        </p:nvSpPr>
        <p:spPr>
          <a:xfrm>
            <a:off x="640080" y="1316736"/>
            <a:ext cx="4846320" cy="4572000"/>
          </a:xfrm>
          <a:prstGeom prst="roundRect">
            <a:avLst>
              <a:gd name="adj" fmla="val 1200"/>
            </a:avLst>
          </a:prstGeom>
          <a:solidFill>
            <a:srgbClr val="15191F"/>
          </a:solidFill>
          <a:ln w="9525">
            <a:solidFill>
              <a:srgbClr val="15191F"/>
            </a:solidFill>
            <a:prstDash val="solid"/>
          </a:ln>
        </p:spPr>
      </p:sp>
      <p:sp>
        <p:nvSpPr>
          <p:cNvPr id="5" name="Text 3"/>
          <p:cNvSpPr/>
          <p:nvPr/>
        </p:nvSpPr>
        <p:spPr>
          <a:xfrm>
            <a:off x="969264" y="1517904"/>
            <a:ext cx="4206240" cy="310896"/>
          </a:xfrm>
          <a:prstGeom prst="rect">
            <a:avLst/>
          </a:prstGeom>
          <a:noFill/>
          <a:ln/>
        </p:spPr>
        <p:txBody>
          <a:bodyPr wrap="square" lIns="0" tIns="0" rIns="0" bIns="0" rtlCol="0" anchor="t"/>
          <a:lstStyle/>
          <a:p>
            <a:pPr indent="0" marL="0">
              <a:buNone/>
            </a:pPr>
            <a:r>
              <a:rPr lang="en-US" sz="1700" b="1" dirty="0">
                <a:solidFill>
                  <a:srgbClr val="E39A5C"/>
                </a:solidFill>
                <a:latin typeface="Cambria" pitchFamily="34" charset="0"/>
                <a:ea typeface="Cambria" pitchFamily="34" charset="-122"/>
                <a:cs typeface="Cambria" pitchFamily="34" charset="-120"/>
              </a:rPr>
              <a:t>The paradox of abundance</a:t>
            </a:r>
            <a:endParaRPr lang="en-US" sz="1700" dirty="0"/>
          </a:p>
        </p:txBody>
      </p:sp>
      <p:sp>
        <p:nvSpPr>
          <p:cNvPr id="6" name="Text 4"/>
          <p:cNvSpPr/>
          <p:nvPr/>
        </p:nvSpPr>
        <p:spPr>
          <a:xfrm>
            <a:off x="969264" y="1920240"/>
            <a:ext cx="4206240" cy="1005840"/>
          </a:xfrm>
          <a:prstGeom prst="rect">
            <a:avLst/>
          </a:prstGeom>
          <a:noFill/>
          <a:ln/>
        </p:spPr>
        <p:txBody>
          <a:bodyPr wrap="square" lIns="0" tIns="0" rIns="0" bIns="0" rtlCol="0" anchor="t"/>
          <a:lstStyle/>
          <a:p>
            <a:pPr indent="0" marL="0">
              <a:lnSpc>
                <a:spcPts val="1700"/>
              </a:lnSpc>
              <a:buNone/>
            </a:pPr>
            <a:r>
              <a:rPr lang="en-US" sz="1200" dirty="0">
                <a:solidFill>
                  <a:srgbClr val="AEBACA"/>
                </a:solidFill>
                <a:latin typeface="Calibri" pitchFamily="34" charset="0"/>
                <a:ea typeface="Calibri" pitchFamily="34" charset="-122"/>
                <a:cs typeface="Calibri" pitchFamily="34" charset="-120"/>
              </a:rPr>
              <a:t>The DRC supplies roughly three-quarters of the world’s cobalt and remains among the poorest countries on earth. The mineral leaves as concentrate; the value is added elsewhere.</a:t>
            </a:r>
            <a:endParaRPr lang="en-US" sz="1200" dirty="0"/>
          </a:p>
        </p:txBody>
      </p:sp>
      <p:sp>
        <p:nvSpPr>
          <p:cNvPr id="7" name="Text 5"/>
          <p:cNvSpPr/>
          <p:nvPr/>
        </p:nvSpPr>
        <p:spPr>
          <a:xfrm>
            <a:off x="969264" y="3127248"/>
            <a:ext cx="173736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~72%</a:t>
            </a:r>
            <a:endParaRPr lang="en-US" sz="2100" dirty="0"/>
          </a:p>
        </p:txBody>
      </p:sp>
      <p:sp>
        <p:nvSpPr>
          <p:cNvPr id="8" name="Text 6"/>
          <p:cNvSpPr/>
          <p:nvPr/>
        </p:nvSpPr>
        <p:spPr>
          <a:xfrm>
            <a:off x="2596896" y="3200400"/>
            <a:ext cx="2560320" cy="54864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of global cobalt output</a:t>
            </a:r>
            <a:endParaRPr lang="en-US" sz="1100" dirty="0"/>
          </a:p>
        </p:txBody>
      </p:sp>
      <p:sp>
        <p:nvSpPr>
          <p:cNvPr id="9" name="Text 7"/>
          <p:cNvSpPr/>
          <p:nvPr/>
        </p:nvSpPr>
        <p:spPr>
          <a:xfrm>
            <a:off x="969264" y="3986784"/>
            <a:ext cx="173736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150–250k</a:t>
            </a:r>
            <a:endParaRPr lang="en-US" sz="2100" dirty="0"/>
          </a:p>
        </p:txBody>
      </p:sp>
      <p:sp>
        <p:nvSpPr>
          <p:cNvPr id="10" name="Text 8"/>
          <p:cNvSpPr/>
          <p:nvPr/>
        </p:nvSpPr>
        <p:spPr>
          <a:xfrm>
            <a:off x="2596896" y="4059936"/>
            <a:ext cx="2560320" cy="54864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artisanal miners at 40+ sites</a:t>
            </a:r>
            <a:endParaRPr lang="en-US" sz="1100" dirty="0"/>
          </a:p>
        </p:txBody>
      </p:sp>
      <p:sp>
        <p:nvSpPr>
          <p:cNvPr id="11" name="Text 9"/>
          <p:cNvSpPr/>
          <p:nvPr/>
        </p:nvSpPr>
        <p:spPr>
          <a:xfrm>
            <a:off x="969264" y="4846320"/>
            <a:ext cx="173736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~40,000</a:t>
            </a:r>
            <a:endParaRPr lang="en-US" sz="2100" dirty="0"/>
          </a:p>
        </p:txBody>
      </p:sp>
      <p:sp>
        <p:nvSpPr>
          <p:cNvPr id="12" name="Text 10"/>
          <p:cNvSpPr/>
          <p:nvPr/>
        </p:nvSpPr>
        <p:spPr>
          <a:xfrm>
            <a:off x="2596896" y="4919472"/>
            <a:ext cx="2560320" cy="54864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children estimated in cobalt mining</a:t>
            </a:r>
            <a:endParaRPr lang="en-US" sz="1100" dirty="0"/>
          </a:p>
        </p:txBody>
      </p:sp>
      <p:sp>
        <p:nvSpPr>
          <p:cNvPr id="13" name="Shape 11"/>
          <p:cNvSpPr/>
          <p:nvPr/>
        </p:nvSpPr>
        <p:spPr>
          <a:xfrm>
            <a:off x="5797296" y="1316736"/>
            <a:ext cx="5751576" cy="1426464"/>
          </a:xfrm>
          <a:prstGeom prst="roundRect">
            <a:avLst>
              <a:gd name="adj" fmla="val 3846"/>
            </a:avLst>
          </a:prstGeom>
          <a:solidFill>
            <a:srgbClr val="F1F3F5"/>
          </a:solidFill>
          <a:ln w="9525">
            <a:solidFill>
              <a:srgbClr val="DFE4E9"/>
            </a:solidFill>
            <a:prstDash val="solid"/>
          </a:ln>
        </p:spPr>
      </p:sp>
      <p:sp>
        <p:nvSpPr>
          <p:cNvPr id="14" name="Text 12"/>
          <p:cNvSpPr/>
          <p:nvPr/>
        </p:nvSpPr>
        <p:spPr>
          <a:xfrm>
            <a:off x="6071616" y="1463040"/>
            <a:ext cx="5212080" cy="274320"/>
          </a:xfrm>
          <a:prstGeom prst="rect">
            <a:avLst/>
          </a:prstGeom>
          <a:noFill/>
          <a:ln/>
        </p:spPr>
        <p:txBody>
          <a:bodyPr wrap="square" lIns="0" tIns="0" rIns="0" bIns="0" rtlCol="0" anchor="t"/>
          <a:lstStyle/>
          <a:p>
            <a:pPr indent="0" marL="0">
              <a:buNone/>
            </a:pPr>
            <a:r>
              <a:rPr lang="en-US" sz="1400" b="1" dirty="0">
                <a:solidFill>
                  <a:srgbClr val="BE5F26"/>
                </a:solidFill>
                <a:latin typeface="Cambria" pitchFamily="34" charset="0"/>
                <a:ea typeface="Cambria" pitchFamily="34" charset="-122"/>
                <a:cs typeface="Cambria" pitchFamily="34" charset="-120"/>
              </a:rPr>
              <a:t>2025 · Export quotas</a:t>
            </a:r>
            <a:endParaRPr lang="en-US" sz="1400" dirty="0"/>
          </a:p>
        </p:txBody>
      </p:sp>
      <p:sp>
        <p:nvSpPr>
          <p:cNvPr id="15" name="Text 13"/>
          <p:cNvSpPr/>
          <p:nvPr/>
        </p:nvSpPr>
        <p:spPr>
          <a:xfrm>
            <a:off x="6071616" y="1792224"/>
            <a:ext cx="5212080" cy="859536"/>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Kinshasa halts, then replaces, free cobalt exports with a state-administered quota system run by ARECOMS — an explicit attempt to set price rather than accept it. Prices responded.</a:t>
            </a:r>
            <a:endParaRPr lang="en-US" sz="1100" dirty="0"/>
          </a:p>
        </p:txBody>
      </p:sp>
      <p:sp>
        <p:nvSpPr>
          <p:cNvPr id="16" name="Shape 14"/>
          <p:cNvSpPr/>
          <p:nvPr/>
        </p:nvSpPr>
        <p:spPr>
          <a:xfrm>
            <a:off x="5797296" y="2889504"/>
            <a:ext cx="5751576" cy="1426464"/>
          </a:xfrm>
          <a:prstGeom prst="roundRect">
            <a:avLst>
              <a:gd name="adj" fmla="val 3846"/>
            </a:avLst>
          </a:prstGeom>
          <a:solidFill>
            <a:srgbClr val="F1F3F5"/>
          </a:solidFill>
          <a:ln w="9525">
            <a:solidFill>
              <a:srgbClr val="DFE4E9"/>
            </a:solidFill>
            <a:prstDash val="solid"/>
          </a:ln>
        </p:spPr>
      </p:sp>
      <p:sp>
        <p:nvSpPr>
          <p:cNvPr id="17" name="Text 15"/>
          <p:cNvSpPr/>
          <p:nvPr/>
        </p:nvSpPr>
        <p:spPr>
          <a:xfrm>
            <a:off x="6071616" y="3035808"/>
            <a:ext cx="5212080" cy="274320"/>
          </a:xfrm>
          <a:prstGeom prst="rect">
            <a:avLst/>
          </a:prstGeom>
          <a:noFill/>
          <a:ln/>
        </p:spPr>
        <p:txBody>
          <a:bodyPr wrap="square" lIns="0" tIns="0" rIns="0" bIns="0" rtlCol="0" anchor="t"/>
          <a:lstStyle/>
          <a:p>
            <a:pPr indent="0" marL="0">
              <a:buNone/>
            </a:pPr>
            <a:r>
              <a:rPr lang="en-US" sz="1400" b="1" dirty="0">
                <a:solidFill>
                  <a:srgbClr val="BE5F26"/>
                </a:solidFill>
                <a:latin typeface="Cambria" pitchFamily="34" charset="0"/>
                <a:ea typeface="Cambria" pitchFamily="34" charset="-122"/>
                <a:cs typeface="Cambria" pitchFamily="34" charset="-120"/>
              </a:rPr>
              <a:t>2025 · The Washington Accords</a:t>
            </a:r>
            <a:endParaRPr lang="en-US" sz="1400" dirty="0"/>
          </a:p>
        </p:txBody>
      </p:sp>
      <p:sp>
        <p:nvSpPr>
          <p:cNvPr id="18" name="Text 16"/>
          <p:cNvSpPr/>
          <p:nvPr/>
        </p:nvSpPr>
        <p:spPr>
          <a:xfrm>
            <a:off x="6071616" y="3364992"/>
            <a:ext cx="5212080" cy="859536"/>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A US-brokered package pairs a DRC–Rwanda peace framework with a strategic minerals partnership and regional economic integration. Security and supply are negotiated in the same room.</a:t>
            </a:r>
            <a:endParaRPr lang="en-US" sz="1100" dirty="0"/>
          </a:p>
        </p:txBody>
      </p:sp>
      <p:sp>
        <p:nvSpPr>
          <p:cNvPr id="19" name="Shape 17"/>
          <p:cNvSpPr/>
          <p:nvPr/>
        </p:nvSpPr>
        <p:spPr>
          <a:xfrm>
            <a:off x="5797296" y="4462272"/>
            <a:ext cx="5751576" cy="1426464"/>
          </a:xfrm>
          <a:prstGeom prst="roundRect">
            <a:avLst>
              <a:gd name="adj" fmla="val 3846"/>
            </a:avLst>
          </a:prstGeom>
          <a:solidFill>
            <a:srgbClr val="F1F3F5"/>
          </a:solidFill>
          <a:ln w="9525">
            <a:solidFill>
              <a:srgbClr val="DFE4E9"/>
            </a:solidFill>
            <a:prstDash val="solid"/>
          </a:ln>
        </p:spPr>
      </p:sp>
      <p:sp>
        <p:nvSpPr>
          <p:cNvPr id="20" name="Text 18"/>
          <p:cNvSpPr/>
          <p:nvPr/>
        </p:nvSpPr>
        <p:spPr>
          <a:xfrm>
            <a:off x="6071616" y="4608576"/>
            <a:ext cx="5212080" cy="274320"/>
          </a:xfrm>
          <a:prstGeom prst="rect">
            <a:avLst/>
          </a:prstGeom>
          <a:noFill/>
          <a:ln/>
        </p:spPr>
        <p:txBody>
          <a:bodyPr wrap="square" lIns="0" tIns="0" rIns="0" bIns="0" rtlCol="0" anchor="t"/>
          <a:lstStyle/>
          <a:p>
            <a:pPr indent="0" marL="0">
              <a:buNone/>
            </a:pPr>
            <a:r>
              <a:rPr lang="en-US" sz="1400" b="1" dirty="0">
                <a:solidFill>
                  <a:srgbClr val="BE5F26"/>
                </a:solidFill>
                <a:latin typeface="Cambria" pitchFamily="34" charset="0"/>
                <a:ea typeface="Cambria" pitchFamily="34" charset="-122"/>
                <a:cs typeface="Cambria" pitchFamily="34" charset="-120"/>
              </a:rPr>
              <a:t>The unresolved core</a:t>
            </a:r>
            <a:endParaRPr lang="en-US" sz="1400" dirty="0"/>
          </a:p>
        </p:txBody>
      </p:sp>
      <p:sp>
        <p:nvSpPr>
          <p:cNvPr id="21" name="Text 19"/>
          <p:cNvSpPr/>
          <p:nvPr/>
        </p:nvSpPr>
        <p:spPr>
          <a:xfrm>
            <a:off x="6071616" y="4937760"/>
            <a:ext cx="5212080" cy="859536"/>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Armed groups remain active in mineral zones of the east. A minerals agreement can change who buys, and at what price; it has not yet changed who holds the ground.</a:t>
            </a:r>
            <a:endParaRPr lang="en-US" sz="1100" dirty="0"/>
          </a:p>
        </p:txBody>
      </p:sp>
      <p:sp>
        <p:nvSpPr>
          <p:cNvPr id="22" name="Text 20"/>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Sources: USGS Mineral Commodity Summaries 2025; World Bank cobalt market analysis; US Department of State; ILO and Save the Children field estimates.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REAL-WORLD EVIDENCE</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Case study II · Indonesia and the nickel ban</a:t>
            </a:r>
            <a:endParaRPr lang="en-US" sz="3000" dirty="0"/>
          </a:p>
        </p:txBody>
      </p:sp>
      <p:sp>
        <p:nvSpPr>
          <p:cNvPr id="4" name="Text 2"/>
          <p:cNvSpPr/>
          <p:nvPr/>
        </p:nvSpPr>
        <p:spPr>
          <a:xfrm>
            <a:off x="640080" y="1280160"/>
            <a:ext cx="10911535" cy="310896"/>
          </a:xfrm>
          <a:prstGeom prst="rect">
            <a:avLst/>
          </a:prstGeom>
          <a:noFill/>
          <a:ln/>
        </p:spPr>
        <p:txBody>
          <a:bodyPr wrap="square" lIns="0" tIns="0" rIns="0" bIns="0" rtlCol="0" anchor="t"/>
          <a:lstStyle/>
          <a:p>
            <a:pPr indent="0" marL="0">
              <a:buNone/>
            </a:pPr>
            <a:r>
              <a:rPr lang="en-US" sz="1300" dirty="0">
                <a:solidFill>
                  <a:srgbClr val="69737F"/>
                </a:solidFill>
                <a:latin typeface="Calibri" pitchFamily="34" charset="0"/>
                <a:ea typeface="Calibri" pitchFamily="34" charset="-122"/>
                <a:cs typeface="Calibri" pitchFamily="34" charset="-120"/>
              </a:rPr>
              <a:t>The most consequential resource-policy experiment of the decade: ban the export of raw ore, force processing onshore, accept the legal and environmental costs.</a:t>
            </a:r>
            <a:endParaRPr lang="en-US" sz="1300" dirty="0"/>
          </a:p>
        </p:txBody>
      </p:sp>
      <p:sp>
        <p:nvSpPr>
          <p:cNvPr id="5" name="Shape 3"/>
          <p:cNvSpPr/>
          <p:nvPr/>
        </p:nvSpPr>
        <p:spPr>
          <a:xfrm>
            <a:off x="640080" y="1719072"/>
            <a:ext cx="3454420" cy="1207008"/>
          </a:xfrm>
          <a:prstGeom prst="roundRect">
            <a:avLst>
              <a:gd name="adj" fmla="val 4545"/>
            </a:avLst>
          </a:prstGeom>
          <a:solidFill>
            <a:srgbClr val="15191F"/>
          </a:solidFill>
          <a:ln w="9525">
            <a:solidFill>
              <a:srgbClr val="15191F"/>
            </a:solidFill>
            <a:prstDash val="solid"/>
          </a:ln>
        </p:spPr>
      </p:sp>
      <p:sp>
        <p:nvSpPr>
          <p:cNvPr id="6" name="Text 4"/>
          <p:cNvSpPr/>
          <p:nvPr/>
        </p:nvSpPr>
        <p:spPr>
          <a:xfrm>
            <a:off x="914400" y="1847088"/>
            <a:ext cx="2905780" cy="457200"/>
          </a:xfrm>
          <a:prstGeom prst="rect">
            <a:avLst/>
          </a:prstGeom>
          <a:noFill/>
          <a:ln/>
        </p:spPr>
        <p:txBody>
          <a:bodyPr wrap="square" lIns="0" tIns="0" rIns="0" bIns="0" rtlCol="0" anchor="t"/>
          <a:lstStyle/>
          <a:p>
            <a:pPr indent="0" marL="0">
              <a:buNone/>
            </a:pPr>
            <a:r>
              <a:rPr lang="en-US" sz="2800" b="1" dirty="0">
                <a:solidFill>
                  <a:srgbClr val="E39A5C"/>
                </a:solidFill>
                <a:latin typeface="Cambria" pitchFamily="34" charset="0"/>
                <a:ea typeface="Cambria" pitchFamily="34" charset="-122"/>
                <a:cs typeface="Cambria" pitchFamily="34" charset="-120"/>
              </a:rPr>
              <a:t>~24×</a:t>
            </a:r>
            <a:endParaRPr lang="en-US" sz="2800" dirty="0"/>
          </a:p>
        </p:txBody>
      </p:sp>
      <p:sp>
        <p:nvSpPr>
          <p:cNvPr id="7" name="Text 5"/>
          <p:cNvSpPr/>
          <p:nvPr/>
        </p:nvSpPr>
        <p:spPr>
          <a:xfrm>
            <a:off x="914400" y="2377440"/>
            <a:ext cx="2905780" cy="45720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increase in export value added per tonne</a:t>
            </a:r>
            <a:endParaRPr lang="en-US" sz="1100" dirty="0"/>
          </a:p>
        </p:txBody>
      </p:sp>
      <p:sp>
        <p:nvSpPr>
          <p:cNvPr id="8" name="Shape 6"/>
          <p:cNvSpPr/>
          <p:nvPr/>
        </p:nvSpPr>
        <p:spPr>
          <a:xfrm>
            <a:off x="4368820" y="1719072"/>
            <a:ext cx="3454420" cy="1207008"/>
          </a:xfrm>
          <a:prstGeom prst="roundRect">
            <a:avLst>
              <a:gd name="adj" fmla="val 4545"/>
            </a:avLst>
          </a:prstGeom>
          <a:solidFill>
            <a:srgbClr val="15191F"/>
          </a:solidFill>
          <a:ln w="9525">
            <a:solidFill>
              <a:srgbClr val="15191F"/>
            </a:solidFill>
            <a:prstDash val="solid"/>
          </a:ln>
        </p:spPr>
      </p:sp>
      <p:sp>
        <p:nvSpPr>
          <p:cNvPr id="9" name="Text 7"/>
          <p:cNvSpPr/>
          <p:nvPr/>
        </p:nvSpPr>
        <p:spPr>
          <a:xfrm>
            <a:off x="4643140" y="1847088"/>
            <a:ext cx="2905780" cy="457200"/>
          </a:xfrm>
          <a:prstGeom prst="rect">
            <a:avLst/>
          </a:prstGeom>
          <a:noFill/>
          <a:ln/>
        </p:spPr>
        <p:txBody>
          <a:bodyPr wrap="square" lIns="0" tIns="0" rIns="0" bIns="0" rtlCol="0" anchor="t"/>
          <a:lstStyle/>
          <a:p>
            <a:pPr indent="0" marL="0">
              <a:buNone/>
            </a:pPr>
            <a:r>
              <a:rPr lang="en-US" sz="2800" b="1" dirty="0">
                <a:solidFill>
                  <a:srgbClr val="E39A5C"/>
                </a:solidFill>
                <a:latin typeface="Cambria" pitchFamily="34" charset="0"/>
                <a:ea typeface="Cambria" pitchFamily="34" charset="-122"/>
                <a:cs typeface="Cambria" pitchFamily="34" charset="-120"/>
              </a:rPr>
              <a:t>~56%</a:t>
            </a:r>
            <a:endParaRPr lang="en-US" sz="2800" dirty="0"/>
          </a:p>
        </p:txBody>
      </p:sp>
      <p:sp>
        <p:nvSpPr>
          <p:cNvPr id="10" name="Text 8"/>
          <p:cNvSpPr/>
          <p:nvPr/>
        </p:nvSpPr>
        <p:spPr>
          <a:xfrm>
            <a:off x="4643140" y="2377440"/>
            <a:ext cx="2905780" cy="45720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of world mined nickel now Indonesian</a:t>
            </a:r>
            <a:endParaRPr lang="en-US" sz="1100" dirty="0"/>
          </a:p>
        </p:txBody>
      </p:sp>
      <p:sp>
        <p:nvSpPr>
          <p:cNvPr id="11" name="Shape 9"/>
          <p:cNvSpPr/>
          <p:nvPr/>
        </p:nvSpPr>
        <p:spPr>
          <a:xfrm>
            <a:off x="8097561" y="1719072"/>
            <a:ext cx="3454420" cy="1207008"/>
          </a:xfrm>
          <a:prstGeom prst="roundRect">
            <a:avLst>
              <a:gd name="adj" fmla="val 4545"/>
            </a:avLst>
          </a:prstGeom>
          <a:solidFill>
            <a:srgbClr val="15191F"/>
          </a:solidFill>
          <a:ln w="9525">
            <a:solidFill>
              <a:srgbClr val="15191F"/>
            </a:solidFill>
            <a:prstDash val="solid"/>
          </a:ln>
        </p:spPr>
      </p:sp>
      <p:sp>
        <p:nvSpPr>
          <p:cNvPr id="12" name="Text 10"/>
          <p:cNvSpPr/>
          <p:nvPr/>
        </p:nvSpPr>
        <p:spPr>
          <a:xfrm>
            <a:off x="8371881" y="1847088"/>
            <a:ext cx="2905780" cy="457200"/>
          </a:xfrm>
          <a:prstGeom prst="rect">
            <a:avLst/>
          </a:prstGeom>
          <a:noFill/>
          <a:ln/>
        </p:spPr>
        <p:txBody>
          <a:bodyPr wrap="square" lIns="0" tIns="0" rIns="0" bIns="0" rtlCol="0" anchor="t"/>
          <a:lstStyle/>
          <a:p>
            <a:pPr indent="0" marL="0">
              <a:buNone/>
            </a:pPr>
            <a:r>
              <a:rPr lang="en-US" sz="2800" b="1" dirty="0">
                <a:solidFill>
                  <a:srgbClr val="E39A5C"/>
                </a:solidFill>
                <a:latin typeface="Cambria" pitchFamily="34" charset="0"/>
                <a:ea typeface="Cambria" pitchFamily="34" charset="-122"/>
                <a:cs typeface="Cambria" pitchFamily="34" charset="-120"/>
              </a:rPr>
              <a:t>47%</a:t>
            </a:r>
            <a:endParaRPr lang="en-US" sz="2800" dirty="0"/>
          </a:p>
        </p:txBody>
      </p:sp>
      <p:sp>
        <p:nvSpPr>
          <p:cNvPr id="13" name="Text 11"/>
          <p:cNvSpPr/>
          <p:nvPr/>
        </p:nvSpPr>
        <p:spPr>
          <a:xfrm>
            <a:off x="8371881" y="2377440"/>
            <a:ext cx="2905780" cy="457200"/>
          </a:xfrm>
          <a:prstGeom prst="rect">
            <a:avLst/>
          </a:prstGeom>
          <a:noFill/>
          <a:ln/>
        </p:spPr>
        <p:txBody>
          <a:bodyPr wrap="square" lIns="0" tIns="0" rIns="0" bIns="0" rtlCol="0" anchor="t"/>
          <a:lstStyle/>
          <a:p>
            <a:pPr indent="0" marL="0">
              <a:lnSpc>
                <a:spcPts val="1450"/>
              </a:lnSpc>
              <a:buNone/>
            </a:pPr>
            <a:r>
              <a:rPr lang="en-US" sz="1100" dirty="0">
                <a:solidFill>
                  <a:srgbClr val="AEBACA"/>
                </a:solidFill>
                <a:latin typeface="Calibri" pitchFamily="34" charset="0"/>
                <a:ea typeface="Calibri" pitchFamily="34" charset="-122"/>
                <a:cs typeface="Calibri" pitchFamily="34" charset="-120"/>
              </a:rPr>
              <a:t>share of global processed-nickel exports</a:t>
            </a:r>
            <a:endParaRPr lang="en-US" sz="1100" dirty="0"/>
          </a:p>
        </p:txBody>
      </p:sp>
      <p:sp>
        <p:nvSpPr>
          <p:cNvPr id="14" name="Shape 12"/>
          <p:cNvSpPr/>
          <p:nvPr/>
        </p:nvSpPr>
        <p:spPr>
          <a:xfrm>
            <a:off x="640080" y="3072384"/>
            <a:ext cx="3454420" cy="2926080"/>
          </a:xfrm>
          <a:prstGeom prst="roundRect">
            <a:avLst>
              <a:gd name="adj" fmla="val 1875"/>
            </a:avLst>
          </a:prstGeom>
          <a:solidFill>
            <a:srgbClr val="F1F3F5"/>
          </a:solidFill>
          <a:ln w="9525">
            <a:solidFill>
              <a:srgbClr val="DFE4E9"/>
            </a:solidFill>
            <a:prstDash val="solid"/>
          </a:ln>
        </p:spPr>
      </p:sp>
      <p:sp>
        <p:nvSpPr>
          <p:cNvPr id="15" name="Text 13"/>
          <p:cNvSpPr/>
          <p:nvPr/>
        </p:nvSpPr>
        <p:spPr>
          <a:xfrm>
            <a:off x="932688" y="3236976"/>
            <a:ext cx="2869204"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What worked</a:t>
            </a:r>
            <a:endParaRPr lang="en-US" sz="1450" dirty="0"/>
          </a:p>
        </p:txBody>
      </p:sp>
      <p:sp>
        <p:nvSpPr>
          <p:cNvPr id="16" name="Text 14"/>
          <p:cNvSpPr/>
          <p:nvPr/>
        </p:nvSpPr>
        <p:spPr>
          <a:xfrm>
            <a:off x="932688" y="3584448"/>
            <a:ext cx="2869204" cy="2286000"/>
          </a:xfrm>
          <a:prstGeom prst="rect">
            <a:avLst/>
          </a:prstGeom>
          <a:noFill/>
          <a:ln/>
        </p:spPr>
        <p:txBody>
          <a:bodyPr wrap="square" lIns="0" tIns="0" rIns="0" bIns="0" rtlCol="0" anchor="t"/>
          <a:lstStyle/>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The ban was credible and was not reversed under pressure.</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Smelting capacity followed within five years, not fifteen.</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Indonesia moved from price-taker to a state that adjusts world supply: the 2026 mining quota was cut sharply to defend prices.</a:t>
            </a:r>
            <a:endParaRPr lang="en-US" sz="1050" dirty="0"/>
          </a:p>
        </p:txBody>
      </p:sp>
      <p:sp>
        <p:nvSpPr>
          <p:cNvPr id="17" name="Shape 15"/>
          <p:cNvSpPr/>
          <p:nvPr/>
        </p:nvSpPr>
        <p:spPr>
          <a:xfrm>
            <a:off x="4368820" y="3072384"/>
            <a:ext cx="3454420" cy="2926080"/>
          </a:xfrm>
          <a:prstGeom prst="roundRect">
            <a:avLst>
              <a:gd name="adj" fmla="val 1875"/>
            </a:avLst>
          </a:prstGeom>
          <a:solidFill>
            <a:srgbClr val="F1F3F5"/>
          </a:solidFill>
          <a:ln w="9525">
            <a:solidFill>
              <a:srgbClr val="DFE4E9"/>
            </a:solidFill>
            <a:prstDash val="solid"/>
          </a:ln>
        </p:spPr>
      </p:sp>
      <p:sp>
        <p:nvSpPr>
          <p:cNvPr id="18" name="Text 16"/>
          <p:cNvSpPr/>
          <p:nvPr/>
        </p:nvSpPr>
        <p:spPr>
          <a:xfrm>
            <a:off x="4661428" y="3236976"/>
            <a:ext cx="2869204"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What it cost</a:t>
            </a:r>
            <a:endParaRPr lang="en-US" sz="1450" dirty="0"/>
          </a:p>
        </p:txBody>
      </p:sp>
      <p:sp>
        <p:nvSpPr>
          <p:cNvPr id="19" name="Text 17"/>
          <p:cNvSpPr/>
          <p:nvPr/>
        </p:nvSpPr>
        <p:spPr>
          <a:xfrm>
            <a:off x="4661428" y="3584448"/>
            <a:ext cx="2869204" cy="2286000"/>
          </a:xfrm>
          <a:prstGeom prst="rect">
            <a:avLst/>
          </a:prstGeom>
          <a:noFill/>
          <a:ln/>
        </p:spPr>
        <p:txBody>
          <a:bodyPr wrap="square" lIns="0" tIns="0" rIns="0" bIns="0" rtlCol="0" anchor="t"/>
          <a:lstStyle/>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A WTO panel found the ban inconsistent with trade rules; Indonesia appealed into a non-functioning Appellate Body.</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Most smelting capacity is Chinese-financed and Chinese-operated: the dependency changed shape rather than disappearing.</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Coal-fired processing and heavy deforestation in Sulawesi and Halmahera. The transition metal has a dirty first mile.</a:t>
            </a:r>
            <a:endParaRPr lang="en-US" sz="1050" dirty="0"/>
          </a:p>
        </p:txBody>
      </p:sp>
      <p:sp>
        <p:nvSpPr>
          <p:cNvPr id="20" name="Shape 18"/>
          <p:cNvSpPr/>
          <p:nvPr/>
        </p:nvSpPr>
        <p:spPr>
          <a:xfrm>
            <a:off x="8097561" y="3072384"/>
            <a:ext cx="3454420" cy="2926080"/>
          </a:xfrm>
          <a:prstGeom prst="roundRect">
            <a:avLst>
              <a:gd name="adj" fmla="val 1875"/>
            </a:avLst>
          </a:prstGeom>
          <a:solidFill>
            <a:srgbClr val="F1F3F5"/>
          </a:solidFill>
          <a:ln w="9525">
            <a:solidFill>
              <a:srgbClr val="DFE4E9"/>
            </a:solidFill>
            <a:prstDash val="solid"/>
          </a:ln>
        </p:spPr>
      </p:sp>
      <p:sp>
        <p:nvSpPr>
          <p:cNvPr id="21" name="Text 19"/>
          <p:cNvSpPr/>
          <p:nvPr/>
        </p:nvSpPr>
        <p:spPr>
          <a:xfrm>
            <a:off x="8390169" y="3236976"/>
            <a:ext cx="2869204"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What travels</a:t>
            </a:r>
            <a:endParaRPr lang="en-US" sz="1450" dirty="0"/>
          </a:p>
        </p:txBody>
      </p:sp>
      <p:sp>
        <p:nvSpPr>
          <p:cNvPr id="22" name="Text 20"/>
          <p:cNvSpPr/>
          <p:nvPr/>
        </p:nvSpPr>
        <p:spPr>
          <a:xfrm>
            <a:off x="8390169" y="3584448"/>
            <a:ext cx="2869204" cy="2286000"/>
          </a:xfrm>
          <a:prstGeom prst="rect">
            <a:avLst/>
          </a:prstGeom>
          <a:noFill/>
          <a:ln/>
        </p:spPr>
        <p:txBody>
          <a:bodyPr wrap="square" lIns="0" tIns="0" rIns="0" bIns="0" rtlCol="0" anchor="t"/>
          <a:lstStyle/>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Scale and a captive investor made this work. Few states have both.</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The lesson generalises as sequencing, not prohibition: tie market access to committed processing investment.</a:t>
            </a:r>
            <a:endParaRPr lang="en-US" sz="1050" dirty="0"/>
          </a:p>
          <a:p>
            <a:pPr marL="342900" indent="-342900">
              <a:lnSpc>
                <a:spcPts val="1450"/>
              </a:lnSpc>
              <a:spcAft>
                <a:spcPts val="700"/>
              </a:spcAft>
              <a:buSzPct val="100000"/>
              <a:buChar char="•"/>
            </a:pPr>
            <a:r>
              <a:rPr lang="en-US" sz="1050" dirty="0">
                <a:solidFill>
                  <a:srgbClr val="69737F"/>
                </a:solidFill>
                <a:latin typeface="Calibri" pitchFamily="34" charset="0"/>
                <a:ea typeface="Calibri" pitchFamily="34" charset="-122"/>
                <a:cs typeface="Calibri" pitchFamily="34" charset="-120"/>
              </a:rPr>
              <a:t>Value capture without governance conditions reproduces dependency at a higher price point.</a:t>
            </a:r>
            <a:endParaRPr lang="en-US" sz="1050" dirty="0"/>
          </a:p>
        </p:txBody>
      </p:sp>
      <p:sp>
        <p:nvSpPr>
          <p:cNvPr id="23" name="Text 21"/>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Sources: CSIS, Charting Geoeconomics; African Development Bank case study on nickel value addition; Argus and ANTARA on the 2026 RKAB quotas; WTO DS592.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91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E39A5C"/>
                </a:solidFill>
                <a:latin typeface="Calibri" pitchFamily="34" charset="0"/>
                <a:ea typeface="Calibri" pitchFamily="34" charset="-122"/>
                <a:cs typeface="Calibri" pitchFamily="34" charset="-120"/>
              </a:rPr>
              <a:t>ECONOMIC STATECRAFT</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From restriction to architecture</a:t>
            </a:r>
            <a:endParaRPr lang="en-US" sz="3000" dirty="0"/>
          </a:p>
        </p:txBody>
      </p:sp>
      <p:sp>
        <p:nvSpPr>
          <p:cNvPr id="4" name="Shape 2"/>
          <p:cNvSpPr/>
          <p:nvPr/>
        </p:nvSpPr>
        <p:spPr>
          <a:xfrm>
            <a:off x="640080" y="1499616"/>
            <a:ext cx="384048" cy="384048"/>
          </a:xfrm>
          <a:prstGeom prst="roundRect">
            <a:avLst>
              <a:gd name="adj" fmla="val 11905"/>
            </a:avLst>
          </a:prstGeom>
          <a:solidFill>
            <a:srgbClr val="BE5F26"/>
          </a:solidFill>
          <a:ln/>
        </p:spPr>
      </p:sp>
      <p:sp>
        <p:nvSpPr>
          <p:cNvPr id="5" name="Text 3"/>
          <p:cNvSpPr/>
          <p:nvPr/>
        </p:nvSpPr>
        <p:spPr>
          <a:xfrm>
            <a:off x="640080" y="14996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6" name="Text 4"/>
          <p:cNvSpPr/>
          <p:nvPr/>
        </p:nvSpPr>
        <p:spPr>
          <a:xfrm>
            <a:off x="1207008" y="1463040"/>
            <a:ext cx="1371600" cy="274320"/>
          </a:xfrm>
          <a:prstGeom prst="rect">
            <a:avLst/>
          </a:prstGeom>
          <a:noFill/>
          <a:ln/>
        </p:spPr>
        <p:txBody>
          <a:bodyPr wrap="square" lIns="0" tIns="0" rIns="0" bIns="0" rtlCol="0" anchor="t"/>
          <a:lstStyle/>
          <a:p>
            <a:pPr indent="0" marL="0">
              <a:buNone/>
            </a:pPr>
            <a:r>
              <a:rPr lang="en-US" sz="1400" b="1" dirty="0">
                <a:solidFill>
                  <a:srgbClr val="E39A5C"/>
                </a:solidFill>
                <a:latin typeface="Cambria" pitchFamily="34" charset="0"/>
                <a:ea typeface="Cambria" pitchFamily="34" charset="-122"/>
                <a:cs typeface="Cambria" pitchFamily="34" charset="-120"/>
              </a:rPr>
              <a:t>Dec 2024</a:t>
            </a:r>
            <a:endParaRPr lang="en-US" sz="1400" dirty="0"/>
          </a:p>
        </p:txBody>
      </p:sp>
      <p:sp>
        <p:nvSpPr>
          <p:cNvPr id="7" name="Text 5"/>
          <p:cNvSpPr/>
          <p:nvPr/>
        </p:nvSpPr>
        <p:spPr>
          <a:xfrm>
            <a:off x="2651760" y="1463040"/>
            <a:ext cx="5029200" cy="822960"/>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Outright prohibition on gallium, germanium and antimony exports to the United States — inputs to semiconductors, optics and munitions.</a:t>
            </a:r>
            <a:endParaRPr lang="en-US" sz="1150" dirty="0"/>
          </a:p>
        </p:txBody>
      </p:sp>
      <p:sp>
        <p:nvSpPr>
          <p:cNvPr id="8" name="Shape 6"/>
          <p:cNvSpPr/>
          <p:nvPr/>
        </p:nvSpPr>
        <p:spPr>
          <a:xfrm>
            <a:off x="640080" y="2560320"/>
            <a:ext cx="384048" cy="384048"/>
          </a:xfrm>
          <a:prstGeom prst="roundRect">
            <a:avLst>
              <a:gd name="adj" fmla="val 11905"/>
            </a:avLst>
          </a:prstGeom>
          <a:solidFill>
            <a:srgbClr val="BE5F26"/>
          </a:solidFill>
          <a:ln/>
        </p:spPr>
      </p:sp>
      <p:sp>
        <p:nvSpPr>
          <p:cNvPr id="9" name="Text 7"/>
          <p:cNvSpPr/>
          <p:nvPr/>
        </p:nvSpPr>
        <p:spPr>
          <a:xfrm>
            <a:off x="640080" y="256032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0" name="Text 8"/>
          <p:cNvSpPr/>
          <p:nvPr/>
        </p:nvSpPr>
        <p:spPr>
          <a:xfrm>
            <a:off x="1207008" y="2523744"/>
            <a:ext cx="1371600" cy="274320"/>
          </a:xfrm>
          <a:prstGeom prst="rect">
            <a:avLst/>
          </a:prstGeom>
          <a:noFill/>
          <a:ln/>
        </p:spPr>
        <p:txBody>
          <a:bodyPr wrap="square" lIns="0" tIns="0" rIns="0" bIns="0" rtlCol="0" anchor="t"/>
          <a:lstStyle/>
          <a:p>
            <a:pPr indent="0" marL="0">
              <a:buNone/>
            </a:pPr>
            <a:r>
              <a:rPr lang="en-US" sz="1400" b="1" dirty="0">
                <a:solidFill>
                  <a:srgbClr val="E39A5C"/>
                </a:solidFill>
                <a:latin typeface="Cambria" pitchFamily="34" charset="0"/>
                <a:ea typeface="Cambria" pitchFamily="34" charset="-122"/>
                <a:cs typeface="Cambria" pitchFamily="34" charset="-120"/>
              </a:rPr>
              <a:t>Apr 2025</a:t>
            </a:r>
            <a:endParaRPr lang="en-US" sz="1400" dirty="0"/>
          </a:p>
        </p:txBody>
      </p:sp>
      <p:sp>
        <p:nvSpPr>
          <p:cNvPr id="11" name="Text 9"/>
          <p:cNvSpPr/>
          <p:nvPr/>
        </p:nvSpPr>
        <p:spPr>
          <a:xfrm>
            <a:off x="2651760" y="2523744"/>
            <a:ext cx="5029200" cy="822960"/>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Seven medium and heavy rare earths added to the control list, including dysprosium and terbium: the elements that let a magnet survive heat.</a:t>
            </a:r>
            <a:endParaRPr lang="en-US" sz="1150" dirty="0"/>
          </a:p>
        </p:txBody>
      </p:sp>
      <p:sp>
        <p:nvSpPr>
          <p:cNvPr id="12" name="Shape 10"/>
          <p:cNvSpPr/>
          <p:nvPr/>
        </p:nvSpPr>
        <p:spPr>
          <a:xfrm>
            <a:off x="640080" y="3621024"/>
            <a:ext cx="384048" cy="384048"/>
          </a:xfrm>
          <a:prstGeom prst="roundRect">
            <a:avLst>
              <a:gd name="adj" fmla="val 11905"/>
            </a:avLst>
          </a:prstGeom>
          <a:solidFill>
            <a:srgbClr val="BE5F26"/>
          </a:solidFill>
          <a:ln/>
        </p:spPr>
      </p:sp>
      <p:sp>
        <p:nvSpPr>
          <p:cNvPr id="13" name="Text 11"/>
          <p:cNvSpPr/>
          <p:nvPr/>
        </p:nvSpPr>
        <p:spPr>
          <a:xfrm>
            <a:off x="640080" y="362102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4" name="Text 12"/>
          <p:cNvSpPr/>
          <p:nvPr/>
        </p:nvSpPr>
        <p:spPr>
          <a:xfrm>
            <a:off x="1207008" y="3584448"/>
            <a:ext cx="1371600" cy="274320"/>
          </a:xfrm>
          <a:prstGeom prst="rect">
            <a:avLst/>
          </a:prstGeom>
          <a:noFill/>
          <a:ln/>
        </p:spPr>
        <p:txBody>
          <a:bodyPr wrap="square" lIns="0" tIns="0" rIns="0" bIns="0" rtlCol="0" anchor="t"/>
          <a:lstStyle/>
          <a:p>
            <a:pPr indent="0" marL="0">
              <a:buNone/>
            </a:pPr>
            <a:r>
              <a:rPr lang="en-US" sz="1400" b="1" dirty="0">
                <a:solidFill>
                  <a:srgbClr val="E39A5C"/>
                </a:solidFill>
                <a:latin typeface="Cambria" pitchFamily="34" charset="0"/>
                <a:ea typeface="Cambria" pitchFamily="34" charset="-122"/>
                <a:cs typeface="Cambria" pitchFamily="34" charset="-120"/>
              </a:rPr>
              <a:t>Oct 2025</a:t>
            </a:r>
            <a:endParaRPr lang="en-US" sz="1400" dirty="0"/>
          </a:p>
        </p:txBody>
      </p:sp>
      <p:sp>
        <p:nvSpPr>
          <p:cNvPr id="15" name="Text 13"/>
          <p:cNvSpPr/>
          <p:nvPr/>
        </p:nvSpPr>
        <p:spPr>
          <a:xfrm>
            <a:off x="2651760" y="3584448"/>
            <a:ext cx="5029200" cy="822960"/>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Controls extended extraterritorially to foreign-made goods containing Chinese-origin rare earths or produced with Chinese technology.</a:t>
            </a:r>
            <a:endParaRPr lang="en-US" sz="1150" dirty="0"/>
          </a:p>
        </p:txBody>
      </p:sp>
      <p:sp>
        <p:nvSpPr>
          <p:cNvPr id="16" name="Shape 14"/>
          <p:cNvSpPr/>
          <p:nvPr/>
        </p:nvSpPr>
        <p:spPr>
          <a:xfrm>
            <a:off x="640080" y="4681728"/>
            <a:ext cx="384048" cy="384048"/>
          </a:xfrm>
          <a:prstGeom prst="roundRect">
            <a:avLst>
              <a:gd name="adj" fmla="val 11905"/>
            </a:avLst>
          </a:prstGeom>
          <a:solidFill>
            <a:srgbClr val="2C7A72"/>
          </a:solidFill>
          <a:ln/>
        </p:spPr>
      </p:sp>
      <p:sp>
        <p:nvSpPr>
          <p:cNvPr id="17" name="Text 15"/>
          <p:cNvSpPr/>
          <p:nvPr/>
        </p:nvSpPr>
        <p:spPr>
          <a:xfrm>
            <a:off x="640080" y="468172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18" name="Text 16"/>
          <p:cNvSpPr/>
          <p:nvPr/>
        </p:nvSpPr>
        <p:spPr>
          <a:xfrm>
            <a:off x="1207008" y="4645152"/>
            <a:ext cx="1371600" cy="274320"/>
          </a:xfrm>
          <a:prstGeom prst="rect">
            <a:avLst/>
          </a:prstGeom>
          <a:noFill/>
          <a:ln/>
        </p:spPr>
        <p:txBody>
          <a:bodyPr wrap="square" lIns="0" tIns="0" rIns="0" bIns="0" rtlCol="0" anchor="t"/>
          <a:lstStyle/>
          <a:p>
            <a:pPr indent="0" marL="0">
              <a:buNone/>
            </a:pPr>
            <a:r>
              <a:rPr lang="en-US" sz="1400" b="1" dirty="0">
                <a:solidFill>
                  <a:srgbClr val="E39A5C"/>
                </a:solidFill>
                <a:latin typeface="Cambria" pitchFamily="34" charset="0"/>
                <a:ea typeface="Cambria" pitchFamily="34" charset="-122"/>
                <a:cs typeface="Cambria" pitchFamily="34" charset="-120"/>
              </a:rPr>
              <a:t>Nov 2025</a:t>
            </a:r>
            <a:endParaRPr lang="en-US" sz="1400" dirty="0"/>
          </a:p>
        </p:txBody>
      </p:sp>
      <p:sp>
        <p:nvSpPr>
          <p:cNvPr id="19" name="Text 17"/>
          <p:cNvSpPr/>
          <p:nvPr/>
        </p:nvSpPr>
        <p:spPr>
          <a:xfrm>
            <a:off x="2651760" y="4645152"/>
            <a:ext cx="5029200" cy="822960"/>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After the Busan leaders’ meeting, key measures are suspended for one year to November 2026 — suspended, not withdrawn.</a:t>
            </a:r>
            <a:endParaRPr lang="en-US" sz="1150" dirty="0"/>
          </a:p>
        </p:txBody>
      </p:sp>
      <p:sp>
        <p:nvSpPr>
          <p:cNvPr id="20" name="Shape 18"/>
          <p:cNvSpPr/>
          <p:nvPr/>
        </p:nvSpPr>
        <p:spPr>
          <a:xfrm>
            <a:off x="7772400" y="1463040"/>
            <a:ext cx="3776472" cy="2286000"/>
          </a:xfrm>
          <a:prstGeom prst="roundRect">
            <a:avLst>
              <a:gd name="adj" fmla="val 2400"/>
            </a:avLst>
          </a:prstGeom>
          <a:solidFill>
            <a:srgbClr val="222B36"/>
          </a:solidFill>
          <a:ln w="9525">
            <a:solidFill>
              <a:srgbClr val="222B36"/>
            </a:solidFill>
            <a:prstDash val="solid"/>
          </a:ln>
        </p:spPr>
      </p:sp>
      <p:sp>
        <p:nvSpPr>
          <p:cNvPr id="21" name="Text 19"/>
          <p:cNvSpPr/>
          <p:nvPr/>
        </p:nvSpPr>
        <p:spPr>
          <a:xfrm>
            <a:off x="8065008" y="1645920"/>
            <a:ext cx="3291840" cy="457200"/>
          </a:xfrm>
          <a:prstGeom prst="rect">
            <a:avLst/>
          </a:prstGeom>
          <a:noFill/>
          <a:ln/>
        </p:spPr>
        <p:txBody>
          <a:bodyPr wrap="square" lIns="0" tIns="0" rIns="0" bIns="0" rtlCol="0" anchor="t"/>
          <a:lstStyle/>
          <a:p>
            <a:pPr indent="0" marL="0">
              <a:buNone/>
            </a:pPr>
            <a:r>
              <a:rPr lang="en-US" sz="2700" b="1" dirty="0">
                <a:solidFill>
                  <a:srgbClr val="E39A5C"/>
                </a:solidFill>
                <a:latin typeface="Cambria" pitchFamily="34" charset="0"/>
                <a:ea typeface="Cambria" pitchFamily="34" charset="-122"/>
                <a:cs typeface="Cambria" pitchFamily="34" charset="-120"/>
              </a:rPr>
              <a:t>USD 6.5 trillion</a:t>
            </a:r>
            <a:endParaRPr lang="en-US" sz="2700" dirty="0"/>
          </a:p>
        </p:txBody>
      </p:sp>
      <p:sp>
        <p:nvSpPr>
          <p:cNvPr id="22" name="Text 20"/>
          <p:cNvSpPr/>
          <p:nvPr/>
        </p:nvSpPr>
        <p:spPr>
          <a:xfrm>
            <a:off x="8065008" y="2194560"/>
            <a:ext cx="3200400" cy="1371600"/>
          </a:xfrm>
          <a:prstGeom prst="rect">
            <a:avLst/>
          </a:prstGeom>
          <a:noFill/>
          <a:ln/>
        </p:spPr>
        <p:txBody>
          <a:bodyPr wrap="square" lIns="0" tIns="0" rIns="0" bIns="0" rtlCol="0" anchor="t"/>
          <a:lstStyle/>
          <a:p>
            <a:pPr indent="0" marL="0">
              <a:lnSpc>
                <a:spcPts val="1600"/>
              </a:lnSpc>
              <a:buNone/>
            </a:pPr>
            <a:r>
              <a:rPr lang="en-US" sz="1150" dirty="0">
                <a:solidFill>
                  <a:srgbClr val="AEBACA"/>
                </a:solidFill>
                <a:latin typeface="Calibri" pitchFamily="34" charset="0"/>
                <a:ea typeface="Calibri" pitchFamily="34" charset="-122"/>
                <a:cs typeface="Calibri" pitchFamily="34" charset="-120"/>
              </a:rPr>
              <a:t>of automotive, defence, energy and high-technology production outside China judged exposed if the October 2025 measures are fully implemented.</a:t>
            </a:r>
            <a:endParaRPr lang="en-US" sz="1150" dirty="0"/>
          </a:p>
        </p:txBody>
      </p:sp>
      <p:sp>
        <p:nvSpPr>
          <p:cNvPr id="23" name="Shape 21"/>
          <p:cNvSpPr/>
          <p:nvPr/>
        </p:nvSpPr>
        <p:spPr>
          <a:xfrm>
            <a:off x="7772400" y="3895344"/>
            <a:ext cx="3776472" cy="1773936"/>
          </a:xfrm>
          <a:prstGeom prst="roundRect">
            <a:avLst>
              <a:gd name="adj" fmla="val 3093"/>
            </a:avLst>
          </a:prstGeom>
          <a:solidFill>
            <a:srgbClr val="222B36"/>
          </a:solidFill>
          <a:ln w="9525">
            <a:solidFill>
              <a:srgbClr val="222B36"/>
            </a:solidFill>
            <a:prstDash val="solid"/>
          </a:ln>
        </p:spPr>
      </p:sp>
      <p:sp>
        <p:nvSpPr>
          <p:cNvPr id="24" name="Text 22"/>
          <p:cNvSpPr/>
          <p:nvPr/>
        </p:nvSpPr>
        <p:spPr>
          <a:xfrm>
            <a:off x="8065008" y="4078224"/>
            <a:ext cx="3200400" cy="310896"/>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The suspension is the message</a:t>
            </a:r>
            <a:endParaRPr lang="en-US" sz="1400" dirty="0"/>
          </a:p>
        </p:txBody>
      </p:sp>
      <p:sp>
        <p:nvSpPr>
          <p:cNvPr id="25" name="Text 23"/>
          <p:cNvSpPr/>
          <p:nvPr/>
        </p:nvSpPr>
        <p:spPr>
          <a:xfrm>
            <a:off x="8065008" y="4425696"/>
            <a:ext cx="3200400" cy="1133856"/>
          </a:xfrm>
          <a:prstGeom prst="rect">
            <a:avLst/>
          </a:prstGeom>
          <a:noFill/>
          <a:ln/>
        </p:spPr>
        <p:txBody>
          <a:bodyPr wrap="square" lIns="0" tIns="0" rIns="0" bIns="0" rtlCol="0" anchor="t"/>
          <a:lstStyle/>
          <a:p>
            <a:pPr indent="0" marL="0">
              <a:lnSpc>
                <a:spcPts val="1450"/>
              </a:lnSpc>
              <a:buNone/>
            </a:pPr>
            <a:r>
              <a:rPr lang="en-US" sz="1050" dirty="0">
                <a:solidFill>
                  <a:srgbClr val="AEBACA"/>
                </a:solidFill>
                <a:latin typeface="Calibri" pitchFamily="34" charset="0"/>
                <a:ea typeface="Calibri" pitchFamily="34" charset="-122"/>
                <a:cs typeface="Calibri" pitchFamily="34" charset="-120"/>
              </a:rPr>
              <a:t>A control that is lifted for twelve months and can be reimposed is more useful than one permanently in force. It keeps the dependency priced into every board decision without triggering the substitution a permanent embargo would.</a:t>
            </a:r>
            <a:endParaRPr lang="en-US" sz="1050" dirty="0"/>
          </a:p>
        </p:txBody>
      </p:sp>
      <p:sp>
        <p:nvSpPr>
          <p:cNvPr id="26" name="Text 24"/>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7C889A"/>
                </a:solidFill>
                <a:latin typeface="Calibri" pitchFamily="34" charset="0"/>
                <a:ea typeface="Calibri" pitchFamily="34" charset="-122"/>
                <a:cs typeface="Calibri" pitchFamily="34" charset="-120"/>
              </a:rPr>
              <a:t>Sources: China MOFCOM announcements; CSIS; Pillsbury Law analysis of the November 2025 suspension; IEA, Global Critical Minerals Outlook 2026.</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REGIONAL AND INTERNATIONAL IMPLICATIONS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How the pressure lands, region by region</a:t>
            </a:r>
            <a:endParaRPr lang="en-US" sz="3000" dirty="0"/>
          </a:p>
        </p:txBody>
      </p:sp>
      <p:sp>
        <p:nvSpPr>
          <p:cNvPr id="4" name="Shape 2"/>
          <p:cNvSpPr/>
          <p:nvPr/>
        </p:nvSpPr>
        <p:spPr>
          <a:xfrm>
            <a:off x="640080" y="1353312"/>
            <a:ext cx="3454420" cy="2212848"/>
          </a:xfrm>
          <a:prstGeom prst="roundRect">
            <a:avLst>
              <a:gd name="adj" fmla="val 2479"/>
            </a:avLst>
          </a:prstGeom>
          <a:solidFill>
            <a:srgbClr val="F1F3F5"/>
          </a:solidFill>
          <a:ln w="9525">
            <a:solidFill>
              <a:srgbClr val="DFE4E9"/>
            </a:solidFill>
            <a:prstDash val="solid"/>
          </a:ln>
        </p:spPr>
      </p:sp>
      <p:sp>
        <p:nvSpPr>
          <p:cNvPr id="5" name="Text 3"/>
          <p:cNvSpPr/>
          <p:nvPr/>
        </p:nvSpPr>
        <p:spPr>
          <a:xfrm>
            <a:off x="914400" y="1536192"/>
            <a:ext cx="2905780" cy="329184"/>
          </a:xfrm>
          <a:prstGeom prst="rect">
            <a:avLst/>
          </a:prstGeom>
          <a:noFill/>
          <a:ln/>
        </p:spPr>
        <p:txBody>
          <a:bodyPr wrap="square" lIns="0" tIns="0" rIns="0" bIns="0" rtlCol="0" anchor="t"/>
          <a:lstStyle/>
          <a:p>
            <a:pPr indent="0" marL="0">
              <a:buNone/>
            </a:pPr>
            <a:r>
              <a:rPr lang="en-US" sz="1500" b="1" dirty="0">
                <a:solidFill>
                  <a:srgbClr val="BE5F26"/>
                </a:solidFill>
                <a:latin typeface="Cambria" pitchFamily="34" charset="0"/>
                <a:ea typeface="Cambria" pitchFamily="34" charset="-122"/>
                <a:cs typeface="Cambria" pitchFamily="34" charset="-120"/>
              </a:rPr>
              <a:t>Africa</a:t>
            </a:r>
            <a:endParaRPr lang="en-US" sz="1500" dirty="0"/>
          </a:p>
        </p:txBody>
      </p:sp>
      <p:sp>
        <p:nvSpPr>
          <p:cNvPr id="6" name="Text 4"/>
          <p:cNvSpPr/>
          <p:nvPr/>
        </p:nvSpPr>
        <p:spPr>
          <a:xfrm>
            <a:off x="914400" y="1920240"/>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Roughly 30% of world mineral reserves and a very small share of world processing. The question is whether the African Green Minerals Strategy and the AfCFTA can build regional processing corridors before bilateral deals lock the ore into export-only contracts.</a:t>
            </a:r>
            <a:endParaRPr lang="en-US" sz="1050" dirty="0"/>
          </a:p>
        </p:txBody>
      </p:sp>
      <p:sp>
        <p:nvSpPr>
          <p:cNvPr id="7" name="Shape 5"/>
          <p:cNvSpPr/>
          <p:nvPr/>
        </p:nvSpPr>
        <p:spPr>
          <a:xfrm>
            <a:off x="4368820" y="1353312"/>
            <a:ext cx="3454420" cy="2212848"/>
          </a:xfrm>
          <a:prstGeom prst="roundRect">
            <a:avLst>
              <a:gd name="adj" fmla="val 2479"/>
            </a:avLst>
          </a:prstGeom>
          <a:solidFill>
            <a:srgbClr val="F1F3F5"/>
          </a:solidFill>
          <a:ln w="9525">
            <a:solidFill>
              <a:srgbClr val="DFE4E9"/>
            </a:solidFill>
            <a:prstDash val="solid"/>
          </a:ln>
        </p:spPr>
      </p:sp>
      <p:sp>
        <p:nvSpPr>
          <p:cNvPr id="8" name="Text 6"/>
          <p:cNvSpPr/>
          <p:nvPr/>
        </p:nvSpPr>
        <p:spPr>
          <a:xfrm>
            <a:off x="4643140" y="1536192"/>
            <a:ext cx="2905780" cy="329184"/>
          </a:xfrm>
          <a:prstGeom prst="rect">
            <a:avLst/>
          </a:prstGeom>
          <a:noFill/>
          <a:ln/>
        </p:spPr>
        <p:txBody>
          <a:bodyPr wrap="square" lIns="0" tIns="0" rIns="0" bIns="0" rtlCol="0" anchor="t"/>
          <a:lstStyle/>
          <a:p>
            <a:pPr indent="0" marL="0">
              <a:buNone/>
            </a:pPr>
            <a:r>
              <a:rPr lang="en-US" sz="1500" b="1" dirty="0">
                <a:solidFill>
                  <a:srgbClr val="BE5F26"/>
                </a:solidFill>
                <a:latin typeface="Cambria" pitchFamily="34" charset="0"/>
                <a:ea typeface="Cambria" pitchFamily="34" charset="-122"/>
                <a:cs typeface="Cambria" pitchFamily="34" charset="-120"/>
              </a:rPr>
              <a:t>Latin America</a:t>
            </a:r>
            <a:endParaRPr lang="en-US" sz="1500" dirty="0"/>
          </a:p>
        </p:txBody>
      </p:sp>
      <p:sp>
        <p:nvSpPr>
          <p:cNvPr id="9" name="Text 7"/>
          <p:cNvSpPr/>
          <p:nvPr/>
        </p:nvSpPr>
        <p:spPr>
          <a:xfrm>
            <a:off x="4643140" y="1920240"/>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The lithium triangle holds the cheapest brine resource on earth alongside acute water conflict in Atacama and the salt flats. Chile, Bolivia and Argentina have each chosen a different balance of state control — a live natural experiment.</a:t>
            </a:r>
            <a:endParaRPr lang="en-US" sz="1050" dirty="0"/>
          </a:p>
        </p:txBody>
      </p:sp>
      <p:sp>
        <p:nvSpPr>
          <p:cNvPr id="10" name="Shape 8"/>
          <p:cNvSpPr/>
          <p:nvPr/>
        </p:nvSpPr>
        <p:spPr>
          <a:xfrm>
            <a:off x="8097561" y="1353312"/>
            <a:ext cx="3454420" cy="2212848"/>
          </a:xfrm>
          <a:prstGeom prst="roundRect">
            <a:avLst>
              <a:gd name="adj" fmla="val 2479"/>
            </a:avLst>
          </a:prstGeom>
          <a:solidFill>
            <a:srgbClr val="F1F3F5"/>
          </a:solidFill>
          <a:ln w="9525">
            <a:solidFill>
              <a:srgbClr val="DFE4E9"/>
            </a:solidFill>
            <a:prstDash val="solid"/>
          </a:ln>
        </p:spPr>
      </p:sp>
      <p:sp>
        <p:nvSpPr>
          <p:cNvPr id="11" name="Text 9"/>
          <p:cNvSpPr/>
          <p:nvPr/>
        </p:nvSpPr>
        <p:spPr>
          <a:xfrm>
            <a:off x="8371881" y="1536192"/>
            <a:ext cx="2905780" cy="329184"/>
          </a:xfrm>
          <a:prstGeom prst="rect">
            <a:avLst/>
          </a:prstGeom>
          <a:noFill/>
          <a:ln/>
        </p:spPr>
        <p:txBody>
          <a:bodyPr wrap="square" lIns="0" tIns="0" rIns="0" bIns="0" rtlCol="0" anchor="t"/>
          <a:lstStyle/>
          <a:p>
            <a:pPr indent="0" marL="0">
              <a:buNone/>
            </a:pPr>
            <a:r>
              <a:rPr lang="en-US" sz="1500" b="1" dirty="0">
                <a:solidFill>
                  <a:srgbClr val="BE5F26"/>
                </a:solidFill>
                <a:latin typeface="Cambria" pitchFamily="34" charset="0"/>
                <a:ea typeface="Cambria" pitchFamily="34" charset="-122"/>
                <a:cs typeface="Cambria" pitchFamily="34" charset="-120"/>
              </a:rPr>
              <a:t>Southeast Asia</a:t>
            </a:r>
            <a:endParaRPr lang="en-US" sz="1500" dirty="0"/>
          </a:p>
        </p:txBody>
      </p:sp>
      <p:sp>
        <p:nvSpPr>
          <p:cNvPr id="12" name="Text 10"/>
          <p:cNvSpPr/>
          <p:nvPr/>
        </p:nvSpPr>
        <p:spPr>
          <a:xfrm>
            <a:off x="8371881" y="1920240"/>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Indonesia and the Philippines have converted resource endowment into industrial policy, but with capital and offtake overwhelmingly from one partner. ASEAN has yet to coordinate a common position.</a:t>
            </a:r>
            <a:endParaRPr lang="en-US" sz="1050" dirty="0"/>
          </a:p>
        </p:txBody>
      </p:sp>
      <p:sp>
        <p:nvSpPr>
          <p:cNvPr id="13" name="Shape 11"/>
          <p:cNvSpPr/>
          <p:nvPr/>
        </p:nvSpPr>
        <p:spPr>
          <a:xfrm>
            <a:off x="640080" y="3767328"/>
            <a:ext cx="3454420" cy="2212848"/>
          </a:xfrm>
          <a:prstGeom prst="roundRect">
            <a:avLst>
              <a:gd name="adj" fmla="val 2479"/>
            </a:avLst>
          </a:prstGeom>
          <a:solidFill>
            <a:srgbClr val="F1F3F5"/>
          </a:solidFill>
          <a:ln w="9525">
            <a:solidFill>
              <a:srgbClr val="DFE4E9"/>
            </a:solidFill>
            <a:prstDash val="solid"/>
          </a:ln>
        </p:spPr>
      </p:sp>
      <p:sp>
        <p:nvSpPr>
          <p:cNvPr id="14" name="Text 12"/>
          <p:cNvSpPr/>
          <p:nvPr/>
        </p:nvSpPr>
        <p:spPr>
          <a:xfrm>
            <a:off x="914400" y="3950208"/>
            <a:ext cx="2905780" cy="329184"/>
          </a:xfrm>
          <a:prstGeom prst="rect">
            <a:avLst/>
          </a:prstGeom>
          <a:noFill/>
          <a:ln/>
        </p:spPr>
        <p:txBody>
          <a:bodyPr wrap="square" lIns="0" tIns="0" rIns="0" bIns="0" rtlCol="0" anchor="t"/>
          <a:lstStyle/>
          <a:p>
            <a:pPr indent="0" marL="0">
              <a:buNone/>
            </a:pPr>
            <a:r>
              <a:rPr lang="en-US" sz="1500" b="1" dirty="0">
                <a:solidFill>
                  <a:srgbClr val="BE5F26"/>
                </a:solidFill>
                <a:latin typeface="Cambria" pitchFamily="34" charset="0"/>
                <a:ea typeface="Cambria" pitchFamily="34" charset="-122"/>
                <a:cs typeface="Cambria" pitchFamily="34" charset="-120"/>
              </a:rPr>
              <a:t>Europe</a:t>
            </a:r>
            <a:endParaRPr lang="en-US" sz="1500" dirty="0"/>
          </a:p>
        </p:txBody>
      </p:sp>
      <p:sp>
        <p:nvSpPr>
          <p:cNvPr id="15" name="Text 13"/>
          <p:cNvSpPr/>
          <p:nvPr/>
        </p:nvSpPr>
        <p:spPr>
          <a:xfrm>
            <a:off x="914400" y="4334256"/>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The Critical Raw Materials Act sets 2030 benchmarks of 10% extraction, 40% processing and 25% recycling, with no more than 65% of any strategic material from a single third country. The Court of Auditors warned in 2026 that most targets are unlikely to be met.</a:t>
            </a:r>
            <a:endParaRPr lang="en-US" sz="1050" dirty="0"/>
          </a:p>
        </p:txBody>
      </p:sp>
      <p:sp>
        <p:nvSpPr>
          <p:cNvPr id="16" name="Shape 14"/>
          <p:cNvSpPr/>
          <p:nvPr/>
        </p:nvSpPr>
        <p:spPr>
          <a:xfrm>
            <a:off x="4368820" y="3767328"/>
            <a:ext cx="3454420" cy="2212848"/>
          </a:xfrm>
          <a:prstGeom prst="roundRect">
            <a:avLst>
              <a:gd name="adj" fmla="val 2479"/>
            </a:avLst>
          </a:prstGeom>
          <a:solidFill>
            <a:srgbClr val="F1F3F5"/>
          </a:solidFill>
          <a:ln w="9525">
            <a:solidFill>
              <a:srgbClr val="DFE4E9"/>
            </a:solidFill>
            <a:prstDash val="solid"/>
          </a:ln>
        </p:spPr>
      </p:sp>
      <p:sp>
        <p:nvSpPr>
          <p:cNvPr id="17" name="Text 15"/>
          <p:cNvSpPr/>
          <p:nvPr/>
        </p:nvSpPr>
        <p:spPr>
          <a:xfrm>
            <a:off x="4643140" y="3950208"/>
            <a:ext cx="2905780" cy="329184"/>
          </a:xfrm>
          <a:prstGeom prst="rect">
            <a:avLst/>
          </a:prstGeom>
          <a:noFill/>
          <a:ln/>
        </p:spPr>
        <p:txBody>
          <a:bodyPr wrap="square" lIns="0" tIns="0" rIns="0" bIns="0" rtlCol="0" anchor="t"/>
          <a:lstStyle/>
          <a:p>
            <a:pPr indent="0" marL="0">
              <a:buNone/>
            </a:pPr>
            <a:r>
              <a:rPr lang="en-US" sz="1500" b="1" dirty="0">
                <a:solidFill>
                  <a:srgbClr val="BE5F26"/>
                </a:solidFill>
                <a:latin typeface="Cambria" pitchFamily="34" charset="0"/>
                <a:ea typeface="Cambria" pitchFamily="34" charset="-122"/>
                <a:cs typeface="Cambria" pitchFamily="34" charset="-120"/>
              </a:rPr>
              <a:t>North America and Indo-Pacific</a:t>
            </a:r>
            <a:endParaRPr lang="en-US" sz="1500" dirty="0"/>
          </a:p>
        </p:txBody>
      </p:sp>
      <p:sp>
        <p:nvSpPr>
          <p:cNvPr id="18" name="Text 16"/>
          <p:cNvSpPr/>
          <p:nvPr/>
        </p:nvSpPr>
        <p:spPr>
          <a:xfrm>
            <a:off x="4643140" y="4334256"/>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Stockpiles, price floors, offtake guarantees and minerals clubs — the Minerals Security Partnership and the US–Japan and US–Australia frameworks. Effective at signalling; slow at pouring concrete.</a:t>
            </a:r>
            <a:endParaRPr lang="en-US" sz="1050" dirty="0"/>
          </a:p>
        </p:txBody>
      </p:sp>
      <p:sp>
        <p:nvSpPr>
          <p:cNvPr id="19" name="Shape 17"/>
          <p:cNvSpPr/>
          <p:nvPr/>
        </p:nvSpPr>
        <p:spPr>
          <a:xfrm>
            <a:off x="8097561" y="3767328"/>
            <a:ext cx="3454420" cy="2212848"/>
          </a:xfrm>
          <a:prstGeom prst="roundRect">
            <a:avLst>
              <a:gd name="adj" fmla="val 2479"/>
            </a:avLst>
          </a:prstGeom>
          <a:solidFill>
            <a:srgbClr val="15191F"/>
          </a:solidFill>
          <a:ln w="9525">
            <a:solidFill>
              <a:srgbClr val="15191F"/>
            </a:solidFill>
            <a:prstDash val="solid"/>
          </a:ln>
        </p:spPr>
      </p:sp>
      <p:sp>
        <p:nvSpPr>
          <p:cNvPr id="20" name="Text 18"/>
          <p:cNvSpPr/>
          <p:nvPr/>
        </p:nvSpPr>
        <p:spPr>
          <a:xfrm>
            <a:off x="8371881" y="3950208"/>
            <a:ext cx="2905780" cy="329184"/>
          </a:xfrm>
          <a:prstGeom prst="rect">
            <a:avLst/>
          </a:prstGeom>
          <a:noFill/>
          <a:ln/>
        </p:spPr>
        <p:txBody>
          <a:bodyPr wrap="square" lIns="0" tIns="0" rIns="0" bIns="0" rtlCol="0" anchor="t"/>
          <a:lstStyle/>
          <a:p>
            <a:pPr indent="0" marL="0">
              <a:buNone/>
            </a:pPr>
            <a:r>
              <a:rPr lang="en-US" sz="1500" b="1" dirty="0">
                <a:solidFill>
                  <a:srgbClr val="E39A5C"/>
                </a:solidFill>
                <a:latin typeface="Cambria" pitchFamily="34" charset="0"/>
                <a:ea typeface="Cambria" pitchFamily="34" charset="-122"/>
                <a:cs typeface="Cambria" pitchFamily="34" charset="-120"/>
              </a:rPr>
              <a:t>The systemic effect</a:t>
            </a:r>
            <a:endParaRPr lang="en-US" sz="1500" dirty="0"/>
          </a:p>
        </p:txBody>
      </p:sp>
      <p:sp>
        <p:nvSpPr>
          <p:cNvPr id="21" name="Text 19"/>
          <p:cNvSpPr/>
          <p:nvPr/>
        </p:nvSpPr>
        <p:spPr>
          <a:xfrm>
            <a:off x="8371881" y="4334256"/>
            <a:ext cx="2905780" cy="1517904"/>
          </a:xfrm>
          <a:prstGeom prst="rect">
            <a:avLst/>
          </a:prstGeom>
          <a:noFill/>
          <a:ln/>
        </p:spPr>
        <p:txBody>
          <a:bodyPr wrap="square" lIns="0" tIns="0" rIns="0" bIns="0" rtlCol="0" anchor="t"/>
          <a:lstStyle/>
          <a:p>
            <a:pPr indent="0" marL="0">
              <a:lnSpc>
                <a:spcPts val="1450"/>
              </a:lnSpc>
              <a:buNone/>
            </a:pPr>
            <a:r>
              <a:rPr lang="en-US" sz="1050" dirty="0">
                <a:solidFill>
                  <a:srgbClr val="AEBACA"/>
                </a:solidFill>
                <a:latin typeface="Calibri" pitchFamily="34" charset="0"/>
                <a:ea typeface="Calibri" pitchFamily="34" charset="-122"/>
                <a:cs typeface="Calibri" pitchFamily="34" charset="-120"/>
              </a:rPr>
              <a:t>Mineral endowment is becoming a criterion of alignment. States are being asked to choose a bloc not by ideology but by where their ore is processed — a form of pressure the non-aligned tradition has no established answer to.</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DIFFERENT PERSPECTIVES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Four ways to read the same facts</a:t>
            </a:r>
            <a:endParaRPr lang="en-US" sz="3000" dirty="0"/>
          </a:p>
        </p:txBody>
      </p:sp>
      <p:sp>
        <p:nvSpPr>
          <p:cNvPr id="4" name="Shape 2"/>
          <p:cNvSpPr/>
          <p:nvPr/>
        </p:nvSpPr>
        <p:spPr>
          <a:xfrm>
            <a:off x="640080" y="1316736"/>
            <a:ext cx="2535906" cy="3968496"/>
          </a:xfrm>
          <a:prstGeom prst="roundRect">
            <a:avLst>
              <a:gd name="adj" fmla="val 2163"/>
            </a:avLst>
          </a:prstGeom>
          <a:solidFill>
            <a:srgbClr val="F1F3F5"/>
          </a:solidFill>
          <a:ln w="9525">
            <a:solidFill>
              <a:srgbClr val="DFE4E9"/>
            </a:solidFill>
            <a:prstDash val="solid"/>
          </a:ln>
        </p:spPr>
      </p:sp>
      <p:sp>
        <p:nvSpPr>
          <p:cNvPr id="5" name="Shape 3"/>
          <p:cNvSpPr/>
          <p:nvPr/>
        </p:nvSpPr>
        <p:spPr>
          <a:xfrm>
            <a:off x="859536" y="1517904"/>
            <a:ext cx="347472" cy="347472"/>
          </a:xfrm>
          <a:prstGeom prst="roundRect">
            <a:avLst>
              <a:gd name="adj" fmla="val 13158"/>
            </a:avLst>
          </a:prstGeom>
          <a:solidFill>
            <a:srgbClr val="BE5F26"/>
          </a:solidFill>
          <a:ln/>
        </p:spPr>
      </p:sp>
      <p:sp>
        <p:nvSpPr>
          <p:cNvPr id="6" name="Text 4"/>
          <p:cNvSpPr/>
          <p:nvPr/>
        </p:nvSpPr>
        <p:spPr>
          <a:xfrm>
            <a:off x="859536"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859536" y="1956816"/>
            <a:ext cx="2096994" cy="548640"/>
          </a:xfrm>
          <a:prstGeom prst="rect">
            <a:avLst/>
          </a:prstGeom>
          <a:noFill/>
          <a:ln/>
        </p:spPr>
        <p:txBody>
          <a:bodyPr wrap="square" lIns="0" tIns="0" rIns="0" bIns="0" rtlCol="0" anchor="t"/>
          <a:lstStyle/>
          <a:p>
            <a:pPr indent="0" marL="0">
              <a:lnSpc>
                <a:spcPts val="1800"/>
              </a:lnSpc>
              <a:buNone/>
            </a:pPr>
            <a:r>
              <a:rPr lang="en-US" sz="1450" b="1" dirty="0">
                <a:solidFill>
                  <a:srgbClr val="15191F"/>
                </a:solidFill>
                <a:latin typeface="Cambria" pitchFamily="34" charset="0"/>
                <a:ea typeface="Cambria" pitchFamily="34" charset="-122"/>
                <a:cs typeface="Cambria" pitchFamily="34" charset="-120"/>
              </a:rPr>
              <a:t>The security realist</a:t>
            </a:r>
            <a:endParaRPr lang="en-US" sz="1450" dirty="0"/>
          </a:p>
        </p:txBody>
      </p:sp>
      <p:sp>
        <p:nvSpPr>
          <p:cNvPr id="8" name="Text 6"/>
          <p:cNvSpPr/>
          <p:nvPr/>
        </p:nvSpPr>
        <p:spPr>
          <a:xfrm>
            <a:off x="859536" y="2560320"/>
            <a:ext cx="2096994" cy="1737360"/>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Concentration is leverage and leverage will be used. Treat minerals as a defence-industrial input: stockpile, subsidise, secure allied supply, accept the cost.</a:t>
            </a:r>
            <a:endParaRPr lang="en-US" sz="1050" dirty="0"/>
          </a:p>
        </p:txBody>
      </p:sp>
      <p:sp>
        <p:nvSpPr>
          <p:cNvPr id="9" name="Text 7"/>
          <p:cNvSpPr/>
          <p:nvPr/>
        </p:nvSpPr>
        <p:spPr>
          <a:xfrm>
            <a:off x="859536" y="4206240"/>
            <a:ext cx="2096994" cy="1005840"/>
          </a:xfrm>
          <a:prstGeom prst="rect">
            <a:avLst/>
          </a:prstGeom>
          <a:noFill/>
          <a:ln/>
        </p:spPr>
        <p:txBody>
          <a:bodyPr wrap="square" lIns="0" tIns="0" rIns="0" bIns="0" rtlCol="0" anchor="t"/>
          <a:lstStyle/>
          <a:p>
            <a:pPr indent="0" marL="0">
              <a:lnSpc>
                <a:spcPts val="1350"/>
              </a:lnSpc>
              <a:buNone/>
            </a:pPr>
            <a:r>
              <a:rPr lang="en-US" sz="1000" i="1" dirty="0">
                <a:solidFill>
                  <a:srgbClr val="BE5F26"/>
                </a:solidFill>
                <a:latin typeface="Calibri" pitchFamily="34" charset="0"/>
                <a:ea typeface="Calibri" pitchFamily="34" charset="-122"/>
                <a:cs typeface="Calibri" pitchFamily="34" charset="-120"/>
              </a:rPr>
              <a:t>Blind spot: overstates how durable leverage is. Every use of the weapon funds the alternative.</a:t>
            </a:r>
            <a:endParaRPr lang="en-US" sz="1000" dirty="0"/>
          </a:p>
        </p:txBody>
      </p:sp>
      <p:sp>
        <p:nvSpPr>
          <p:cNvPr id="10" name="Shape 8"/>
          <p:cNvSpPr/>
          <p:nvPr/>
        </p:nvSpPr>
        <p:spPr>
          <a:xfrm>
            <a:off x="3432018" y="1316736"/>
            <a:ext cx="2535906" cy="3968496"/>
          </a:xfrm>
          <a:prstGeom prst="roundRect">
            <a:avLst>
              <a:gd name="adj" fmla="val 2163"/>
            </a:avLst>
          </a:prstGeom>
          <a:solidFill>
            <a:srgbClr val="F1F3F5"/>
          </a:solidFill>
          <a:ln w="9525">
            <a:solidFill>
              <a:srgbClr val="DFE4E9"/>
            </a:solidFill>
            <a:prstDash val="solid"/>
          </a:ln>
        </p:spPr>
      </p:sp>
      <p:sp>
        <p:nvSpPr>
          <p:cNvPr id="11" name="Shape 9"/>
          <p:cNvSpPr/>
          <p:nvPr/>
        </p:nvSpPr>
        <p:spPr>
          <a:xfrm>
            <a:off x="3651474" y="1517904"/>
            <a:ext cx="347472" cy="347472"/>
          </a:xfrm>
          <a:prstGeom prst="roundRect">
            <a:avLst>
              <a:gd name="adj" fmla="val 13158"/>
            </a:avLst>
          </a:prstGeom>
          <a:solidFill>
            <a:srgbClr val="BE5F26"/>
          </a:solidFill>
          <a:ln/>
        </p:spPr>
      </p:sp>
      <p:sp>
        <p:nvSpPr>
          <p:cNvPr id="12" name="Text 10"/>
          <p:cNvSpPr/>
          <p:nvPr/>
        </p:nvSpPr>
        <p:spPr>
          <a:xfrm>
            <a:off x="3651474"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3" name="Text 11"/>
          <p:cNvSpPr/>
          <p:nvPr/>
        </p:nvSpPr>
        <p:spPr>
          <a:xfrm>
            <a:off x="3651474" y="1956816"/>
            <a:ext cx="2096994" cy="548640"/>
          </a:xfrm>
          <a:prstGeom prst="rect">
            <a:avLst/>
          </a:prstGeom>
          <a:noFill/>
          <a:ln/>
        </p:spPr>
        <p:txBody>
          <a:bodyPr wrap="square" lIns="0" tIns="0" rIns="0" bIns="0" rtlCol="0" anchor="t"/>
          <a:lstStyle/>
          <a:p>
            <a:pPr indent="0" marL="0">
              <a:lnSpc>
                <a:spcPts val="1800"/>
              </a:lnSpc>
              <a:buNone/>
            </a:pPr>
            <a:r>
              <a:rPr lang="en-US" sz="1450" b="1" dirty="0">
                <a:solidFill>
                  <a:srgbClr val="15191F"/>
                </a:solidFill>
                <a:latin typeface="Cambria" pitchFamily="34" charset="0"/>
                <a:ea typeface="Cambria" pitchFamily="34" charset="-122"/>
                <a:cs typeface="Cambria" pitchFamily="34" charset="-120"/>
              </a:rPr>
              <a:t>The market liberal</a:t>
            </a:r>
            <a:endParaRPr lang="en-US" sz="1450" dirty="0"/>
          </a:p>
        </p:txBody>
      </p:sp>
      <p:sp>
        <p:nvSpPr>
          <p:cNvPr id="14" name="Text 12"/>
          <p:cNvSpPr/>
          <p:nvPr/>
        </p:nvSpPr>
        <p:spPr>
          <a:xfrm>
            <a:off x="3651474" y="2560320"/>
            <a:ext cx="2096994" cy="1737360"/>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High prices call forth supply; the 2010 rare-earth spike triggered a decade of substitution. Interference produces inefficient capacity that dies at the next price trough.</a:t>
            </a:r>
            <a:endParaRPr lang="en-US" sz="1050" dirty="0"/>
          </a:p>
        </p:txBody>
      </p:sp>
      <p:sp>
        <p:nvSpPr>
          <p:cNvPr id="15" name="Text 13"/>
          <p:cNvSpPr/>
          <p:nvPr/>
        </p:nvSpPr>
        <p:spPr>
          <a:xfrm>
            <a:off x="3651474" y="4206240"/>
            <a:ext cx="2096994" cy="1005840"/>
          </a:xfrm>
          <a:prstGeom prst="rect">
            <a:avLst/>
          </a:prstGeom>
          <a:noFill/>
          <a:ln/>
        </p:spPr>
        <p:txBody>
          <a:bodyPr wrap="square" lIns="0" tIns="0" rIns="0" bIns="0" rtlCol="0" anchor="t"/>
          <a:lstStyle/>
          <a:p>
            <a:pPr indent="0" marL="0">
              <a:lnSpc>
                <a:spcPts val="1350"/>
              </a:lnSpc>
              <a:buNone/>
            </a:pPr>
            <a:r>
              <a:rPr lang="en-US" sz="1000" i="1" dirty="0">
                <a:solidFill>
                  <a:srgbClr val="BE5F26"/>
                </a:solidFill>
                <a:latin typeface="Calibri" pitchFamily="34" charset="0"/>
                <a:ea typeface="Calibri" pitchFamily="34" charset="-122"/>
                <a:cs typeface="Calibri" pitchFamily="34" charset="-120"/>
              </a:rPr>
              <a:t>Blind spot: markets clear eventually, but eventually can be a decade — and a decade is a security horizon.</a:t>
            </a:r>
            <a:endParaRPr lang="en-US" sz="1000" dirty="0"/>
          </a:p>
        </p:txBody>
      </p:sp>
      <p:sp>
        <p:nvSpPr>
          <p:cNvPr id="16" name="Shape 14"/>
          <p:cNvSpPr/>
          <p:nvPr/>
        </p:nvSpPr>
        <p:spPr>
          <a:xfrm>
            <a:off x="6223955" y="1316736"/>
            <a:ext cx="2535906" cy="3968496"/>
          </a:xfrm>
          <a:prstGeom prst="roundRect">
            <a:avLst>
              <a:gd name="adj" fmla="val 2163"/>
            </a:avLst>
          </a:prstGeom>
          <a:solidFill>
            <a:srgbClr val="F1F3F5"/>
          </a:solidFill>
          <a:ln w="9525">
            <a:solidFill>
              <a:srgbClr val="DFE4E9"/>
            </a:solidFill>
            <a:prstDash val="solid"/>
          </a:ln>
        </p:spPr>
      </p:sp>
      <p:sp>
        <p:nvSpPr>
          <p:cNvPr id="17" name="Shape 15"/>
          <p:cNvSpPr/>
          <p:nvPr/>
        </p:nvSpPr>
        <p:spPr>
          <a:xfrm>
            <a:off x="6443411" y="1517904"/>
            <a:ext cx="347472" cy="347472"/>
          </a:xfrm>
          <a:prstGeom prst="roundRect">
            <a:avLst>
              <a:gd name="adj" fmla="val 13158"/>
            </a:avLst>
          </a:prstGeom>
          <a:solidFill>
            <a:srgbClr val="BE5F26"/>
          </a:solidFill>
          <a:ln/>
        </p:spPr>
      </p:sp>
      <p:sp>
        <p:nvSpPr>
          <p:cNvPr id="18" name="Text 16"/>
          <p:cNvSpPr/>
          <p:nvPr/>
        </p:nvSpPr>
        <p:spPr>
          <a:xfrm>
            <a:off x="6443411"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6443411" y="1956816"/>
            <a:ext cx="2096994" cy="548640"/>
          </a:xfrm>
          <a:prstGeom prst="rect">
            <a:avLst/>
          </a:prstGeom>
          <a:noFill/>
          <a:ln/>
        </p:spPr>
        <p:txBody>
          <a:bodyPr wrap="square" lIns="0" tIns="0" rIns="0" bIns="0" rtlCol="0" anchor="t"/>
          <a:lstStyle/>
          <a:p>
            <a:pPr indent="0" marL="0">
              <a:lnSpc>
                <a:spcPts val="1800"/>
              </a:lnSpc>
              <a:buNone/>
            </a:pPr>
            <a:r>
              <a:rPr lang="en-US" sz="1450" b="1" dirty="0">
                <a:solidFill>
                  <a:srgbClr val="15191F"/>
                </a:solidFill>
                <a:latin typeface="Cambria" pitchFamily="34" charset="0"/>
                <a:ea typeface="Cambria" pitchFamily="34" charset="-122"/>
                <a:cs typeface="Cambria" pitchFamily="34" charset="-120"/>
              </a:rPr>
              <a:t>The developmentalist</a:t>
            </a:r>
            <a:endParaRPr lang="en-US" sz="1450" dirty="0"/>
          </a:p>
        </p:txBody>
      </p:sp>
      <p:sp>
        <p:nvSpPr>
          <p:cNvPr id="20" name="Text 18"/>
          <p:cNvSpPr/>
          <p:nvPr/>
        </p:nvSpPr>
        <p:spPr>
          <a:xfrm>
            <a:off x="6443411" y="2560320"/>
            <a:ext cx="2096994" cy="1737360"/>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Producing states have been locked into raw export for a century. Downstreaming is legitimate industrial policy, and the rules that forbid it were written by countries that industrialised behind tariffs.</a:t>
            </a:r>
            <a:endParaRPr lang="en-US" sz="1050" dirty="0"/>
          </a:p>
        </p:txBody>
      </p:sp>
      <p:sp>
        <p:nvSpPr>
          <p:cNvPr id="21" name="Text 19"/>
          <p:cNvSpPr/>
          <p:nvPr/>
        </p:nvSpPr>
        <p:spPr>
          <a:xfrm>
            <a:off x="6443411" y="4206240"/>
            <a:ext cx="2096994" cy="1005840"/>
          </a:xfrm>
          <a:prstGeom prst="rect">
            <a:avLst/>
          </a:prstGeom>
          <a:noFill/>
          <a:ln/>
        </p:spPr>
        <p:txBody>
          <a:bodyPr wrap="square" lIns="0" tIns="0" rIns="0" bIns="0" rtlCol="0" anchor="t"/>
          <a:lstStyle/>
          <a:p>
            <a:pPr indent="0" marL="0">
              <a:lnSpc>
                <a:spcPts val="1350"/>
              </a:lnSpc>
              <a:buNone/>
            </a:pPr>
            <a:r>
              <a:rPr lang="en-US" sz="1000" i="1" dirty="0">
                <a:solidFill>
                  <a:srgbClr val="BE5F26"/>
                </a:solidFill>
                <a:latin typeface="Calibri" pitchFamily="34" charset="0"/>
                <a:ea typeface="Calibri" pitchFamily="34" charset="-122"/>
                <a:cs typeface="Calibri" pitchFamily="34" charset="-120"/>
              </a:rPr>
              <a:t>Blind spot: value capture without institutional quality can enrich an elite and entrench a new dependency.</a:t>
            </a:r>
            <a:endParaRPr lang="en-US" sz="1000" dirty="0"/>
          </a:p>
        </p:txBody>
      </p:sp>
      <p:sp>
        <p:nvSpPr>
          <p:cNvPr id="22" name="Shape 20"/>
          <p:cNvSpPr/>
          <p:nvPr/>
        </p:nvSpPr>
        <p:spPr>
          <a:xfrm>
            <a:off x="9015893" y="1316736"/>
            <a:ext cx="2535906" cy="3968496"/>
          </a:xfrm>
          <a:prstGeom prst="roundRect">
            <a:avLst>
              <a:gd name="adj" fmla="val 2163"/>
            </a:avLst>
          </a:prstGeom>
          <a:solidFill>
            <a:srgbClr val="F1F3F5"/>
          </a:solidFill>
          <a:ln w="9525">
            <a:solidFill>
              <a:srgbClr val="DFE4E9"/>
            </a:solidFill>
            <a:prstDash val="solid"/>
          </a:ln>
        </p:spPr>
      </p:sp>
      <p:sp>
        <p:nvSpPr>
          <p:cNvPr id="23" name="Shape 21"/>
          <p:cNvSpPr/>
          <p:nvPr/>
        </p:nvSpPr>
        <p:spPr>
          <a:xfrm>
            <a:off x="9235349" y="1517904"/>
            <a:ext cx="347472" cy="347472"/>
          </a:xfrm>
          <a:prstGeom prst="roundRect">
            <a:avLst>
              <a:gd name="adj" fmla="val 13158"/>
            </a:avLst>
          </a:prstGeom>
          <a:solidFill>
            <a:srgbClr val="BE5F26"/>
          </a:solidFill>
          <a:ln/>
        </p:spPr>
      </p:sp>
      <p:sp>
        <p:nvSpPr>
          <p:cNvPr id="24" name="Text 22"/>
          <p:cNvSpPr/>
          <p:nvPr/>
        </p:nvSpPr>
        <p:spPr>
          <a:xfrm>
            <a:off x="9235349"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5" name="Text 23"/>
          <p:cNvSpPr/>
          <p:nvPr/>
        </p:nvSpPr>
        <p:spPr>
          <a:xfrm>
            <a:off x="9235349" y="1956816"/>
            <a:ext cx="2096994" cy="548640"/>
          </a:xfrm>
          <a:prstGeom prst="rect">
            <a:avLst/>
          </a:prstGeom>
          <a:noFill/>
          <a:ln/>
        </p:spPr>
        <p:txBody>
          <a:bodyPr wrap="square" lIns="0" tIns="0" rIns="0" bIns="0" rtlCol="0" anchor="t"/>
          <a:lstStyle/>
          <a:p>
            <a:pPr indent="0" marL="0">
              <a:lnSpc>
                <a:spcPts val="1800"/>
              </a:lnSpc>
              <a:buNone/>
            </a:pPr>
            <a:r>
              <a:rPr lang="en-US" sz="1450" b="1" dirty="0">
                <a:solidFill>
                  <a:srgbClr val="15191F"/>
                </a:solidFill>
                <a:latin typeface="Cambria" pitchFamily="34" charset="0"/>
                <a:ea typeface="Cambria" pitchFamily="34" charset="-122"/>
                <a:cs typeface="Cambria" pitchFamily="34" charset="-120"/>
              </a:rPr>
              <a:t>The ecological-justice view</a:t>
            </a:r>
            <a:endParaRPr lang="en-US" sz="1450" dirty="0"/>
          </a:p>
        </p:txBody>
      </p:sp>
      <p:sp>
        <p:nvSpPr>
          <p:cNvPr id="26" name="Text 24"/>
          <p:cNvSpPr/>
          <p:nvPr/>
        </p:nvSpPr>
        <p:spPr>
          <a:xfrm>
            <a:off x="9235349" y="2560320"/>
            <a:ext cx="2096994" cy="1737360"/>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Total material throughput, not its ownership, is the real problem. Substitution, efficiency, public transport and circularity reduce the extraction burden falling on the Global South.</a:t>
            </a:r>
            <a:endParaRPr lang="en-US" sz="1050" dirty="0"/>
          </a:p>
        </p:txBody>
      </p:sp>
      <p:sp>
        <p:nvSpPr>
          <p:cNvPr id="27" name="Text 25"/>
          <p:cNvSpPr/>
          <p:nvPr/>
        </p:nvSpPr>
        <p:spPr>
          <a:xfrm>
            <a:off x="9235349" y="4206240"/>
            <a:ext cx="2096994" cy="1005840"/>
          </a:xfrm>
          <a:prstGeom prst="rect">
            <a:avLst/>
          </a:prstGeom>
          <a:noFill/>
          <a:ln/>
        </p:spPr>
        <p:txBody>
          <a:bodyPr wrap="square" lIns="0" tIns="0" rIns="0" bIns="0" rtlCol="0" anchor="t"/>
          <a:lstStyle/>
          <a:p>
            <a:pPr indent="0" marL="0">
              <a:lnSpc>
                <a:spcPts val="1350"/>
              </a:lnSpc>
              <a:buNone/>
            </a:pPr>
            <a:r>
              <a:rPr lang="en-US" sz="1000" i="1" dirty="0">
                <a:solidFill>
                  <a:srgbClr val="BE5F26"/>
                </a:solidFill>
                <a:latin typeface="Calibri" pitchFamily="34" charset="0"/>
                <a:ea typeface="Calibri" pitchFamily="34" charset="-122"/>
                <a:cs typeface="Calibri" pitchFamily="34" charset="-120"/>
              </a:rPr>
              <a:t>Blind spot: demand reduction on the required scale has no political constituency in any large economy today.</a:t>
            </a:r>
            <a:endParaRPr lang="en-US" sz="1000" dirty="0"/>
          </a:p>
        </p:txBody>
      </p:sp>
      <p:sp>
        <p:nvSpPr>
          <p:cNvPr id="28" name="Text 26"/>
          <p:cNvSpPr/>
          <p:nvPr/>
        </p:nvSpPr>
        <p:spPr>
          <a:xfrm>
            <a:off x="640080" y="5504688"/>
            <a:ext cx="10911535" cy="548640"/>
          </a:xfrm>
          <a:prstGeom prst="rect">
            <a:avLst/>
          </a:prstGeom>
          <a:noFill/>
          <a:ln/>
        </p:spPr>
        <p:txBody>
          <a:bodyPr wrap="square" lIns="0" tIns="0" rIns="0" bIns="0" rtlCol="0" anchor="t"/>
          <a:lstStyle/>
          <a:p>
            <a:pPr indent="0" marL="0">
              <a:lnSpc>
                <a:spcPts val="1900"/>
              </a:lnSpc>
              <a:buNone/>
            </a:pPr>
            <a:r>
              <a:rPr lang="en-US" sz="1300" i="1" dirty="0">
                <a:solidFill>
                  <a:srgbClr val="15191F"/>
                </a:solidFill>
                <a:latin typeface="Cambria" pitchFamily="34" charset="0"/>
                <a:ea typeface="Cambria" pitchFamily="34" charset="-122"/>
                <a:cs typeface="Cambria" pitchFamily="34" charset="-120"/>
              </a:rPr>
              <a:t>None of the four is wrong about its own evidence. A workable policy borrows the realist’s time horizon, the liberal’s scepticism about permanent subsidy, the developmentalist’s equity claim and the ecologist’s arithmetic.</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ROLE OF INTERNATIONAL ORGANISATIONS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What the institutions can and cannot do</a:t>
            </a:r>
            <a:endParaRPr lang="en-US" sz="3000" dirty="0"/>
          </a:p>
        </p:txBody>
      </p:sp>
      <p:sp>
        <p:nvSpPr>
          <p:cNvPr id="4" name="Shape 2"/>
          <p:cNvSpPr/>
          <p:nvPr/>
        </p:nvSpPr>
        <p:spPr>
          <a:xfrm>
            <a:off x="640080" y="1316736"/>
            <a:ext cx="3454420" cy="1883664"/>
          </a:xfrm>
          <a:prstGeom prst="roundRect">
            <a:avLst>
              <a:gd name="adj" fmla="val 2913"/>
            </a:avLst>
          </a:prstGeom>
          <a:solidFill>
            <a:srgbClr val="F1F3F5"/>
          </a:solidFill>
          <a:ln w="9525">
            <a:solidFill>
              <a:srgbClr val="DFE4E9"/>
            </a:solidFill>
            <a:prstDash val="solid"/>
          </a:ln>
        </p:spPr>
      </p:sp>
      <p:sp>
        <p:nvSpPr>
          <p:cNvPr id="5" name="Text 3"/>
          <p:cNvSpPr/>
          <p:nvPr/>
        </p:nvSpPr>
        <p:spPr>
          <a:xfrm>
            <a:off x="914400" y="146304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IEA</a:t>
            </a:r>
            <a:endParaRPr lang="en-US" sz="1500" dirty="0"/>
          </a:p>
        </p:txBody>
      </p:sp>
      <p:sp>
        <p:nvSpPr>
          <p:cNvPr id="6" name="Text 4"/>
          <p:cNvSpPr/>
          <p:nvPr/>
        </p:nvSpPr>
        <p:spPr>
          <a:xfrm>
            <a:off x="914400" y="17922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Data, outlooks and early warning. Convenes the critical-minerals security programme.</a:t>
            </a:r>
            <a:endParaRPr lang="en-US" sz="1050" dirty="0"/>
          </a:p>
        </p:txBody>
      </p:sp>
      <p:sp>
        <p:nvSpPr>
          <p:cNvPr id="7" name="Text 5"/>
          <p:cNvSpPr/>
          <p:nvPr/>
        </p:nvSpPr>
        <p:spPr>
          <a:xfrm>
            <a:off x="914400" y="2468880"/>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No mandate over minerals as it has over oil stocks. Membership excludes most producers.</a:t>
            </a:r>
            <a:endParaRPr lang="en-US" sz="1050" dirty="0"/>
          </a:p>
        </p:txBody>
      </p:sp>
      <p:sp>
        <p:nvSpPr>
          <p:cNvPr id="8" name="Shape 6"/>
          <p:cNvSpPr/>
          <p:nvPr/>
        </p:nvSpPr>
        <p:spPr>
          <a:xfrm>
            <a:off x="4368820" y="1316736"/>
            <a:ext cx="3454420" cy="1883664"/>
          </a:xfrm>
          <a:prstGeom prst="roundRect">
            <a:avLst>
              <a:gd name="adj" fmla="val 2913"/>
            </a:avLst>
          </a:prstGeom>
          <a:solidFill>
            <a:srgbClr val="F1F3F5"/>
          </a:solidFill>
          <a:ln w="9525">
            <a:solidFill>
              <a:srgbClr val="DFE4E9"/>
            </a:solidFill>
            <a:prstDash val="solid"/>
          </a:ln>
        </p:spPr>
      </p:sp>
      <p:sp>
        <p:nvSpPr>
          <p:cNvPr id="9" name="Text 7"/>
          <p:cNvSpPr/>
          <p:nvPr/>
        </p:nvSpPr>
        <p:spPr>
          <a:xfrm>
            <a:off x="4643140" y="146304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WTO</a:t>
            </a:r>
            <a:endParaRPr lang="en-US" sz="1500" dirty="0"/>
          </a:p>
        </p:txBody>
      </p:sp>
      <p:sp>
        <p:nvSpPr>
          <p:cNvPr id="10" name="Text 8"/>
          <p:cNvSpPr/>
          <p:nvPr/>
        </p:nvSpPr>
        <p:spPr>
          <a:xfrm>
            <a:off x="4643140" y="17922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The only binding forum on export restrictions; DS592 tested it directly.</a:t>
            </a:r>
            <a:endParaRPr lang="en-US" sz="1050" dirty="0"/>
          </a:p>
        </p:txBody>
      </p:sp>
      <p:sp>
        <p:nvSpPr>
          <p:cNvPr id="11" name="Text 9"/>
          <p:cNvSpPr/>
          <p:nvPr/>
        </p:nvSpPr>
        <p:spPr>
          <a:xfrm>
            <a:off x="4643140" y="2468880"/>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A paralysed Appellate Body means adverse rulings can be appealed into the void.</a:t>
            </a:r>
            <a:endParaRPr lang="en-US" sz="1050" dirty="0"/>
          </a:p>
        </p:txBody>
      </p:sp>
      <p:sp>
        <p:nvSpPr>
          <p:cNvPr id="12" name="Shape 10"/>
          <p:cNvSpPr/>
          <p:nvPr/>
        </p:nvSpPr>
        <p:spPr>
          <a:xfrm>
            <a:off x="8097561" y="1316736"/>
            <a:ext cx="3454420" cy="1883664"/>
          </a:xfrm>
          <a:prstGeom prst="roundRect">
            <a:avLst>
              <a:gd name="adj" fmla="val 2913"/>
            </a:avLst>
          </a:prstGeom>
          <a:solidFill>
            <a:srgbClr val="F1F3F5"/>
          </a:solidFill>
          <a:ln w="9525">
            <a:solidFill>
              <a:srgbClr val="DFE4E9"/>
            </a:solidFill>
            <a:prstDash val="solid"/>
          </a:ln>
        </p:spPr>
      </p:sp>
      <p:sp>
        <p:nvSpPr>
          <p:cNvPr id="13" name="Text 11"/>
          <p:cNvSpPr/>
          <p:nvPr/>
        </p:nvSpPr>
        <p:spPr>
          <a:xfrm>
            <a:off x="8371881" y="1463040"/>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UN system</a:t>
            </a:r>
            <a:endParaRPr lang="en-US" sz="1500" dirty="0"/>
          </a:p>
        </p:txBody>
      </p:sp>
      <p:sp>
        <p:nvSpPr>
          <p:cNvPr id="14" name="Text 12"/>
          <p:cNvSpPr/>
          <p:nvPr/>
        </p:nvSpPr>
        <p:spPr>
          <a:xfrm>
            <a:off x="8371881" y="17922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The Secretary-General’s Panel on Critical Energy Transition Minerals agreed equity and human-rights principles in 2024.</a:t>
            </a:r>
            <a:endParaRPr lang="en-US" sz="1050" dirty="0"/>
          </a:p>
        </p:txBody>
      </p:sp>
      <p:sp>
        <p:nvSpPr>
          <p:cNvPr id="15" name="Text 13"/>
          <p:cNvSpPr/>
          <p:nvPr/>
        </p:nvSpPr>
        <p:spPr>
          <a:xfrm>
            <a:off x="8371881" y="2468880"/>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Principles are voluntary. No compliance mechanism and no financing attached.</a:t>
            </a:r>
            <a:endParaRPr lang="en-US" sz="1050" dirty="0"/>
          </a:p>
        </p:txBody>
      </p:sp>
      <p:sp>
        <p:nvSpPr>
          <p:cNvPr id="16" name="Shape 14"/>
          <p:cNvSpPr/>
          <p:nvPr/>
        </p:nvSpPr>
        <p:spPr>
          <a:xfrm>
            <a:off x="640080" y="3383280"/>
            <a:ext cx="3454420" cy="1883664"/>
          </a:xfrm>
          <a:prstGeom prst="roundRect">
            <a:avLst>
              <a:gd name="adj" fmla="val 2913"/>
            </a:avLst>
          </a:prstGeom>
          <a:solidFill>
            <a:srgbClr val="F1F3F5"/>
          </a:solidFill>
          <a:ln w="9525">
            <a:solidFill>
              <a:srgbClr val="DFE4E9"/>
            </a:solidFill>
            <a:prstDash val="solid"/>
          </a:ln>
        </p:spPr>
      </p:sp>
      <p:sp>
        <p:nvSpPr>
          <p:cNvPr id="17" name="Text 15"/>
          <p:cNvSpPr/>
          <p:nvPr/>
        </p:nvSpPr>
        <p:spPr>
          <a:xfrm>
            <a:off x="914400" y="3529584"/>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ISA</a:t>
            </a:r>
            <a:endParaRPr lang="en-US" sz="1500" dirty="0"/>
          </a:p>
        </p:txBody>
      </p:sp>
      <p:sp>
        <p:nvSpPr>
          <p:cNvPr id="18" name="Text 16"/>
          <p:cNvSpPr/>
          <p:nvPr/>
        </p:nvSpPr>
        <p:spPr>
          <a:xfrm>
            <a:off x="914400" y="3858768"/>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Sole authority over seabed minerals beyond national jurisdiction — a genuine global commons mandate.</a:t>
            </a:r>
            <a:endParaRPr lang="en-US" sz="1050" dirty="0"/>
          </a:p>
        </p:txBody>
      </p:sp>
      <p:sp>
        <p:nvSpPr>
          <p:cNvPr id="19" name="Text 17"/>
          <p:cNvSpPr/>
          <p:nvPr/>
        </p:nvSpPr>
        <p:spPr>
          <a:xfrm>
            <a:off x="914400" y="45354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Missed its own deadline for a mining code; extended a contested exploration contract in 2026 amid litigation.</a:t>
            </a:r>
            <a:endParaRPr lang="en-US" sz="1050" dirty="0"/>
          </a:p>
        </p:txBody>
      </p:sp>
      <p:sp>
        <p:nvSpPr>
          <p:cNvPr id="20" name="Shape 18"/>
          <p:cNvSpPr/>
          <p:nvPr/>
        </p:nvSpPr>
        <p:spPr>
          <a:xfrm>
            <a:off x="4368820" y="3383280"/>
            <a:ext cx="3454420" cy="1883664"/>
          </a:xfrm>
          <a:prstGeom prst="roundRect">
            <a:avLst>
              <a:gd name="adj" fmla="val 2913"/>
            </a:avLst>
          </a:prstGeom>
          <a:solidFill>
            <a:srgbClr val="F1F3F5"/>
          </a:solidFill>
          <a:ln w="9525">
            <a:solidFill>
              <a:srgbClr val="DFE4E9"/>
            </a:solidFill>
            <a:prstDash val="solid"/>
          </a:ln>
        </p:spPr>
      </p:sp>
      <p:sp>
        <p:nvSpPr>
          <p:cNvPr id="21" name="Text 19"/>
          <p:cNvSpPr/>
          <p:nvPr/>
        </p:nvSpPr>
        <p:spPr>
          <a:xfrm>
            <a:off x="4643140" y="3529584"/>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OECD</a:t>
            </a:r>
            <a:endParaRPr lang="en-US" sz="1500" dirty="0"/>
          </a:p>
        </p:txBody>
      </p:sp>
      <p:sp>
        <p:nvSpPr>
          <p:cNvPr id="22" name="Text 20"/>
          <p:cNvSpPr/>
          <p:nvPr/>
        </p:nvSpPr>
        <p:spPr>
          <a:xfrm>
            <a:off x="4643140" y="3858768"/>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Due-diligence guidance for conflict-affected mineral supply chains is the de facto global standard.</a:t>
            </a:r>
            <a:endParaRPr lang="en-US" sz="1050" dirty="0"/>
          </a:p>
        </p:txBody>
      </p:sp>
      <p:sp>
        <p:nvSpPr>
          <p:cNvPr id="23" name="Text 21"/>
          <p:cNvSpPr/>
          <p:nvPr/>
        </p:nvSpPr>
        <p:spPr>
          <a:xfrm>
            <a:off x="4643140" y="45354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Compliance is corporate and voluntary; enforcement depends on importing-state legislation.</a:t>
            </a:r>
            <a:endParaRPr lang="en-US" sz="1050" dirty="0"/>
          </a:p>
        </p:txBody>
      </p:sp>
      <p:sp>
        <p:nvSpPr>
          <p:cNvPr id="24" name="Shape 22"/>
          <p:cNvSpPr/>
          <p:nvPr/>
        </p:nvSpPr>
        <p:spPr>
          <a:xfrm>
            <a:off x="8097561" y="3383280"/>
            <a:ext cx="3454420" cy="1883664"/>
          </a:xfrm>
          <a:prstGeom prst="roundRect">
            <a:avLst>
              <a:gd name="adj" fmla="val 2913"/>
            </a:avLst>
          </a:prstGeom>
          <a:solidFill>
            <a:srgbClr val="F1F3F5"/>
          </a:solidFill>
          <a:ln w="9525">
            <a:solidFill>
              <a:srgbClr val="DFE4E9"/>
            </a:solidFill>
            <a:prstDash val="solid"/>
          </a:ln>
        </p:spPr>
      </p:sp>
      <p:sp>
        <p:nvSpPr>
          <p:cNvPr id="25" name="Text 23"/>
          <p:cNvSpPr/>
          <p:nvPr/>
        </p:nvSpPr>
        <p:spPr>
          <a:xfrm>
            <a:off x="8371881" y="3529584"/>
            <a:ext cx="2905780" cy="274320"/>
          </a:xfrm>
          <a:prstGeom prst="rect">
            <a:avLst/>
          </a:prstGeom>
          <a:noFill/>
          <a:ln/>
        </p:spPr>
        <p:txBody>
          <a:bodyPr wrap="square" lIns="0" tIns="0" rIns="0" bIns="0" rtlCol="0" anchor="t"/>
          <a:lstStyle/>
          <a:p>
            <a:pPr indent="0" marL="0">
              <a:buNone/>
            </a:pPr>
            <a:r>
              <a:rPr lang="en-US" sz="1500" b="1" dirty="0">
                <a:solidFill>
                  <a:srgbClr val="15191F"/>
                </a:solidFill>
                <a:latin typeface="Cambria" pitchFamily="34" charset="0"/>
                <a:ea typeface="Cambria" pitchFamily="34" charset="-122"/>
                <a:cs typeface="Cambria" pitchFamily="34" charset="-120"/>
              </a:rPr>
              <a:t>World Bank / AfDB</a:t>
            </a:r>
            <a:endParaRPr lang="en-US" sz="1500" dirty="0"/>
          </a:p>
        </p:txBody>
      </p:sp>
      <p:sp>
        <p:nvSpPr>
          <p:cNvPr id="26" name="Text 24"/>
          <p:cNvSpPr/>
          <p:nvPr/>
        </p:nvSpPr>
        <p:spPr>
          <a:xfrm>
            <a:off x="8371881" y="3858768"/>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2C7A72"/>
                </a:solidFill>
                <a:latin typeface="Calibri" pitchFamily="34" charset="0"/>
                <a:ea typeface="Calibri" pitchFamily="34" charset="-122"/>
                <a:cs typeface="Calibri" pitchFamily="34" charset="-120"/>
              </a:rPr>
              <a:t>Can: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Project finance, infrastructure corridors and the technical work behind the African Green Minerals Strategy.</a:t>
            </a:r>
            <a:endParaRPr lang="en-US" sz="1050" dirty="0"/>
          </a:p>
        </p:txBody>
      </p:sp>
      <p:sp>
        <p:nvSpPr>
          <p:cNvPr id="27" name="Text 25"/>
          <p:cNvSpPr/>
          <p:nvPr/>
        </p:nvSpPr>
        <p:spPr>
          <a:xfrm>
            <a:off x="8371881" y="4535424"/>
            <a:ext cx="2905780" cy="676656"/>
          </a:xfrm>
          <a:prstGeom prst="rect">
            <a:avLst/>
          </a:prstGeom>
          <a:noFill/>
          <a:ln/>
        </p:spPr>
        <p:txBody>
          <a:bodyPr wrap="square" lIns="0" tIns="0" rIns="0" bIns="0" rtlCol="0" anchor="t"/>
          <a:lstStyle/>
          <a:p>
            <a:pPr indent="0" marL="0">
              <a:lnSpc>
                <a:spcPts val="1400"/>
              </a:lnSpc>
              <a:buNone/>
            </a:pPr>
            <a:r>
              <a:rPr lang="en-US" sz="1050" b="1" dirty="0">
                <a:solidFill>
                  <a:srgbClr val="BE5F26"/>
                </a:solidFill>
                <a:latin typeface="Calibri" pitchFamily="34" charset="0"/>
                <a:ea typeface="Calibri" pitchFamily="34" charset="-122"/>
                <a:cs typeface="Calibri" pitchFamily="34" charset="-120"/>
              </a:rPr>
              <a:t>Cannot:  </a:t>
            </a:r>
            <a:pPr indent="0" marL="0">
              <a:lnSpc>
                <a:spcPts val="1400"/>
              </a:lnSpc>
              <a:buNone/>
            </a:pPr>
            <a:r>
              <a:rPr lang="en-US" sz="1050" dirty="0">
                <a:solidFill>
                  <a:srgbClr val="69737F"/>
                </a:solidFill>
                <a:latin typeface="Calibri" pitchFamily="34" charset="0"/>
                <a:ea typeface="Calibri" pitchFamily="34" charset="-122"/>
                <a:cs typeface="Calibri" pitchFamily="34" charset="-120"/>
              </a:rPr>
              <a:t>Cannot compel value addition; lending scale is small against the capital required.</a:t>
            </a:r>
            <a:endParaRPr lang="en-US" sz="1050" dirty="0"/>
          </a:p>
        </p:txBody>
      </p:sp>
      <p:sp>
        <p:nvSpPr>
          <p:cNvPr id="28" name="Shape 26"/>
          <p:cNvSpPr/>
          <p:nvPr/>
        </p:nvSpPr>
        <p:spPr>
          <a:xfrm>
            <a:off x="640080" y="5468112"/>
            <a:ext cx="10911535" cy="804672"/>
          </a:xfrm>
          <a:prstGeom prst="roundRect">
            <a:avLst>
              <a:gd name="adj" fmla="val 6818"/>
            </a:avLst>
          </a:prstGeom>
          <a:solidFill>
            <a:srgbClr val="15191F"/>
          </a:solidFill>
          <a:ln w="9525">
            <a:solidFill>
              <a:srgbClr val="15191F"/>
            </a:solidFill>
            <a:prstDash val="solid"/>
          </a:ln>
        </p:spPr>
      </p:sp>
      <p:sp>
        <p:nvSpPr>
          <p:cNvPr id="29" name="Text 27"/>
          <p:cNvSpPr/>
          <p:nvPr/>
        </p:nvSpPr>
        <p:spPr>
          <a:xfrm>
            <a:off x="1005840" y="5632704"/>
            <a:ext cx="10180015" cy="548640"/>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mbria" pitchFamily="34" charset="0"/>
                <a:ea typeface="Cambria" pitchFamily="34" charset="-122"/>
                <a:cs typeface="Cambria" pitchFamily="34" charset="-120"/>
              </a:rPr>
              <a:t>The gap: no institution holds a mandate over mineral supply security itself. Six bodies each own a fragment — data, trade law, ethics, the seabed, due diligence, finance — and none owns the problem.</a:t>
            </a:r>
            <a:endParaRPr lang="en-US" sz="1350" dirty="0"/>
          </a:p>
        </p:txBody>
      </p:sp>
      <p:sp>
        <p:nvSpPr>
          <p:cNvPr id="30" name="Text 28"/>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Sources: UN Secretary-General’s Panel on Critical Energy Transition Minerals (2024); WTO DS592; ISA Council 2026; OECD Due Diligence Guidance.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IMPACT ON DEVELOPING COUNTRIES AND THE GLOBAL SOUTH</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The price of being upstream</a:t>
            </a:r>
            <a:endParaRPr lang="en-US" sz="3000" dirty="0"/>
          </a:p>
        </p:txBody>
      </p:sp>
      <p:sp>
        <p:nvSpPr>
          <p:cNvPr id="4" name="Shape 2"/>
          <p:cNvSpPr/>
          <p:nvPr/>
        </p:nvSpPr>
        <p:spPr>
          <a:xfrm>
            <a:off x="640080" y="1316736"/>
            <a:ext cx="4754880" cy="4572000"/>
          </a:xfrm>
          <a:prstGeom prst="roundRect">
            <a:avLst>
              <a:gd name="adj" fmla="val 1200"/>
            </a:avLst>
          </a:prstGeom>
          <a:solidFill>
            <a:srgbClr val="15191F"/>
          </a:solidFill>
          <a:ln w="9525">
            <a:solidFill>
              <a:srgbClr val="15191F"/>
            </a:solidFill>
            <a:prstDash val="solid"/>
          </a:ln>
        </p:spPr>
      </p:sp>
      <p:sp>
        <p:nvSpPr>
          <p:cNvPr id="5" name="Text 3"/>
          <p:cNvSpPr/>
          <p:nvPr/>
        </p:nvSpPr>
        <p:spPr>
          <a:xfrm>
            <a:off x="969264" y="1517904"/>
            <a:ext cx="4114800" cy="310896"/>
          </a:xfrm>
          <a:prstGeom prst="rect">
            <a:avLst/>
          </a:prstGeom>
          <a:noFill/>
          <a:ln/>
        </p:spPr>
        <p:txBody>
          <a:bodyPr wrap="square" lIns="0" tIns="0" rIns="0" bIns="0" rtlCol="0" anchor="t"/>
          <a:lstStyle/>
          <a:p>
            <a:pPr indent="0" marL="0">
              <a:buNone/>
            </a:pPr>
            <a:r>
              <a:rPr lang="en-US" sz="1700" b="1" dirty="0">
                <a:solidFill>
                  <a:srgbClr val="E39A5C"/>
                </a:solidFill>
                <a:latin typeface="Cambria" pitchFamily="34" charset="0"/>
                <a:ea typeface="Cambria" pitchFamily="34" charset="-122"/>
                <a:cs typeface="Cambria" pitchFamily="34" charset="-120"/>
              </a:rPr>
              <a:t>“Green” does not mean equitable</a:t>
            </a:r>
            <a:endParaRPr lang="en-US" sz="1700" dirty="0"/>
          </a:p>
        </p:txBody>
      </p:sp>
      <p:sp>
        <p:nvSpPr>
          <p:cNvPr id="6" name="Text 4"/>
          <p:cNvSpPr/>
          <p:nvPr/>
        </p:nvSpPr>
        <p:spPr>
          <a:xfrm>
            <a:off x="969264" y="1920240"/>
            <a:ext cx="4114800" cy="1188720"/>
          </a:xfrm>
          <a:prstGeom prst="rect">
            <a:avLst/>
          </a:prstGeom>
          <a:noFill/>
          <a:ln/>
        </p:spPr>
        <p:txBody>
          <a:bodyPr wrap="square" lIns="0" tIns="0" rIns="0" bIns="0" rtlCol="0" anchor="t"/>
          <a:lstStyle/>
          <a:p>
            <a:pPr indent="0" marL="0">
              <a:lnSpc>
                <a:spcPts val="1700"/>
              </a:lnSpc>
              <a:buNone/>
            </a:pPr>
            <a:r>
              <a:rPr lang="en-US" sz="1200" dirty="0">
                <a:solidFill>
                  <a:srgbClr val="AEBACA"/>
                </a:solidFill>
                <a:latin typeface="Calibri" pitchFamily="34" charset="0"/>
                <a:ea typeface="Calibri" pitchFamily="34" charset="-122"/>
                <a:cs typeface="Calibri" pitchFamily="34" charset="-120"/>
              </a:rPr>
              <a:t>The transition moves an environmental burden from the atmosphere, which is shared, to particular watersheds, forests and communities, which are not. Those places are overwhelmingly in the Global South.</a:t>
            </a:r>
            <a:endParaRPr lang="en-US" sz="1200" dirty="0"/>
          </a:p>
        </p:txBody>
      </p:sp>
      <p:sp>
        <p:nvSpPr>
          <p:cNvPr id="7" name="Text 5"/>
          <p:cNvSpPr/>
          <p:nvPr/>
        </p:nvSpPr>
        <p:spPr>
          <a:xfrm>
            <a:off x="969264" y="3200400"/>
            <a:ext cx="4114800" cy="246888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100" dirty="0">
                <a:solidFill>
                  <a:srgbClr val="AEBACA"/>
                </a:solidFill>
                <a:latin typeface="Calibri" pitchFamily="34" charset="0"/>
                <a:ea typeface="Calibri" pitchFamily="34" charset="-122"/>
                <a:cs typeface="Calibri" pitchFamily="34" charset="-120"/>
              </a:rPr>
              <a:t>Enclave economies: capital-intensive extraction with limited local employment or linkage.</a:t>
            </a:r>
            <a:endParaRPr lang="en-US" sz="1100" dirty="0"/>
          </a:p>
          <a:p>
            <a:pPr marL="342900" indent="-342900">
              <a:lnSpc>
                <a:spcPts val="1550"/>
              </a:lnSpc>
              <a:spcAft>
                <a:spcPts val="900"/>
              </a:spcAft>
              <a:buSzPct val="100000"/>
              <a:buChar char="•"/>
            </a:pPr>
            <a:r>
              <a:rPr lang="en-US" sz="1100" dirty="0">
                <a:solidFill>
                  <a:srgbClr val="AEBACA"/>
                </a:solidFill>
                <a:latin typeface="Calibri" pitchFamily="34" charset="0"/>
                <a:ea typeface="Calibri" pitchFamily="34" charset="-122"/>
                <a:cs typeface="Calibri" pitchFamily="34" charset="-120"/>
              </a:rPr>
              <a:t>Revenue volatility: budgets built on commodity cycles that policy cannot control.</a:t>
            </a:r>
            <a:endParaRPr lang="en-US" sz="1100" dirty="0"/>
          </a:p>
          <a:p>
            <a:pPr marL="342900" indent="-342900">
              <a:lnSpc>
                <a:spcPts val="1550"/>
              </a:lnSpc>
              <a:spcAft>
                <a:spcPts val="900"/>
              </a:spcAft>
              <a:buSzPct val="100000"/>
              <a:buChar char="•"/>
            </a:pPr>
            <a:r>
              <a:rPr lang="en-US" sz="1100" dirty="0">
                <a:solidFill>
                  <a:srgbClr val="AEBACA"/>
                </a:solidFill>
                <a:latin typeface="Calibri" pitchFamily="34" charset="0"/>
                <a:ea typeface="Calibri" pitchFamily="34" charset="-122"/>
                <a:cs typeface="Calibri" pitchFamily="34" charset="-120"/>
              </a:rPr>
              <a:t>Water and land: brine extraction and laterite mining in already water-stressed or forested regions.</a:t>
            </a:r>
            <a:endParaRPr lang="en-US" sz="1100" dirty="0"/>
          </a:p>
          <a:p>
            <a:pPr marL="342900" indent="-342900">
              <a:lnSpc>
                <a:spcPts val="1550"/>
              </a:lnSpc>
              <a:spcAft>
                <a:spcPts val="900"/>
              </a:spcAft>
              <a:buSzPct val="100000"/>
              <a:buChar char="•"/>
            </a:pPr>
            <a:r>
              <a:rPr lang="en-US" sz="1100" dirty="0">
                <a:solidFill>
                  <a:srgbClr val="AEBACA"/>
                </a:solidFill>
                <a:latin typeface="Calibri" pitchFamily="34" charset="0"/>
                <a:ea typeface="Calibri" pitchFamily="34" charset="-122"/>
                <a:cs typeface="Calibri" pitchFamily="34" charset="-120"/>
              </a:rPr>
              <a:t>Contract asymmetry: long-tenor agreements negotiated against far better-resourced counterparties.</a:t>
            </a:r>
            <a:endParaRPr lang="en-US" sz="1100" dirty="0"/>
          </a:p>
        </p:txBody>
      </p:sp>
      <p:sp>
        <p:nvSpPr>
          <p:cNvPr id="8" name="Shape 6"/>
          <p:cNvSpPr/>
          <p:nvPr/>
        </p:nvSpPr>
        <p:spPr>
          <a:xfrm>
            <a:off x="5797296" y="1316736"/>
            <a:ext cx="5751576" cy="1426464"/>
          </a:xfrm>
          <a:prstGeom prst="roundRect">
            <a:avLst>
              <a:gd name="adj" fmla="val 3846"/>
            </a:avLst>
          </a:prstGeom>
          <a:solidFill>
            <a:srgbClr val="F1F3F5"/>
          </a:solidFill>
          <a:ln w="9525">
            <a:solidFill>
              <a:srgbClr val="DFE4E9"/>
            </a:solidFill>
            <a:prstDash val="solid"/>
          </a:ln>
        </p:spPr>
      </p:sp>
      <p:sp>
        <p:nvSpPr>
          <p:cNvPr id="9" name="Text 7"/>
          <p:cNvSpPr/>
          <p:nvPr/>
        </p:nvSpPr>
        <p:spPr>
          <a:xfrm>
            <a:off x="6071616" y="1463040"/>
            <a:ext cx="5212080" cy="292608"/>
          </a:xfrm>
          <a:prstGeom prst="rect">
            <a:avLst/>
          </a:prstGeom>
          <a:noFill/>
          <a:ln/>
        </p:spPr>
        <p:txBody>
          <a:bodyPr wrap="square" lIns="0" tIns="0" rIns="0" bIns="0" rtlCol="0" anchor="t"/>
          <a:lstStyle/>
          <a:p>
            <a:pPr indent="0" marL="0">
              <a:buNone/>
            </a:pPr>
            <a:r>
              <a:rPr lang="en-US" sz="1600" b="1" dirty="0">
                <a:solidFill>
                  <a:srgbClr val="BE5F26"/>
                </a:solidFill>
                <a:latin typeface="Cambria" pitchFamily="34" charset="0"/>
                <a:ea typeface="Cambria" pitchFamily="34" charset="-122"/>
                <a:cs typeface="Cambria" pitchFamily="34" charset="-120"/>
              </a:rPr>
              <a:t>~30%</a:t>
            </a:r>
            <a:endParaRPr lang="en-US" sz="1600" dirty="0"/>
          </a:p>
        </p:txBody>
      </p:sp>
      <p:sp>
        <p:nvSpPr>
          <p:cNvPr id="10" name="Text 8"/>
          <p:cNvSpPr/>
          <p:nvPr/>
        </p:nvSpPr>
        <p:spPr>
          <a:xfrm>
            <a:off x="6071616" y="1810512"/>
            <a:ext cx="5212080" cy="841248"/>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of world mineral reserves are in Africa — the largest single bargaining asset the continent has held since independence.</a:t>
            </a:r>
            <a:endParaRPr lang="en-US" sz="1100" dirty="0"/>
          </a:p>
        </p:txBody>
      </p:sp>
      <p:sp>
        <p:nvSpPr>
          <p:cNvPr id="11" name="Shape 9"/>
          <p:cNvSpPr/>
          <p:nvPr/>
        </p:nvSpPr>
        <p:spPr>
          <a:xfrm>
            <a:off x="5797296" y="2889504"/>
            <a:ext cx="5751576" cy="1426464"/>
          </a:xfrm>
          <a:prstGeom prst="roundRect">
            <a:avLst>
              <a:gd name="adj" fmla="val 3846"/>
            </a:avLst>
          </a:prstGeom>
          <a:solidFill>
            <a:srgbClr val="F1F3F5"/>
          </a:solidFill>
          <a:ln w="9525">
            <a:solidFill>
              <a:srgbClr val="DFE4E9"/>
            </a:solidFill>
            <a:prstDash val="solid"/>
          </a:ln>
        </p:spPr>
      </p:sp>
      <p:sp>
        <p:nvSpPr>
          <p:cNvPr id="12" name="Text 10"/>
          <p:cNvSpPr/>
          <p:nvPr/>
        </p:nvSpPr>
        <p:spPr>
          <a:xfrm>
            <a:off x="6071616" y="3035808"/>
            <a:ext cx="5212080" cy="292608"/>
          </a:xfrm>
          <a:prstGeom prst="rect">
            <a:avLst/>
          </a:prstGeom>
          <a:noFill/>
          <a:ln/>
        </p:spPr>
        <p:txBody>
          <a:bodyPr wrap="square" lIns="0" tIns="0" rIns="0" bIns="0" rtlCol="0" anchor="t"/>
          <a:lstStyle/>
          <a:p>
            <a:pPr indent="0" marL="0">
              <a:buNone/>
            </a:pPr>
            <a:r>
              <a:rPr lang="en-US" sz="1600" b="1" dirty="0">
                <a:solidFill>
                  <a:srgbClr val="BE5F26"/>
                </a:solidFill>
                <a:latin typeface="Cambria" pitchFamily="34" charset="0"/>
                <a:ea typeface="Cambria" pitchFamily="34" charset="-122"/>
                <a:cs typeface="Cambria" pitchFamily="34" charset="-120"/>
              </a:rPr>
              <a:t>The window</a:t>
            </a:r>
            <a:endParaRPr lang="en-US" sz="1600" dirty="0"/>
          </a:p>
        </p:txBody>
      </p:sp>
      <p:sp>
        <p:nvSpPr>
          <p:cNvPr id="13" name="Text 11"/>
          <p:cNvSpPr/>
          <p:nvPr/>
        </p:nvSpPr>
        <p:spPr>
          <a:xfrm>
            <a:off x="6071616" y="3383280"/>
            <a:ext cx="5212080" cy="841248"/>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Leverage lasts only while substitution is expensive. Sodium-ion chemistry and magnet-free motors are already trimming demand for specific inputs. The negotiating position is strong now and weaker later.</a:t>
            </a:r>
            <a:endParaRPr lang="en-US" sz="1100" dirty="0"/>
          </a:p>
        </p:txBody>
      </p:sp>
      <p:sp>
        <p:nvSpPr>
          <p:cNvPr id="14" name="Shape 12"/>
          <p:cNvSpPr/>
          <p:nvPr/>
        </p:nvSpPr>
        <p:spPr>
          <a:xfrm>
            <a:off x="5797296" y="4462272"/>
            <a:ext cx="5751576" cy="1426464"/>
          </a:xfrm>
          <a:prstGeom prst="roundRect">
            <a:avLst>
              <a:gd name="adj" fmla="val 3846"/>
            </a:avLst>
          </a:prstGeom>
          <a:solidFill>
            <a:srgbClr val="F1F3F5"/>
          </a:solidFill>
          <a:ln w="9525">
            <a:solidFill>
              <a:srgbClr val="DFE4E9"/>
            </a:solidFill>
            <a:prstDash val="solid"/>
          </a:ln>
        </p:spPr>
      </p:sp>
      <p:sp>
        <p:nvSpPr>
          <p:cNvPr id="15" name="Text 13"/>
          <p:cNvSpPr/>
          <p:nvPr/>
        </p:nvSpPr>
        <p:spPr>
          <a:xfrm>
            <a:off x="6071616" y="4608576"/>
            <a:ext cx="5212080" cy="292608"/>
          </a:xfrm>
          <a:prstGeom prst="rect">
            <a:avLst/>
          </a:prstGeom>
          <a:noFill/>
          <a:ln/>
        </p:spPr>
        <p:txBody>
          <a:bodyPr wrap="square" lIns="0" tIns="0" rIns="0" bIns="0" rtlCol="0" anchor="t"/>
          <a:lstStyle/>
          <a:p>
            <a:pPr indent="0" marL="0">
              <a:buNone/>
            </a:pPr>
            <a:r>
              <a:rPr lang="en-US" sz="1600" b="1" dirty="0">
                <a:solidFill>
                  <a:srgbClr val="BE5F26"/>
                </a:solidFill>
                <a:latin typeface="Cambria" pitchFamily="34" charset="0"/>
                <a:ea typeface="Cambria" pitchFamily="34" charset="-122"/>
                <a:cs typeface="Cambria" pitchFamily="34" charset="-120"/>
              </a:rPr>
              <a:t>What good looks like</a:t>
            </a:r>
            <a:endParaRPr lang="en-US" sz="1600" dirty="0"/>
          </a:p>
        </p:txBody>
      </p:sp>
      <p:sp>
        <p:nvSpPr>
          <p:cNvPr id="16" name="Text 14"/>
          <p:cNvSpPr/>
          <p:nvPr/>
        </p:nvSpPr>
        <p:spPr>
          <a:xfrm>
            <a:off x="6071616" y="4956048"/>
            <a:ext cx="5212080" cy="841248"/>
          </a:xfrm>
          <a:prstGeom prst="rect">
            <a:avLst/>
          </a:prstGeom>
          <a:noFill/>
          <a:ln/>
        </p:spPr>
        <p:txBody>
          <a:bodyPr wrap="square" lIns="0" tIns="0" rIns="0" bIns="0" rtlCol="0" anchor="t"/>
          <a:lstStyle/>
          <a:p>
            <a:pPr indent="0" marL="0">
              <a:lnSpc>
                <a:spcPts val="1500"/>
              </a:lnSpc>
              <a:buNone/>
            </a:pPr>
            <a:r>
              <a:rPr lang="en-US" sz="1100" dirty="0">
                <a:solidFill>
                  <a:srgbClr val="69737F"/>
                </a:solidFill>
                <a:latin typeface="Calibri" pitchFamily="34" charset="0"/>
                <a:ea typeface="Calibri" pitchFamily="34" charset="-122"/>
                <a:cs typeface="Calibri" pitchFamily="34" charset="-120"/>
              </a:rPr>
              <a:t>Not a higher royalty rate. Processing capacity, regional infrastructure corridors, transferred technical skills, enforceable environmental standards, and pooled bargaining between producers instead of competition for the same buyer.</a:t>
            </a:r>
            <a:endParaRPr lang="en-US" sz="1100" dirty="0"/>
          </a:p>
        </p:txBody>
      </p:sp>
      <p:sp>
        <p:nvSpPr>
          <p:cNvPr id="17" name="Text 15"/>
          <p:cNvSpPr/>
          <p:nvPr/>
        </p:nvSpPr>
        <p:spPr>
          <a:xfrm>
            <a:off x="640080" y="6345936"/>
            <a:ext cx="10911535" cy="274320"/>
          </a:xfrm>
          <a:prstGeom prst="rect">
            <a:avLst/>
          </a:prstGeom>
          <a:noFill/>
          <a:ln/>
        </p:spPr>
        <p:txBody>
          <a:bodyPr wrap="square" lIns="0" tIns="0" rIns="0" bIns="0" rtlCol="0" anchor="t"/>
          <a:lstStyle/>
          <a:p>
            <a:pPr indent="0" marL="0">
              <a:buNone/>
            </a:pPr>
            <a:r>
              <a:rPr lang="en-US" sz="950" dirty="0">
                <a:solidFill>
                  <a:srgbClr val="8B95A1"/>
                </a:solidFill>
                <a:latin typeface="Calibri" pitchFamily="34" charset="0"/>
                <a:ea typeface="Calibri" pitchFamily="34" charset="-122"/>
                <a:cs typeface="Calibri" pitchFamily="34" charset="-120"/>
              </a:rPr>
              <a:t>Sources: African Union, Africa’s Green Minerals Strategy (2025); UNECA; African Development Bank; UN Panel on Critical Energy Transition Minerals.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POSSIBLE SOLUTIONS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A three-layer response</a:t>
            </a:r>
            <a:endParaRPr lang="en-US" sz="3000" dirty="0"/>
          </a:p>
        </p:txBody>
      </p:sp>
      <p:sp>
        <p:nvSpPr>
          <p:cNvPr id="4" name="Shape 2"/>
          <p:cNvSpPr/>
          <p:nvPr/>
        </p:nvSpPr>
        <p:spPr>
          <a:xfrm>
            <a:off x="640080" y="1316736"/>
            <a:ext cx="3454420" cy="3931920"/>
          </a:xfrm>
          <a:prstGeom prst="roundRect">
            <a:avLst>
              <a:gd name="adj" fmla="val 1588"/>
            </a:avLst>
          </a:prstGeom>
          <a:solidFill>
            <a:srgbClr val="F1F3F5"/>
          </a:solidFill>
          <a:ln w="9525">
            <a:solidFill>
              <a:srgbClr val="DFE4E9"/>
            </a:solidFill>
            <a:prstDash val="solid"/>
          </a:ln>
        </p:spPr>
      </p:sp>
      <p:sp>
        <p:nvSpPr>
          <p:cNvPr id="5" name="Shape 3"/>
          <p:cNvSpPr/>
          <p:nvPr/>
        </p:nvSpPr>
        <p:spPr>
          <a:xfrm>
            <a:off x="914400" y="1517904"/>
            <a:ext cx="457200" cy="457200"/>
          </a:xfrm>
          <a:prstGeom prst="roundRect">
            <a:avLst>
              <a:gd name="adj" fmla="val 10000"/>
            </a:avLst>
          </a:prstGeom>
          <a:solidFill>
            <a:srgbClr val="BE5F26"/>
          </a:solidFill>
          <a:ln/>
        </p:spPr>
      </p:sp>
      <p:sp>
        <p:nvSpPr>
          <p:cNvPr id="6" name="Text 4"/>
          <p:cNvSpPr/>
          <p:nvPr/>
        </p:nvSpPr>
        <p:spPr>
          <a:xfrm>
            <a:off x="914400" y="15179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7" name="Text 5"/>
          <p:cNvSpPr/>
          <p:nvPr/>
        </p:nvSpPr>
        <p:spPr>
          <a:xfrm>
            <a:off x="1499616" y="1591056"/>
            <a:ext cx="2320564" cy="310896"/>
          </a:xfrm>
          <a:prstGeom prst="rect">
            <a:avLst/>
          </a:prstGeom>
          <a:noFill/>
          <a:ln/>
        </p:spPr>
        <p:txBody>
          <a:bodyPr wrap="square" lIns="0" tIns="0" rIns="0" bIns="0" rtlCol="0" anchor="t"/>
          <a:lstStyle/>
          <a:p>
            <a:pPr indent="0" marL="0">
              <a:buNone/>
            </a:pPr>
            <a:r>
              <a:rPr lang="en-US" sz="1600" b="1" dirty="0">
                <a:solidFill>
                  <a:srgbClr val="15191F"/>
                </a:solidFill>
                <a:latin typeface="Cambria" pitchFamily="34" charset="0"/>
                <a:ea typeface="Cambria" pitchFamily="34" charset="-122"/>
                <a:cs typeface="Cambria" pitchFamily="34" charset="-120"/>
              </a:rPr>
              <a:t>Diversify supply</a:t>
            </a:r>
            <a:endParaRPr lang="en-US" sz="1600" dirty="0"/>
          </a:p>
        </p:txBody>
      </p:sp>
      <p:sp>
        <p:nvSpPr>
          <p:cNvPr id="8" name="Text 6"/>
          <p:cNvSpPr/>
          <p:nvPr/>
        </p:nvSpPr>
        <p:spPr>
          <a:xfrm>
            <a:off x="932688" y="2121408"/>
            <a:ext cx="2869204" cy="301752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Finance the midstream, not just the mine — refining and separation are the binding constraint.</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Price floors and contracts-for-difference so projects survive the trough of the cycle.</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Regional processing hubs shared by several producing states, at a scale no one of them can justify alone.</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Strategic reserves for the handful of inputs with no near-term substitute.</a:t>
            </a:r>
            <a:endParaRPr lang="en-US" sz="1050" dirty="0"/>
          </a:p>
        </p:txBody>
      </p:sp>
      <p:sp>
        <p:nvSpPr>
          <p:cNvPr id="9" name="Shape 7"/>
          <p:cNvSpPr/>
          <p:nvPr/>
        </p:nvSpPr>
        <p:spPr>
          <a:xfrm>
            <a:off x="4368820" y="1316736"/>
            <a:ext cx="3454420" cy="3931920"/>
          </a:xfrm>
          <a:prstGeom prst="roundRect">
            <a:avLst>
              <a:gd name="adj" fmla="val 1588"/>
            </a:avLst>
          </a:prstGeom>
          <a:solidFill>
            <a:srgbClr val="F1F3F5"/>
          </a:solidFill>
          <a:ln w="9525">
            <a:solidFill>
              <a:srgbClr val="DFE4E9"/>
            </a:solidFill>
            <a:prstDash val="solid"/>
          </a:ln>
        </p:spPr>
      </p:sp>
      <p:sp>
        <p:nvSpPr>
          <p:cNvPr id="10" name="Shape 8"/>
          <p:cNvSpPr/>
          <p:nvPr/>
        </p:nvSpPr>
        <p:spPr>
          <a:xfrm>
            <a:off x="4643140" y="1517904"/>
            <a:ext cx="457200" cy="457200"/>
          </a:xfrm>
          <a:prstGeom prst="roundRect">
            <a:avLst>
              <a:gd name="adj" fmla="val 10000"/>
            </a:avLst>
          </a:prstGeom>
          <a:solidFill>
            <a:srgbClr val="2C7A72"/>
          </a:solidFill>
          <a:ln/>
        </p:spPr>
      </p:sp>
      <p:sp>
        <p:nvSpPr>
          <p:cNvPr id="11" name="Text 9"/>
          <p:cNvSpPr/>
          <p:nvPr/>
        </p:nvSpPr>
        <p:spPr>
          <a:xfrm>
            <a:off x="4643140" y="15179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2" name="Text 10"/>
          <p:cNvSpPr/>
          <p:nvPr/>
        </p:nvSpPr>
        <p:spPr>
          <a:xfrm>
            <a:off x="5228356" y="1591056"/>
            <a:ext cx="2320564" cy="310896"/>
          </a:xfrm>
          <a:prstGeom prst="rect">
            <a:avLst/>
          </a:prstGeom>
          <a:noFill/>
          <a:ln/>
        </p:spPr>
        <p:txBody>
          <a:bodyPr wrap="square" lIns="0" tIns="0" rIns="0" bIns="0" rtlCol="0" anchor="t"/>
          <a:lstStyle/>
          <a:p>
            <a:pPr indent="0" marL="0">
              <a:buNone/>
            </a:pPr>
            <a:r>
              <a:rPr lang="en-US" sz="1600" b="1" dirty="0">
                <a:solidFill>
                  <a:srgbClr val="15191F"/>
                </a:solidFill>
                <a:latin typeface="Cambria" pitchFamily="34" charset="0"/>
                <a:ea typeface="Cambria" pitchFamily="34" charset="-122"/>
                <a:cs typeface="Cambria" pitchFamily="34" charset="-120"/>
              </a:rPr>
              <a:t>Reduce the need</a:t>
            </a:r>
            <a:endParaRPr lang="en-US" sz="1600" dirty="0"/>
          </a:p>
        </p:txBody>
      </p:sp>
      <p:sp>
        <p:nvSpPr>
          <p:cNvPr id="13" name="Text 11"/>
          <p:cNvSpPr/>
          <p:nvPr/>
        </p:nvSpPr>
        <p:spPr>
          <a:xfrm>
            <a:off x="4661428" y="2121408"/>
            <a:ext cx="2869204" cy="301752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Recycling and urban mining: recovered material is the only supply source not subject to geopolitics.</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Design mandates for battery collection, disassembly and material recovery.</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Substitution research — sodium-ion, lithium-iron-phosphate, magnet-free motors.</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Demand-side efficiency: smaller batteries, shared and public transport, grid flexibility.</a:t>
            </a:r>
            <a:endParaRPr lang="en-US" sz="1050" dirty="0"/>
          </a:p>
        </p:txBody>
      </p:sp>
      <p:sp>
        <p:nvSpPr>
          <p:cNvPr id="14" name="Shape 12"/>
          <p:cNvSpPr/>
          <p:nvPr/>
        </p:nvSpPr>
        <p:spPr>
          <a:xfrm>
            <a:off x="8097561" y="1316736"/>
            <a:ext cx="3454420" cy="3931920"/>
          </a:xfrm>
          <a:prstGeom prst="roundRect">
            <a:avLst>
              <a:gd name="adj" fmla="val 1588"/>
            </a:avLst>
          </a:prstGeom>
          <a:solidFill>
            <a:srgbClr val="F1F3F5"/>
          </a:solidFill>
          <a:ln w="9525">
            <a:solidFill>
              <a:srgbClr val="DFE4E9"/>
            </a:solidFill>
            <a:prstDash val="solid"/>
          </a:ln>
        </p:spPr>
      </p:sp>
      <p:sp>
        <p:nvSpPr>
          <p:cNvPr id="15" name="Shape 13"/>
          <p:cNvSpPr/>
          <p:nvPr/>
        </p:nvSpPr>
        <p:spPr>
          <a:xfrm>
            <a:off x="8371881" y="1517904"/>
            <a:ext cx="457200" cy="457200"/>
          </a:xfrm>
          <a:prstGeom prst="roundRect">
            <a:avLst>
              <a:gd name="adj" fmla="val 10000"/>
            </a:avLst>
          </a:prstGeom>
          <a:solidFill>
            <a:srgbClr val="15191F"/>
          </a:solidFill>
          <a:ln/>
        </p:spPr>
      </p:sp>
      <p:sp>
        <p:nvSpPr>
          <p:cNvPr id="16" name="Text 14"/>
          <p:cNvSpPr/>
          <p:nvPr/>
        </p:nvSpPr>
        <p:spPr>
          <a:xfrm>
            <a:off x="8371881" y="15179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7" name="Text 15"/>
          <p:cNvSpPr/>
          <p:nvPr/>
        </p:nvSpPr>
        <p:spPr>
          <a:xfrm>
            <a:off x="8957097" y="1591056"/>
            <a:ext cx="2320564" cy="310896"/>
          </a:xfrm>
          <a:prstGeom prst="rect">
            <a:avLst/>
          </a:prstGeom>
          <a:noFill/>
          <a:ln/>
        </p:spPr>
        <p:txBody>
          <a:bodyPr wrap="square" lIns="0" tIns="0" rIns="0" bIns="0" rtlCol="0" anchor="t"/>
          <a:lstStyle/>
          <a:p>
            <a:pPr indent="0" marL="0">
              <a:buNone/>
            </a:pPr>
            <a:r>
              <a:rPr lang="en-US" sz="1600" b="1" dirty="0">
                <a:solidFill>
                  <a:srgbClr val="15191F"/>
                </a:solidFill>
                <a:latin typeface="Cambria" pitchFamily="34" charset="0"/>
                <a:ea typeface="Cambria" pitchFamily="34" charset="-122"/>
                <a:cs typeface="Cambria" pitchFamily="34" charset="-120"/>
              </a:rPr>
              <a:t>Govern the system</a:t>
            </a:r>
            <a:endParaRPr lang="en-US" sz="1600" dirty="0"/>
          </a:p>
        </p:txBody>
      </p:sp>
      <p:sp>
        <p:nvSpPr>
          <p:cNvPr id="18" name="Text 16"/>
          <p:cNvSpPr/>
          <p:nvPr/>
        </p:nvSpPr>
        <p:spPr>
          <a:xfrm>
            <a:off x="8390169" y="2121408"/>
            <a:ext cx="2869204" cy="301752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A minerals security mechanism with producer states as full members, not as suppliers.</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A plurilateral discipline on export restrictions with a functioning appeal route.</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One interoperable traceability and due-diligence standard instead of five competing schemes.</a:t>
            </a:r>
            <a:endParaRPr lang="en-US" sz="1050" dirty="0"/>
          </a:p>
          <a:p>
            <a:pPr marL="342900" indent="-342900">
              <a:lnSpc>
                <a:spcPts val="1450"/>
              </a:lnSpc>
              <a:spcAft>
                <a:spcPts val="900"/>
              </a:spcAft>
              <a:buSzPct val="100000"/>
              <a:buChar char="•"/>
            </a:pPr>
            <a:r>
              <a:rPr lang="en-US" sz="1050" dirty="0">
                <a:solidFill>
                  <a:srgbClr val="69737F"/>
                </a:solidFill>
                <a:latin typeface="Calibri" pitchFamily="34" charset="0"/>
                <a:ea typeface="Calibri" pitchFamily="34" charset="-122"/>
                <a:cs typeface="Calibri" pitchFamily="34" charset="-120"/>
              </a:rPr>
              <a:t>Binding free, prior and informed consent for affected communities, tied to project finance.</a:t>
            </a:r>
            <a:endParaRPr lang="en-US" sz="1050" dirty="0"/>
          </a:p>
        </p:txBody>
      </p:sp>
      <p:sp>
        <p:nvSpPr>
          <p:cNvPr id="19" name="Text 17"/>
          <p:cNvSpPr/>
          <p:nvPr/>
        </p:nvSpPr>
        <p:spPr>
          <a:xfrm>
            <a:off x="640080" y="5486400"/>
            <a:ext cx="10911535" cy="457200"/>
          </a:xfrm>
          <a:prstGeom prst="rect">
            <a:avLst/>
          </a:prstGeom>
          <a:noFill/>
          <a:ln/>
        </p:spPr>
        <p:txBody>
          <a:bodyPr wrap="square" lIns="0" tIns="0" rIns="0" bIns="0" rtlCol="0" anchor="t"/>
          <a:lstStyle/>
          <a:p>
            <a:pPr indent="0" marL="0">
              <a:lnSpc>
                <a:spcPts val="1900"/>
              </a:lnSpc>
              <a:buNone/>
            </a:pPr>
            <a:r>
              <a:rPr lang="en-US" sz="1300" i="1" dirty="0">
                <a:solidFill>
                  <a:srgbClr val="15191F"/>
                </a:solidFill>
                <a:latin typeface="Cambria" pitchFamily="34" charset="0"/>
                <a:ea typeface="Cambria" pitchFamily="34" charset="-122"/>
                <a:cs typeface="Cambria" pitchFamily="34" charset="-120"/>
              </a:rPr>
              <a:t>Layer one is the most expensive route and the slowest. Layer two is the only one that shrinks the problem rather than relocating it. Layer three is the cheapest — and the least attempted.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POLICY RECOMMENDATIONS</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Six recommendations, by actor</a:t>
            </a:r>
            <a:endParaRPr lang="en-US" sz="3000" dirty="0"/>
          </a:p>
        </p:txBody>
      </p:sp>
      <p:sp>
        <p:nvSpPr>
          <p:cNvPr id="4" name="Shape 2"/>
          <p:cNvSpPr/>
          <p:nvPr/>
        </p:nvSpPr>
        <p:spPr>
          <a:xfrm>
            <a:off x="640080" y="1298448"/>
            <a:ext cx="5300320" cy="1463040"/>
          </a:xfrm>
          <a:prstGeom prst="roundRect">
            <a:avLst>
              <a:gd name="adj" fmla="val 3750"/>
            </a:avLst>
          </a:prstGeom>
          <a:solidFill>
            <a:srgbClr val="F1F3F5"/>
          </a:solidFill>
          <a:ln w="9525">
            <a:solidFill>
              <a:srgbClr val="DFE4E9"/>
            </a:solidFill>
            <a:prstDash val="solid"/>
          </a:ln>
        </p:spPr>
      </p:sp>
      <p:sp>
        <p:nvSpPr>
          <p:cNvPr id="5" name="Shape 3"/>
          <p:cNvSpPr/>
          <p:nvPr/>
        </p:nvSpPr>
        <p:spPr>
          <a:xfrm>
            <a:off x="896112" y="1517904"/>
            <a:ext cx="420624" cy="420624"/>
          </a:xfrm>
          <a:prstGeom prst="roundRect">
            <a:avLst>
              <a:gd name="adj" fmla="val 10870"/>
            </a:avLst>
          </a:prstGeom>
          <a:solidFill>
            <a:srgbClr val="BE5F26"/>
          </a:solidFill>
          <a:ln/>
        </p:spPr>
      </p:sp>
      <p:sp>
        <p:nvSpPr>
          <p:cNvPr id="6" name="Text 4"/>
          <p:cNvSpPr/>
          <p:nvPr/>
        </p:nvSpPr>
        <p:spPr>
          <a:xfrm>
            <a:off x="896112" y="151790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7" name="Text 5"/>
          <p:cNvSpPr/>
          <p:nvPr/>
        </p:nvSpPr>
        <p:spPr>
          <a:xfrm>
            <a:off x="1463040" y="1481328"/>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Consumer economies</a:t>
            </a:r>
            <a:endParaRPr lang="en-US" sz="1450" dirty="0"/>
          </a:p>
        </p:txBody>
      </p:sp>
      <p:sp>
        <p:nvSpPr>
          <p:cNvPr id="8" name="Text 6"/>
          <p:cNvSpPr/>
          <p:nvPr/>
        </p:nvSpPr>
        <p:spPr>
          <a:xfrm>
            <a:off x="1463040" y="1810512"/>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Shift subsidy from extraction to refining and components. Replace headline self-sufficiency targets with a measurable redundancy standard: at least two qualified suppliers, in different jurisdictions, for every strategic input.</a:t>
            </a:r>
            <a:endParaRPr lang="en-US" sz="1050" dirty="0"/>
          </a:p>
        </p:txBody>
      </p:sp>
      <p:sp>
        <p:nvSpPr>
          <p:cNvPr id="9" name="Shape 7"/>
          <p:cNvSpPr/>
          <p:nvPr/>
        </p:nvSpPr>
        <p:spPr>
          <a:xfrm>
            <a:off x="6251296" y="1298448"/>
            <a:ext cx="5300320" cy="1463040"/>
          </a:xfrm>
          <a:prstGeom prst="roundRect">
            <a:avLst>
              <a:gd name="adj" fmla="val 3750"/>
            </a:avLst>
          </a:prstGeom>
          <a:solidFill>
            <a:srgbClr val="F1F3F5"/>
          </a:solidFill>
          <a:ln w="9525">
            <a:solidFill>
              <a:srgbClr val="DFE4E9"/>
            </a:solidFill>
            <a:prstDash val="solid"/>
          </a:ln>
        </p:spPr>
      </p:sp>
      <p:sp>
        <p:nvSpPr>
          <p:cNvPr id="10" name="Shape 8"/>
          <p:cNvSpPr/>
          <p:nvPr/>
        </p:nvSpPr>
        <p:spPr>
          <a:xfrm>
            <a:off x="6507328" y="1517904"/>
            <a:ext cx="420624" cy="420624"/>
          </a:xfrm>
          <a:prstGeom prst="roundRect">
            <a:avLst>
              <a:gd name="adj" fmla="val 10870"/>
            </a:avLst>
          </a:prstGeom>
          <a:solidFill>
            <a:srgbClr val="BE5F26"/>
          </a:solidFill>
          <a:ln/>
        </p:spPr>
      </p:sp>
      <p:sp>
        <p:nvSpPr>
          <p:cNvPr id="11" name="Text 9"/>
          <p:cNvSpPr/>
          <p:nvPr/>
        </p:nvSpPr>
        <p:spPr>
          <a:xfrm>
            <a:off x="6507328" y="151790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2" name="Text 10"/>
          <p:cNvSpPr/>
          <p:nvPr/>
        </p:nvSpPr>
        <p:spPr>
          <a:xfrm>
            <a:off x="7074256" y="1481328"/>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Producer states</a:t>
            </a:r>
            <a:endParaRPr lang="en-US" sz="1450" dirty="0"/>
          </a:p>
        </p:txBody>
      </p:sp>
      <p:sp>
        <p:nvSpPr>
          <p:cNvPr id="13" name="Text 11"/>
          <p:cNvSpPr/>
          <p:nvPr/>
        </p:nvSpPr>
        <p:spPr>
          <a:xfrm>
            <a:off x="7074256" y="1810512"/>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Negotiate as a bloc where the resource allows it, and trade market access for processing investment with enforceable local-content and skills-transfer clauses. Bank the windfall in a stabilisation fund before the cycle turns.</a:t>
            </a:r>
            <a:endParaRPr lang="en-US" sz="1050" dirty="0"/>
          </a:p>
        </p:txBody>
      </p:sp>
      <p:sp>
        <p:nvSpPr>
          <p:cNvPr id="14" name="Shape 12"/>
          <p:cNvSpPr/>
          <p:nvPr/>
        </p:nvSpPr>
        <p:spPr>
          <a:xfrm>
            <a:off x="640080" y="2889504"/>
            <a:ext cx="5300320" cy="1463040"/>
          </a:xfrm>
          <a:prstGeom prst="roundRect">
            <a:avLst>
              <a:gd name="adj" fmla="val 3750"/>
            </a:avLst>
          </a:prstGeom>
          <a:solidFill>
            <a:srgbClr val="F1F3F5"/>
          </a:solidFill>
          <a:ln w="9525">
            <a:solidFill>
              <a:srgbClr val="DFE4E9"/>
            </a:solidFill>
            <a:prstDash val="solid"/>
          </a:ln>
        </p:spPr>
      </p:sp>
      <p:sp>
        <p:nvSpPr>
          <p:cNvPr id="15" name="Shape 13"/>
          <p:cNvSpPr/>
          <p:nvPr/>
        </p:nvSpPr>
        <p:spPr>
          <a:xfrm>
            <a:off x="896112" y="3108960"/>
            <a:ext cx="420624" cy="420624"/>
          </a:xfrm>
          <a:prstGeom prst="roundRect">
            <a:avLst>
              <a:gd name="adj" fmla="val 10870"/>
            </a:avLst>
          </a:prstGeom>
          <a:solidFill>
            <a:srgbClr val="BE5F26"/>
          </a:solidFill>
          <a:ln/>
        </p:spPr>
      </p:sp>
      <p:sp>
        <p:nvSpPr>
          <p:cNvPr id="16" name="Text 14"/>
          <p:cNvSpPr/>
          <p:nvPr/>
        </p:nvSpPr>
        <p:spPr>
          <a:xfrm>
            <a:off x="896112" y="3108960"/>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7" name="Text 15"/>
          <p:cNvSpPr/>
          <p:nvPr/>
        </p:nvSpPr>
        <p:spPr>
          <a:xfrm>
            <a:off x="1463040" y="3072384"/>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The multilateral system</a:t>
            </a:r>
            <a:endParaRPr lang="en-US" sz="1450" dirty="0"/>
          </a:p>
        </p:txBody>
      </p:sp>
      <p:sp>
        <p:nvSpPr>
          <p:cNvPr id="18" name="Text 16"/>
          <p:cNvSpPr/>
          <p:nvPr/>
        </p:nvSpPr>
        <p:spPr>
          <a:xfrm>
            <a:off x="1463040" y="3401568"/>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Give one body a clear mandate. The most practical route is an IEA-hosted mechanism with full producer membership and a standing early-warning function for supply disruption.</a:t>
            </a:r>
            <a:endParaRPr lang="en-US" sz="1050" dirty="0"/>
          </a:p>
        </p:txBody>
      </p:sp>
      <p:sp>
        <p:nvSpPr>
          <p:cNvPr id="19" name="Shape 17"/>
          <p:cNvSpPr/>
          <p:nvPr/>
        </p:nvSpPr>
        <p:spPr>
          <a:xfrm>
            <a:off x="6251296" y="2889504"/>
            <a:ext cx="5300320" cy="1463040"/>
          </a:xfrm>
          <a:prstGeom prst="roundRect">
            <a:avLst>
              <a:gd name="adj" fmla="val 3750"/>
            </a:avLst>
          </a:prstGeom>
          <a:solidFill>
            <a:srgbClr val="F1F3F5"/>
          </a:solidFill>
          <a:ln w="9525">
            <a:solidFill>
              <a:srgbClr val="DFE4E9"/>
            </a:solidFill>
            <a:prstDash val="solid"/>
          </a:ln>
        </p:spPr>
      </p:sp>
      <p:sp>
        <p:nvSpPr>
          <p:cNvPr id="20" name="Shape 18"/>
          <p:cNvSpPr/>
          <p:nvPr/>
        </p:nvSpPr>
        <p:spPr>
          <a:xfrm>
            <a:off x="6507328" y="3108960"/>
            <a:ext cx="420624" cy="420624"/>
          </a:xfrm>
          <a:prstGeom prst="roundRect">
            <a:avLst>
              <a:gd name="adj" fmla="val 10870"/>
            </a:avLst>
          </a:prstGeom>
          <a:solidFill>
            <a:srgbClr val="BE5F26"/>
          </a:solidFill>
          <a:ln/>
        </p:spPr>
      </p:sp>
      <p:sp>
        <p:nvSpPr>
          <p:cNvPr id="21" name="Text 19"/>
          <p:cNvSpPr/>
          <p:nvPr/>
        </p:nvSpPr>
        <p:spPr>
          <a:xfrm>
            <a:off x="6507328" y="3108960"/>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2" name="Text 20"/>
          <p:cNvSpPr/>
          <p:nvPr/>
        </p:nvSpPr>
        <p:spPr>
          <a:xfrm>
            <a:off x="7074256" y="3072384"/>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Trade governance</a:t>
            </a:r>
            <a:endParaRPr lang="en-US" sz="1450" dirty="0"/>
          </a:p>
        </p:txBody>
      </p:sp>
      <p:sp>
        <p:nvSpPr>
          <p:cNvPr id="23" name="Text 21"/>
          <p:cNvSpPr/>
          <p:nvPr/>
        </p:nvSpPr>
        <p:spPr>
          <a:xfrm>
            <a:off x="7074256" y="3401568"/>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Restore a working appellate route at the WTO and negotiate a narrow plurilateral code on export restrictions: notification, time limits, and a carve-out for genuine value-addition policy.</a:t>
            </a:r>
            <a:endParaRPr lang="en-US" sz="1050" dirty="0"/>
          </a:p>
        </p:txBody>
      </p:sp>
      <p:sp>
        <p:nvSpPr>
          <p:cNvPr id="24" name="Shape 22"/>
          <p:cNvSpPr/>
          <p:nvPr/>
        </p:nvSpPr>
        <p:spPr>
          <a:xfrm>
            <a:off x="640080" y="4480560"/>
            <a:ext cx="5300320" cy="1463040"/>
          </a:xfrm>
          <a:prstGeom prst="roundRect">
            <a:avLst>
              <a:gd name="adj" fmla="val 3750"/>
            </a:avLst>
          </a:prstGeom>
          <a:solidFill>
            <a:srgbClr val="F1F3F5"/>
          </a:solidFill>
          <a:ln w="9525">
            <a:solidFill>
              <a:srgbClr val="DFE4E9"/>
            </a:solidFill>
            <a:prstDash val="solid"/>
          </a:ln>
        </p:spPr>
      </p:sp>
      <p:sp>
        <p:nvSpPr>
          <p:cNvPr id="25" name="Shape 23"/>
          <p:cNvSpPr/>
          <p:nvPr/>
        </p:nvSpPr>
        <p:spPr>
          <a:xfrm>
            <a:off x="896112" y="4700016"/>
            <a:ext cx="420624" cy="420624"/>
          </a:xfrm>
          <a:prstGeom prst="roundRect">
            <a:avLst>
              <a:gd name="adj" fmla="val 10870"/>
            </a:avLst>
          </a:prstGeom>
          <a:solidFill>
            <a:srgbClr val="BE5F26"/>
          </a:solidFill>
          <a:ln/>
        </p:spPr>
      </p:sp>
      <p:sp>
        <p:nvSpPr>
          <p:cNvPr id="26" name="Text 24"/>
          <p:cNvSpPr/>
          <p:nvPr/>
        </p:nvSpPr>
        <p:spPr>
          <a:xfrm>
            <a:off x="896112" y="4700016"/>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27" name="Text 25"/>
          <p:cNvSpPr/>
          <p:nvPr/>
        </p:nvSpPr>
        <p:spPr>
          <a:xfrm>
            <a:off x="1463040" y="4663440"/>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Development finance</a:t>
            </a:r>
            <a:endParaRPr lang="en-US" sz="1450" dirty="0"/>
          </a:p>
        </p:txBody>
      </p:sp>
      <p:sp>
        <p:nvSpPr>
          <p:cNvPr id="28" name="Text 26"/>
          <p:cNvSpPr/>
          <p:nvPr/>
        </p:nvSpPr>
        <p:spPr>
          <a:xfrm>
            <a:off x="1463040" y="4992624"/>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Make concessional capital conditional on midstream capacity and regional infrastructure, not on extraction volume. Guarantee offtake for first-of-a-kind processing plants in producing countries.</a:t>
            </a:r>
            <a:endParaRPr lang="en-US" sz="1050" dirty="0"/>
          </a:p>
        </p:txBody>
      </p:sp>
      <p:sp>
        <p:nvSpPr>
          <p:cNvPr id="29" name="Shape 27"/>
          <p:cNvSpPr/>
          <p:nvPr/>
        </p:nvSpPr>
        <p:spPr>
          <a:xfrm>
            <a:off x="6251296" y="4480560"/>
            <a:ext cx="5300320" cy="1463040"/>
          </a:xfrm>
          <a:prstGeom prst="roundRect">
            <a:avLst>
              <a:gd name="adj" fmla="val 3750"/>
            </a:avLst>
          </a:prstGeom>
          <a:solidFill>
            <a:srgbClr val="F1F3F5"/>
          </a:solidFill>
          <a:ln w="9525">
            <a:solidFill>
              <a:srgbClr val="DFE4E9"/>
            </a:solidFill>
            <a:prstDash val="solid"/>
          </a:ln>
        </p:spPr>
      </p:sp>
      <p:sp>
        <p:nvSpPr>
          <p:cNvPr id="30" name="Shape 28"/>
          <p:cNvSpPr/>
          <p:nvPr/>
        </p:nvSpPr>
        <p:spPr>
          <a:xfrm>
            <a:off x="6507328" y="4700016"/>
            <a:ext cx="420624" cy="420624"/>
          </a:xfrm>
          <a:prstGeom prst="roundRect">
            <a:avLst>
              <a:gd name="adj" fmla="val 10870"/>
            </a:avLst>
          </a:prstGeom>
          <a:solidFill>
            <a:srgbClr val="BE5F26"/>
          </a:solidFill>
          <a:ln/>
        </p:spPr>
      </p:sp>
      <p:sp>
        <p:nvSpPr>
          <p:cNvPr id="31" name="Text 29"/>
          <p:cNvSpPr/>
          <p:nvPr/>
        </p:nvSpPr>
        <p:spPr>
          <a:xfrm>
            <a:off x="6507328" y="4700016"/>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6</a:t>
            </a:r>
            <a:endParaRPr lang="en-US" sz="1150" dirty="0"/>
          </a:p>
        </p:txBody>
      </p:sp>
      <p:sp>
        <p:nvSpPr>
          <p:cNvPr id="32" name="Text 30"/>
          <p:cNvSpPr/>
          <p:nvPr/>
        </p:nvSpPr>
        <p:spPr>
          <a:xfrm>
            <a:off x="7074256" y="4663440"/>
            <a:ext cx="420304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All parties</a:t>
            </a:r>
            <a:endParaRPr lang="en-US" sz="1450" dirty="0"/>
          </a:p>
        </p:txBody>
      </p:sp>
      <p:sp>
        <p:nvSpPr>
          <p:cNvPr id="33" name="Text 31"/>
          <p:cNvSpPr/>
          <p:nvPr/>
        </p:nvSpPr>
        <p:spPr>
          <a:xfrm>
            <a:off x="7074256" y="4992624"/>
            <a:ext cx="4203040" cy="896112"/>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Fund substitution and recycling as security policy, not as environmental policy. Every tonne recovered domestically is a tonne that cannot be embargoed.</a:t>
            </a:r>
            <a:endParaRPr lang="en-US" sz="1050" dirty="0"/>
          </a:p>
        </p:txBody>
      </p:sp>
      <p:sp>
        <p:nvSpPr>
          <p:cNvPr id="34" name="Text 32"/>
          <p:cNvSpPr/>
          <p:nvPr/>
        </p:nvSpPr>
        <p:spPr>
          <a:xfrm>
            <a:off x="640080" y="6089904"/>
            <a:ext cx="10911535" cy="292608"/>
          </a:xfrm>
          <a:prstGeom prst="rect">
            <a:avLst/>
          </a:prstGeom>
          <a:noFill/>
          <a:ln/>
        </p:spPr>
        <p:txBody>
          <a:bodyPr wrap="square" lIns="0" tIns="0" rIns="0" bIns="0" rtlCol="0" anchor="t"/>
          <a:lstStyle/>
          <a:p>
            <a:pPr indent="0" marL="0">
              <a:buNone/>
            </a:pPr>
            <a:r>
              <a:rPr lang="en-US" sz="1150" i="1" dirty="0">
                <a:solidFill>
                  <a:srgbClr val="69737F"/>
                </a:solidFill>
                <a:latin typeface="Calibri" pitchFamily="34" charset="0"/>
                <a:ea typeface="Calibri" pitchFamily="34" charset="-122"/>
                <a:cs typeface="Calibri" pitchFamily="34" charset="-120"/>
              </a:rPr>
              <a:t>The test of any of these is not ambition but sequencing: which can be started in the next eighteen months without new treaty law.</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FUTURE OUTLOOK TO 2035</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Three futures for the mineral system</a:t>
            </a:r>
            <a:endParaRPr lang="en-US" sz="3000" dirty="0"/>
          </a:p>
        </p:txBody>
      </p:sp>
      <p:graphicFrame>
        <p:nvGraphicFramePr>
          <p:cNvPr id="4" name="Chart 0" descr=""/>
          <p:cNvGraphicFramePr/>
          <p:nvPr/>
        </p:nvGraphicFramePr>
        <p:xfrm>
          <a:off x="548640" y="1280160"/>
          <a:ext cx="594360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992624"/>
            <a:ext cx="5760720" cy="274320"/>
          </a:xfrm>
          <a:prstGeom prst="rect">
            <a:avLst/>
          </a:prstGeom>
          <a:noFill/>
          <a:ln/>
        </p:spPr>
        <p:txBody>
          <a:bodyPr wrap="square" lIns="0" tIns="0" rIns="0" bIns="0" rtlCol="0" anchor="t"/>
          <a:lstStyle/>
          <a:p>
            <a:pPr indent="0" marL="0">
              <a:buNone/>
            </a:pPr>
            <a:r>
              <a:rPr lang="en-US" sz="950" i="1" dirty="0">
                <a:solidFill>
                  <a:srgbClr val="69737F"/>
                </a:solidFill>
                <a:latin typeface="Calibri" pitchFamily="34" charset="0"/>
                <a:ea typeface="Calibri" pitchFamily="34" charset="-122"/>
                <a:cs typeface="Calibri" pitchFamily="34" charset="-120"/>
              </a:rPr>
              <a:t>Illustrative scenario framing by the author, anchored on the IEA 2025 baseline of 70%. Not a forecast.</a:t>
            </a:r>
            <a:endParaRPr lang="en-US" sz="950" dirty="0"/>
          </a:p>
        </p:txBody>
      </p:sp>
      <p:sp>
        <p:nvSpPr>
          <p:cNvPr id="6" name="Shape 3"/>
          <p:cNvSpPr/>
          <p:nvPr/>
        </p:nvSpPr>
        <p:spPr>
          <a:xfrm>
            <a:off x="6492240" y="1298448"/>
            <a:ext cx="5056632" cy="1426464"/>
          </a:xfrm>
          <a:prstGeom prst="roundRect">
            <a:avLst>
              <a:gd name="adj" fmla="val 3846"/>
            </a:avLst>
          </a:prstGeom>
          <a:solidFill>
            <a:srgbClr val="F1F3F5"/>
          </a:solidFill>
          <a:ln w="9525">
            <a:solidFill>
              <a:srgbClr val="DFE4E9"/>
            </a:solidFill>
            <a:prstDash val="solid"/>
          </a:ln>
        </p:spPr>
      </p:sp>
      <p:sp>
        <p:nvSpPr>
          <p:cNvPr id="7" name="Text 4"/>
          <p:cNvSpPr/>
          <p:nvPr/>
        </p:nvSpPr>
        <p:spPr>
          <a:xfrm>
            <a:off x="6766560" y="1444752"/>
            <a:ext cx="4526280" cy="274320"/>
          </a:xfrm>
          <a:prstGeom prst="rect">
            <a:avLst/>
          </a:prstGeom>
          <a:noFill/>
          <a:ln/>
        </p:spPr>
        <p:txBody>
          <a:bodyPr wrap="square" lIns="0" tIns="0" rIns="0" bIns="0" rtlCol="0" anchor="t"/>
          <a:lstStyle/>
          <a:p>
            <a:pPr indent="0" marL="0">
              <a:buNone/>
            </a:pPr>
            <a:r>
              <a:rPr lang="en-US" sz="1450" b="1" dirty="0">
                <a:solidFill>
                  <a:srgbClr val="15191F"/>
                </a:solidFill>
                <a:latin typeface="Cambria" pitchFamily="34" charset="0"/>
                <a:ea typeface="Cambria" pitchFamily="34" charset="-122"/>
                <a:cs typeface="Cambria" pitchFamily="34" charset="-120"/>
              </a:rPr>
              <a:t>Managed fragmentation</a:t>
            </a:r>
            <a:endParaRPr lang="en-US" sz="1450" dirty="0"/>
          </a:p>
        </p:txBody>
      </p:sp>
      <p:sp>
        <p:nvSpPr>
          <p:cNvPr id="8" name="Text 5"/>
          <p:cNvSpPr/>
          <p:nvPr/>
        </p:nvSpPr>
        <p:spPr>
          <a:xfrm>
            <a:off x="6766560" y="1773936"/>
            <a:ext cx="4526280" cy="859536"/>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Most likely. Parallel supply chains harden, duplication raises costs, restrictions are used sparingly because both sides can retaliate. Concentration barely moves; the transition gets more expensive but does not stop.</a:t>
            </a:r>
            <a:endParaRPr lang="en-US" sz="1050" dirty="0"/>
          </a:p>
        </p:txBody>
      </p:sp>
      <p:sp>
        <p:nvSpPr>
          <p:cNvPr id="9" name="Shape 6"/>
          <p:cNvSpPr/>
          <p:nvPr/>
        </p:nvSpPr>
        <p:spPr>
          <a:xfrm>
            <a:off x="6492240" y="2871216"/>
            <a:ext cx="5056632" cy="1426464"/>
          </a:xfrm>
          <a:prstGeom prst="roundRect">
            <a:avLst>
              <a:gd name="adj" fmla="val 3846"/>
            </a:avLst>
          </a:prstGeom>
          <a:solidFill>
            <a:srgbClr val="F1F3F5"/>
          </a:solidFill>
          <a:ln w="9525">
            <a:solidFill>
              <a:srgbClr val="DFE4E9"/>
            </a:solidFill>
            <a:prstDash val="solid"/>
          </a:ln>
        </p:spPr>
      </p:sp>
      <p:sp>
        <p:nvSpPr>
          <p:cNvPr id="10" name="Text 7"/>
          <p:cNvSpPr/>
          <p:nvPr/>
        </p:nvSpPr>
        <p:spPr>
          <a:xfrm>
            <a:off x="6766560" y="3017520"/>
            <a:ext cx="4526280" cy="274320"/>
          </a:xfrm>
          <a:prstGeom prst="rect">
            <a:avLst/>
          </a:prstGeom>
          <a:noFill/>
          <a:ln/>
        </p:spPr>
        <p:txBody>
          <a:bodyPr wrap="square" lIns="0" tIns="0" rIns="0" bIns="0" rtlCol="0" anchor="t"/>
          <a:lstStyle/>
          <a:p>
            <a:pPr indent="0" marL="0">
              <a:buNone/>
            </a:pPr>
            <a:r>
              <a:rPr lang="en-US" sz="1450" b="1" dirty="0">
                <a:solidFill>
                  <a:srgbClr val="BE5F26"/>
                </a:solidFill>
                <a:latin typeface="Cambria" pitchFamily="34" charset="0"/>
                <a:ea typeface="Cambria" pitchFamily="34" charset="-122"/>
                <a:cs typeface="Cambria" pitchFamily="34" charset="-120"/>
              </a:rPr>
              <a:t>Weaponised bloc split</a:t>
            </a:r>
            <a:endParaRPr lang="en-US" sz="1450" dirty="0"/>
          </a:p>
        </p:txBody>
      </p:sp>
      <p:sp>
        <p:nvSpPr>
          <p:cNvPr id="11" name="Text 8"/>
          <p:cNvSpPr/>
          <p:nvPr/>
        </p:nvSpPr>
        <p:spPr>
          <a:xfrm>
            <a:off x="6766560" y="3346704"/>
            <a:ext cx="4526280" cy="859536"/>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A sustained restriction during a crisis. Prices spike, manufacturing stalls in importing economies, and neutral producer states are forced into exclusive alignments. Climate targets slip by years.</a:t>
            </a:r>
            <a:endParaRPr lang="en-US" sz="1050" dirty="0"/>
          </a:p>
        </p:txBody>
      </p:sp>
      <p:sp>
        <p:nvSpPr>
          <p:cNvPr id="12" name="Shape 9"/>
          <p:cNvSpPr/>
          <p:nvPr/>
        </p:nvSpPr>
        <p:spPr>
          <a:xfrm>
            <a:off x="6492240" y="4443984"/>
            <a:ext cx="5056632" cy="1426464"/>
          </a:xfrm>
          <a:prstGeom prst="roundRect">
            <a:avLst>
              <a:gd name="adj" fmla="val 3846"/>
            </a:avLst>
          </a:prstGeom>
          <a:solidFill>
            <a:srgbClr val="F1F3F5"/>
          </a:solidFill>
          <a:ln w="9525">
            <a:solidFill>
              <a:srgbClr val="DFE4E9"/>
            </a:solidFill>
            <a:prstDash val="solid"/>
          </a:ln>
        </p:spPr>
      </p:sp>
      <p:sp>
        <p:nvSpPr>
          <p:cNvPr id="13" name="Text 10"/>
          <p:cNvSpPr/>
          <p:nvPr/>
        </p:nvSpPr>
        <p:spPr>
          <a:xfrm>
            <a:off x="6766560" y="4590288"/>
            <a:ext cx="4526280" cy="274320"/>
          </a:xfrm>
          <a:prstGeom prst="rect">
            <a:avLst/>
          </a:prstGeom>
          <a:noFill/>
          <a:ln/>
        </p:spPr>
        <p:txBody>
          <a:bodyPr wrap="square" lIns="0" tIns="0" rIns="0" bIns="0" rtlCol="0" anchor="t"/>
          <a:lstStyle/>
          <a:p>
            <a:pPr indent="0" marL="0">
              <a:buNone/>
            </a:pPr>
            <a:r>
              <a:rPr lang="en-US" sz="1450" b="1" dirty="0">
                <a:solidFill>
                  <a:srgbClr val="2C7A72"/>
                </a:solidFill>
                <a:latin typeface="Cambria" pitchFamily="34" charset="0"/>
                <a:ea typeface="Cambria" pitchFamily="34" charset="-122"/>
                <a:cs typeface="Cambria" pitchFamily="34" charset="-120"/>
              </a:rPr>
              <a:t>Coordinated diversification</a:t>
            </a:r>
            <a:endParaRPr lang="en-US" sz="1450" dirty="0"/>
          </a:p>
        </p:txBody>
      </p:sp>
      <p:sp>
        <p:nvSpPr>
          <p:cNvPr id="14" name="Text 11"/>
          <p:cNvSpPr/>
          <p:nvPr/>
        </p:nvSpPr>
        <p:spPr>
          <a:xfrm>
            <a:off x="6766560" y="4919472"/>
            <a:ext cx="4526280" cy="859536"/>
          </a:xfrm>
          <a:prstGeom prst="rect">
            <a:avLst/>
          </a:prstGeom>
          <a:noFill/>
          <a:ln/>
        </p:spPr>
        <p:txBody>
          <a:bodyPr wrap="square" lIns="0" tIns="0" rIns="0" bIns="0" rtlCol="0" anchor="t"/>
          <a:lstStyle/>
          <a:p>
            <a:pPr indent="0" marL="0">
              <a:lnSpc>
                <a:spcPts val="1450"/>
              </a:lnSpc>
              <a:buNone/>
            </a:pPr>
            <a:r>
              <a:rPr lang="en-US" sz="1050" dirty="0">
                <a:solidFill>
                  <a:srgbClr val="69737F"/>
                </a:solidFill>
                <a:latin typeface="Calibri" pitchFamily="34" charset="0"/>
                <a:ea typeface="Calibri" pitchFamily="34" charset="-122"/>
                <a:cs typeface="Calibri" pitchFamily="34" charset="-120"/>
              </a:rPr>
              <a:t>Requires producer states in the governance room, patient midstream capital, and recycling reaching scale in the 2030s. Technically achievable; politically the hardest of the three.</a:t>
            </a:r>
            <a:endParaRPr lang="en-US" sz="1050" dirty="0"/>
          </a:p>
        </p:txBody>
      </p:sp>
      <p:sp>
        <p:nvSpPr>
          <p:cNvPr id="15" name="Text 12"/>
          <p:cNvSpPr/>
          <p:nvPr/>
        </p:nvSpPr>
        <p:spPr>
          <a:xfrm>
            <a:off x="640080" y="6035040"/>
            <a:ext cx="10911535" cy="310896"/>
          </a:xfrm>
          <a:prstGeom prst="rect">
            <a:avLst/>
          </a:prstGeom>
          <a:noFill/>
          <a:ln/>
        </p:spPr>
        <p:txBody>
          <a:bodyPr wrap="square" lIns="0" tIns="0" rIns="0" bIns="0" rtlCol="0" anchor="t"/>
          <a:lstStyle/>
          <a:p>
            <a:pPr indent="0" marL="0">
              <a:buNone/>
            </a:pPr>
            <a:r>
              <a:rPr lang="en-US" sz="1350" i="1" dirty="0">
                <a:solidFill>
                  <a:srgbClr val="15191F"/>
                </a:solidFill>
                <a:latin typeface="Cambria" pitchFamily="34" charset="0"/>
                <a:ea typeface="Cambria" pitchFamily="34" charset="-122"/>
                <a:cs typeface="Cambria" pitchFamily="34" charset="-120"/>
              </a:rPr>
              <a:t>What separates them is not technology or price. It is whether producing states are members of the system or inputs to it.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191F"/>
        </a:solidFill>
      </p:bgPr>
    </p:bg>
    <p:spTree>
      <p:nvGrpSpPr>
        <p:cNvPr id="1" name=""/>
        <p:cNvGrpSpPr/>
        <p:nvPr/>
      </p:nvGrpSpPr>
      <p:grpSpPr>
        <a:xfrm>
          <a:off x="0" y="0"/>
          <a:ext cx="0" cy="0"/>
          <a:chOff x="0" y="0"/>
          <a:chExt cx="0" cy="0"/>
        </a:xfrm>
      </p:grpSpPr>
      <p:sp>
        <p:nvSpPr>
          <p:cNvPr id="2" name="Shape 0"/>
          <p:cNvSpPr/>
          <p:nvPr/>
        </p:nvSpPr>
        <p:spPr>
          <a:xfrm>
            <a:off x="10332720" y="457200"/>
            <a:ext cx="822960" cy="822960"/>
          </a:xfrm>
          <a:prstGeom prst="roundRect">
            <a:avLst>
              <a:gd name="adj" fmla="val 5556"/>
            </a:avLst>
          </a:prstGeom>
          <a:solidFill>
            <a:srgbClr val="222B36"/>
          </a:solidFill>
          <a:ln/>
        </p:spPr>
      </p:sp>
      <p:sp>
        <p:nvSpPr>
          <p:cNvPr id="3" name="Shape 1"/>
          <p:cNvSpPr/>
          <p:nvPr/>
        </p:nvSpPr>
        <p:spPr>
          <a:xfrm>
            <a:off x="11338560" y="457200"/>
            <a:ext cx="548640" cy="548640"/>
          </a:xfrm>
          <a:prstGeom prst="roundRect">
            <a:avLst>
              <a:gd name="adj" fmla="val 8333"/>
            </a:avLst>
          </a:prstGeom>
          <a:solidFill>
            <a:srgbClr val="BE5F26"/>
          </a:solidFill>
          <a:ln/>
        </p:spPr>
      </p:sp>
      <p:sp>
        <p:nvSpPr>
          <p:cNvPr id="4" name="Shape 2"/>
          <p:cNvSpPr/>
          <p:nvPr/>
        </p:nvSpPr>
        <p:spPr>
          <a:xfrm>
            <a:off x="10332720" y="1463040"/>
            <a:ext cx="548640" cy="548640"/>
          </a:xfrm>
          <a:prstGeom prst="roundRect">
            <a:avLst>
              <a:gd name="adj" fmla="val 8333"/>
            </a:avLst>
          </a:prstGeom>
          <a:solidFill>
            <a:srgbClr val="222B36"/>
          </a:solidFill>
          <a:ln/>
        </p:spPr>
      </p:sp>
      <p:sp>
        <p:nvSpPr>
          <p:cNvPr id="5" name="Shape 3"/>
          <p:cNvSpPr/>
          <p:nvPr/>
        </p:nvSpPr>
        <p:spPr>
          <a:xfrm>
            <a:off x="11018520" y="1463040"/>
            <a:ext cx="868680" cy="868680"/>
          </a:xfrm>
          <a:prstGeom prst="roundRect">
            <a:avLst>
              <a:gd name="adj" fmla="val 5263"/>
            </a:avLst>
          </a:prstGeom>
          <a:solidFill>
            <a:srgbClr val="222B36"/>
          </a:solidFill>
          <a:ln/>
        </p:spPr>
      </p:sp>
      <p:sp>
        <p:nvSpPr>
          <p:cNvPr id="6" name="Text 4"/>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E39A5C"/>
                </a:solidFill>
                <a:latin typeface="Calibri" pitchFamily="34" charset="0"/>
                <a:ea typeface="Calibri" pitchFamily="34" charset="-122"/>
                <a:cs typeface="Calibri" pitchFamily="34" charset="-120"/>
              </a:rPr>
              <a:t>CONCLUSION</a:t>
            </a:r>
            <a:endParaRPr lang="en-US" sz="1150" dirty="0"/>
          </a:p>
        </p:txBody>
      </p:sp>
      <p:sp>
        <p:nvSpPr>
          <p:cNvPr id="7" name="Text 5"/>
          <p:cNvSpPr/>
          <p:nvPr/>
        </p:nvSpPr>
        <p:spPr>
          <a:xfrm>
            <a:off x="640080" y="676656"/>
            <a:ext cx="8686800" cy="530352"/>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this decade decides</a:t>
            </a:r>
            <a:endParaRPr lang="en-US" sz="3200" dirty="0"/>
          </a:p>
        </p:txBody>
      </p:sp>
      <p:sp>
        <p:nvSpPr>
          <p:cNvPr id="8" name="Shape 6"/>
          <p:cNvSpPr/>
          <p:nvPr/>
        </p:nvSpPr>
        <p:spPr>
          <a:xfrm>
            <a:off x="640080" y="1499616"/>
            <a:ext cx="420624" cy="420624"/>
          </a:xfrm>
          <a:prstGeom prst="roundRect">
            <a:avLst>
              <a:gd name="adj" fmla="val 10870"/>
            </a:avLst>
          </a:prstGeom>
          <a:solidFill>
            <a:srgbClr val="BE5F26"/>
          </a:solidFill>
          <a:ln/>
        </p:spPr>
      </p:sp>
      <p:sp>
        <p:nvSpPr>
          <p:cNvPr id="9" name="Text 7"/>
          <p:cNvSpPr/>
          <p:nvPr/>
        </p:nvSpPr>
        <p:spPr>
          <a:xfrm>
            <a:off x="640080" y="1499616"/>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10" name="Text 8"/>
          <p:cNvSpPr/>
          <p:nvPr/>
        </p:nvSpPr>
        <p:spPr>
          <a:xfrm>
            <a:off x="1298448" y="1481328"/>
            <a:ext cx="8778240" cy="310896"/>
          </a:xfrm>
          <a:prstGeom prst="rect">
            <a:avLst/>
          </a:prstGeom>
          <a:noFill/>
          <a:ln/>
        </p:spPr>
        <p:txBody>
          <a:bodyPr wrap="square" lIns="0" tIns="0" rIns="0" bIns="0" rtlCol="0" anchor="t"/>
          <a:lstStyle/>
          <a:p>
            <a:pPr indent="0" marL="0">
              <a:buNone/>
            </a:pPr>
            <a:r>
              <a:rPr lang="en-US" sz="1700" b="1" dirty="0">
                <a:solidFill>
                  <a:srgbClr val="E39A5C"/>
                </a:solidFill>
                <a:latin typeface="Cambria" pitchFamily="34" charset="0"/>
                <a:ea typeface="Cambria" pitchFamily="34" charset="-122"/>
                <a:cs typeface="Cambria" pitchFamily="34" charset="-120"/>
              </a:rPr>
              <a:t>The dependency was built, not inherited</a:t>
            </a:r>
            <a:endParaRPr lang="en-US" sz="1700" dirty="0"/>
          </a:p>
        </p:txBody>
      </p:sp>
      <p:sp>
        <p:nvSpPr>
          <p:cNvPr id="11" name="Text 9"/>
          <p:cNvSpPr/>
          <p:nvPr/>
        </p:nvSpPr>
        <p:spPr>
          <a:xfrm>
            <a:off x="1298448" y="1865376"/>
            <a:ext cx="8778240" cy="786384"/>
          </a:xfrm>
          <a:prstGeom prst="rect">
            <a:avLst/>
          </a:prstGeom>
          <a:noFill/>
          <a:ln/>
        </p:spPr>
        <p:txBody>
          <a:bodyPr wrap="square" lIns="0" tIns="0" rIns="0" bIns="0" rtlCol="0" anchor="t"/>
          <a:lstStyle/>
          <a:p>
            <a:pPr indent="0" marL="0">
              <a:lnSpc>
                <a:spcPts val="1700"/>
              </a:lnSpc>
              <a:buNone/>
            </a:pPr>
            <a:r>
              <a:rPr lang="en-US" sz="1200" dirty="0">
                <a:solidFill>
                  <a:srgbClr val="AEBACA"/>
                </a:solidFill>
                <a:latin typeface="Calibri" pitchFamily="34" charset="0"/>
                <a:ea typeface="Calibri" pitchFamily="34" charset="-122"/>
                <a:cs typeface="Calibri" pitchFamily="34" charset="-120"/>
              </a:rPr>
              <a:t>Refining concentration is the product of forty years of deliberate offshoring. What policy created, policy can unwind — but on a fifteen-year clock, not an electoral one.</a:t>
            </a:r>
            <a:endParaRPr lang="en-US" sz="1200" dirty="0"/>
          </a:p>
        </p:txBody>
      </p:sp>
      <p:sp>
        <p:nvSpPr>
          <p:cNvPr id="12" name="Shape 10"/>
          <p:cNvSpPr/>
          <p:nvPr/>
        </p:nvSpPr>
        <p:spPr>
          <a:xfrm>
            <a:off x="640080" y="2816352"/>
            <a:ext cx="420624" cy="420624"/>
          </a:xfrm>
          <a:prstGeom prst="roundRect">
            <a:avLst>
              <a:gd name="adj" fmla="val 10870"/>
            </a:avLst>
          </a:prstGeom>
          <a:solidFill>
            <a:srgbClr val="BE5F26"/>
          </a:solidFill>
          <a:ln/>
        </p:spPr>
      </p:sp>
      <p:sp>
        <p:nvSpPr>
          <p:cNvPr id="13" name="Text 11"/>
          <p:cNvSpPr/>
          <p:nvPr/>
        </p:nvSpPr>
        <p:spPr>
          <a:xfrm>
            <a:off x="640080" y="2816352"/>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4" name="Text 12"/>
          <p:cNvSpPr/>
          <p:nvPr/>
        </p:nvSpPr>
        <p:spPr>
          <a:xfrm>
            <a:off x="1298448" y="2798064"/>
            <a:ext cx="8778240" cy="310896"/>
          </a:xfrm>
          <a:prstGeom prst="rect">
            <a:avLst/>
          </a:prstGeom>
          <a:noFill/>
          <a:ln/>
        </p:spPr>
        <p:txBody>
          <a:bodyPr wrap="square" lIns="0" tIns="0" rIns="0" bIns="0" rtlCol="0" anchor="t"/>
          <a:lstStyle/>
          <a:p>
            <a:pPr indent="0" marL="0">
              <a:buNone/>
            </a:pPr>
            <a:r>
              <a:rPr lang="en-US" sz="1700" b="1" dirty="0">
                <a:solidFill>
                  <a:srgbClr val="E39A5C"/>
                </a:solidFill>
                <a:latin typeface="Cambria" pitchFamily="34" charset="0"/>
                <a:ea typeface="Cambria" pitchFamily="34" charset="-122"/>
                <a:cs typeface="Cambria" pitchFamily="34" charset="-120"/>
              </a:rPr>
              <a:t>Security and equity point the same way</a:t>
            </a:r>
            <a:endParaRPr lang="en-US" sz="1700" dirty="0"/>
          </a:p>
        </p:txBody>
      </p:sp>
      <p:sp>
        <p:nvSpPr>
          <p:cNvPr id="15" name="Text 13"/>
          <p:cNvSpPr/>
          <p:nvPr/>
        </p:nvSpPr>
        <p:spPr>
          <a:xfrm>
            <a:off x="1298448" y="3182112"/>
            <a:ext cx="8778240" cy="786384"/>
          </a:xfrm>
          <a:prstGeom prst="rect">
            <a:avLst/>
          </a:prstGeom>
          <a:noFill/>
          <a:ln/>
        </p:spPr>
        <p:txBody>
          <a:bodyPr wrap="square" lIns="0" tIns="0" rIns="0" bIns="0" rtlCol="0" anchor="t"/>
          <a:lstStyle/>
          <a:p>
            <a:pPr indent="0" marL="0">
              <a:lnSpc>
                <a:spcPts val="1700"/>
              </a:lnSpc>
              <a:buNone/>
            </a:pPr>
            <a:r>
              <a:rPr lang="en-US" sz="1200" dirty="0">
                <a:solidFill>
                  <a:srgbClr val="AEBACA"/>
                </a:solidFill>
                <a:latin typeface="Calibri" pitchFamily="34" charset="0"/>
                <a:ea typeface="Calibri" pitchFamily="34" charset="-122"/>
                <a:cs typeface="Calibri" pitchFamily="34" charset="-120"/>
              </a:rPr>
              <a:t>Every additional processing hub in a producing country is at once a development gain and a redundancy gain. This is the rare file where the just answer and the strategic answer coincide.</a:t>
            </a:r>
            <a:endParaRPr lang="en-US" sz="1200" dirty="0"/>
          </a:p>
        </p:txBody>
      </p:sp>
      <p:sp>
        <p:nvSpPr>
          <p:cNvPr id="16" name="Shape 14"/>
          <p:cNvSpPr/>
          <p:nvPr/>
        </p:nvSpPr>
        <p:spPr>
          <a:xfrm>
            <a:off x="640080" y="4133088"/>
            <a:ext cx="420624" cy="420624"/>
          </a:xfrm>
          <a:prstGeom prst="roundRect">
            <a:avLst>
              <a:gd name="adj" fmla="val 10870"/>
            </a:avLst>
          </a:prstGeom>
          <a:solidFill>
            <a:srgbClr val="BE5F26"/>
          </a:solidFill>
          <a:ln/>
        </p:spPr>
      </p:sp>
      <p:sp>
        <p:nvSpPr>
          <p:cNvPr id="17" name="Text 15"/>
          <p:cNvSpPr/>
          <p:nvPr/>
        </p:nvSpPr>
        <p:spPr>
          <a:xfrm>
            <a:off x="640080" y="4133088"/>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18" name="Text 16"/>
          <p:cNvSpPr/>
          <p:nvPr/>
        </p:nvSpPr>
        <p:spPr>
          <a:xfrm>
            <a:off x="1298448" y="4114800"/>
            <a:ext cx="8778240" cy="310896"/>
          </a:xfrm>
          <a:prstGeom prst="rect">
            <a:avLst/>
          </a:prstGeom>
          <a:noFill/>
          <a:ln/>
        </p:spPr>
        <p:txBody>
          <a:bodyPr wrap="square" lIns="0" tIns="0" rIns="0" bIns="0" rtlCol="0" anchor="t"/>
          <a:lstStyle/>
          <a:p>
            <a:pPr indent="0" marL="0">
              <a:buNone/>
            </a:pPr>
            <a:r>
              <a:rPr lang="en-US" sz="1700" b="1" dirty="0">
                <a:solidFill>
                  <a:srgbClr val="E39A5C"/>
                </a:solidFill>
                <a:latin typeface="Cambria" pitchFamily="34" charset="0"/>
                <a:ea typeface="Cambria" pitchFamily="34" charset="-122"/>
                <a:cs typeface="Cambria" pitchFamily="34" charset="-120"/>
              </a:rPr>
              <a:t>The window is open now</a:t>
            </a:r>
            <a:endParaRPr lang="en-US" sz="1700" dirty="0"/>
          </a:p>
        </p:txBody>
      </p:sp>
      <p:sp>
        <p:nvSpPr>
          <p:cNvPr id="19" name="Text 17"/>
          <p:cNvSpPr/>
          <p:nvPr/>
        </p:nvSpPr>
        <p:spPr>
          <a:xfrm>
            <a:off x="1298448" y="4498848"/>
            <a:ext cx="8778240" cy="786384"/>
          </a:xfrm>
          <a:prstGeom prst="rect">
            <a:avLst/>
          </a:prstGeom>
          <a:noFill/>
          <a:ln/>
        </p:spPr>
        <p:txBody>
          <a:bodyPr wrap="square" lIns="0" tIns="0" rIns="0" bIns="0" rtlCol="0" anchor="t"/>
          <a:lstStyle/>
          <a:p>
            <a:pPr indent="0" marL="0">
              <a:lnSpc>
                <a:spcPts val="1700"/>
              </a:lnSpc>
              <a:buNone/>
            </a:pPr>
            <a:r>
              <a:rPr lang="en-US" sz="1200" dirty="0">
                <a:solidFill>
                  <a:srgbClr val="AEBACA"/>
                </a:solidFill>
                <a:latin typeface="Calibri" pitchFamily="34" charset="0"/>
                <a:ea typeface="Calibri" pitchFamily="34" charset="-122"/>
                <a:cs typeface="Calibri" pitchFamily="34" charset="-120"/>
              </a:rPr>
              <a:t>Producer leverage depends on substitution staying expensive. Chemistry is moving. The agreements struck in the next five years will set the terms for the following twenty-five.</a:t>
            </a:r>
            <a:endParaRPr lang="en-US" sz="1200" dirty="0"/>
          </a:p>
        </p:txBody>
      </p:sp>
      <p:sp>
        <p:nvSpPr>
          <p:cNvPr id="20" name="Shape 18"/>
          <p:cNvSpPr/>
          <p:nvPr/>
        </p:nvSpPr>
        <p:spPr>
          <a:xfrm>
            <a:off x="640080" y="5431536"/>
            <a:ext cx="10911535" cy="841248"/>
          </a:xfrm>
          <a:prstGeom prst="roundRect">
            <a:avLst>
              <a:gd name="adj" fmla="val 6522"/>
            </a:avLst>
          </a:prstGeom>
          <a:solidFill>
            <a:srgbClr val="222B36"/>
          </a:solidFill>
          <a:ln w="9525">
            <a:solidFill>
              <a:srgbClr val="222B36"/>
            </a:solidFill>
            <a:prstDash val="solid"/>
          </a:ln>
        </p:spPr>
      </p:sp>
      <p:sp>
        <p:nvSpPr>
          <p:cNvPr id="21" name="Text 19"/>
          <p:cNvSpPr/>
          <p:nvPr/>
        </p:nvSpPr>
        <p:spPr>
          <a:xfrm>
            <a:off x="1024128" y="5614416"/>
            <a:ext cx="10143439" cy="548640"/>
          </a:xfrm>
          <a:prstGeom prst="rect">
            <a:avLst/>
          </a:prstGeom>
          <a:noFill/>
          <a:ln/>
        </p:spPr>
        <p:txBody>
          <a:bodyPr wrap="square" lIns="0" tIns="0" rIns="0" bIns="0" rtlCol="0" anchor="t"/>
          <a:lstStyle/>
          <a:p>
            <a:pPr indent="0" marL="0">
              <a:lnSpc>
                <a:spcPts val="2200"/>
              </a:lnSpc>
              <a:buNone/>
            </a:pPr>
            <a:r>
              <a:rPr lang="en-US" sz="1600" i="1" dirty="0">
                <a:solidFill>
                  <a:srgbClr val="FFFFFF"/>
                </a:solidFill>
                <a:latin typeface="Cambria" pitchFamily="34" charset="0"/>
                <a:ea typeface="Cambria" pitchFamily="34" charset="-122"/>
                <a:cs typeface="Cambria" pitchFamily="34" charset="-120"/>
              </a:rPr>
              <a:t>The energy transition will be judged not only by how fast it decarbonises, but by whether it reproduces the extractive order it was meant to replace.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t"/>
          <a:lstStyle/>
          <a:p>
            <a:pPr indent="0" marL="0">
              <a:buNone/>
            </a:pPr>
            <a:r>
              <a:rPr lang="en-US" sz="1150" b="1" spc="240" kern="0" dirty="0">
                <a:solidFill>
                  <a:srgbClr val="BE5F26"/>
                </a:solidFill>
                <a:latin typeface="Calibri" pitchFamily="34" charset="0"/>
                <a:ea typeface="Calibri" pitchFamily="34" charset="-122"/>
                <a:cs typeface="Calibri" pitchFamily="34" charset="-120"/>
              </a:rPr>
              <a:t>EVIDENCE BASE</a:t>
            </a:r>
            <a:endParaRPr lang="en-US" sz="1150" dirty="0"/>
          </a:p>
        </p:txBody>
      </p:sp>
      <p:sp>
        <p:nvSpPr>
          <p:cNvPr id="3" name="Text 1"/>
          <p:cNvSpPr/>
          <p:nvPr/>
        </p:nvSpPr>
        <p:spPr>
          <a:xfrm>
            <a:off x="640080" y="676656"/>
            <a:ext cx="10911535" cy="530352"/>
          </a:xfrm>
          <a:prstGeom prst="rect">
            <a:avLst/>
          </a:prstGeom>
          <a:noFill/>
          <a:ln/>
        </p:spPr>
        <p:txBody>
          <a:bodyPr wrap="square" lIns="0" tIns="0" rIns="0" bIns="0" rtlCol="0" anchor="t"/>
          <a:lstStyle/>
          <a:p>
            <a:pPr indent="0" marL="0">
              <a:buNone/>
            </a:pPr>
            <a:r>
              <a:rPr lang="en-US" sz="3000" b="1" dirty="0">
                <a:solidFill>
                  <a:srgbClr val="15191F"/>
                </a:solidFill>
                <a:latin typeface="Cambria" pitchFamily="34" charset="0"/>
                <a:ea typeface="Cambria" pitchFamily="34" charset="-122"/>
                <a:cs typeface="Cambria" pitchFamily="34" charset="-120"/>
              </a:rPr>
              <a:t>References and sources</a:t>
            </a:r>
            <a:endParaRPr lang="en-US" sz="3000" dirty="0"/>
          </a:p>
        </p:txBody>
      </p:sp>
      <p:sp>
        <p:nvSpPr>
          <p:cNvPr id="4" name="Shape 2"/>
          <p:cNvSpPr/>
          <p:nvPr/>
        </p:nvSpPr>
        <p:spPr>
          <a:xfrm>
            <a:off x="640080" y="1298448"/>
            <a:ext cx="5300320" cy="2194560"/>
          </a:xfrm>
          <a:prstGeom prst="roundRect">
            <a:avLst>
              <a:gd name="adj" fmla="val 2500"/>
            </a:avLst>
          </a:prstGeom>
          <a:solidFill>
            <a:srgbClr val="F1F3F5"/>
          </a:solidFill>
          <a:ln w="9525">
            <a:solidFill>
              <a:srgbClr val="DFE4E9"/>
            </a:solidFill>
            <a:prstDash val="solid"/>
          </a:ln>
        </p:spPr>
      </p:sp>
      <p:sp>
        <p:nvSpPr>
          <p:cNvPr id="5" name="Text 3"/>
          <p:cNvSpPr/>
          <p:nvPr/>
        </p:nvSpPr>
        <p:spPr>
          <a:xfrm>
            <a:off x="914400" y="1444752"/>
            <a:ext cx="4751680" cy="274320"/>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Primary data and outlooks</a:t>
            </a:r>
            <a:endParaRPr lang="en-US" sz="1350" dirty="0"/>
          </a:p>
        </p:txBody>
      </p:sp>
      <p:sp>
        <p:nvSpPr>
          <p:cNvPr id="6" name="Text 4"/>
          <p:cNvSpPr/>
          <p:nvPr/>
        </p:nvSpPr>
        <p:spPr>
          <a:xfrm>
            <a:off x="932688" y="1792224"/>
            <a:ext cx="4715104" cy="1627632"/>
          </a:xfrm>
          <a:prstGeom prst="rect">
            <a:avLst/>
          </a:prstGeom>
          <a:noFill/>
          <a:ln/>
        </p:spPr>
        <p:txBody>
          <a:bodyPr wrap="square" lIns="0" tIns="0" rIns="0" bIns="0" rtlCol="0" anchor="t"/>
          <a:lstStyle/>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International Energy Agency, Global Critical Minerals Outlook 2026 and 2025 (Paris: IEA).</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IEA, “Supply concentration, export restrictions and declining investment put critical mineral security at risk”, 2026.</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US Geological Survey, Mineral Commodity Summaries 2025 — cobalt, nickel, lithium, gallium.</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World Bank, Cobalt in the Democratic Republic of Congo: Market Analysis.</a:t>
            </a:r>
            <a:endParaRPr lang="en-US" sz="950" dirty="0"/>
          </a:p>
        </p:txBody>
      </p:sp>
      <p:sp>
        <p:nvSpPr>
          <p:cNvPr id="7" name="Shape 5"/>
          <p:cNvSpPr/>
          <p:nvPr/>
        </p:nvSpPr>
        <p:spPr>
          <a:xfrm>
            <a:off x="6251296" y="1298448"/>
            <a:ext cx="5300320" cy="2194560"/>
          </a:xfrm>
          <a:prstGeom prst="roundRect">
            <a:avLst>
              <a:gd name="adj" fmla="val 2500"/>
            </a:avLst>
          </a:prstGeom>
          <a:solidFill>
            <a:srgbClr val="F1F3F5"/>
          </a:solidFill>
          <a:ln w="9525">
            <a:solidFill>
              <a:srgbClr val="DFE4E9"/>
            </a:solidFill>
            <a:prstDash val="solid"/>
          </a:ln>
        </p:spPr>
      </p:sp>
      <p:sp>
        <p:nvSpPr>
          <p:cNvPr id="8" name="Text 6"/>
          <p:cNvSpPr/>
          <p:nvPr/>
        </p:nvSpPr>
        <p:spPr>
          <a:xfrm>
            <a:off x="6525616" y="1444752"/>
            <a:ext cx="4751680" cy="274320"/>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Policy and legal instruments</a:t>
            </a:r>
            <a:endParaRPr lang="en-US" sz="1350" dirty="0"/>
          </a:p>
        </p:txBody>
      </p:sp>
      <p:sp>
        <p:nvSpPr>
          <p:cNvPr id="9" name="Text 7"/>
          <p:cNvSpPr/>
          <p:nvPr/>
        </p:nvSpPr>
        <p:spPr>
          <a:xfrm>
            <a:off x="6543904" y="1792224"/>
            <a:ext cx="4715104" cy="1627632"/>
          </a:xfrm>
          <a:prstGeom prst="rect">
            <a:avLst/>
          </a:prstGeom>
          <a:noFill/>
          <a:ln/>
        </p:spPr>
        <p:txBody>
          <a:bodyPr wrap="square" lIns="0" tIns="0" rIns="0" bIns="0" rtlCol="0" anchor="t"/>
          <a:lstStyle/>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Regulation (EU) 2024/1252, European Critical Raw Materials Act.</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European Court of Auditors, report on EU critical raw materials policy, February 2026.</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WTO, DS592: Indonesia — Measures Relating to Raw Materials.</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Ministry of Commerce of the People’s Republic of China, export-control announcements, 2024–2025.</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US Department of State, DRC–Rwanda Peace Agreement and the Washington Accords, 2025.</a:t>
            </a:r>
            <a:endParaRPr lang="en-US" sz="950" dirty="0"/>
          </a:p>
        </p:txBody>
      </p:sp>
      <p:sp>
        <p:nvSpPr>
          <p:cNvPr id="10" name="Shape 8"/>
          <p:cNvSpPr/>
          <p:nvPr/>
        </p:nvSpPr>
        <p:spPr>
          <a:xfrm>
            <a:off x="640080" y="3675888"/>
            <a:ext cx="5300320" cy="2194560"/>
          </a:xfrm>
          <a:prstGeom prst="roundRect">
            <a:avLst>
              <a:gd name="adj" fmla="val 2500"/>
            </a:avLst>
          </a:prstGeom>
          <a:solidFill>
            <a:srgbClr val="F1F3F5"/>
          </a:solidFill>
          <a:ln w="9525">
            <a:solidFill>
              <a:srgbClr val="DFE4E9"/>
            </a:solidFill>
            <a:prstDash val="solid"/>
          </a:ln>
        </p:spPr>
      </p:sp>
      <p:sp>
        <p:nvSpPr>
          <p:cNvPr id="11" name="Text 9"/>
          <p:cNvSpPr/>
          <p:nvPr/>
        </p:nvSpPr>
        <p:spPr>
          <a:xfrm>
            <a:off x="914400" y="3822192"/>
            <a:ext cx="4751680" cy="274320"/>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Institutional and regional strategy</a:t>
            </a:r>
            <a:endParaRPr lang="en-US" sz="1350" dirty="0"/>
          </a:p>
        </p:txBody>
      </p:sp>
      <p:sp>
        <p:nvSpPr>
          <p:cNvPr id="12" name="Text 10"/>
          <p:cNvSpPr/>
          <p:nvPr/>
        </p:nvSpPr>
        <p:spPr>
          <a:xfrm>
            <a:off x="932688" y="4169664"/>
            <a:ext cx="4715104" cy="1627632"/>
          </a:xfrm>
          <a:prstGeom prst="rect">
            <a:avLst/>
          </a:prstGeom>
          <a:noFill/>
          <a:ln/>
        </p:spPr>
        <p:txBody>
          <a:bodyPr wrap="square" lIns="0" tIns="0" rIns="0" bIns="0" rtlCol="0" anchor="t"/>
          <a:lstStyle/>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African Union, Africa’s Green Minerals Strategy, adopted 2025.</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UN Secretary-General’s Panel on Critical Energy Transition Minerals, Resourcing the Energy Transition, 2024.</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African Development Bank, Advancing from Nickel Mining to Downstream Processing: Lessons from Indonesia.</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UNECA, Africa’s critical mineral resources and intra-African trade.</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OECD, Due Diligence Guidance for Responsible Supply Chains of Minerals from Conflict-Affected Areas.</a:t>
            </a:r>
            <a:endParaRPr lang="en-US" sz="950" dirty="0"/>
          </a:p>
        </p:txBody>
      </p:sp>
      <p:sp>
        <p:nvSpPr>
          <p:cNvPr id="13" name="Shape 11"/>
          <p:cNvSpPr/>
          <p:nvPr/>
        </p:nvSpPr>
        <p:spPr>
          <a:xfrm>
            <a:off x="6251296" y="3675888"/>
            <a:ext cx="5300320" cy="2194560"/>
          </a:xfrm>
          <a:prstGeom prst="roundRect">
            <a:avLst>
              <a:gd name="adj" fmla="val 2500"/>
            </a:avLst>
          </a:prstGeom>
          <a:solidFill>
            <a:srgbClr val="F1F3F5"/>
          </a:solidFill>
          <a:ln w="9525">
            <a:solidFill>
              <a:srgbClr val="DFE4E9"/>
            </a:solidFill>
            <a:prstDash val="solid"/>
          </a:ln>
        </p:spPr>
      </p:sp>
      <p:sp>
        <p:nvSpPr>
          <p:cNvPr id="14" name="Text 12"/>
          <p:cNvSpPr/>
          <p:nvPr/>
        </p:nvSpPr>
        <p:spPr>
          <a:xfrm>
            <a:off x="6525616" y="3822192"/>
            <a:ext cx="4751680" cy="274320"/>
          </a:xfrm>
          <a:prstGeom prst="rect">
            <a:avLst/>
          </a:prstGeom>
          <a:noFill/>
          <a:ln/>
        </p:spPr>
        <p:txBody>
          <a:bodyPr wrap="square" lIns="0" tIns="0" rIns="0" bIns="0" rtlCol="0" anchor="t"/>
          <a:lstStyle/>
          <a:p>
            <a:pPr indent="0" marL="0">
              <a:buNone/>
            </a:pPr>
            <a:r>
              <a:rPr lang="en-US" sz="1350" b="1" dirty="0">
                <a:solidFill>
                  <a:srgbClr val="BE5F26"/>
                </a:solidFill>
                <a:latin typeface="Cambria" pitchFamily="34" charset="0"/>
                <a:ea typeface="Cambria" pitchFamily="34" charset="-122"/>
                <a:cs typeface="Cambria" pitchFamily="34" charset="-120"/>
              </a:rPr>
              <a:t>Analysis and commentary</a:t>
            </a:r>
            <a:endParaRPr lang="en-US" sz="1350" dirty="0"/>
          </a:p>
        </p:txBody>
      </p:sp>
      <p:sp>
        <p:nvSpPr>
          <p:cNvPr id="15" name="Text 13"/>
          <p:cNvSpPr/>
          <p:nvPr/>
        </p:nvSpPr>
        <p:spPr>
          <a:xfrm>
            <a:off x="6543904" y="4169664"/>
            <a:ext cx="4715104" cy="1627632"/>
          </a:xfrm>
          <a:prstGeom prst="rect">
            <a:avLst/>
          </a:prstGeom>
          <a:noFill/>
          <a:ln/>
        </p:spPr>
        <p:txBody>
          <a:bodyPr wrap="square" lIns="0" tIns="0" rIns="0" bIns="0" rtlCol="0" anchor="t"/>
          <a:lstStyle/>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CSIS, “Beyond Rare Earths: China’s Growing Threat to Gallium Supply Chains”.</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CSIS, “Indonesian Industrialization: Downstreaming Up the Value Chain”.</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Atlantic Council and Egmont Institute, assessments of the DRC–Rwanda Washington Accords.</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ODI, “Europe’s critical raw materials bet: a reality check”.</a:t>
            </a:r>
            <a:endParaRPr lang="en-US" sz="950" dirty="0"/>
          </a:p>
          <a:p>
            <a:pPr marL="342900" indent="-342900">
              <a:lnSpc>
                <a:spcPts val="1300"/>
              </a:lnSpc>
              <a:spcAft>
                <a:spcPts val="400"/>
              </a:spcAft>
              <a:buSzPct val="100000"/>
              <a:buChar char="•"/>
            </a:pPr>
            <a:r>
              <a:rPr lang="en-US" sz="950" dirty="0">
                <a:solidFill>
                  <a:srgbClr val="69737F"/>
                </a:solidFill>
                <a:latin typeface="Calibri" pitchFamily="34" charset="0"/>
                <a:ea typeface="Calibri" pitchFamily="34" charset="-122"/>
                <a:cs typeface="Calibri" pitchFamily="34" charset="-120"/>
              </a:rPr>
              <a:t>Mongabay and ISA Council records on the 2026 seabed exploration contract extension.</a:t>
            </a:r>
            <a:endParaRPr lang="en-US" sz="950" dirty="0"/>
          </a:p>
        </p:txBody>
      </p:sp>
      <p:sp>
        <p:nvSpPr>
          <p:cNvPr id="16" name="Text 14"/>
          <p:cNvSpPr/>
          <p:nvPr/>
        </p:nvSpPr>
        <p:spPr>
          <a:xfrm>
            <a:off x="640080" y="6089904"/>
            <a:ext cx="10911535" cy="292608"/>
          </a:xfrm>
          <a:prstGeom prst="rect">
            <a:avLst/>
          </a:prstGeom>
          <a:noFill/>
          <a:ln/>
        </p:spPr>
        <p:txBody>
          <a:bodyPr wrap="square" lIns="0" tIns="0" rIns="0" bIns="0" rtlCol="0" anchor="t"/>
          <a:lstStyle/>
          <a:p>
            <a:pPr indent="0" marL="0">
              <a:buNone/>
            </a:pPr>
            <a:r>
              <a:rPr lang="en-US" sz="1050" i="1" dirty="0">
                <a:solidFill>
                  <a:srgbClr val="69737F"/>
                </a:solidFill>
                <a:latin typeface="Calibri" pitchFamily="34" charset="0"/>
                <a:ea typeface="Calibri" pitchFamily="34" charset="-122"/>
                <a:cs typeface="Calibri" pitchFamily="34" charset="-120"/>
              </a:rPr>
              <a:t>Every figure is cited on the slide where it appears. Analysis, framing, scenario construction and all wording are the author’s own.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IIRIS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Resource Order</dc:title>
  <dc:subject>Critical Minerals and the Geopolitics of the Energy Transition</dc:subject>
  <dc:creator>IIRIS International Presentation Series</dc:creator>
  <cp:lastModifiedBy>IIRIS International Presentation Series</cp:lastModifiedBy>
  <cp:revision>1</cp:revision>
  <dcterms:created xsi:type="dcterms:W3CDTF">2026-08-22T19:24:11Z</dcterms:created>
  <dcterms:modified xsi:type="dcterms:W3CDTF">2026-08-22T19:24:11Z</dcterms:modified>
</cp:coreProperties>
</file>